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FF0000"/>
    <a:srgbClr val="2A40E2"/>
    <a:srgbClr val="BCFFBC"/>
    <a:srgbClr val="F430AB"/>
    <a:srgbClr val="A18623"/>
    <a:srgbClr val="9E7800"/>
    <a:srgbClr val="C49500"/>
    <a:srgbClr val="E6E703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34B6-D37D-4D2B-9A35-B8F225AC66B4}" v="3" dt="2025-10-17T01:22:21.46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82745" autoAdjust="0"/>
  </p:normalViewPr>
  <p:slideViewPr>
    <p:cSldViewPr>
      <p:cViewPr varScale="1">
        <p:scale>
          <a:sx n="68" d="100"/>
          <a:sy n="68" d="100"/>
        </p:scale>
        <p:origin x="437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805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5-10-17T01:22:23.049" v="46" actId="20577"/>
      <pc:docMkLst>
        <pc:docMk/>
      </pc:docMkLst>
      <pc:sldChg chg="modSp mod">
        <pc:chgData name="Zonghua Gu" userId="9a7e1853e1951ef5" providerId="LiveId" clId="{CF1FAA12-072C-4ED5-BA76-0FFFAEFDB88A}" dt="2025-09-26T00:33:07.077" v="1" actId="20577"/>
        <pc:sldMkLst>
          <pc:docMk/>
          <pc:sldMk cId="3198402123" sldId="381"/>
        </pc:sldMkLst>
        <pc:spChg chg="mod">
          <ac:chgData name="Zonghua Gu" userId="9a7e1853e1951ef5" providerId="LiveId" clId="{CF1FAA12-072C-4ED5-BA76-0FFFAEFDB88A}" dt="2025-09-26T00:33:07.077" v="1" actId="20577"/>
          <ac:spMkLst>
            <pc:docMk/>
            <pc:sldMk cId="3198402123" sldId="381"/>
            <ac:spMk id="22" creationId="{E6AF71B3-F5D1-B2DE-B835-5C8208F44553}"/>
          </ac:spMkLst>
        </pc:spChg>
      </pc:sldChg>
      <pc:sldChg chg="modSp mod">
        <pc:chgData name="Zonghua Gu" userId="9a7e1853e1951ef5" providerId="LiveId" clId="{CF1FAA12-072C-4ED5-BA76-0FFFAEFDB88A}" dt="2025-10-17T01:20:09.875" v="29" actId="20577"/>
        <pc:sldMkLst>
          <pc:docMk/>
          <pc:sldMk cId="3823801097" sldId="420"/>
        </pc:sldMkLst>
        <pc:spChg chg="mod">
          <ac:chgData name="Zonghua Gu" userId="9a7e1853e1951ef5" providerId="LiveId" clId="{CF1FAA12-072C-4ED5-BA76-0FFFAEFDB88A}" dt="2025-10-17T01:20:09.875" v="29" actId="20577"/>
          <ac:spMkLst>
            <pc:docMk/>
            <pc:sldMk cId="3823801097" sldId="420"/>
            <ac:spMk id="7" creationId="{8BDE5981-C58E-1D2C-A988-FFF28496CD9B}"/>
          </ac:spMkLst>
        </pc:spChg>
      </pc:sldChg>
      <pc:sldChg chg="modSp mod">
        <pc:chgData name="Zonghua Gu" userId="9a7e1853e1951ef5" providerId="LiveId" clId="{CF1FAA12-072C-4ED5-BA76-0FFFAEFDB88A}" dt="2025-10-17T01:21:42.124" v="41" actId="20577"/>
        <pc:sldMkLst>
          <pc:docMk/>
          <pc:sldMk cId="937329881" sldId="1384"/>
        </pc:sldMkLst>
        <pc:spChg chg="mod">
          <ac:chgData name="Zonghua Gu" userId="9a7e1853e1951ef5" providerId="LiveId" clId="{CF1FAA12-072C-4ED5-BA76-0FFFAEFDB88A}" dt="2025-10-17T01:21:42.124" v="41" actId="20577"/>
          <ac:spMkLst>
            <pc:docMk/>
            <pc:sldMk cId="937329881" sldId="1384"/>
            <ac:spMk id="3" creationId="{C96CE106-EFF2-89A6-A94C-94BA0CA70C60}"/>
          </ac:spMkLst>
        </pc:spChg>
      </pc:sldChg>
      <pc:sldChg chg="modSp mod">
        <pc:chgData name="Zonghua Gu" userId="9a7e1853e1951ef5" providerId="LiveId" clId="{CF1FAA12-072C-4ED5-BA76-0FFFAEFDB88A}" dt="2025-10-17T01:22:04.667" v="43" actId="20577"/>
        <pc:sldMkLst>
          <pc:docMk/>
          <pc:sldMk cId="210011671" sldId="1386"/>
        </pc:sldMkLst>
        <pc:spChg chg="mod">
          <ac:chgData name="Zonghua Gu" userId="9a7e1853e1951ef5" providerId="LiveId" clId="{CF1FAA12-072C-4ED5-BA76-0FFFAEFDB88A}" dt="2025-10-17T01:22:04.667" v="43" actId="20577"/>
          <ac:spMkLst>
            <pc:docMk/>
            <pc:sldMk cId="210011671" sldId="1386"/>
            <ac:spMk id="3" creationId="{2C890D62-C0BE-DA6D-366C-8F725FB1BCE9}"/>
          </ac:spMkLst>
        </pc:spChg>
      </pc:sldChg>
      <pc:sldChg chg="modSp mod">
        <pc:chgData name="Zonghua Gu" userId="9a7e1853e1951ef5" providerId="LiveId" clId="{CF1FAA12-072C-4ED5-BA76-0FFFAEFDB88A}" dt="2025-10-17T01:22:23.049" v="46" actId="20577"/>
        <pc:sldMkLst>
          <pc:docMk/>
          <pc:sldMk cId="2996913365" sldId="1388"/>
        </pc:sldMkLst>
        <pc:spChg chg="mod">
          <ac:chgData name="Zonghua Gu" userId="9a7e1853e1951ef5" providerId="LiveId" clId="{CF1FAA12-072C-4ED5-BA76-0FFFAEFDB88A}" dt="2025-10-17T01:22:23.049" v="46" actId="20577"/>
          <ac:spMkLst>
            <pc:docMk/>
            <pc:sldMk cId="2996913365" sldId="1388"/>
            <ac:spMk id="3" creationId="{E9304C07-65AC-81BF-04CE-B8BAC4C0342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42400" y="63642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27A0A33-D1BC-4593-884F-3C3414606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364288"/>
            <a:ext cx="5852584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© </a:t>
            </a:r>
            <a:r>
              <a:rPr lang="en-US" err="1"/>
              <a:t>Zonghua</a:t>
            </a:r>
            <a:r>
              <a:rPr lang="en-US"/>
              <a:t> </a:t>
            </a:r>
            <a:r>
              <a:rPr lang="en-US" err="1"/>
              <a:t>Gu</a:t>
            </a:r>
            <a:r>
              <a:rPr lang="en-US"/>
              <a:t>, CMPT 300, Fall 2011 </a:t>
            </a:r>
          </a:p>
        </p:txBody>
      </p:sp>
    </p:spTree>
    <p:extLst>
      <p:ext uri="{BB962C8B-B14F-4D97-AF65-F5344CB8AC3E}">
        <p14:creationId xmlns:p14="http://schemas.microsoft.com/office/powerpoint/2010/main" val="3912953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Plassholder for lysbildenummer 5">
            <a:extLst>
              <a:ext uri="{FF2B5EF4-FFF2-40B4-BE49-F238E27FC236}">
                <a16:creationId xmlns:a16="http://schemas.microsoft.com/office/drawing/2014/main" id="{C1122AA0-51BA-FB92-7E72-DEDEC17FA8AB}"/>
              </a:ext>
            </a:extLst>
          </p:cNvPr>
          <p:cNvSpPr txBox="1">
            <a:spLocks/>
          </p:cNvSpPr>
          <p:nvPr userDrawn="1"/>
        </p:nvSpPr>
        <p:spPr>
          <a:xfrm>
            <a:off x="11734800" y="6492875"/>
            <a:ext cx="456108" cy="365125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400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sz="1400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r>
              <a:rPr sz="3000"/>
              <a:t>CSC 144V: Autonomous Vehicles</a:t>
            </a:r>
            <a:br>
              <a:rPr sz="3000"/>
            </a:br>
            <a:r>
              <a:rPr sz="3000"/>
              <a:t>Lecture 2</a:t>
            </a:r>
            <a:br>
              <a:rPr sz="3000"/>
            </a:br>
            <a:br>
              <a:rPr sz="3000"/>
            </a:br>
            <a:br>
              <a:rPr sz="3000"/>
            </a:br>
            <a:r>
              <a:rPr sz="3000"/>
              <a:t>Intro to Machine Learning and Neural Networks Exercises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/>
            <a:r>
              <a:t>Department of Computer Science, </a:t>
            </a:r>
          </a:p>
          <a:p>
            <a:pPr marL="285750" indent="-285750"/>
            <a:r>
              <a:t>Hofstra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Forward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000000" cy="5500000"/>
          </a:xfrm>
        </p:spPr>
        <p:txBody>
          <a:bodyPr wrap="square"/>
          <a:lstStyle/>
          <a:p>
            <a:r>
              <a:rPr sz="2000"/>
              <a:t>Input x = (x₁, x₂) = (1, 2), hidden layer: two ReLU neurons, output: sigmoid</a:t>
            </a:r>
          </a:p>
          <a:p>
            <a:pPr lvl="1"/>
            <a:r>
              <a:rPr sz="2000"/>
              <a:t>z₁ = w₁₁x₁ + w₁₂x₂ + b₁, h₁ = ReLU(z₁)</a:t>
            </a:r>
          </a:p>
          <a:p>
            <a:pPr lvl="1"/>
            <a:r>
              <a:rPr sz="2000"/>
              <a:t>z₂ = w₂₁x₁ + w₂₂x₂ + b₂, h₂ = ReLU(z₂)</a:t>
            </a:r>
          </a:p>
          <a:p>
            <a:pPr lvl="1"/>
            <a:r>
              <a:rPr sz="2000"/>
              <a:t>z = v₁h₁ + v₂h₂ + c, ŷ = σ(z) = 1/(1 + e⁻ᶻ)</a:t>
            </a:r>
          </a:p>
          <a:p>
            <a:r>
              <a:rPr sz="2000"/>
              <a:t>True label y = 1; loss L = −[y ln ŷ + (1 − y) ln(1 − ŷ)]</a:t>
            </a:r>
          </a:p>
          <a:p>
            <a:r>
              <a:rPr sz="2000"/>
              <a:t>Useful: σ(0.5) ≈ 0.622, ln(0.622) ≈ −0.474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 b="1">
                <a:solidFill>
                  <a:srgbClr val="2A40E2"/>
                </a:solidFill>
              </a:rPr>
              <a:t>(a)</a:t>
            </a:r>
            <a:r>
              <a:rPr sz="2000"/>
              <a:t> Compute z₁, h₁, z₂, h₂, z and ŷ.</a:t>
            </a:r>
          </a:p>
          <a:p>
            <a:pPr marL="0" indent="0">
              <a:buNone/>
            </a:pPr>
            <a:r>
              <a:rPr sz="2000" b="1">
                <a:solidFill>
                  <a:srgbClr val="2A40E2"/>
                </a:solidFill>
              </a:rPr>
              <a:t>(b)</a:t>
            </a:r>
            <a:r>
              <a:rPr sz="2000"/>
              <a:t> Compute the loss L.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7250000" y="1950000"/>
            <a:ext cx="2050000" cy="5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250000" y="1950000"/>
            <a:ext cx="2050000" cy="27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50000" y="2450000"/>
            <a:ext cx="2050000" cy="27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50000" y="4650000"/>
            <a:ext cx="2050000" cy="5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00000" y="1950000"/>
            <a:ext cx="1850000" cy="16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300000" y="3550000"/>
            <a:ext cx="1850000" cy="16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52500" y="2065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w₁₁=1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1000" y="3896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w₁₂=−1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1000" y="2884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w₂₁=2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2500" y="4715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w₂₂=1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2500" y="2510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v₁=1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2500" y="4270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v₂=0.5</a:t>
            </a:r>
          </a:p>
        </p:txBody>
      </p:sp>
      <p:sp>
        <p:nvSpPr>
          <p:cNvPr id="16" name="Oval 15"/>
          <p:cNvSpPr/>
          <p:nvPr/>
        </p:nvSpPr>
        <p:spPr>
          <a:xfrm>
            <a:off x="6730000" y="19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x₁=1</a:t>
            </a:r>
          </a:p>
        </p:txBody>
      </p:sp>
      <p:sp>
        <p:nvSpPr>
          <p:cNvPr id="17" name="Oval 16"/>
          <p:cNvSpPr/>
          <p:nvPr/>
        </p:nvSpPr>
        <p:spPr>
          <a:xfrm>
            <a:off x="6730000" y="41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x₂=2</a:t>
            </a:r>
          </a:p>
        </p:txBody>
      </p:sp>
      <p:sp>
        <p:nvSpPr>
          <p:cNvPr id="18" name="Oval 17"/>
          <p:cNvSpPr/>
          <p:nvPr/>
        </p:nvSpPr>
        <p:spPr>
          <a:xfrm>
            <a:off x="8780000" y="14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ReLU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h₁</a:t>
            </a:r>
          </a:p>
        </p:txBody>
      </p:sp>
      <p:sp>
        <p:nvSpPr>
          <p:cNvPr id="19" name="Oval 18"/>
          <p:cNvSpPr/>
          <p:nvPr/>
        </p:nvSpPr>
        <p:spPr>
          <a:xfrm>
            <a:off x="8780000" y="46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ReLU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h₂</a:t>
            </a:r>
          </a:p>
        </p:txBody>
      </p:sp>
      <p:sp>
        <p:nvSpPr>
          <p:cNvPr id="20" name="Oval 19"/>
          <p:cNvSpPr/>
          <p:nvPr/>
        </p:nvSpPr>
        <p:spPr>
          <a:xfrm>
            <a:off x="10630000" y="30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σ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0" y="95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b₁ =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0000" y="580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b₂ = 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50000" y="420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c = −1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Forward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000000" cy="5500000"/>
          </a:xfrm>
        </p:spPr>
        <p:txBody>
          <a:bodyPr wrap="square"/>
          <a:lstStyle/>
          <a:p>
            <a:r>
              <a:rPr sz="2400"/>
              <a:t>z₁ = 1·1 + (−1)·2 + 0.5 = </a:t>
            </a:r>
            <a:r>
              <a:rPr sz="2400" b="1">
                <a:solidFill>
                  <a:srgbClr val="2A40E2"/>
                </a:solidFill>
              </a:rPr>
              <a:t>−0.5</a:t>
            </a:r>
            <a:r>
              <a:rPr sz="2400"/>
              <a:t>, so h₁ = ReLU(−0.5) = </a:t>
            </a:r>
            <a:r>
              <a:rPr sz="2400" b="1">
                <a:solidFill>
                  <a:srgbClr val="2A40E2"/>
                </a:solidFill>
              </a:rPr>
              <a:t>0</a:t>
            </a:r>
          </a:p>
          <a:p>
            <a:r>
              <a:rPr sz="2400"/>
              <a:t>z₂ = 2·1 + 1·2 − 1 = </a:t>
            </a:r>
            <a:r>
              <a:rPr sz="2400" b="1">
                <a:solidFill>
                  <a:srgbClr val="2A40E2"/>
                </a:solidFill>
              </a:rPr>
              <a:t>3</a:t>
            </a:r>
            <a:r>
              <a:rPr sz="2400"/>
              <a:t>, so h₂ = </a:t>
            </a:r>
            <a:r>
              <a:rPr sz="2400" b="1">
                <a:solidFill>
                  <a:srgbClr val="2A40E2"/>
                </a:solidFill>
              </a:rPr>
              <a:t>3</a:t>
            </a:r>
          </a:p>
          <a:p>
            <a:r>
              <a:rPr sz="2400"/>
              <a:t>z = 1·0 + 0.5·3 − 1 = </a:t>
            </a:r>
            <a:r>
              <a:rPr sz="2400" b="1">
                <a:solidFill>
                  <a:srgbClr val="2A40E2"/>
                </a:solidFill>
              </a:rPr>
              <a:t>0.5</a:t>
            </a:r>
          </a:p>
          <a:p>
            <a:r>
              <a:rPr sz="2400"/>
              <a:t>ŷ = σ(0.5) ≈ </a:t>
            </a:r>
            <a:r>
              <a:rPr sz="2400" b="1">
                <a:solidFill>
                  <a:srgbClr val="2A40E2"/>
                </a:solidFill>
              </a:rPr>
              <a:t>0.622</a:t>
            </a:r>
          </a:p>
          <a:p>
            <a:r>
              <a:rPr sz="2400"/>
              <a:t>L = −ln(0.622) ≈ </a:t>
            </a:r>
            <a:r>
              <a:rPr sz="2400" b="1">
                <a:solidFill>
                  <a:srgbClr val="2A40E2"/>
                </a:solidFill>
              </a:rPr>
              <a:t>0.474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7250000" y="1950000"/>
            <a:ext cx="2050000" cy="5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250000" y="1950000"/>
            <a:ext cx="2050000" cy="27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50000" y="2450000"/>
            <a:ext cx="2050000" cy="27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50000" y="4650000"/>
            <a:ext cx="2050000" cy="5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00000" y="1950000"/>
            <a:ext cx="1850000" cy="16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300000" y="3550000"/>
            <a:ext cx="1850000" cy="16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52500" y="2065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w₁₁=1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1000" y="3896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w₁₂=−1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1000" y="2884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w₂₁=2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2500" y="4715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w₂₂=1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2500" y="2510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v₁=1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2500" y="4270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v₂=0.5</a:t>
            </a:r>
          </a:p>
        </p:txBody>
      </p:sp>
      <p:sp>
        <p:nvSpPr>
          <p:cNvPr id="16" name="Oval 15"/>
          <p:cNvSpPr/>
          <p:nvPr/>
        </p:nvSpPr>
        <p:spPr>
          <a:xfrm>
            <a:off x="6730000" y="19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x₁=1</a:t>
            </a:r>
          </a:p>
        </p:txBody>
      </p:sp>
      <p:sp>
        <p:nvSpPr>
          <p:cNvPr id="17" name="Oval 16"/>
          <p:cNvSpPr/>
          <p:nvPr/>
        </p:nvSpPr>
        <p:spPr>
          <a:xfrm>
            <a:off x="6730000" y="41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x₂=2</a:t>
            </a:r>
          </a:p>
        </p:txBody>
      </p:sp>
      <p:sp>
        <p:nvSpPr>
          <p:cNvPr id="18" name="Oval 17"/>
          <p:cNvSpPr/>
          <p:nvPr/>
        </p:nvSpPr>
        <p:spPr>
          <a:xfrm>
            <a:off x="8700000" y="1350000"/>
            <a:ext cx="1200000" cy="1200000"/>
          </a:xfrm>
          <a:prstGeom prst="ellipse">
            <a:avLst/>
          </a:prstGeom>
          <a:solidFill>
            <a:srgbClr val="E8EE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z₁=−0.5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h₁=0</a:t>
            </a:r>
          </a:p>
        </p:txBody>
      </p:sp>
      <p:sp>
        <p:nvSpPr>
          <p:cNvPr id="19" name="Oval 18"/>
          <p:cNvSpPr/>
          <p:nvPr/>
        </p:nvSpPr>
        <p:spPr>
          <a:xfrm>
            <a:off x="8700000" y="4550000"/>
            <a:ext cx="1200000" cy="1200000"/>
          </a:xfrm>
          <a:prstGeom prst="ellipse">
            <a:avLst/>
          </a:prstGeom>
          <a:solidFill>
            <a:srgbClr val="E8EE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z₂=3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h₂=3</a:t>
            </a:r>
          </a:p>
        </p:txBody>
      </p:sp>
      <p:sp>
        <p:nvSpPr>
          <p:cNvPr id="20" name="Oval 19"/>
          <p:cNvSpPr/>
          <p:nvPr/>
        </p:nvSpPr>
        <p:spPr>
          <a:xfrm>
            <a:off x="10550000" y="2950000"/>
            <a:ext cx="1200000" cy="1200000"/>
          </a:xfrm>
          <a:prstGeom prst="ellipse">
            <a:avLst/>
          </a:prstGeom>
          <a:solidFill>
            <a:srgbClr val="E8EE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z=0.5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ŷ=0.622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0" y="95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b₁ =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0000" y="580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b₂ = 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50000" y="420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c = −1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0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200"/>
              <a:t>Same network, forward pass as in the previous exercise (ŷ ≈ 0.622, y = 1).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200" b="1">
                <a:solidFill>
                  <a:srgbClr val="2A40E2"/>
                </a:solidFill>
              </a:rPr>
              <a:t>(c)</a:t>
            </a:r>
            <a:r>
              <a:rPr sz="2200"/>
              <a:t> For a sigmoid output with binary cross-entropy, ∂L/∂z = ŷ − y. Compute ∂L/∂z, ∂L/∂v₂ and ∂L/∂c.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200" b="1">
                <a:solidFill>
                  <a:srgbClr val="2A40E2"/>
                </a:solidFill>
              </a:rPr>
              <a:t>(d)</a:t>
            </a:r>
            <a:r>
              <a:rPr sz="2200"/>
              <a:t> Back-propagate to the hidden layer: compute ∂L/∂w₂₂ and ∂L/∂w₁₁. Explain your result for w₁₁ in one sentence.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7250000" y="1950000"/>
            <a:ext cx="2050000" cy="5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250000" y="1950000"/>
            <a:ext cx="2050000" cy="27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50000" y="2450000"/>
            <a:ext cx="2050000" cy="27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50000" y="4650000"/>
            <a:ext cx="2050000" cy="5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00000" y="1950000"/>
            <a:ext cx="1850000" cy="16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300000" y="3550000"/>
            <a:ext cx="1850000" cy="16000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52500" y="2065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w₁₁=1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1000" y="3896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w₁₂=−1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1000" y="2884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w₂₁=2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2500" y="4715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w₂₂=1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2500" y="2510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v₁=1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2500" y="4270000"/>
            <a:ext cx="840000" cy="320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</a:rPr>
              <a:t>v₂=0.5</a:t>
            </a:r>
          </a:p>
        </p:txBody>
      </p:sp>
      <p:sp>
        <p:nvSpPr>
          <p:cNvPr id="16" name="Oval 15"/>
          <p:cNvSpPr/>
          <p:nvPr/>
        </p:nvSpPr>
        <p:spPr>
          <a:xfrm>
            <a:off x="6730000" y="19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x₁=1</a:t>
            </a:r>
          </a:p>
        </p:txBody>
      </p:sp>
      <p:sp>
        <p:nvSpPr>
          <p:cNvPr id="17" name="Oval 16"/>
          <p:cNvSpPr/>
          <p:nvPr/>
        </p:nvSpPr>
        <p:spPr>
          <a:xfrm>
            <a:off x="6730000" y="4130000"/>
            <a:ext cx="1040000" cy="10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x₂=2</a:t>
            </a:r>
          </a:p>
        </p:txBody>
      </p:sp>
      <p:sp>
        <p:nvSpPr>
          <p:cNvPr id="18" name="Oval 17"/>
          <p:cNvSpPr/>
          <p:nvPr/>
        </p:nvSpPr>
        <p:spPr>
          <a:xfrm>
            <a:off x="8700000" y="1350000"/>
            <a:ext cx="1200000" cy="1200000"/>
          </a:xfrm>
          <a:prstGeom prst="ellipse">
            <a:avLst/>
          </a:prstGeom>
          <a:solidFill>
            <a:srgbClr val="E8EE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z₁=−0.5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h₁=0</a:t>
            </a:r>
          </a:p>
        </p:txBody>
      </p:sp>
      <p:sp>
        <p:nvSpPr>
          <p:cNvPr id="19" name="Oval 18"/>
          <p:cNvSpPr/>
          <p:nvPr/>
        </p:nvSpPr>
        <p:spPr>
          <a:xfrm>
            <a:off x="8700000" y="4550000"/>
            <a:ext cx="1200000" cy="1200000"/>
          </a:xfrm>
          <a:prstGeom prst="ellipse">
            <a:avLst/>
          </a:prstGeom>
          <a:solidFill>
            <a:srgbClr val="E8EE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z₂=3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h₂=3</a:t>
            </a:r>
          </a:p>
        </p:txBody>
      </p:sp>
      <p:sp>
        <p:nvSpPr>
          <p:cNvPr id="20" name="Oval 19"/>
          <p:cNvSpPr/>
          <p:nvPr/>
        </p:nvSpPr>
        <p:spPr>
          <a:xfrm>
            <a:off x="10550000" y="2950000"/>
            <a:ext cx="1200000" cy="1200000"/>
          </a:xfrm>
          <a:prstGeom prst="ellipse">
            <a:avLst/>
          </a:prstGeom>
          <a:solidFill>
            <a:srgbClr val="E8EE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>
                <a:solidFill>
                  <a:srgbClr val="000000"/>
                </a:solidFill>
              </a:rPr>
              <a:t>z=0.5</a:t>
            </a:r>
          </a:p>
          <a:p>
            <a:pPr algn="ctr"/>
            <a:r>
              <a:rPr sz="1400">
                <a:solidFill>
                  <a:srgbClr val="000000"/>
                </a:solidFill>
              </a:rPr>
              <a:t>ŷ=0.622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0" y="95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b₁ =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0000" y="580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b₂ = 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50000" y="4200000"/>
            <a:ext cx="1200000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/>
              <a:t>c = −1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r>
              <a:rPr sz="2600"/>
              <a:t>∂L/∂z = ŷ − y ≈ 0.622 − 1 = </a:t>
            </a:r>
            <a:r>
              <a:rPr sz="2600" b="1">
                <a:solidFill>
                  <a:srgbClr val="2A40E2"/>
                </a:solidFill>
              </a:rPr>
              <a:t>−0.378</a:t>
            </a:r>
          </a:p>
          <a:p>
            <a:r>
              <a:rPr sz="2600"/>
              <a:t>∂L/∂v₂ = (∂L/∂z)·h₂ = −0.378 × 3 ≈ </a:t>
            </a:r>
            <a:r>
              <a:rPr sz="2600" b="1">
                <a:solidFill>
                  <a:srgbClr val="2A40E2"/>
                </a:solidFill>
              </a:rPr>
              <a:t>−1.13</a:t>
            </a:r>
          </a:p>
          <a:p>
            <a:r>
              <a:rPr sz="2600"/>
              <a:t>∂L/∂c = (∂L/∂z)·1 ≈ </a:t>
            </a:r>
            <a:r>
              <a:rPr sz="2600" b="1">
                <a:solidFill>
                  <a:srgbClr val="2A40E2"/>
                </a:solidFill>
              </a:rPr>
              <a:t>−0.378</a:t>
            </a:r>
          </a:p>
          <a:p>
            <a:r>
              <a:rPr sz="2600"/>
              <a:t>∂L/∂h₂ = (∂L/∂z)·v₂ = −0.378 × 0.5 ≈ −0.189; z₂ = 3 &gt; 0 so ReLU′ = 1 and ∂L/∂z₂ = −0.189</a:t>
            </a:r>
          </a:p>
          <a:p>
            <a:r>
              <a:rPr sz="2600"/>
              <a:t>∂L/∂w₂₂ = ∂L/∂z₂ · x₂ = −0.189 × 2 ≈ </a:t>
            </a:r>
            <a:r>
              <a:rPr sz="2600" b="1">
                <a:solidFill>
                  <a:srgbClr val="2A40E2"/>
                </a:solidFill>
              </a:rPr>
              <a:t>−0.378</a:t>
            </a:r>
          </a:p>
          <a:p>
            <a:r>
              <a:rPr sz="2600"/>
              <a:t>∂L/∂w₁₁ = </a:t>
            </a:r>
            <a:r>
              <a:rPr sz="2600" b="1">
                <a:solidFill>
                  <a:srgbClr val="2A40E2"/>
                </a:solidFill>
              </a:rPr>
              <a:t>0</a:t>
            </a:r>
            <a:r>
              <a:rPr sz="2600"/>
              <a:t>: z₁ = −0.5 &lt; 0, so ReLU′(z₁) = 0 — the neuron is inactive for this input and no gradient flows through it (dead ReLU for this sample).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The same kind of classifier is used as a </a:t>
            </a:r>
            <a:r>
              <a:rPr sz="2000" b="1">
                <a:solidFill>
                  <a:srgbClr val="2A40E2"/>
                </a:solidFill>
              </a:rPr>
              <a:t>pedestrian detector</a:t>
            </a:r>
            <a:r>
              <a:rPr sz="2000"/>
              <a:t> on 1,000 camera frames, 100 of which contain a pedestrian (positive class).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 b="1">
                <a:solidFill>
                  <a:srgbClr val="2A40E2"/>
                </a:solidFill>
              </a:rPr>
              <a:t>(e)</a:t>
            </a:r>
            <a:r>
              <a:rPr sz="2000"/>
              <a:t> Compute accuracy, precision and recall.</a:t>
            </a:r>
          </a:p>
          <a:p>
            <a:pPr marL="0" indent="0">
              <a:buNone/>
            </a:pPr>
            <a:r>
              <a:rPr sz="2000" b="1">
                <a:solidFill>
                  <a:srgbClr val="2A40E2"/>
                </a:solidFill>
              </a:rPr>
              <a:t>(f)</a:t>
            </a:r>
            <a:r>
              <a:rPr sz="2000"/>
              <a:t> Compute the F1 score.</a:t>
            </a:r>
          </a:p>
          <a:p>
            <a:pPr marL="0" indent="0">
              <a:buNone/>
            </a:pPr>
            <a:r>
              <a:rPr sz="2000" b="1">
                <a:solidFill>
                  <a:srgbClr val="2A40E2"/>
                </a:solidFill>
              </a:rPr>
              <a:t>(g)</a:t>
            </a:r>
            <a:r>
              <a:rPr sz="2000"/>
              <a:t> If the decision threshold is lowered, how do recall and precision typically change? For an AV, is a false negative or a false positive more dangerous here, and why?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100000"/>
          <a:ext cx="4800000" cy="144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00000"/>
                <a:gridCol w="1650000"/>
                <a:gridCol w="165000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endParaRPr sz="16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Predicted +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Predicted −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Actual +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TP = 80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FN = 20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Actual −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FP = 45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TN = 855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00000" y="2900000"/>
          <a:ext cx="3800000" cy="26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900000"/>
                <a:gridCol w="1900000"/>
              </a:tblGrid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 b="1"/>
                        <a:t>Metric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Accuracy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Precision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Recall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F1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400000" cy="5500000"/>
          </a:xfrm>
        </p:spPr>
        <p:txBody>
          <a:bodyPr wrap="square"/>
          <a:lstStyle/>
          <a:p>
            <a:r>
              <a:rPr sz="2000"/>
              <a:t>Accuracy = (80 + 855)/1000 = </a:t>
            </a:r>
            <a:r>
              <a:rPr sz="2000" b="1">
                <a:solidFill>
                  <a:srgbClr val="2A40E2"/>
                </a:solidFill>
              </a:rPr>
              <a:t>93.5 %</a:t>
            </a:r>
            <a:r>
              <a:rPr sz="2000"/>
              <a:t>; Precision = 80/(80 + 45) = </a:t>
            </a:r>
            <a:r>
              <a:rPr sz="2000" b="1">
                <a:solidFill>
                  <a:srgbClr val="2A40E2"/>
                </a:solidFill>
              </a:rPr>
              <a:t>0.64</a:t>
            </a:r>
            <a:r>
              <a:rPr sz="2000"/>
              <a:t>; Recall = 80/(80 + 20) = </a:t>
            </a:r>
            <a:r>
              <a:rPr sz="2000" b="1">
                <a:solidFill>
                  <a:srgbClr val="2A40E2"/>
                </a:solidFill>
              </a:rPr>
              <a:t>0.80</a:t>
            </a:r>
          </a:p>
          <a:p>
            <a:r>
              <a:rPr sz="2000"/>
              <a:t>F1 = 2PR/(P + R) = 2 × 0.64 × 0.8/1.44 ≈ </a:t>
            </a:r>
            <a:r>
              <a:rPr sz="2000" b="1">
                <a:solidFill>
                  <a:srgbClr val="2A40E2"/>
                </a:solidFill>
              </a:rPr>
              <a:t>0.711</a:t>
            </a:r>
            <a:r>
              <a:rPr sz="2000"/>
              <a:t> (= 2TP/(2TP + FP + FN) = 160/225)</a:t>
            </a:r>
          </a:p>
          <a:p>
            <a:r>
              <a:rPr sz="2000"/>
              <a:t>Lowering the threshold: </a:t>
            </a:r>
            <a:r>
              <a:rPr sz="2000" b="1">
                <a:solidFill>
                  <a:srgbClr val="2A40E2"/>
                </a:solidFill>
              </a:rPr>
              <a:t>recall increases</a:t>
            </a:r>
            <a:r>
              <a:rPr sz="2000"/>
              <a:t> (fewer FN), </a:t>
            </a:r>
            <a:r>
              <a:rPr sz="2000" b="1">
                <a:solidFill>
                  <a:srgbClr val="2A40E2"/>
                </a:solidFill>
              </a:rPr>
              <a:t>precision typically decreases</a:t>
            </a:r>
            <a:r>
              <a:rPr sz="2000"/>
              <a:t> (more FP).</a:t>
            </a:r>
          </a:p>
          <a:p>
            <a:r>
              <a:rPr sz="2000"/>
              <a:t>A </a:t>
            </a:r>
            <a:r>
              <a:rPr sz="2000" b="1">
                <a:solidFill>
                  <a:srgbClr val="2A40E2"/>
                </a:solidFill>
              </a:rPr>
              <a:t>false negative</a:t>
            </a:r>
            <a:r>
              <a:rPr sz="2000"/>
              <a:t> (missed pedestrian) is more dangerous: the AV does not brake. A false positive usually causes only unnecessary braking, so safety-critical detectors favor high recall.</a:t>
            </a:r>
          </a:p>
          <a:p>
            <a:r>
              <a:rPr sz="2000"/>
              <a:t>93.5 % accuracy looks good although 36 % of the detections are false alarms.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00000" y="1100000"/>
          <a:ext cx="4800000" cy="144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00000"/>
                <a:gridCol w="1650000"/>
                <a:gridCol w="165000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endParaRPr sz="1600"/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Predicted +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Predicted −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Actual +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TP = 80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FN = 20</a:t>
                      </a:r>
                    </a:p>
                  </a:txBody>
                  <a:tcPr marL="60000" marR="60000" marT="25000" marB="25000" anchor="ctr"/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600" b="1"/>
                        <a:t>Actual −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FP = 45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TN = 855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00000" y="2900000"/>
          <a:ext cx="3800000" cy="26000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900000"/>
                <a:gridCol w="1900000"/>
              </a:tblGrid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 b="1"/>
                        <a:t>Metric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/>
                        <a:t>Value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Accuracy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93.5 %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Precision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0.64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Recall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0.80</a:t>
                      </a:r>
                    </a:p>
                  </a:txBody>
                  <a:tcPr marL="60000" marR="60000" marT="25000" marB="25000" anchor="ctr"/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sz="1800"/>
                        <a:t>F1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0.711</a:t>
                      </a:r>
                    </a:p>
                  </a:txBody>
                  <a:tcPr marL="60000" marR="60000" marT="25000" marB="250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98985</TotalTime>
  <Pages>60</Pages>
  <Words>2924</Words>
  <Application>Microsoft Office PowerPoint</Application>
  <PresentationFormat>Widescreen</PresentationFormat>
  <Paragraphs>591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 MT</vt:lpstr>
      <vt:lpstr>gg sans</vt:lpstr>
      <vt:lpstr>Gill Sans</vt:lpstr>
      <vt:lpstr>Gill Sans Light</vt:lpstr>
      <vt:lpstr>宋体</vt:lpstr>
      <vt:lpstr>Arial</vt:lpstr>
      <vt:lpstr>Cambria Math</vt:lpstr>
      <vt:lpstr>Comic Sans MS</vt:lpstr>
      <vt:lpstr>Courier New</vt:lpstr>
      <vt:lpstr>Times New Roman</vt:lpstr>
      <vt:lpstr>Office</vt:lpstr>
      <vt:lpstr>Equation</vt:lpstr>
      <vt:lpstr>CSC 112: Computer Operating Systems Lecture 4   Deadlocks Exercises Solution</vt:lpstr>
      <vt:lpstr>Quiz: Deadlocks </vt:lpstr>
      <vt:lpstr>Quiz: Banker’s Algorithm I</vt:lpstr>
      <vt:lpstr>Quiz Solution: Banker’s Algorithm I</vt:lpstr>
      <vt:lpstr>Quiz: Banker’s algorithm II</vt:lpstr>
      <vt:lpstr>Quiz Solution: Banker’s algorithm II</vt:lpstr>
      <vt:lpstr>Quiz Solution: Banker’s algorithm II</vt:lpstr>
      <vt:lpstr>Quiz Solution: Banker’s algorithm II</vt:lpstr>
      <vt:lpstr>Banker’s Algorithm: 4 philosophers each holding his left fork</vt:lpstr>
      <vt:lpstr>Banker’s Algorithm: 4 philosophers each holding his left fork ANS</vt:lpstr>
      <vt:lpstr>Banker’s Algorithm: 5 philosophers each holding his left fork</vt:lpstr>
      <vt:lpstr>Multi-Armed Lawyers</vt:lpstr>
      <vt:lpstr>Quiz: Dining Lawyers I</vt:lpstr>
      <vt:lpstr>Example: 5 Lawyers, each with 2 arms, 5 chopsticks</vt:lpstr>
      <vt:lpstr>Example: 5 Lawyers, each with 2 arms, 5 chopsticks</vt:lpstr>
      <vt:lpstr>Quiz: Dining Lawyers II </vt:lpstr>
      <vt:lpstr>Quiz: Dining Lawyers II Answer</vt:lpstr>
      <vt:lpstr>Quiz: Dining Lawyers III</vt:lpstr>
      <vt:lpstr>Quiz: Dining Lawyers III Answer</vt:lpstr>
      <vt:lpstr>Quiz: Dining Lawyers IV</vt:lpstr>
      <vt:lpstr>Quiz: Dining Lawyers IV Answer</vt:lpstr>
      <vt:lpstr>Example: 2 lawyers, each with 4 arms, 2 knives and 2 forks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1065</cp:revision>
  <cp:lastPrinted>2022-03-15T20:14:46Z</cp:lastPrinted>
  <dcterms:created xsi:type="dcterms:W3CDTF">1995-08-12T11:37:26Z</dcterms:created>
  <dcterms:modified xsi:type="dcterms:W3CDTF">2025-10-17T01:22:24Z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