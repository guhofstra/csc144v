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61" r:id="rId3"/>
    <p:sldId id="265" r:id="rId4"/>
    <p:sldId id="267" r:id="rId5"/>
    <p:sldId id="268" r:id="rId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A20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235752-8A5C-4F28-941B-4C9265E4BF1A}" v="11" dt="2026-01-25T18:21:48.797"/>
  </p1510:revLst>
</p1510:revInfo>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069"/>
    <p:restoredTop sz="94671"/>
  </p:normalViewPr>
  <p:slideViewPr>
    <p:cSldViewPr snapToGrid="0" snapToObjects="1">
      <p:cViewPr varScale="1">
        <p:scale>
          <a:sx n="101" d="100"/>
          <a:sy n="101" d="100"/>
        </p:scale>
        <p:origin x="2268" y="108"/>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custSel addSld delSld modSld">
      <pc:chgData name="Zonghua Gu" userId="9a7e1853e1951ef5" providerId="LiveId" clId="{CF1FAA12-072C-4ED5-BA76-0FFFAEFDB88A}" dt="2026-01-25T18:21:50.535" v="96" actId="47"/>
      <pc:docMkLst>
        <pc:docMk/>
      </pc:docMkLst>
      <pc:sldChg chg="modSp mod">
        <pc:chgData name="Zonghua Gu" userId="9a7e1853e1951ef5" providerId="LiveId" clId="{CF1FAA12-072C-4ED5-BA76-0FFFAEFDB88A}" dt="2026-01-13T17:40:50.395" v="94" actId="20577"/>
        <pc:sldMkLst>
          <pc:docMk/>
          <pc:sldMk cId="155059883" sldId="261"/>
        </pc:sldMkLst>
        <pc:spChg chg="mod">
          <ac:chgData name="Zonghua Gu" userId="9a7e1853e1951ef5" providerId="LiveId" clId="{CF1FAA12-072C-4ED5-BA76-0FFFAEFDB88A}" dt="2026-01-13T17:40:50.395" v="94" actId="20577"/>
          <ac:spMkLst>
            <pc:docMk/>
            <pc:sldMk cId="155059883" sldId="261"/>
            <ac:spMk id="3" creationId="{00000000-0000-0000-0000-000000000000}"/>
          </ac:spMkLst>
        </pc:spChg>
      </pc:sldChg>
      <pc:sldChg chg="del">
        <pc:chgData name="Zonghua Gu" userId="9a7e1853e1951ef5" providerId="LiveId" clId="{CF1FAA12-072C-4ED5-BA76-0FFFAEFDB88A}" dt="2026-01-25T18:21:50.535" v="96" actId="47"/>
        <pc:sldMkLst>
          <pc:docMk/>
          <pc:sldMk cId="3772300189" sldId="263"/>
        </pc:sldMkLst>
      </pc:sldChg>
      <pc:sldChg chg="modSp mod">
        <pc:chgData name="Zonghua Gu" userId="9a7e1853e1951ef5" providerId="LiveId" clId="{CF1FAA12-072C-4ED5-BA76-0FFFAEFDB88A}" dt="2025-12-31T21:30:40.466" v="76" actId="3626"/>
        <pc:sldMkLst>
          <pc:docMk/>
          <pc:sldMk cId="178653079" sldId="265"/>
        </pc:sldMkLst>
        <pc:spChg chg="mod">
          <ac:chgData name="Zonghua Gu" userId="9a7e1853e1951ef5" providerId="LiveId" clId="{CF1FAA12-072C-4ED5-BA76-0FFFAEFDB88A}" dt="2025-12-31T21:30:40.466" v="76" actId="3626"/>
          <ac:spMkLst>
            <pc:docMk/>
            <pc:sldMk cId="178653079" sldId="265"/>
            <ac:spMk id="3" creationId="{4C753F46-04DC-0E7F-B563-1C508D6328EA}"/>
          </ac:spMkLst>
        </pc:spChg>
      </pc:sldChg>
      <pc:sldChg chg="modSp add mod">
        <pc:chgData name="Zonghua Gu" userId="9a7e1853e1951ef5" providerId="LiveId" clId="{CF1FAA12-072C-4ED5-BA76-0FFFAEFDB88A}" dt="2025-12-30T21:06:29.516" v="15"/>
        <pc:sldMkLst>
          <pc:docMk/>
          <pc:sldMk cId="3122684559" sldId="267"/>
        </pc:sldMkLst>
        <pc:spChg chg="mod">
          <ac:chgData name="Zonghua Gu" userId="9a7e1853e1951ef5" providerId="LiveId" clId="{CF1FAA12-072C-4ED5-BA76-0FFFAEFDB88A}" dt="2025-12-30T21:06:29.516" v="15"/>
          <ac:spMkLst>
            <pc:docMk/>
            <pc:sldMk cId="3122684559" sldId="267"/>
            <ac:spMk id="3" creationId="{73B5D58E-C189-E68D-1A4E-DF494F94B82C}"/>
          </ac:spMkLst>
        </pc:spChg>
      </pc:sldChg>
      <pc:sldChg chg="add">
        <pc:chgData name="Zonghua Gu" userId="9a7e1853e1951ef5" providerId="LiveId" clId="{CF1FAA12-072C-4ED5-BA76-0FFFAEFDB88A}" dt="2026-01-25T18:21:48.797" v="95"/>
        <pc:sldMkLst>
          <pc:docMk/>
          <pc:sldMk cId="3675325541" sldId="26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A0EB13-15AA-4F17-85B5-7D7BBF18EB40}" type="datetimeFigureOut">
              <a:rPr lang="en-SE" smtClean="0"/>
              <a:t>10/07/2026</a:t>
            </a:fld>
            <a:endParaRPr lang="en-SE"/>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S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E8CD21-1CCD-4923-99C6-950C27132222}" type="slidenum">
              <a:rPr lang="en-SE" smtClean="0"/>
              <a:t>‹#›</a:t>
            </a:fld>
            <a:endParaRPr lang="en-SE"/>
          </a:p>
        </p:txBody>
      </p:sp>
    </p:spTree>
    <p:extLst>
      <p:ext uri="{BB962C8B-B14F-4D97-AF65-F5344CB8AC3E}">
        <p14:creationId xmlns:p14="http://schemas.microsoft.com/office/powerpoint/2010/main" val="1084540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a:t>
            </a:r>
            <a:endParaRPr lang="en-SE"/>
          </a:p>
        </p:txBody>
      </p:sp>
      <p:sp>
        <p:nvSpPr>
          <p:cNvPr id="4" name="Slide Number Placeholder 3"/>
          <p:cNvSpPr>
            <a:spLocks noGrp="1"/>
          </p:cNvSpPr>
          <p:nvPr>
            <p:ph type="sldNum" sz="quarter" idx="5"/>
          </p:nvPr>
        </p:nvSpPr>
        <p:spPr/>
        <p:txBody>
          <a:bodyPr/>
          <a:lstStyle/>
          <a:p>
            <a:fld id="{6AE8CD21-1CCD-4923-99C6-950C27132222}" type="slidenum">
              <a:rPr lang="en-SE" smtClean="0"/>
              <a:t>2</a:t>
            </a:fld>
            <a:endParaRPr lang="en-SE"/>
          </a:p>
        </p:txBody>
      </p:sp>
    </p:spTree>
    <p:extLst>
      <p:ext uri="{BB962C8B-B14F-4D97-AF65-F5344CB8AC3E}">
        <p14:creationId xmlns:p14="http://schemas.microsoft.com/office/powerpoint/2010/main" val="36054862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https://www.simplypsychology.org/normal-distribution.html</a:t>
            </a:r>
          </a:p>
          <a:p>
            <a:pPr lvl="1"/>
            <a:r>
              <a:rPr lang="en-US" dirty="0"/>
              <a:t>Graded on a curve based on the final points</a:t>
            </a:r>
          </a:p>
          <a:p>
            <a:pPr lvl="1"/>
            <a:r>
              <a:rPr lang="en-US" dirty="0"/>
              <a:t>Absolute marks do not matter, but your relative ranking in the class determines your final letter grade</a:t>
            </a:r>
          </a:p>
          <a:p>
            <a:endParaRPr lang="en-US" dirty="0"/>
          </a:p>
        </p:txBody>
      </p:sp>
      <p:sp>
        <p:nvSpPr>
          <p:cNvPr id="4" name="Slide Number Placeholder 3"/>
          <p:cNvSpPr>
            <a:spLocks noGrp="1"/>
          </p:cNvSpPr>
          <p:nvPr>
            <p:ph type="sldNum" sz="quarter" idx="5"/>
          </p:nvPr>
        </p:nvSpPr>
        <p:spPr/>
        <p:txBody>
          <a:bodyPr/>
          <a:lstStyle/>
          <a:p>
            <a:fld id="{6AE8CD21-1CCD-4923-99C6-950C27132222}" type="slidenum">
              <a:rPr lang="en-SE" smtClean="0"/>
              <a:t>5</a:t>
            </a:fld>
            <a:endParaRPr lang="en-SE"/>
          </a:p>
        </p:txBody>
      </p:sp>
    </p:spTree>
    <p:extLst>
      <p:ext uri="{BB962C8B-B14F-4D97-AF65-F5344CB8AC3E}">
        <p14:creationId xmlns:p14="http://schemas.microsoft.com/office/powerpoint/2010/main" val="23969453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solidFill>
                  <a:schemeClr val="accent1"/>
                </a:solidFill>
              </a:defRPr>
            </a:lvl1pPr>
          </a:lstStyle>
          <a:p>
            <a:r>
              <a:rPr lang="en-US" altLang="zh-CN" dirty="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a:t>Click to edit Master subtitle style</a:t>
            </a:r>
            <a:endParaRPr lang="en-US" dirty="0"/>
          </a:p>
        </p:txBody>
      </p:sp>
      <p:sp>
        <p:nvSpPr>
          <p:cNvPr id="4" name="Date Placeholder 3"/>
          <p:cNvSpPr>
            <a:spLocks noGrp="1"/>
          </p:cNvSpPr>
          <p:nvPr>
            <p:ph type="dt" sz="half" idx="10"/>
          </p:nvPr>
        </p:nvSpPr>
        <p:spPr/>
        <p:txBody>
          <a:bodyPr/>
          <a:lstStyle/>
          <a:p>
            <a:fld id="{FB221443-D73C-634A-A910-7320408C156D}"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2228168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3"/>
          <p:cNvSpPr>
            <a:spLocks noGrp="1"/>
          </p:cNvSpPr>
          <p:nvPr>
            <p:ph type="dt" sz="half" idx="10"/>
          </p:nvPr>
        </p:nvSpPr>
        <p:spPr/>
        <p:txBody>
          <a:bodyPr/>
          <a:lstStyle/>
          <a:p>
            <a:fld id="{FB221443-D73C-634A-A910-7320408C156D}"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20166812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ltLang="zh-CN"/>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CN"/>
              <a:t>Click to edit Master text styles</a:t>
            </a:r>
          </a:p>
        </p:txBody>
      </p:sp>
      <p:sp>
        <p:nvSpPr>
          <p:cNvPr id="4" name="Date Placeholder 3"/>
          <p:cNvSpPr>
            <a:spLocks noGrp="1"/>
          </p:cNvSpPr>
          <p:nvPr>
            <p:ph type="dt" sz="half" idx="10"/>
          </p:nvPr>
        </p:nvSpPr>
        <p:spPr/>
        <p:txBody>
          <a:bodyPr/>
          <a:lstStyle/>
          <a:p>
            <a:fld id="{FB221443-D73C-634A-A910-7320408C156D}"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385186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5" name="Date Placeholder 4"/>
          <p:cNvSpPr>
            <a:spLocks noGrp="1"/>
          </p:cNvSpPr>
          <p:nvPr>
            <p:ph type="dt" sz="half" idx="10"/>
          </p:nvPr>
        </p:nvSpPr>
        <p:spPr/>
        <p:txBody>
          <a:bodyPr/>
          <a:lstStyle/>
          <a:p>
            <a:fld id="{FB221443-D73C-634A-A910-7320408C156D}"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40056884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7" name="Date Placeholder 6"/>
          <p:cNvSpPr>
            <a:spLocks noGrp="1"/>
          </p:cNvSpPr>
          <p:nvPr>
            <p:ph type="dt" sz="half" idx="10"/>
          </p:nvPr>
        </p:nvSpPr>
        <p:spPr/>
        <p:txBody>
          <a:bodyPr/>
          <a:lstStyle/>
          <a:p>
            <a:fld id="{FB221443-D73C-634A-A910-7320408C156D}" type="datetimeFigureOut">
              <a:rPr lang="en-US" smtClean="0"/>
              <a:t>10/7/2026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36402766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Date Placeholder 2"/>
          <p:cNvSpPr>
            <a:spLocks noGrp="1"/>
          </p:cNvSpPr>
          <p:nvPr>
            <p:ph type="dt" sz="half" idx="10"/>
          </p:nvPr>
        </p:nvSpPr>
        <p:spPr/>
        <p:txBody>
          <a:bodyPr/>
          <a:lstStyle/>
          <a:p>
            <a:fld id="{FB221443-D73C-634A-A910-7320408C156D}" type="datetimeFigureOut">
              <a:rPr lang="en-US" smtClean="0"/>
              <a:t>10/7/2026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33378560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221443-D73C-634A-A910-7320408C156D}" type="datetimeFigureOut">
              <a:rPr lang="en-US" smtClean="0"/>
              <a:t>10/7/2026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269035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ltLang="zh-CN"/>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FB221443-D73C-634A-A910-7320408C156D}"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26132581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ltLang="zh-CN"/>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FB221443-D73C-634A-A910-7320408C156D}"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2651124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3"/>
          <p:cNvSpPr>
            <a:spLocks noGrp="1"/>
          </p:cNvSpPr>
          <p:nvPr>
            <p:ph type="dt" sz="half" idx="10"/>
          </p:nvPr>
        </p:nvSpPr>
        <p:spPr/>
        <p:txBody>
          <a:bodyPr/>
          <a:lstStyle/>
          <a:p>
            <a:fld id="{FB221443-D73C-634A-A910-7320408C156D}"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22680605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ltLang="zh-CN"/>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3"/>
          <p:cNvSpPr>
            <a:spLocks noGrp="1"/>
          </p:cNvSpPr>
          <p:nvPr>
            <p:ph type="dt" sz="half" idx="10"/>
          </p:nvPr>
        </p:nvSpPr>
        <p:spPr/>
        <p:txBody>
          <a:bodyPr/>
          <a:lstStyle/>
          <a:p>
            <a:fld id="{FB221443-D73C-634A-A910-7320408C156D}"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19493217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ltLang="zh-CN" dirty="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221443-D73C-634A-A910-7320408C156D}" type="datetimeFigureOut">
              <a:rPr lang="en-US" smtClean="0"/>
              <a:t>10/7/2026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5BE2B7-23DB-644D-89A2-CA3C2E8FEF83}" type="slidenum">
              <a:rPr lang="en-US" smtClean="0"/>
              <a:t>‹#›</a:t>
            </a:fld>
            <a:endParaRPr lang="en-US"/>
          </a:p>
        </p:txBody>
      </p:sp>
    </p:spTree>
    <p:extLst>
      <p:ext uri="{BB962C8B-B14F-4D97-AF65-F5344CB8AC3E}">
        <p14:creationId xmlns:p14="http://schemas.microsoft.com/office/powerpoint/2010/main" val="460535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3600" kern="1200">
          <a:solidFill>
            <a:schemeClr val="accent1"/>
          </a:solidFill>
          <a:latin typeface="Helvetica"/>
          <a:ea typeface="+mj-ea"/>
          <a:cs typeface="Helvetica"/>
        </a:defRPr>
      </a:lvl1pPr>
    </p:titleStyle>
    <p:bodyStyle>
      <a:lvl1pPr marL="342900" indent="-342900" algn="l" defTabSz="457200" rtl="0" eaLnBrk="1" latinLnBrk="0" hangingPunct="1">
        <a:spcBef>
          <a:spcPct val="20000"/>
        </a:spcBef>
        <a:buClr>
          <a:schemeClr val="accent6"/>
        </a:buClr>
        <a:buFont typeface="Wingdings" charset="2"/>
        <a:buChar char="§"/>
        <a:defRPr sz="2400" kern="1200">
          <a:solidFill>
            <a:schemeClr val="tx1"/>
          </a:solidFill>
          <a:latin typeface="Times New Roman"/>
          <a:ea typeface="+mn-ea"/>
          <a:cs typeface="Times New Roman"/>
        </a:defRPr>
      </a:lvl1pPr>
      <a:lvl2pPr marL="742950" indent="-285750" algn="l" defTabSz="457200" rtl="0" eaLnBrk="1" latinLnBrk="0" hangingPunct="1">
        <a:spcBef>
          <a:spcPct val="20000"/>
        </a:spcBef>
        <a:buClr>
          <a:schemeClr val="accent6"/>
        </a:buClr>
        <a:buFont typeface="Wingdings" charset="2"/>
        <a:buChar char="§"/>
        <a:defRPr sz="2000" kern="1200">
          <a:solidFill>
            <a:schemeClr val="tx1"/>
          </a:solidFill>
          <a:latin typeface="Times New Roman"/>
          <a:ea typeface="+mn-ea"/>
          <a:cs typeface="Times New Roman"/>
        </a:defRPr>
      </a:lvl2pPr>
      <a:lvl3pPr marL="1143000" indent="-228600" algn="l" defTabSz="457200" rtl="0" eaLnBrk="1" latinLnBrk="0" hangingPunct="1">
        <a:spcBef>
          <a:spcPct val="20000"/>
        </a:spcBef>
        <a:buClr>
          <a:schemeClr val="accent6"/>
        </a:buClr>
        <a:buFont typeface="Wingdings" charset="2"/>
        <a:buChar char="§"/>
        <a:defRPr sz="1800" kern="1200">
          <a:solidFill>
            <a:schemeClr val="tx1"/>
          </a:solidFill>
          <a:latin typeface="Times New Roman"/>
          <a:ea typeface="+mn-ea"/>
          <a:cs typeface="Times New Roman"/>
        </a:defRPr>
      </a:lvl3pPr>
      <a:lvl4pPr marL="1600200" indent="-228600" algn="l" defTabSz="457200" rtl="0" eaLnBrk="1" latinLnBrk="0" hangingPunct="1">
        <a:spcBef>
          <a:spcPct val="20000"/>
        </a:spcBef>
        <a:buClr>
          <a:schemeClr val="accent6"/>
        </a:buClr>
        <a:buFont typeface="Wingdings" charset="2"/>
        <a:buChar char="§"/>
        <a:defRPr sz="1600" kern="1200">
          <a:solidFill>
            <a:schemeClr val="tx1"/>
          </a:solidFill>
          <a:latin typeface="Times New Roman"/>
          <a:ea typeface="+mn-ea"/>
          <a:cs typeface="Times New Roman"/>
        </a:defRPr>
      </a:lvl4pPr>
      <a:lvl5pPr marL="2057400" indent="-228600" algn="l" defTabSz="457200" rtl="0" eaLnBrk="1" latinLnBrk="0" hangingPunct="1">
        <a:spcBef>
          <a:spcPct val="20000"/>
        </a:spcBef>
        <a:buClr>
          <a:schemeClr val="accent6"/>
        </a:buClr>
        <a:buFont typeface="Wingdings" charset="2"/>
        <a:buChar char="§"/>
        <a:defRPr sz="1600" kern="1200">
          <a:solidFill>
            <a:schemeClr val="tx1"/>
          </a:solidFill>
          <a:latin typeface="Times New Roman"/>
          <a:ea typeface="+mn-ea"/>
          <a:cs typeface="Times New Roman"/>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uhofstra.github.io/CSC144V/"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discord.gg/hAqKpsutD"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46697"/>
            <a:ext cx="7772400" cy="1470025"/>
          </a:xfrm>
        </p:spPr>
        <p:txBody>
          <a:bodyPr>
            <a:noAutofit/>
          </a:bodyPr>
          <a:lstStyle/>
          <a:p>
            <a:pPr>
              <a:lnSpc>
                <a:spcPct val="130000"/>
              </a:lnSpc>
            </a:pPr>
            <a:r>
              <a:rPr lang="en-US" altLang="zh-CN" sz="3200" dirty="0">
                <a:solidFill>
                  <a:schemeClr val="accent1"/>
                </a:solidFill>
              </a:rPr>
              <a:t>Lecture</a:t>
            </a:r>
            <a:r>
              <a:rPr lang="zh-CN" altLang="en-US" sz="3200" dirty="0">
                <a:solidFill>
                  <a:schemeClr val="accent1"/>
                </a:solidFill>
              </a:rPr>
              <a:t> </a:t>
            </a:r>
            <a:r>
              <a:rPr lang="en-US" altLang="zh-CN" sz="3200" dirty="0"/>
              <a:t>0</a:t>
            </a:r>
            <a:br>
              <a:rPr lang="en-US" altLang="zh-CN" sz="3200" dirty="0">
                <a:solidFill>
                  <a:schemeClr val="accent1"/>
                </a:solidFill>
              </a:rPr>
            </a:br>
            <a:r>
              <a:rPr lang="en-US" altLang="zh-CN" sz="3200" dirty="0">
                <a:solidFill>
                  <a:schemeClr val="accent1"/>
                </a:solidFill>
              </a:rPr>
              <a:t>CSC144V/291R – Special Topic: Autonomous Vehicles </a:t>
            </a:r>
            <a:br>
              <a:rPr lang="en-US" altLang="zh-CN" sz="3200" dirty="0">
                <a:solidFill>
                  <a:schemeClr val="accent1"/>
                </a:solidFill>
              </a:rPr>
            </a:br>
            <a:r>
              <a:rPr lang="en-US" altLang="zh-CN" sz="3200" dirty="0">
                <a:solidFill>
                  <a:schemeClr val="accent1"/>
                </a:solidFill>
              </a:rPr>
              <a:t>Course Overview</a:t>
            </a:r>
            <a:endParaRPr lang="en-US" sz="3200" dirty="0">
              <a:solidFill>
                <a:schemeClr val="accent1"/>
              </a:solidFill>
            </a:endParaRPr>
          </a:p>
        </p:txBody>
      </p:sp>
      <p:sp>
        <p:nvSpPr>
          <p:cNvPr id="3" name="Subtitle 2"/>
          <p:cNvSpPr>
            <a:spLocks noGrp="1"/>
          </p:cNvSpPr>
          <p:nvPr>
            <p:ph type="subTitle" idx="1"/>
          </p:nvPr>
        </p:nvSpPr>
        <p:spPr/>
        <p:txBody>
          <a:bodyPr anchor="ctr">
            <a:normAutofit/>
          </a:bodyPr>
          <a:lstStyle/>
          <a:p>
            <a:r>
              <a:rPr lang="en-US" sz="2000" dirty="0">
                <a:solidFill>
                  <a:schemeClr val="tx1"/>
                </a:solidFill>
              </a:rPr>
              <a:t>Zonghua Gu</a:t>
            </a:r>
          </a:p>
          <a:p>
            <a:r>
              <a:rPr lang="en-US" sz="2000" dirty="0">
                <a:solidFill>
                  <a:schemeClr val="tx1"/>
                </a:solidFill>
              </a:rPr>
              <a:t>Department</a:t>
            </a:r>
            <a:r>
              <a:rPr lang="zh-CN" altLang="en-US" sz="2000" dirty="0">
                <a:solidFill>
                  <a:schemeClr val="tx1"/>
                </a:solidFill>
              </a:rPr>
              <a:t> </a:t>
            </a:r>
            <a:r>
              <a:rPr lang="en-US" altLang="zh-CN" sz="2000" dirty="0">
                <a:solidFill>
                  <a:schemeClr val="tx1"/>
                </a:solidFill>
              </a:rPr>
              <a:t>of</a:t>
            </a:r>
            <a:r>
              <a:rPr lang="zh-CN" altLang="en-US" sz="2000" dirty="0">
                <a:solidFill>
                  <a:schemeClr val="tx1"/>
                </a:solidFill>
              </a:rPr>
              <a:t> </a:t>
            </a:r>
            <a:r>
              <a:rPr lang="en-US" altLang="zh-CN" sz="2000" dirty="0">
                <a:solidFill>
                  <a:schemeClr val="tx1"/>
                </a:solidFill>
              </a:rPr>
              <a:t>Computer</a:t>
            </a:r>
            <a:r>
              <a:rPr lang="zh-CN" altLang="en-US" sz="2000" dirty="0">
                <a:solidFill>
                  <a:schemeClr val="tx1"/>
                </a:solidFill>
              </a:rPr>
              <a:t> </a:t>
            </a:r>
            <a:r>
              <a:rPr lang="en-US" altLang="zh-CN" sz="2000" dirty="0">
                <a:solidFill>
                  <a:schemeClr val="tx1"/>
                </a:solidFill>
              </a:rPr>
              <a:t>Science</a:t>
            </a:r>
          </a:p>
          <a:p>
            <a:r>
              <a:rPr lang="en-US" sz="2000" dirty="0">
                <a:solidFill>
                  <a:schemeClr val="tx1"/>
                </a:solidFill>
              </a:rPr>
              <a:t>Hofstra</a:t>
            </a:r>
            <a:r>
              <a:rPr lang="zh-CN" altLang="en-US" sz="2000" dirty="0">
                <a:solidFill>
                  <a:schemeClr val="tx1"/>
                </a:solidFill>
              </a:rPr>
              <a:t> </a:t>
            </a:r>
            <a:r>
              <a:rPr lang="en-US" altLang="zh-CN" sz="2000" dirty="0">
                <a:solidFill>
                  <a:schemeClr val="tx1"/>
                </a:solidFill>
              </a:rPr>
              <a:t>University</a:t>
            </a:r>
            <a:endParaRPr lang="en-US" sz="2000" dirty="0">
              <a:solidFill>
                <a:schemeClr val="tx1"/>
              </a:solidFill>
            </a:endParaRPr>
          </a:p>
        </p:txBody>
      </p:sp>
    </p:spTree>
    <p:extLst>
      <p:ext uri="{BB962C8B-B14F-4D97-AF65-F5344CB8AC3E}">
        <p14:creationId xmlns:p14="http://schemas.microsoft.com/office/powerpoint/2010/main" val="1214756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Logistics</a:t>
            </a:r>
          </a:p>
        </p:txBody>
      </p:sp>
      <p:sp>
        <p:nvSpPr>
          <p:cNvPr id="3" name="Content Placeholder 2"/>
          <p:cNvSpPr>
            <a:spLocks noGrp="1"/>
          </p:cNvSpPr>
          <p:nvPr>
            <p:ph idx="1"/>
          </p:nvPr>
        </p:nvSpPr>
        <p:spPr/>
        <p:txBody>
          <a:bodyPr>
            <a:normAutofit/>
          </a:bodyPr>
          <a:lstStyle/>
          <a:p>
            <a:pPr>
              <a:lnSpc>
                <a:spcPct val="150000"/>
              </a:lnSpc>
            </a:pPr>
            <a:r>
              <a:rPr lang="en-GB" b="1" dirty="0"/>
              <a:t>Course website: </a:t>
            </a:r>
            <a:r>
              <a:rPr lang="en-GB" dirty="0">
                <a:hlinkClick r:id="rId3"/>
              </a:rPr>
              <a:t>https://guhofstra.github.io/CSC144</a:t>
            </a:r>
            <a:r>
              <a:rPr lang="en-US" altLang="zh-CN" dirty="0">
                <a:hlinkClick r:id="rId3"/>
              </a:rPr>
              <a:t>V</a:t>
            </a:r>
            <a:r>
              <a:rPr lang="en-GB" dirty="0">
                <a:hlinkClick r:id="rId3"/>
              </a:rPr>
              <a:t>/</a:t>
            </a:r>
            <a:endParaRPr lang="en-GB" dirty="0"/>
          </a:p>
          <a:p>
            <a:pPr>
              <a:lnSpc>
                <a:spcPct val="150000"/>
              </a:lnSpc>
            </a:pPr>
            <a:r>
              <a:rPr lang="en-GB" b="1" dirty="0"/>
              <a:t>Lectures: </a:t>
            </a:r>
            <a:r>
              <a:rPr lang="de-DE" dirty="0"/>
              <a:t>MW 11:20 AM–12:45 PM, SIC 200</a:t>
            </a:r>
            <a:endParaRPr lang="en-GB" dirty="0"/>
          </a:p>
          <a:p>
            <a:pPr>
              <a:lnSpc>
                <a:spcPct val="150000"/>
              </a:lnSpc>
            </a:pPr>
            <a:r>
              <a:rPr lang="en-US" b="1" dirty="0"/>
              <a:t>Instructor: </a:t>
            </a:r>
            <a:r>
              <a:rPr lang="en-US" dirty="0"/>
              <a:t>Dr. Zonghua Gu</a:t>
            </a:r>
          </a:p>
          <a:p>
            <a:pPr lvl="1">
              <a:lnSpc>
                <a:spcPct val="150000"/>
              </a:lnSpc>
            </a:pPr>
            <a:r>
              <a:rPr lang="en-US" b="1" dirty="0"/>
              <a:t>Email: </a:t>
            </a:r>
            <a:r>
              <a:rPr lang="en-US" dirty="0"/>
              <a:t>Zonghua.Gu@hofstra.edu</a:t>
            </a:r>
          </a:p>
          <a:p>
            <a:pPr lvl="1">
              <a:lnSpc>
                <a:spcPct val="150000"/>
              </a:lnSpc>
            </a:pPr>
            <a:r>
              <a:rPr lang="en-US" b="1" dirty="0"/>
              <a:t>Office hours: </a:t>
            </a:r>
            <a:r>
              <a:rPr lang="en-US" altLang="zh-CN" dirty="0"/>
              <a:t>MW 8:00–9:40 AM, </a:t>
            </a:r>
            <a:r>
              <a:rPr lang="en-US" dirty="0"/>
              <a:t>SIC 219</a:t>
            </a:r>
          </a:p>
        </p:txBody>
      </p:sp>
    </p:spTree>
    <p:extLst>
      <p:ext uri="{BB962C8B-B14F-4D97-AF65-F5344CB8AC3E}">
        <p14:creationId xmlns:p14="http://schemas.microsoft.com/office/powerpoint/2010/main" val="155059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0DB64-B245-D46D-B4A0-7B8C92A75D16}"/>
              </a:ext>
            </a:extLst>
          </p:cNvPr>
          <p:cNvSpPr>
            <a:spLocks noGrp="1"/>
          </p:cNvSpPr>
          <p:nvPr>
            <p:ph type="title"/>
          </p:nvPr>
        </p:nvSpPr>
        <p:spPr/>
        <p:txBody>
          <a:bodyPr/>
          <a:lstStyle/>
          <a:p>
            <a:r>
              <a:rPr lang="en-GB" dirty="0"/>
              <a:t>Discord Channel and Feedback Form</a:t>
            </a:r>
            <a:endParaRPr lang="en-SE" dirty="0"/>
          </a:p>
        </p:txBody>
      </p:sp>
      <p:sp>
        <p:nvSpPr>
          <p:cNvPr id="3" name="Content Placeholder 2">
            <a:extLst>
              <a:ext uri="{FF2B5EF4-FFF2-40B4-BE49-F238E27FC236}">
                <a16:creationId xmlns:a16="http://schemas.microsoft.com/office/drawing/2014/main" id="{4C753F46-04DC-0E7F-B563-1C508D6328EA}"/>
              </a:ext>
            </a:extLst>
          </p:cNvPr>
          <p:cNvSpPr>
            <a:spLocks noGrp="1"/>
          </p:cNvSpPr>
          <p:nvPr>
            <p:ph idx="1"/>
          </p:nvPr>
        </p:nvSpPr>
        <p:spPr>
          <a:xfrm>
            <a:off x="457200" y="1600200"/>
            <a:ext cx="5008208" cy="4525963"/>
          </a:xfrm>
        </p:spPr>
        <p:txBody>
          <a:bodyPr>
            <a:normAutofit/>
          </a:bodyPr>
          <a:lstStyle/>
          <a:p>
            <a:r>
              <a:rPr lang="en-GB" dirty="0"/>
              <a:t>Join the Discord channel: </a:t>
            </a:r>
            <a:r>
              <a:rPr lang="en-GB" dirty="0">
                <a:hlinkClick r:id="rId2"/>
              </a:rPr>
              <a:t>https://discord.gg/hAqKpsutD</a:t>
            </a:r>
            <a:r>
              <a:rPr lang="en-GB" dirty="0"/>
              <a:t> </a:t>
            </a:r>
          </a:p>
          <a:p>
            <a:pPr lvl="1"/>
            <a:r>
              <a:rPr lang="en-US" altLang="zh-CN" dirty="0"/>
              <a:t>IMPORTANT! </a:t>
            </a:r>
            <a:r>
              <a:rPr lang="en-GB" dirty="0"/>
              <a:t>Used for all announcements and online Q&amp;A</a:t>
            </a:r>
          </a:p>
          <a:p>
            <a:r>
              <a:rPr lang="en-GB" dirty="0"/>
              <a:t>Course tutor</a:t>
            </a:r>
          </a:p>
          <a:p>
            <a:pPr lvl="1"/>
            <a:r>
              <a:rPr lang="en-US" altLang="zh-CN" dirty="0"/>
              <a:t>TBD</a:t>
            </a:r>
          </a:p>
          <a:p>
            <a:pPr lvl="1"/>
            <a:r>
              <a:rPr lang="en-GB" dirty="0"/>
              <a:t>Available on Discord and on</a:t>
            </a:r>
            <a:r>
              <a:rPr lang="en-US" dirty="0"/>
              <a:t>-demand ZOOM meetings</a:t>
            </a:r>
            <a:endParaRPr lang="en-GB" dirty="0"/>
          </a:p>
          <a:p>
            <a:r>
              <a:rPr lang="en-GB" dirty="0"/>
              <a:t>Use the anonymous feedback form anytime to provide your comments and suggestions for me.</a:t>
            </a:r>
          </a:p>
          <a:p>
            <a:endParaRPr lang="en-SE" dirty="0"/>
          </a:p>
        </p:txBody>
      </p:sp>
      <p:pic>
        <p:nvPicPr>
          <p:cNvPr id="5" name="Picture 4">
            <a:extLst>
              <a:ext uri="{FF2B5EF4-FFF2-40B4-BE49-F238E27FC236}">
                <a16:creationId xmlns:a16="http://schemas.microsoft.com/office/drawing/2014/main" id="{00E9B9D0-311E-9EDE-51A1-F6D9200274AE}"/>
              </a:ext>
            </a:extLst>
          </p:cNvPr>
          <p:cNvPicPr>
            <a:picLocks noChangeAspect="1"/>
          </p:cNvPicPr>
          <p:nvPr/>
        </p:nvPicPr>
        <p:blipFill>
          <a:blip r:embed="rId3"/>
          <a:srcRect/>
          <a:stretch/>
        </p:blipFill>
        <p:spPr>
          <a:xfrm>
            <a:off x="5465408" y="1768499"/>
            <a:ext cx="3517875" cy="3517875"/>
          </a:xfrm>
          <a:prstGeom prst="rect">
            <a:avLst/>
          </a:prstGeom>
        </p:spPr>
      </p:pic>
    </p:spTree>
    <p:extLst>
      <p:ext uri="{BB962C8B-B14F-4D97-AF65-F5344CB8AC3E}">
        <p14:creationId xmlns:p14="http://schemas.microsoft.com/office/powerpoint/2010/main" val="1786530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DF503-556C-2336-E1F2-3FF989A94FC6}"/>
              </a:ext>
            </a:extLst>
          </p:cNvPr>
          <p:cNvSpPr>
            <a:spLocks noGrp="1"/>
          </p:cNvSpPr>
          <p:nvPr>
            <p:ph type="title"/>
          </p:nvPr>
        </p:nvSpPr>
        <p:spPr/>
        <p:txBody>
          <a:bodyPr/>
          <a:lstStyle/>
          <a:p>
            <a:r>
              <a:rPr lang="en-US" dirty="0"/>
              <a:t>Lab Assignments</a:t>
            </a:r>
            <a:endParaRPr lang="en-SE" dirty="0"/>
          </a:p>
        </p:txBody>
      </p:sp>
      <p:sp>
        <p:nvSpPr>
          <p:cNvPr id="3" name="Content Placeholder 2">
            <a:extLst>
              <a:ext uri="{FF2B5EF4-FFF2-40B4-BE49-F238E27FC236}">
                <a16:creationId xmlns:a16="http://schemas.microsoft.com/office/drawing/2014/main" id="{73B5D58E-C189-E68D-1A4E-DF494F94B82C}"/>
              </a:ext>
            </a:extLst>
          </p:cNvPr>
          <p:cNvSpPr>
            <a:spLocks noGrp="1"/>
          </p:cNvSpPr>
          <p:nvPr>
            <p:ph idx="1"/>
          </p:nvPr>
        </p:nvSpPr>
        <p:spPr>
          <a:xfrm>
            <a:off x="545690" y="1268114"/>
            <a:ext cx="8229600" cy="4525963"/>
          </a:xfrm>
        </p:spPr>
        <p:txBody>
          <a:bodyPr/>
          <a:lstStyle/>
          <a:p>
            <a:r>
              <a:rPr lang="en-US" altLang="zh-CN" dirty="0"/>
              <a:t>Two</a:t>
            </a:r>
            <a:r>
              <a:rPr lang="en-US" dirty="0"/>
              <a:t> lab assignments</a:t>
            </a:r>
          </a:p>
          <a:p>
            <a:pPr lvl="1"/>
            <a:r>
              <a:rPr lang="en-US" dirty="0"/>
              <a:t>Please sign up on Canvas to form groups of 1-3 students each</a:t>
            </a:r>
          </a:p>
          <a:p>
            <a:r>
              <a:rPr lang="en-US" b="1" dirty="0">
                <a:solidFill>
                  <a:schemeClr val="accent1"/>
                </a:solidFill>
                <a:latin typeface="Times New Roman" panose="02020603050405020304" pitchFamily="18" charset="0"/>
              </a:rPr>
              <a:t>Late Days: </a:t>
            </a:r>
            <a:r>
              <a:rPr lang="en-US" dirty="0">
                <a:solidFill>
                  <a:srgbClr val="000000"/>
                </a:solidFill>
                <a:latin typeface="Times New Roman" panose="02020603050405020304" pitchFamily="18" charset="0"/>
              </a:rPr>
              <a:t>Each student is allowed a total of 3 late days for this class, which may be spent in units of one day (24 hours) on any lab(s) throughout the semester. Once your late days have been used up, late work will not receive any credit. Late days are intended to handle all issues, including unexpected problems such as illness. </a:t>
            </a:r>
          </a:p>
          <a:p>
            <a:endParaRPr lang="en-US" dirty="0"/>
          </a:p>
        </p:txBody>
      </p:sp>
    </p:spTree>
    <p:extLst>
      <p:ext uri="{BB962C8B-B14F-4D97-AF65-F5344CB8AC3E}">
        <p14:creationId xmlns:p14="http://schemas.microsoft.com/office/powerpoint/2010/main" val="31226845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Grading Policy</a:t>
            </a:r>
          </a:p>
        </p:txBody>
      </p:sp>
      <p:sp>
        <p:nvSpPr>
          <p:cNvPr id="10" name="Content Placeholder 2">
            <a:extLst>
              <a:ext uri="{FF2B5EF4-FFF2-40B4-BE49-F238E27FC236}">
                <a16:creationId xmlns:a16="http://schemas.microsoft.com/office/drawing/2014/main" id="{4485C2FC-F760-8450-0E62-F59CB3DFE20C}"/>
              </a:ext>
            </a:extLst>
          </p:cNvPr>
          <p:cNvSpPr>
            <a:spLocks noGrp="1"/>
          </p:cNvSpPr>
          <p:nvPr>
            <p:ph idx="1"/>
          </p:nvPr>
        </p:nvSpPr>
        <p:spPr>
          <a:xfrm>
            <a:off x="304799" y="1600200"/>
            <a:ext cx="8229599" cy="2539181"/>
          </a:xfrm>
        </p:spPr>
        <p:txBody>
          <a:bodyPr/>
          <a:lstStyle/>
          <a:p>
            <a:r>
              <a:rPr lang="en-US" dirty="0"/>
              <a:t>Midterm exam: 30%</a:t>
            </a:r>
          </a:p>
          <a:p>
            <a:r>
              <a:rPr lang="en-US" dirty="0"/>
              <a:t>Final exam: 40%</a:t>
            </a:r>
          </a:p>
          <a:p>
            <a:r>
              <a:rPr lang="en-US" dirty="0"/>
              <a:t>Labs: 30% (10 + 20)</a:t>
            </a:r>
          </a:p>
          <a:p>
            <a:r>
              <a:rPr lang="en-US" dirty="0"/>
              <a:t>Grade cutoff points are approximate and dependent on overall grade distribution</a:t>
            </a:r>
          </a:p>
        </p:txBody>
      </p:sp>
      <p:pic>
        <p:nvPicPr>
          <p:cNvPr id="4" name="Picture 3">
            <a:extLst>
              <a:ext uri="{FF2B5EF4-FFF2-40B4-BE49-F238E27FC236}">
                <a16:creationId xmlns:a16="http://schemas.microsoft.com/office/drawing/2014/main" id="{6941995E-190C-7957-D9E3-C29097E3AD22}"/>
              </a:ext>
            </a:extLst>
          </p:cNvPr>
          <p:cNvPicPr>
            <a:picLocks noChangeAspect="1"/>
          </p:cNvPicPr>
          <p:nvPr/>
        </p:nvPicPr>
        <p:blipFill>
          <a:blip r:embed="rId3"/>
          <a:stretch>
            <a:fillRect/>
          </a:stretch>
        </p:blipFill>
        <p:spPr>
          <a:xfrm>
            <a:off x="1460112" y="4091191"/>
            <a:ext cx="6694873" cy="2174404"/>
          </a:xfrm>
          <a:prstGeom prst="rect">
            <a:avLst/>
          </a:prstGeom>
        </p:spPr>
      </p:pic>
      <p:sp>
        <p:nvSpPr>
          <p:cNvPr id="5" name="TextBox 4">
            <a:extLst>
              <a:ext uri="{FF2B5EF4-FFF2-40B4-BE49-F238E27FC236}">
                <a16:creationId xmlns:a16="http://schemas.microsoft.com/office/drawing/2014/main" id="{AE41FB57-E05E-E37B-2179-98D14191727D}"/>
              </a:ext>
            </a:extLst>
          </p:cNvPr>
          <p:cNvSpPr txBox="1"/>
          <p:nvPr/>
        </p:nvSpPr>
        <p:spPr>
          <a:xfrm>
            <a:off x="6179599" y="6335311"/>
            <a:ext cx="362600" cy="461665"/>
          </a:xfrm>
          <a:prstGeom prst="rect">
            <a:avLst/>
          </a:prstGeom>
          <a:noFill/>
        </p:spPr>
        <p:txBody>
          <a:bodyPr wrap="none" rtlCol="0">
            <a:spAutoFit/>
          </a:bodyPr>
          <a:lstStyle/>
          <a:p>
            <a:r>
              <a:rPr lang="en-US" sz="2400" dirty="0"/>
              <a:t>A</a:t>
            </a:r>
          </a:p>
        </p:txBody>
      </p:sp>
      <p:sp>
        <p:nvSpPr>
          <p:cNvPr id="11" name="TextBox 10">
            <a:extLst>
              <a:ext uri="{FF2B5EF4-FFF2-40B4-BE49-F238E27FC236}">
                <a16:creationId xmlns:a16="http://schemas.microsoft.com/office/drawing/2014/main" id="{73A14233-5BD4-DCD3-E927-56FF876CF7EA}"/>
              </a:ext>
            </a:extLst>
          </p:cNvPr>
          <p:cNvSpPr txBox="1"/>
          <p:nvPr/>
        </p:nvSpPr>
        <p:spPr>
          <a:xfrm>
            <a:off x="4698416" y="6335311"/>
            <a:ext cx="362600" cy="461665"/>
          </a:xfrm>
          <a:prstGeom prst="rect">
            <a:avLst/>
          </a:prstGeom>
          <a:noFill/>
        </p:spPr>
        <p:txBody>
          <a:bodyPr wrap="none" rtlCol="0">
            <a:spAutoFit/>
          </a:bodyPr>
          <a:lstStyle/>
          <a:p>
            <a:r>
              <a:rPr lang="en-US" sz="2400" dirty="0"/>
              <a:t>B</a:t>
            </a:r>
          </a:p>
        </p:txBody>
      </p:sp>
      <p:sp>
        <p:nvSpPr>
          <p:cNvPr id="12" name="TextBox 11">
            <a:extLst>
              <a:ext uri="{FF2B5EF4-FFF2-40B4-BE49-F238E27FC236}">
                <a16:creationId xmlns:a16="http://schemas.microsoft.com/office/drawing/2014/main" id="{5E8C800B-92A5-CEC8-8A8B-200008609C9E}"/>
              </a:ext>
            </a:extLst>
          </p:cNvPr>
          <p:cNvSpPr txBox="1"/>
          <p:nvPr/>
        </p:nvSpPr>
        <p:spPr>
          <a:xfrm flipH="1">
            <a:off x="3225575" y="6335311"/>
            <a:ext cx="434416" cy="461665"/>
          </a:xfrm>
          <a:prstGeom prst="rect">
            <a:avLst/>
          </a:prstGeom>
          <a:noFill/>
        </p:spPr>
        <p:txBody>
          <a:bodyPr wrap="square" rtlCol="0">
            <a:spAutoFit/>
          </a:bodyPr>
          <a:lstStyle/>
          <a:p>
            <a:r>
              <a:rPr lang="en-US" sz="2400" dirty="0"/>
              <a:t>C</a:t>
            </a:r>
          </a:p>
        </p:txBody>
      </p:sp>
      <p:sp>
        <p:nvSpPr>
          <p:cNvPr id="13" name="TextBox 12">
            <a:extLst>
              <a:ext uri="{FF2B5EF4-FFF2-40B4-BE49-F238E27FC236}">
                <a16:creationId xmlns:a16="http://schemas.microsoft.com/office/drawing/2014/main" id="{6AD677F5-5130-722F-D935-AAD4400A7119}"/>
              </a:ext>
            </a:extLst>
          </p:cNvPr>
          <p:cNvSpPr txBox="1"/>
          <p:nvPr/>
        </p:nvSpPr>
        <p:spPr>
          <a:xfrm>
            <a:off x="1902138" y="6335311"/>
            <a:ext cx="468398" cy="461665"/>
          </a:xfrm>
          <a:prstGeom prst="rect">
            <a:avLst/>
          </a:prstGeom>
          <a:noFill/>
        </p:spPr>
        <p:txBody>
          <a:bodyPr wrap="none" rtlCol="0">
            <a:spAutoFit/>
          </a:bodyPr>
          <a:lstStyle/>
          <a:p>
            <a:r>
              <a:rPr lang="en-US" sz="2400" dirty="0"/>
              <a:t>F?</a:t>
            </a:r>
          </a:p>
        </p:txBody>
      </p:sp>
      <p:sp>
        <p:nvSpPr>
          <p:cNvPr id="14" name="TextBox 13">
            <a:extLst>
              <a:ext uri="{FF2B5EF4-FFF2-40B4-BE49-F238E27FC236}">
                <a16:creationId xmlns:a16="http://schemas.microsoft.com/office/drawing/2014/main" id="{D86E3090-D52C-74EE-3FD8-F0F7D63579A8}"/>
              </a:ext>
            </a:extLst>
          </p:cNvPr>
          <p:cNvSpPr txBox="1"/>
          <p:nvPr/>
        </p:nvSpPr>
        <p:spPr>
          <a:xfrm>
            <a:off x="5397012" y="6174564"/>
            <a:ext cx="782587" cy="400110"/>
          </a:xfrm>
          <a:prstGeom prst="rect">
            <a:avLst/>
          </a:prstGeom>
          <a:noFill/>
        </p:spPr>
        <p:txBody>
          <a:bodyPr wrap="none" rtlCol="0">
            <a:spAutoFit/>
          </a:bodyPr>
          <a:lstStyle/>
          <a:p>
            <a:r>
              <a:rPr lang="en-US" sz="2000" dirty="0"/>
              <a:t>85-90</a:t>
            </a:r>
          </a:p>
        </p:txBody>
      </p:sp>
      <p:sp>
        <p:nvSpPr>
          <p:cNvPr id="15" name="TextBox 14">
            <a:extLst>
              <a:ext uri="{FF2B5EF4-FFF2-40B4-BE49-F238E27FC236}">
                <a16:creationId xmlns:a16="http://schemas.microsoft.com/office/drawing/2014/main" id="{D6628709-AA79-91C6-7670-135A10137CB9}"/>
              </a:ext>
            </a:extLst>
          </p:cNvPr>
          <p:cNvSpPr txBox="1"/>
          <p:nvPr/>
        </p:nvSpPr>
        <p:spPr>
          <a:xfrm>
            <a:off x="3667411" y="6174564"/>
            <a:ext cx="782587" cy="400110"/>
          </a:xfrm>
          <a:prstGeom prst="rect">
            <a:avLst/>
          </a:prstGeom>
          <a:noFill/>
        </p:spPr>
        <p:txBody>
          <a:bodyPr wrap="none" rtlCol="0">
            <a:spAutoFit/>
          </a:bodyPr>
          <a:lstStyle/>
          <a:p>
            <a:r>
              <a:rPr lang="en-US" sz="2000" dirty="0"/>
              <a:t>70-75</a:t>
            </a:r>
          </a:p>
        </p:txBody>
      </p:sp>
      <p:sp>
        <p:nvSpPr>
          <p:cNvPr id="16" name="TextBox 15">
            <a:extLst>
              <a:ext uri="{FF2B5EF4-FFF2-40B4-BE49-F238E27FC236}">
                <a16:creationId xmlns:a16="http://schemas.microsoft.com/office/drawing/2014/main" id="{361DE0F8-AE86-B7E3-41E1-FC7BDF3EBD0A}"/>
              </a:ext>
            </a:extLst>
          </p:cNvPr>
          <p:cNvSpPr txBox="1"/>
          <p:nvPr/>
        </p:nvSpPr>
        <p:spPr>
          <a:xfrm>
            <a:off x="2593284" y="6174564"/>
            <a:ext cx="782587" cy="400110"/>
          </a:xfrm>
          <a:prstGeom prst="rect">
            <a:avLst/>
          </a:prstGeom>
          <a:noFill/>
        </p:spPr>
        <p:txBody>
          <a:bodyPr wrap="none" rtlCol="0">
            <a:spAutoFit/>
          </a:bodyPr>
          <a:lstStyle/>
          <a:p>
            <a:r>
              <a:rPr lang="en-US" sz="2000" dirty="0"/>
              <a:t>60-65</a:t>
            </a:r>
          </a:p>
        </p:txBody>
      </p:sp>
      <p:cxnSp>
        <p:nvCxnSpPr>
          <p:cNvPr id="18" name="Straight Arrow Connector 17">
            <a:extLst>
              <a:ext uri="{FF2B5EF4-FFF2-40B4-BE49-F238E27FC236}">
                <a16:creationId xmlns:a16="http://schemas.microsoft.com/office/drawing/2014/main" id="{C0E80ACE-A51A-CCB5-6D61-FB78442D180F}"/>
              </a:ext>
            </a:extLst>
          </p:cNvPr>
          <p:cNvCxnSpPr>
            <a:cxnSpLocks/>
          </p:cNvCxnSpPr>
          <p:nvPr/>
        </p:nvCxnSpPr>
        <p:spPr>
          <a:xfrm>
            <a:off x="2370536" y="6564723"/>
            <a:ext cx="855039" cy="284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32AB04AC-00A9-C51E-9E21-EC80A92DCD51}"/>
              </a:ext>
            </a:extLst>
          </p:cNvPr>
          <p:cNvCxnSpPr>
            <a:cxnSpLocks/>
          </p:cNvCxnSpPr>
          <p:nvPr/>
        </p:nvCxnSpPr>
        <p:spPr>
          <a:xfrm flipV="1">
            <a:off x="3675379" y="6566142"/>
            <a:ext cx="1023037" cy="1564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2E058877-9E26-CD16-4D9E-416ACBDE6556}"/>
              </a:ext>
            </a:extLst>
          </p:cNvPr>
          <p:cNvCxnSpPr>
            <a:cxnSpLocks/>
          </p:cNvCxnSpPr>
          <p:nvPr/>
        </p:nvCxnSpPr>
        <p:spPr>
          <a:xfrm flipV="1">
            <a:off x="5061016" y="6565571"/>
            <a:ext cx="1118583" cy="25063"/>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5" name="Slide Number Placeholder 24">
            <a:extLst>
              <a:ext uri="{FF2B5EF4-FFF2-40B4-BE49-F238E27FC236}">
                <a16:creationId xmlns:a16="http://schemas.microsoft.com/office/drawing/2014/main" id="{E8900106-E74B-992C-698F-44FB66ACC5A1}"/>
              </a:ext>
            </a:extLst>
          </p:cNvPr>
          <p:cNvSpPr>
            <a:spLocks noGrp="1"/>
          </p:cNvSpPr>
          <p:nvPr>
            <p:ph type="sldNum" sz="quarter" idx="12"/>
          </p:nvPr>
        </p:nvSpPr>
        <p:spPr/>
        <p:txBody>
          <a:bodyPr/>
          <a:lstStyle/>
          <a:p>
            <a:fld id="{325BE2B7-23DB-644D-89A2-CA3C2E8FEF83}" type="slidenum">
              <a:rPr lang="en-US" smtClean="0"/>
              <a:t>5</a:t>
            </a:fld>
            <a:endParaRPr lang="en-US"/>
          </a:p>
        </p:txBody>
      </p:sp>
    </p:spTree>
    <p:extLst>
      <p:ext uri="{BB962C8B-B14F-4D97-AF65-F5344CB8AC3E}">
        <p14:creationId xmlns:p14="http://schemas.microsoft.com/office/powerpoint/2010/main" val="36753255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a48a9ac-7937-4134-8b13-3620bf967764}" enabled="1" method="Privileged" siteId="{5a4ba6f9-f531-4f32-9467-398f19e69de4}" contentBits="0" removed="0"/>
</clbl:labelList>
</file>

<file path=docProps/app.xml><?xml version="1.0" encoding="utf-8"?>
<Properties xmlns="http://schemas.openxmlformats.org/officeDocument/2006/extended-properties" xmlns:vt="http://schemas.openxmlformats.org/officeDocument/2006/docPropsVTypes">
  <TotalTime>3077</TotalTime>
  <Words>300</Words>
  <Application>Microsoft Office PowerPoint</Application>
  <PresentationFormat>On-screen Show (4:3)</PresentationFormat>
  <Paragraphs>40</Paragraphs>
  <Slides>5</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Aptos</vt:lpstr>
      <vt:lpstr>Arial</vt:lpstr>
      <vt:lpstr>Calibri</vt:lpstr>
      <vt:lpstr>Helvetica</vt:lpstr>
      <vt:lpstr>Times New Roman</vt:lpstr>
      <vt:lpstr>Wingdings</vt:lpstr>
      <vt:lpstr>Office Theme</vt:lpstr>
      <vt:lpstr>Lecture 0 CSC144V/291R – Special Topic: Autonomous Vehicles  Course Overview</vt:lpstr>
      <vt:lpstr>Course Logistics</vt:lpstr>
      <vt:lpstr>Discord Channel and Feedback Form</vt:lpstr>
      <vt:lpstr>Lab Assignments</vt:lpstr>
      <vt:lpstr>Grading Policy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Classes and Objects in Java</dc:title>
  <dc:creator>Jianchen Shan</dc:creator>
  <cp:lastModifiedBy>Zonghua Gu</cp:lastModifiedBy>
  <cp:revision>115</cp:revision>
  <dcterms:created xsi:type="dcterms:W3CDTF">2018-08-13T22:58:39Z</dcterms:created>
  <dcterms:modified xsi:type="dcterms:W3CDTF">2026-10-07T23:26:04Z</dcterms:modified>
</cp:coreProperties>
</file>