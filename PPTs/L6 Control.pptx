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45"/>
  </p:notesMasterIdLst>
  <p:sldIdLst>
    <p:sldId id="256" r:id="rId6"/>
    <p:sldId id="257" r:id="rId7"/>
    <p:sldId id="258" r:id="rId8"/>
    <p:sldId id="291" r:id="rId9"/>
    <p:sldId id="259" r:id="rId10"/>
    <p:sldId id="296" r:id="rId11"/>
    <p:sldId id="260" r:id="rId12"/>
    <p:sldId id="261" r:id="rId13"/>
    <p:sldId id="262" r:id="rId14"/>
    <p:sldId id="263" r:id="rId15"/>
    <p:sldId id="264" r:id="rId16"/>
    <p:sldId id="265" r:id="rId17"/>
    <p:sldId id="266" r:id="rId18"/>
    <p:sldId id="267" r:id="rId19"/>
    <p:sldId id="268" r:id="rId20"/>
    <p:sldId id="297" r:id="rId50"/>
    <p:sldId id="299" r:id="rId52"/>
    <p:sldId id="300" r:id="rId53"/>
    <p:sldId id="301" r:id="rId54"/>
    <p:sldId id="293" r:id="rId21"/>
    <p:sldId id="269" r:id="rId22"/>
    <p:sldId id="271" r:id="rId23"/>
    <p:sldId id="272" r:id="rId24"/>
    <p:sldId id="273" r:id="rId25"/>
    <p:sldId id="274" r:id="rId26"/>
    <p:sldId id="275" r:id="rId27"/>
    <p:sldId id="276" r:id="rId28"/>
    <p:sldId id="277" r:id="rId29"/>
    <p:sldId id="294" r:id="rId30"/>
    <p:sldId id="278" r:id="rId31"/>
    <p:sldId id="279" r:id="rId32"/>
    <p:sldId id="282" r:id="rId33"/>
    <p:sldId id="285" r:id="rId34"/>
    <p:sldId id="283" r:id="rId35"/>
    <p:sldId id="284" r:id="rId36"/>
    <p:sldId id="298" r:id="rId51"/>
    <p:sldId id="302" r:id="rId55"/>
    <p:sldId id="303" r:id="rId56"/>
    <p:sldId id="304" r:id="rId57"/>
    <p:sldId id="305" r:id="rId58"/>
    <p:sldId id="306" r:id="rId59"/>
    <p:sldId id="307" r:id="rId60"/>
    <p:sldId id="280" r:id="rId37"/>
    <p:sldId id="295" r:id="rId38"/>
    <p:sldId id="281" r:id="rId39"/>
    <p:sldId id="286" r:id="rId40"/>
    <p:sldId id="287" r:id="rId41"/>
    <p:sldId id="288" r:id="rId42"/>
    <p:sldId id="290" r:id="rId43"/>
    <p:sldId id="28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8"/>
            <p14:sldId id="291"/>
            <p14:sldId id="259"/>
            <p14:sldId id="296"/>
            <p14:sldId id="260"/>
            <p14:sldId id="261"/>
            <p14:sldId id="262"/>
            <p14:sldId id="263"/>
            <p14:sldId id="264"/>
            <p14:sldId id="265"/>
            <p14:sldId id="266"/>
            <p14:sldId id="267"/>
            <p14:sldId id="268"/>
            <p14:sldId id="293"/>
            <p14:sldId id="269"/>
            <p14:sldId id="271"/>
            <p14:sldId id="272"/>
            <p14:sldId id="273"/>
            <p14:sldId id="274"/>
            <p14:sldId id="275"/>
            <p14:sldId id="276"/>
            <p14:sldId id="277"/>
            <p14:sldId id="294"/>
            <p14:sldId id="278"/>
            <p14:sldId id="279"/>
            <p14:sldId id="282"/>
            <p14:sldId id="285"/>
            <p14:sldId id="283"/>
            <p14:sldId id="284"/>
            <p14:sldId id="280"/>
            <p14:sldId id="295"/>
            <p14:sldId id="281"/>
            <p14:sldId id="286"/>
            <p14:sldId id="287"/>
            <p14:sldId id="288"/>
            <p14:sldId id="290"/>
            <p14:sldId id="289"/>
          </p14:sldIdLst>
        </p14:section>
        <p14:section name="Untitled Section" id="{7A961A8C-FEFB-449A-A212-787A8E4829AD}">
          <p14:sldIdLst/>
        </p14:section>
      </p14:sectionLst>
    </p:ext>
    <p:ext uri="{EFAFB233-063F-42B5-8137-9DF3F51BA10A}">
      <p15:sldGuideLst xmlns:p15="http://schemas.microsoft.com/office/powerpoint/2012/main">
        <p15:guide id="1" orient="horz" pos="845"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4964" autoAdjust="0"/>
  </p:normalViewPr>
  <p:slideViewPr>
    <p:cSldViewPr snapToGrid="0">
      <p:cViewPr varScale="1">
        <p:scale>
          <a:sx n="88" d="100"/>
          <a:sy n="88" d="100"/>
        </p:scale>
        <p:origin x="66" y="84"/>
      </p:cViewPr>
      <p:guideLst>
        <p:guide orient="horz" pos="845"/>
        <p:guide pos="2003"/>
      </p:guideLst>
    </p:cSldViewPr>
  </p:slideViewPr>
  <p:notesTextViewPr>
    <p:cViewPr>
      <p:scale>
        <a:sx n="1" d="1"/>
        <a:sy n="1" d="1"/>
      </p:scale>
      <p:origin x="0" y="0"/>
    </p:cViewPr>
  </p:notesTextViewPr>
  <p:sorterViewPr>
    <p:cViewPr>
      <p:scale>
        <a:sx n="150" d="100"/>
        <a:sy n="150" d="100"/>
      </p:scale>
      <p:origin x="0" y="-387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www.icloud.com/keynote/035Qivaw_FXYD70xCbD5R9lDA#control_AV"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a:t>
            </a:fld>
            <a:endParaRPr lang="en-US"/>
          </a:p>
        </p:txBody>
      </p:sp>
    </p:spTree>
    <p:extLst>
      <p:ext uri="{BB962C8B-B14F-4D97-AF65-F5344CB8AC3E}">
        <p14:creationId xmlns:p14="http://schemas.microsoft.com/office/powerpoint/2010/main" val="2527951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https://www.maplesoft.com/content/EngineeringFundamentals/11/MapleDocument_11/Block%20Diagrams,%20Feedback%20and%20Transient%20Response%20Specifications.pdf</a:t>
            </a:r>
          </a:p>
          <a:p/>
          <a:p>
            <a:r>
              <a:t>Note: rise time is defined here as the time to reach 1−δ of the steady-state value (as in the figure); many textbooks use the 10%–90% rise time instead.</a:t>
            </a:r>
          </a:p>
        </p:txBody>
      </p:sp>
      <p:sp>
        <p:nvSpPr>
          <p:cNvPr id="4" name="Slide Number Placeholder 3"/>
          <p:cNvSpPr>
            <a:spLocks noGrp="1"/>
          </p:cNvSpPr>
          <p:nvPr>
            <p:ph type="sldNum" sz="quarter" idx="5"/>
          </p:nvPr>
        </p:nvSpPr>
        <p:spPr/>
        <p:txBody>
          <a:bodyPr/>
          <a:lstStyle/>
          <a:p>
            <a:fld id="{7B3E9E18-F207-E64A-9E5E-A745EA363019}" type="slidenum">
              <a:rPr lang="en-US" smtClean="0"/>
              <a:t>6</a:t>
            </a:fld>
            <a:endParaRPr lang="en-US"/>
          </a:p>
        </p:txBody>
      </p:sp>
    </p:spTree>
    <p:extLst>
      <p:ext uri="{BB962C8B-B14F-4D97-AF65-F5344CB8AC3E}">
        <p14:creationId xmlns:p14="http://schemas.microsoft.com/office/powerpoint/2010/main" val="1116244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https://www.icloud.com/keynote/035Qivaw_FXYD70xCbD5R9lDA#control_AV</a:t>
            </a:r>
          </a:p>
          <a:p>
            <a:pPr lvl="1"/>
            <a:r>
              <a:rPr lang="en-US" dirty="0"/>
              <a:t>Ref. Control Algorithms for Autonomous Vehicles </a:t>
            </a:r>
            <a:r>
              <a:rPr lang="en-US" dirty="0">
                <a:hlinkClick r:id="rId3"/>
              </a:rPr>
              <a:t>https://www.icloud.com/keynote/035Qivaw_FXYD70xCbD5R9lDA#control_AV</a:t>
            </a:r>
            <a:r>
              <a:rPr lang="en-US" dirty="0"/>
              <a:t> </a:t>
            </a:r>
          </a:p>
          <a:p>
            <a:endParaRPr lang="en-SE" dirty="0"/>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11</a:t>
            </a:fld>
            <a:endParaRPr lang="en-US"/>
          </a:p>
        </p:txBody>
      </p:sp>
    </p:spTree>
    <p:extLst>
      <p:ext uri="{BB962C8B-B14F-4D97-AF65-F5344CB8AC3E}">
        <p14:creationId xmlns:p14="http://schemas.microsoft.com/office/powerpoint/2010/main" val="2834531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For example: to have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𝑡ℎ</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6</m:t>
                        </m:r>
                      </m:den>
                    </m:f>
                  </m:oMath>
                </a14:m>
                <a:r>
                  <a:rPr lang="en-US" dirty="0"/>
                  <a:t>, 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i="1">
                            <a:latin typeface="Cambria Math" panose="02040503050406030204" pitchFamily="18" charset="0"/>
                          </a:rPr>
                          <m:t>𝑡ℎ</m:t>
                        </m:r>
                      </m:sub>
                    </m:sSub>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𝜃</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𝑡ℎ</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den>
                        </m:f>
                      </m:e>
                    </m:d>
                  </m:oMath>
                </a14:m>
                <a:endParaRPr lang="en-US" dirty="0"/>
              </a:p>
              <a:p>
                <a:pPr lvl="1"/>
                <a:r>
                  <a:rPr lang="en-US" dirty="0"/>
                  <a:t>Even if the vehicle is very far from center of lane, do not change heading angle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too fast (keep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small). (A heuristic rule-of-thumb, not a hard guarantee)</a:t>
                </a:r>
              </a:p>
              <a:p>
                <a:endParaRPr lang="en-SE" dirty="0"/>
              </a:p>
            </p:txBody>
          </p:sp>
        </mc:Choice>
        <mc:Fallback xmlns="">
          <p:sp>
            <p:nvSpPr>
              <p:cNvPr id="3" name="Notes Placeholder 2"/>
              <p:cNvSpPr>
                <a:spLocks noGrp="1"/>
              </p:cNvSpPr>
              <p:nvPr>
                <p:ph type="body" idx="1"/>
              </p:nvPr>
            </p:nvSpPr>
            <p:spPr/>
            <p:txBody>
              <a:bodyPr/>
              <a:lstStyle/>
              <a:p>
                <a:r>
                  <a:rPr lang="en-US" dirty="0"/>
                  <a:t>For example: to have </a:t>
                </a:r>
                <a:r>
                  <a:rPr lang="en-US" i="0">
                    <a:latin typeface="Cambria Math" panose="02040503050406030204" pitchFamily="18" charset="0"/>
                  </a:rPr>
                  <a:t>𝜃_𝑡ℎ</a:t>
                </a:r>
                <a:r>
                  <a:rPr lang="en-US" b="0" i="0">
                    <a:latin typeface="Cambria Math" panose="02040503050406030204" pitchFamily="18" charset="0"/>
                  </a:rPr>
                  <a:t>=𝜋/6</a:t>
                </a:r>
                <a:r>
                  <a:rPr lang="en-US" dirty="0"/>
                  <a:t>, set </a:t>
                </a:r>
                <a:r>
                  <a:rPr lang="en-US" b="0" i="0">
                    <a:latin typeface="Cambria Math" panose="02040503050406030204" pitchFamily="18" charset="0"/>
                  </a:rPr>
                  <a:t>𝑑_</a:t>
                </a:r>
                <a:r>
                  <a:rPr lang="en-US" i="0">
                    <a:latin typeface="Cambria Math" panose="02040503050406030204" pitchFamily="18" charset="0"/>
                  </a:rPr>
                  <a:t>𝑡ℎ=|</a:t>
                </a:r>
                <a:r>
                  <a:rPr lang="en-US" b="0" i="0">
                    <a:latin typeface="Cambria Math" panose="02040503050406030204" pitchFamily="18" charset="0"/>
                  </a:rPr>
                  <a:t>(𝐾_𝜃 𝜃_𝑡ℎ)/𝐾_𝑑 |</a:t>
                </a:r>
                <a:endParaRPr lang="en-US" dirty="0"/>
              </a:p>
              <a:p>
                <a:pPr lvl="1"/>
                <a:r>
                  <a:rPr lang="en-US" dirty="0"/>
                  <a:t>Even if the vehicle is very far from center of lane, do not change heading angle </a:t>
                </a:r>
                <a:r>
                  <a:rPr lang="en-US" i="0">
                    <a:latin typeface="Cambria Math" panose="02040503050406030204" pitchFamily="18" charset="0"/>
                  </a:rPr>
                  <a:t>𝜃(𝑡)</a:t>
                </a:r>
                <a:r>
                  <a:rPr lang="en-US" dirty="0"/>
                  <a:t> too fast (keep </a:t>
                </a:r>
                <a:r>
                  <a:rPr lang="en-US" i="0">
                    <a:latin typeface="Cambria Math" panose="02040503050406030204" pitchFamily="18" charset="0"/>
                  </a:rPr>
                  <a:t>𝜃 ̇</a:t>
                </a:r>
                <a:r>
                  <a:rPr lang="en-US" i="0" dirty="0">
                    <a:latin typeface="Cambria Math" panose="02040503050406030204" pitchFamily="18" charset="0"/>
                  </a:rPr>
                  <a:t>(</a:t>
                </a:r>
                <a:r>
                  <a:rPr lang="en-US" i="0">
                    <a:latin typeface="Cambria Math" panose="02040503050406030204" pitchFamily="18" charset="0"/>
                  </a:rPr>
                  <a:t>𝑡)</a:t>
                </a:r>
                <a:r>
                  <a:rPr lang="en-US" dirty="0"/>
                  <a:t> small). (A heuristic rule-of-thumb, not a hard guarantee)</a:t>
                </a: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14</a:t>
            </a:fld>
            <a:endParaRPr lang="en-US"/>
          </a:p>
        </p:txBody>
      </p:sp>
    </p:spTree>
    <p:extLst>
      <p:ext uri="{BB962C8B-B14F-4D97-AF65-F5344CB8AC3E}">
        <p14:creationId xmlns:p14="http://schemas.microsoft.com/office/powerpoint/2010/main" val="1214480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Input trajectory refers to computed control inputs </a:t>
                </a:r>
                <a14:m>
                  <m:oMath xmlns:m="http://schemas.openxmlformats.org/officeDocument/2006/math">
                    <m:r>
                      <m:rPr>
                        <m:sty m:val="p"/>
                      </m:rPr>
                      <a:rPr lang="en-US">
                        <a:latin typeface="Cambria Math" panose="02040503050406030204" pitchFamily="18" charset="0"/>
                      </a:rPr>
                      <m:t>U</m:t>
                    </m:r>
                    <m:r>
                      <a:rPr lang="en-US">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b="0" i="0" smtClean="0">
                                <a:latin typeface="Cambria Math" panose="02040503050406030204" pitchFamily="18" charset="0"/>
                              </a:rPr>
                              <m:t>k</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b="0" i="0" smtClean="0">
                                <a:latin typeface="Cambria Math" panose="02040503050406030204" pitchFamily="18" charset="0"/>
                              </a:rPr>
                              <m:t>k</m:t>
                            </m:r>
                            <m:r>
                              <a:rPr lang="en-US">
                                <a:latin typeface="Cambria Math" panose="02040503050406030204" pitchFamily="18" charset="0"/>
                              </a:rPr>
                              <m:t>+</m:t>
                            </m:r>
                            <m:r>
                              <m:rPr>
                                <m:sty m:val="p"/>
                              </m:rPr>
                              <a:rPr lang="en-US" b="0" i="0" smtClean="0">
                                <a:latin typeface="Cambria Math" panose="02040503050406030204" pitchFamily="18" charset="0"/>
                              </a:rPr>
                              <m:t>p</m:t>
                            </m:r>
                            <m:r>
                              <a:rPr lang="en-US">
                                <a:latin typeface="Cambria Math" panose="02040503050406030204" pitchFamily="18" charset="0"/>
                              </a:rPr>
                              <m:t>−1</m:t>
                            </m:r>
                          </m:sub>
                        </m:sSub>
                      </m:e>
                    </m:d>
                  </m:oMath>
                </a14:m>
                <a:endParaRPr lang="en-SE"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Input trajectory refers to computed control inputs </a:t>
                </a:r>
                <a:r>
                  <a:rPr lang="en-US" i="0">
                    <a:latin typeface="Cambria Math" panose="02040503050406030204" pitchFamily="18" charset="0"/>
                  </a:rPr>
                  <a:t>U={u_</a:t>
                </a:r>
                <a:r>
                  <a:rPr lang="en-US" b="0" i="0">
                    <a:latin typeface="Cambria Math" panose="02040503050406030204" pitchFamily="18" charset="0"/>
                  </a:rPr>
                  <a:t>k</a:t>
                </a:r>
                <a:r>
                  <a:rPr lang="en-US" i="0">
                    <a:latin typeface="Cambria Math" panose="02040503050406030204" pitchFamily="18" charset="0"/>
                  </a:rPr>
                  <a:t>,…,u_(</a:t>
                </a:r>
                <a:r>
                  <a:rPr lang="en-US" b="0" i="0">
                    <a:latin typeface="Cambria Math" panose="02040503050406030204" pitchFamily="18" charset="0"/>
                  </a:rPr>
                  <a:t>k</a:t>
                </a:r>
                <a:r>
                  <a:rPr lang="en-US" i="0">
                    <a:latin typeface="Cambria Math" panose="02040503050406030204" pitchFamily="18" charset="0"/>
                  </a:rPr>
                  <a:t>+</a:t>
                </a:r>
                <a:r>
                  <a:rPr lang="en-US" b="0" i="0">
                    <a:latin typeface="Cambria Math" panose="02040503050406030204" pitchFamily="18" charset="0"/>
                  </a:rPr>
                  <a:t>p</a:t>
                </a:r>
                <a:r>
                  <a:rPr lang="en-US" i="0">
                    <a:latin typeface="Cambria Math" panose="02040503050406030204" pitchFamily="18" charset="0"/>
                  </a:rPr>
                  <a:t>−1) }</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18</a:t>
            </a:fld>
            <a:endParaRPr lang="en-US"/>
          </a:p>
        </p:txBody>
      </p:sp>
    </p:spTree>
    <p:extLst>
      <p:ext uri="{BB962C8B-B14F-4D97-AF65-F5344CB8AC3E}">
        <p14:creationId xmlns:p14="http://schemas.microsoft.com/office/powerpoint/2010/main" val="341245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Pole placement for PID control design is applicable to linear systems only</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21</a:t>
            </a:fld>
            <a:endParaRPr lang="en-US"/>
          </a:p>
        </p:txBody>
      </p:sp>
    </p:spTree>
    <p:extLst>
      <p:ext uri="{BB962C8B-B14F-4D97-AF65-F5344CB8AC3E}">
        <p14:creationId xmlns:p14="http://schemas.microsoft.com/office/powerpoint/2010/main" val="266105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 convention: if the minus signs are removed, they are absorbed into the gains, i.e., K_p &lt; 0.)</a:t>
            </a:r>
          </a:p>
        </p:txBody>
      </p:sp>
      <p:sp>
        <p:nvSpPr>
          <p:cNvPr id="4" name="Slide Number Placeholder 3"/>
          <p:cNvSpPr>
            <a:spLocks noGrp="1"/>
          </p:cNvSpPr>
          <p:nvPr>
            <p:ph type="sldNum" sz="quarter" idx="5"/>
          </p:nvPr>
        </p:nvSpPr>
        <p:spPr/>
        <p:txBody>
          <a:bodyPr/>
          <a:lstStyle/>
          <a:p>
            <a:fld id="{7B3E9E18-F207-E64A-9E5E-A745EA363019}" type="slidenum">
              <a:rPr lang="en-US" smtClean="0"/>
              <a:t>35</a:t>
            </a:fld>
            <a:endParaRPr lang="en-US"/>
          </a:p>
        </p:txBody>
      </p:sp>
    </p:spTree>
    <p:extLst>
      <p:ext uri="{BB962C8B-B14F-4D97-AF65-F5344CB8AC3E}">
        <p14:creationId xmlns:p14="http://schemas.microsoft.com/office/powerpoint/2010/main" val="1021023577"/>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LQR = Linear system, Quadratic cost, Regulator (drive the state to zero). The designer does not place poles by hand; instead chooses how much to penalize state error (Q) versus control effort (R), and the Riccati equation returns the optimal gain K. For a time-invariant plant K is constant, so it can be computed offline (scipy.linalg.solve_discrete_are / solve_continuous_are, python-control lqr, MATLAB lqr/dlqr). Note that the MPC slides later use the same cost with a finite horizon; with no constraints and an infinite horizon, MPC reduces to LQR.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same linearized lateral model as the pole-placement slides, the continuous-time Riccati equation can be solved by hand. With P = [[p11,p12],[p12,p22]] and R = r: the (1,1) entry gives p12 = sqrt(q_d r); the (2,2) entry gives p22 = sqrt(r q_theta + 2 v_r r p12); K = (1/r) B^T P = [p12/r, p22/r], and u = -K x. So K_d = -sqrt(q_d/r) and K_theta = -sqrt(q_theta/r + 2 v_r sqrt(q_d/r)). The closed-loop characteristic polynomial is lambda^2 - K_theta lambda - v_r K_d, exactly the polynomial on the pole-placement slide, so LQR is a systematic way of choosing K_d and K_theta. Numerical check (v_r = 10 m/s, q_d = q_theta = r = 1): K = [-1, -4.583], poles -2.29 +/- 2.18j. Increasing q_d increases |K_d| and the initial steering effort (right plots). The model uses heading rate u as the control; the steering angle follows from theta_dot = v tan(delta)/L.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Bryson's rule is a starting point: normalize each state/input by the largest acceptable deviation. The robustness statement (phase margin of at least 60 degrees, gain margin from 1/2 to infinity) holds for continuous-time full-state-feedback LQR with R &gt; 0; it does not carry over automatically once an observer is added (LQG). LQR is the unconstrained, infinite-horizon limit of the linear MPC on slide 20 (u = -Kx). Apollo's lateral controller: 'The lateral controller is an LQR-based optimal controller' with four states: lateral error, lateral error rate, heading error, heading error rate (Apollo documentation, How to Tune Control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pursuit (R. C. Coulter, 'Implementation of the Pure Pursuit Path Tracking Algorithm', CMU-RI-TR-92-01, 1992). The vehicle is modelled with the kinematic bicycle model of slide 28 (reference point = rear axle). The circle through the rear axle that is tangent to the current heading and passes through the goal point has radius R. In the isosceles triangle formed by the centre of the circle, the rear axle and the goal point, the chord L_d subtends the central angle 2*alpha (tangent-chord angle theorem), hence L_d = 2 R sin(alpha). With tan(delta) = L/R this gives delta = arctan(2 L sin(alpha)/L_d). Numerical example: L = 2.5 m, L_d = 5 m, alpha = 20 deg: kappa = 2 sin(20 deg)/5 = 0.137 1/m, R = 7.31 m, delta = arctan(0.342) = 18.9 deg.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goal point expressed in the vehicle frame (x forward, y left), sin(alpha) = y_g / L_d, so the curvature command is kappa = 2 y_g / L_d^2: a proportional controller on the lateral offset of the goal point whose gain falls with the square of the lookahead distance. The lookahead distance is the single tuning parameter; it is usually made speed dependent, L_d = k_v v + L_0. On a circular path of radius R_path the arc through the rear axle and the goal point stays inside the path by roughly L_d^2/(8 R_path): the plot (v = 5 m/s, 90-degree corner with R_path = 20 m) shows peak errors of about 0.02 m, 0.13 m and 0.55 m for L_d = 2, 5 and 10 m (approximation: 0.025, 0.16, 0.63 m). Autoware: the lateral controller is selected with lateral_controller_mode; default mpc, alternative pure_pursuit (Autoware documentation, Control launch).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Stanley (G. M. Hoffmann, C. J. Tomlin, M. Montemerlo, S. Thrun, 'Autonomous Automobile Trajectory Tracking for Off-Road Driving: Controller Design, Experimental Validation and Racing', ACC 2007; the vehicle is described in Thrun et al., 'Stanley: The robot that won the DARPA Grand Challenge', JFR 2006). Sign convention: psi = path heading minus vehicle heading, e positive when the path is to the left of the front axle, delta positive = steer left, so both terms steer toward the path. Numerical example: k = 1/s, v = 5 m/s, e = 0.5 m, psi = 0.1 rad: arctan(k e / v) = arctan(0.1) = 0.0997 rad, delta = 0.1997 rad = 11.4 deg. MATLAB's lateralControllerStanley implements the same law; its PositionGain is the gain 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steering law delta = psi + arctan(k e / v), the front wheel makes the angle arctan(k e / v) with the path, so the lateral velocity of the front axle is de/dt = -v sin(arctan(k e / v)) = -k e / sqrt(1 + (k e / v)^2) (using sin(arctan x) = x / sqrt(1 + x^2)). For |k e| &lt;&lt; v this is de/dt = -k e, i.e. exponential convergence with rate k regardless of speed; for large e it saturates at -v. The plot integrates this ODE for k = 1/s and e(0) = 2 m at v = 2, 5, 10 m/s together with the pure exponential: the curves are nearly identical except for the slower start at v = 2 m/s where the nonlinear term matters. Hoffmann et al. additionally include yaw-rate damping and steering-angle damping terms in the controller actually used on the vehicle.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Kinematic bicycle model (L = 2.5 m, steering limit 30 deg) driven at v = 6 m/s, rear-axle reference for pure pursuit and LQR, front-axle reference for Stanley. Path: 20 m straight, then a 90-degree left corner of radius 20 m, then straight. The vehicle starts 1.5 m to the right of the path with heading aligned with the path. Pure pursuit: L_d = 0.5 v + 1.5 = 4.5 m. Stanley: k = 1.5 1/s, k_s = 1 m/s. LQR: q_d = q_theta = r = 1 (K = [1.0, 3.61] at 6 m/s) with curvature feedforward. Peak cross-track error inside the corner: pure pursuit 0.11 m, Stanley 0.02 m, LQR 0.01 m. LQR without curvature feedforward has a steady offset of about 0.30 m in the corner. LQR saturates the 30-degree steering limit at the start because of the 1.5 m initial offset; the peak steering angle is 20 deg for pure pursuit and 18 deg for Stanley.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the lateral controllers covered in this lecture. Pure pursuit and Stanley are geometric controllers that need only the kinematic bicycle geometry; LQR needs a linear error model and a cost; MPC adds a prediction horizon and explicit constraints at the price of computation. In open-source stacks: Apollo's lateral controller is LQR-based; Autoware's default lateral controller is MPC with pure pursuit as an alternative.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4Y7zG48uHRo" TargetMode="Externa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0.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0.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0.png"/><Relationship Id="rId3" Type="http://schemas.openxmlformats.org/officeDocument/2006/relationships/image" Target="../media/image18.png"/><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icloud.com/keynote/035Qivaw_FXYD70xCbD5R9lDA#control_AV" TargetMode="External"/><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2.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34.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uni-tuebingen.de/fakultaeten/mathematisch-naturwissenschaftliche-fakultaet/fachbereiche/informatik/lehrstuehle/autonomous-vision/lectures/self-driving-car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hyperlink" Target="https://uni-tuebingen.de/fakultaeten/mathematisch-naturwissenschaftliche-fakultaet/fachbereiche/informatik/lehrstuehle/autonomous-vision/lectures/self-driving-car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52.pn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54.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4.png"/><Relationship Id="rId5" Type="http://schemas.openxmlformats.org/officeDocument/2006/relationships/image" Target="../media/image550.png"/><Relationship Id="rId6" Type="http://schemas.openxmlformats.org/officeDocument/2006/relationships/image" Target="../media/image560.png"/><Relationship Id="rId7" Type="http://schemas.openxmlformats.org/officeDocument/2006/relationships/image" Target="../media/image570.png"/><Relationship Id="rId8" Type="http://schemas.openxmlformats.org/officeDocument/2006/relationships/image" Target="../media/image580.png"/><Relationship Id="rId9" Type="http://schemas.openxmlformats.org/officeDocument/2006/relationships/image" Target="../media/image591.png"/><Relationship Id="rId10" Type="http://schemas.openxmlformats.org/officeDocument/2006/relationships/image" Target="../media/image7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3.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image" Target="../media/image7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lassroom.udacity.com/courses/cs373/lessons/91f48b5b-a063-41f9-ace6-5fb9e7508941/concepts/b740218e-b0eb-40dc-80af-343912305293" TargetMode="External"/><Relationship Id="rId3" Type="http://schemas.openxmlformats.org/officeDocument/2006/relationships/image" Target="../media/image80.png"/><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556591" y="994799"/>
            <a:ext cx="11072191" cy="2387600"/>
          </a:xfrm>
        </p:spPr>
        <p:txBody>
          <a:bodyPr anchor="ctr">
            <a:normAutofit/>
          </a:bodyPr>
          <a:lstStyle/>
          <a:p>
            <a:r>
              <a:rPr lang="da-DK" sz="4400" dirty="0"/>
              <a:t>L6 Control</a:t>
            </a:r>
            <a:endParaRPr lang="en-US" sz="4400" dirty="0"/>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870330" y="3289706"/>
            <a:ext cx="10466024" cy="15531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pic>
        <p:nvPicPr>
          <p:cNvPr id="6" name="Picture 5">
            <a:extLst>
              <a:ext uri="{FF2B5EF4-FFF2-40B4-BE49-F238E27FC236}">
                <a16:creationId xmlns:a16="http://schemas.microsoft.com/office/drawing/2014/main" id="{EE63C722-8478-86E6-23BC-02A9F14F7FA8}"/>
              </a:ext>
            </a:extLst>
          </p:cNvPr>
          <p:cNvPicPr>
            <a:picLocks noChangeAspect="1"/>
          </p:cNvPicPr>
          <p:nvPr/>
        </p:nvPicPr>
        <p:blipFill>
          <a:blip r:embed="rId3"/>
          <a:srcRect/>
          <a:stretch/>
        </p:blipFill>
        <p:spPr>
          <a:xfrm>
            <a:off x="3364727" y="2872468"/>
            <a:ext cx="5411894" cy="2387600"/>
          </a:xfrm>
          <a:prstGeom prst="rect">
            <a:avLst/>
          </a:prstGeom>
        </p:spPr>
      </p:pic>
      <p:sp>
        <p:nvSpPr>
          <p:cNvPr id="9" name="Subtitle 2">
            <a:extLst>
              <a:ext uri="{FF2B5EF4-FFF2-40B4-BE49-F238E27FC236}">
                <a16:creationId xmlns:a16="http://schemas.microsoft.com/office/drawing/2014/main" id="{8419C1AE-4CEC-DD36-15A7-6F316F36A51A}"/>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a:t>
            </a:r>
          </a:p>
          <a:p>
            <a:r>
              <a:rPr lang="en-US"/>
              <a:t>Fall </a:t>
            </a:r>
            <a:r>
              <a:rPr lang="en-US" dirty="0"/>
              <a:t>2026</a:t>
            </a:r>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B64B7-2F31-4F14-4778-21699EC0CCB5}"/>
              </a:ext>
            </a:extLst>
          </p:cNvPr>
          <p:cNvSpPr>
            <a:spLocks noGrp="1"/>
          </p:cNvSpPr>
          <p:nvPr>
            <p:ph type="title"/>
          </p:nvPr>
        </p:nvSpPr>
        <p:spPr/>
        <p:txBody>
          <a:bodyPr>
            <a:normAutofit/>
          </a:bodyPr>
          <a:lstStyle/>
          <a:p>
            <a:r>
              <a:rPr lang="en-US" dirty="0"/>
              <a:t>Control in the AD Pipeline</a:t>
            </a:r>
            <a:endParaRPr lang="en-SE" dirty="0"/>
          </a:p>
        </p:txBody>
      </p:sp>
      <p:sp>
        <p:nvSpPr>
          <p:cNvPr id="3" name="Content Placeholder 2">
            <a:extLst>
              <a:ext uri="{FF2B5EF4-FFF2-40B4-BE49-F238E27FC236}">
                <a16:creationId xmlns:a16="http://schemas.microsoft.com/office/drawing/2014/main" id="{3546ED7F-1654-66BC-AADB-0C10083E9445}"/>
              </a:ext>
            </a:extLst>
          </p:cNvPr>
          <p:cNvSpPr>
            <a:spLocks noGrp="1"/>
          </p:cNvSpPr>
          <p:nvPr>
            <p:ph idx="1"/>
          </p:nvPr>
        </p:nvSpPr>
        <p:spPr>
          <a:xfrm>
            <a:off x="461818" y="1218520"/>
            <a:ext cx="4137515" cy="3424565"/>
          </a:xfrm>
        </p:spPr>
        <p:txBody>
          <a:bodyPr>
            <a:normAutofit/>
          </a:bodyPr>
          <a:lstStyle/>
          <a:p>
            <a:r>
              <a:rPr lang="en-US" dirty="0"/>
              <a:t>The controller outputs control commands (brake, acceleration, steering) to follow the trajectory output from motion planning</a:t>
            </a:r>
          </a:p>
          <a:p>
            <a:endParaRPr lang="en-SE" dirty="0"/>
          </a:p>
        </p:txBody>
      </p:sp>
      <p:sp>
        <p:nvSpPr>
          <p:cNvPr id="4" name="Slide Number Placeholder 3">
            <a:extLst>
              <a:ext uri="{FF2B5EF4-FFF2-40B4-BE49-F238E27FC236}">
                <a16:creationId xmlns:a16="http://schemas.microsoft.com/office/drawing/2014/main" id="{9A76166C-1BEE-40A5-BF9E-E50D126E34C7}"/>
              </a:ext>
            </a:extLst>
          </p:cNvPr>
          <p:cNvSpPr>
            <a:spLocks noGrp="1"/>
          </p:cNvSpPr>
          <p:nvPr>
            <p:ph type="sldNum" sz="quarter" idx="12"/>
          </p:nvPr>
        </p:nvSpPr>
        <p:spPr/>
        <p:txBody>
          <a:bodyPr/>
          <a:lstStyle/>
          <a:p>
            <a:fld id="{1F57BF9A-7B35-9447-9112-EAE7E91B4E99}" type="slidenum">
              <a:rPr lang="en-US" smtClean="0"/>
              <a:t>2</a:t>
            </a:fld>
            <a:endParaRPr lang="en-US"/>
          </a:p>
        </p:txBody>
      </p:sp>
      <p:pic>
        <p:nvPicPr>
          <p:cNvPr id="8" name="Picture 7">
            <a:extLst>
              <a:ext uri="{FF2B5EF4-FFF2-40B4-BE49-F238E27FC236}">
                <a16:creationId xmlns:a16="http://schemas.microsoft.com/office/drawing/2014/main" id="{DE1B6670-806E-A6BD-230A-0307FBC837DF}"/>
              </a:ext>
            </a:extLst>
          </p:cNvPr>
          <p:cNvPicPr>
            <a:picLocks noChangeAspect="1"/>
          </p:cNvPicPr>
          <p:nvPr/>
        </p:nvPicPr>
        <p:blipFill>
          <a:blip r:embed="rId2"/>
          <a:stretch>
            <a:fillRect/>
          </a:stretch>
        </p:blipFill>
        <p:spPr>
          <a:xfrm>
            <a:off x="4521607" y="1337042"/>
            <a:ext cx="7670393" cy="4957693"/>
          </a:xfrm>
          <a:prstGeom prst="rect">
            <a:avLst/>
          </a:prstGeom>
        </p:spPr>
      </p:pic>
      <p:sp>
        <p:nvSpPr>
          <p:cNvPr id="9" name="Rectangle 8">
            <a:extLst>
              <a:ext uri="{FF2B5EF4-FFF2-40B4-BE49-F238E27FC236}">
                <a16:creationId xmlns:a16="http://schemas.microsoft.com/office/drawing/2014/main" id="{794915D4-074A-8593-8642-6CCF7329AB06}"/>
              </a:ext>
            </a:extLst>
          </p:cNvPr>
          <p:cNvSpPr/>
          <p:nvPr/>
        </p:nvSpPr>
        <p:spPr bwMode="auto">
          <a:xfrm>
            <a:off x="4663845" y="3765861"/>
            <a:ext cx="5458524" cy="106234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EA075164-1717-A4F9-B993-376E3E18930B}"/>
              </a:ext>
            </a:extLst>
          </p:cNvPr>
          <p:cNvSpPr txBox="1"/>
          <p:nvPr/>
        </p:nvSpPr>
        <p:spPr>
          <a:xfrm>
            <a:off x="10577197" y="2845372"/>
            <a:ext cx="1614803" cy="646331"/>
          </a:xfrm>
          <a:prstGeom prst="rect">
            <a:avLst/>
          </a:prstGeom>
          <a:noFill/>
        </p:spPr>
        <p:txBody>
          <a:bodyPr wrap="square" rtlCol="0">
            <a:spAutoFit/>
          </a:bodyPr>
          <a:lstStyle/>
          <a:p>
            <a:r>
              <a:rPr lang="en-US" dirty="0"/>
              <a:t>(Local Planning)</a:t>
            </a:r>
            <a:endParaRPr lang="en-SE" dirty="0"/>
          </a:p>
        </p:txBody>
      </p:sp>
      <p:grpSp>
        <p:nvGrpSpPr>
          <p:cNvPr id="11" name="Group 10">
            <a:extLst>
              <a:ext uri="{FF2B5EF4-FFF2-40B4-BE49-F238E27FC236}">
                <a16:creationId xmlns:a16="http://schemas.microsoft.com/office/drawing/2014/main" id="{4EBF7D44-D717-48C0-4F68-1F04C41CF76A}"/>
              </a:ext>
            </a:extLst>
          </p:cNvPr>
          <p:cNvGrpSpPr/>
          <p:nvPr/>
        </p:nvGrpSpPr>
        <p:grpSpPr>
          <a:xfrm>
            <a:off x="67046" y="4412653"/>
            <a:ext cx="4559207" cy="1821898"/>
            <a:chOff x="290787" y="3376487"/>
            <a:chExt cx="6322449" cy="2356597"/>
          </a:xfrm>
        </p:grpSpPr>
        <p:pic>
          <p:nvPicPr>
            <p:cNvPr id="5" name="Picture 4">
              <a:extLst>
                <a:ext uri="{FF2B5EF4-FFF2-40B4-BE49-F238E27FC236}">
                  <a16:creationId xmlns:a16="http://schemas.microsoft.com/office/drawing/2014/main" id="{DEFC9DA3-6D3E-89FC-8D1C-C5C99E5CF9E1}"/>
                </a:ext>
              </a:extLst>
            </p:cNvPr>
            <p:cNvPicPr>
              <a:picLocks noChangeAspect="1"/>
            </p:cNvPicPr>
            <p:nvPr/>
          </p:nvPicPr>
          <p:blipFill>
            <a:blip r:embed="rId3"/>
            <a:stretch>
              <a:fillRect/>
            </a:stretch>
          </p:blipFill>
          <p:spPr>
            <a:xfrm>
              <a:off x="290787" y="3462459"/>
              <a:ext cx="6322449" cy="2270625"/>
            </a:xfrm>
            <a:prstGeom prst="rect">
              <a:avLst/>
            </a:prstGeom>
          </p:spPr>
        </p:pic>
        <p:sp>
          <p:nvSpPr>
            <p:cNvPr id="6" name="Rectangle 5">
              <a:extLst>
                <a:ext uri="{FF2B5EF4-FFF2-40B4-BE49-F238E27FC236}">
                  <a16:creationId xmlns:a16="http://schemas.microsoft.com/office/drawing/2014/main" id="{5335AC42-413C-FBF3-32B9-012125BAFF66}"/>
                </a:ext>
              </a:extLst>
            </p:cNvPr>
            <p:cNvSpPr/>
            <p:nvPr/>
          </p:nvSpPr>
          <p:spPr bwMode="auto">
            <a:xfrm>
              <a:off x="4214992" y="4667038"/>
              <a:ext cx="1177402" cy="91821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EC6A3AAE-1E23-4D7D-A8B2-DA48AC9B8CE8}"/>
                </a:ext>
              </a:extLst>
            </p:cNvPr>
            <p:cNvSpPr/>
            <p:nvPr/>
          </p:nvSpPr>
          <p:spPr bwMode="auto">
            <a:xfrm>
              <a:off x="3179763" y="3376487"/>
              <a:ext cx="1921626" cy="1090653"/>
            </a:xfrm>
            <a:prstGeom prst="rect">
              <a:avLst/>
            </a:prstGeom>
            <a:solidFill>
              <a:schemeClr val="bg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7419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B598-FFDD-4A2B-4ACA-8E1A8D17881C}"/>
              </a:ext>
            </a:extLst>
          </p:cNvPr>
          <p:cNvSpPr>
            <a:spLocks noGrp="1"/>
          </p:cNvSpPr>
          <p:nvPr>
            <p:ph type="title"/>
          </p:nvPr>
        </p:nvSpPr>
        <p:spPr/>
        <p:txBody>
          <a:bodyPr/>
          <a:lstStyle/>
          <a:p>
            <a:r>
              <a:rPr lang="en-US" dirty="0"/>
              <a:t>Feedback Control Problem</a:t>
            </a:r>
            <a:endParaRPr lang="en-SE" dirty="0"/>
          </a:p>
        </p:txBody>
      </p:sp>
      <p:sp>
        <p:nvSpPr>
          <p:cNvPr id="3" name="Content Placeholder 2">
            <a:extLst>
              <a:ext uri="{FF2B5EF4-FFF2-40B4-BE49-F238E27FC236}">
                <a16:creationId xmlns:a16="http://schemas.microsoft.com/office/drawing/2014/main" id="{C2BF6250-CC5C-A97A-D101-2CC96B2D8AA8}"/>
              </a:ext>
            </a:extLst>
          </p:cNvPr>
          <p:cNvSpPr>
            <a:spLocks noGrp="1"/>
          </p:cNvSpPr>
          <p:nvPr>
            <p:ph idx="1"/>
          </p:nvPr>
        </p:nvSpPr>
        <p:spPr/>
        <p:txBody>
          <a:bodyPr/>
          <a:lstStyle/>
          <a:p>
            <a:r>
              <a:rPr lang="en-US" dirty="0"/>
              <a:t>Given a system and a reference signal, find a control law  such that the closed loop system is stable and follows the reference signal</a:t>
            </a:r>
          </a:p>
          <a:p>
            <a:r>
              <a:rPr lang="en-US" dirty="0"/>
              <a:t>The most common control algorithms in automotive systems are Proportional–Integral–Derivative (PID) and Model Predictive Control (MPC)</a:t>
            </a:r>
          </a:p>
        </p:txBody>
      </p:sp>
      <p:sp>
        <p:nvSpPr>
          <p:cNvPr id="4" name="Slide Number Placeholder 3">
            <a:extLst>
              <a:ext uri="{FF2B5EF4-FFF2-40B4-BE49-F238E27FC236}">
                <a16:creationId xmlns:a16="http://schemas.microsoft.com/office/drawing/2014/main" id="{7A9DA08A-3D95-3FC4-497B-29C80F966896}"/>
              </a:ext>
            </a:extLst>
          </p:cNvPr>
          <p:cNvSpPr>
            <a:spLocks noGrp="1"/>
          </p:cNvSpPr>
          <p:nvPr>
            <p:ph type="sldNum" sz="quarter" idx="12"/>
          </p:nvPr>
        </p:nvSpPr>
        <p:spPr/>
        <p:txBody>
          <a:bodyPr/>
          <a:lstStyle/>
          <a:p>
            <a:fld id="{1F57BF9A-7B35-9447-9112-EAE7E91B4E99}" type="slidenum">
              <a:rPr lang="en-US" smtClean="0"/>
              <a:t>3</a:t>
            </a:fld>
            <a:endParaRPr lang="en-US"/>
          </a:p>
        </p:txBody>
      </p:sp>
      <p:pic>
        <p:nvPicPr>
          <p:cNvPr id="5" name="Picture 4">
            <a:extLst>
              <a:ext uri="{FF2B5EF4-FFF2-40B4-BE49-F238E27FC236}">
                <a16:creationId xmlns:a16="http://schemas.microsoft.com/office/drawing/2014/main" id="{92C47D7D-C89E-FA04-67EA-4E347C78E6D4}"/>
              </a:ext>
            </a:extLst>
          </p:cNvPr>
          <p:cNvPicPr>
            <a:picLocks noChangeAspect="1"/>
          </p:cNvPicPr>
          <p:nvPr/>
        </p:nvPicPr>
        <p:blipFill>
          <a:blip r:embed="rId2"/>
          <a:stretch>
            <a:fillRect/>
          </a:stretch>
        </p:blipFill>
        <p:spPr>
          <a:xfrm>
            <a:off x="1524000" y="4215794"/>
            <a:ext cx="9144000" cy="2253276"/>
          </a:xfrm>
          <a:prstGeom prst="rect">
            <a:avLst/>
          </a:prstGeom>
        </p:spPr>
      </p:pic>
    </p:spTree>
    <p:extLst>
      <p:ext uri="{BB962C8B-B14F-4D97-AF65-F5344CB8AC3E}">
        <p14:creationId xmlns:p14="http://schemas.microsoft.com/office/powerpoint/2010/main" val="3706676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705C-2259-3C4A-C696-D432793B2EF3}"/>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5D2EECD8-7090-2514-955D-C0BEAE30D231}"/>
              </a:ext>
            </a:extLst>
          </p:cNvPr>
          <p:cNvSpPr>
            <a:spLocks noGrp="1"/>
          </p:cNvSpPr>
          <p:nvPr>
            <p:ph idx="1"/>
          </p:nvPr>
        </p:nvSpPr>
        <p:spPr/>
        <p:txBody>
          <a:bodyPr/>
          <a:lstStyle/>
          <a:p>
            <a:r>
              <a:rPr lang="en-US" dirty="0">
                <a:solidFill>
                  <a:srgbClr val="FF0000"/>
                </a:solidFill>
              </a:rPr>
              <a:t>PID Control</a:t>
            </a:r>
          </a:p>
          <a:p>
            <a:r>
              <a:rPr lang="en-US" dirty="0"/>
              <a:t>LQR (Linear Quadratic Regulator)</a:t>
            </a:r>
          </a:p>
          <a:p>
            <a:r>
              <a:rPr lang="en-US" dirty="0"/>
              <a:t>MPC Control</a:t>
            </a:r>
          </a:p>
          <a:p>
            <a:r>
              <a:rPr lang="en-US" dirty="0"/>
              <a:t>Kinematic bicycle model</a:t>
            </a:r>
          </a:p>
          <a:p>
            <a:r>
              <a:rPr lang="en-US" dirty="0"/>
              <a:t>Geometric path tracking: Pure Pursuit &amp; Stanley</a:t>
            </a:r>
          </a:p>
          <a:p>
            <a:r>
              <a:rPr lang="en-US" dirty="0"/>
              <a:t>Twiddle() for PID control tuning</a:t>
            </a:r>
          </a:p>
        </p:txBody>
      </p:sp>
      <p:sp>
        <p:nvSpPr>
          <p:cNvPr id="4" name="Slide Number Placeholder 3">
            <a:extLst>
              <a:ext uri="{FF2B5EF4-FFF2-40B4-BE49-F238E27FC236}">
                <a16:creationId xmlns:a16="http://schemas.microsoft.com/office/drawing/2014/main" id="{56AD6761-DD61-152F-9A9D-1CE1C3D22506}"/>
              </a:ext>
            </a:extLst>
          </p:cNvPr>
          <p:cNvSpPr>
            <a:spLocks noGrp="1"/>
          </p:cNvSpPr>
          <p:nvPr>
            <p:ph type="sldNum" sz="quarter" idx="12"/>
          </p:nvPr>
        </p:nvSpPr>
        <p:spPr/>
        <p:txBody>
          <a:bodyPr/>
          <a:lstStyle/>
          <a:p>
            <a:fld id="{1F57BF9A-7B35-9447-9112-EAE7E91B4E99}" type="slidenum">
              <a:rPr lang="en-US" smtClean="0"/>
              <a:t>4</a:t>
            </a:fld>
            <a:endParaRPr lang="en-US"/>
          </a:p>
        </p:txBody>
      </p:sp>
    </p:spTree>
    <p:extLst>
      <p:ext uri="{BB962C8B-B14F-4D97-AF65-F5344CB8AC3E}">
        <p14:creationId xmlns:p14="http://schemas.microsoft.com/office/powerpoint/2010/main" val="1071060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3D4FC-47B8-069B-3B02-7AEE5A6E5149}"/>
              </a:ext>
            </a:extLst>
          </p:cNvPr>
          <p:cNvSpPr>
            <a:spLocks noGrp="1"/>
          </p:cNvSpPr>
          <p:nvPr>
            <p:ph type="title"/>
          </p:nvPr>
        </p:nvSpPr>
        <p:spPr/>
        <p:txBody>
          <a:bodyPr/>
          <a:lstStyle/>
          <a:p>
            <a:r>
              <a:rPr lang="en-US" dirty="0"/>
              <a:t>PID Control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FC0852-CD61-D022-153E-6351288754C5}"/>
                  </a:ext>
                </a:extLst>
              </p:cNvPr>
              <p:cNvSpPr>
                <a:spLocks noGrp="1"/>
              </p:cNvSpPr>
              <p:nvPr>
                <p:ph idx="1"/>
              </p:nvPr>
            </p:nvSpPr>
            <p:spPr/>
            <p:txBody>
              <a:bodyPr/>
              <a:lstStyle/>
              <a:p>
                <a:r>
                  <a:rPr lang="en-US" dirty="0"/>
                  <a:t>Tracking Error: </a:t>
                </a:r>
                <a14:m>
                  <m:oMath xmlns:m="http://schemas.openxmlformats.org/officeDocument/2006/math">
                    <m:r>
                      <a:rPr lang="en-US" i="1">
                        <a:latin typeface="Cambria Math" panose="02040503050406030204" pitchFamily="18" charset="0"/>
                      </a:rPr>
                      <m:t>𝑒</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b="0" i="1" smtClean="0">
                        <a:latin typeface="Cambria Math" panose="02040503050406030204" pitchFamily="18" charset="0"/>
                      </a:rPr>
                      <m:t>𝑡</m:t>
                    </m:r>
                    <m:r>
                      <a:rPr lang="en-US" i="1">
                        <a:latin typeface="Cambria Math" panose="02040503050406030204" pitchFamily="18" charset="0"/>
                      </a:rPr>
                      <m:t>)</m:t>
                    </m:r>
                  </m:oMath>
                </a14:m>
                <a:endParaRPr lang="en-US" dirty="0"/>
              </a:p>
              <a:p>
                <a:r>
                  <a:rPr lang="en-US" dirty="0"/>
                  <a:t>Control input: </a:t>
                </a:r>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𝑡</m:t>
                        </m:r>
                      </m:sup>
                      <m:e>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𝜏</m:t>
                            </m:r>
                          </m:e>
                        </m:d>
                        <m:r>
                          <a:rPr lang="en-US" b="0" i="1" smtClean="0">
                            <a:latin typeface="Cambria Math" panose="02040503050406030204" pitchFamily="18" charset="0"/>
                          </a:rPr>
                          <m:t>𝑑</m:t>
                        </m:r>
                        <m:r>
                          <a:rPr lang="en-US" i="1">
                            <a:latin typeface="Cambria Math" panose="02040503050406030204" pitchFamily="18" charset="0"/>
                          </a:rPr>
                          <m:t>𝜏</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endParaRPr lang="en-US" dirty="0"/>
              </a:p>
              <a:p>
                <a:r>
                  <a:rPr lang="en-US" dirty="0"/>
                  <a:t>Ref: Controlling Self Driving Cars</a:t>
                </a:r>
              </a:p>
              <a:p>
                <a:pPr lvl="1"/>
                <a:r>
                  <a:rPr lang="en-US" dirty="0">
                    <a:hlinkClick r:id="rId2"/>
                  </a:rPr>
                  <a:t>https://www.youtube.com/watch?v=4Y7zG48uHRo</a:t>
                </a:r>
                <a:r>
                  <a:rPr lang="en-US" dirty="0"/>
                  <a:t> </a:t>
                </a:r>
                <a:endParaRPr lang="en-SE" dirty="0"/>
              </a:p>
              <a:p>
                <a:endParaRPr lang="en-SE" dirty="0"/>
              </a:p>
            </p:txBody>
          </p:sp>
        </mc:Choice>
        <mc:Fallback xmlns="">
          <p:sp>
            <p:nvSpPr>
              <p:cNvPr id="3" name="Content Placeholder 2">
                <a:extLst>
                  <a:ext uri="{FF2B5EF4-FFF2-40B4-BE49-F238E27FC236}">
                    <a16:creationId xmlns:a16="http://schemas.microsoft.com/office/drawing/2014/main" id="{47FC0852-CD61-D022-153E-6351288754C5}"/>
                  </a:ext>
                </a:extLst>
              </p:cNvPr>
              <p:cNvSpPr>
                <a:spLocks noGrp="1" noRot="1" noChangeAspect="1" noMove="1" noResize="1" noEditPoints="1" noAdjustHandles="1" noChangeArrowheads="1" noChangeShapeType="1" noTextEdit="1"/>
              </p:cNvSpPr>
              <p:nvPr>
                <p:ph idx="1"/>
              </p:nvPr>
            </p:nvSpPr>
            <p:spPr>
              <a:blipFill>
                <a:blip r:embed="rId3"/>
                <a:stretch>
                  <a:fillRect l="-1281"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2CBBF5B-0C5C-58AA-04B3-B6003B8F99FD}"/>
              </a:ext>
            </a:extLst>
          </p:cNvPr>
          <p:cNvSpPr>
            <a:spLocks noGrp="1"/>
          </p:cNvSpPr>
          <p:nvPr>
            <p:ph type="sldNum" sz="quarter" idx="12"/>
          </p:nvPr>
        </p:nvSpPr>
        <p:spPr/>
        <p:txBody>
          <a:bodyPr/>
          <a:lstStyle/>
          <a:p>
            <a:fld id="{1F57BF9A-7B35-9447-9112-EAE7E91B4E99}" type="slidenum">
              <a:rPr lang="en-US" smtClean="0"/>
              <a:t>5</a:t>
            </a:fld>
            <a:endParaRPr lang="en-US"/>
          </a:p>
        </p:txBody>
      </p:sp>
      <p:pic>
        <p:nvPicPr>
          <p:cNvPr id="5" name="Picture 2">
            <a:extLst>
              <a:ext uri="{FF2B5EF4-FFF2-40B4-BE49-F238E27FC236}">
                <a16:creationId xmlns:a16="http://schemas.microsoft.com/office/drawing/2014/main" id="{D21DAA73-433A-3777-1FA8-40977A05C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576007"/>
            <a:ext cx="8229600" cy="292322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10AACB1-D53B-EC7C-295C-D5C93DC3E57E}"/>
              </a:ext>
            </a:extLst>
          </p:cNvPr>
          <p:cNvSpPr/>
          <p:nvPr/>
        </p:nvSpPr>
        <p:spPr>
          <a:xfrm>
            <a:off x="4784583" y="6499230"/>
            <a:ext cx="2622834" cy="253916"/>
          </a:xfrm>
          <a:prstGeom prst="rect">
            <a:avLst/>
          </a:prstGeom>
        </p:spPr>
        <p:txBody>
          <a:bodyPr wrap="none">
            <a:spAutoFit/>
          </a:bodyPr>
          <a:lstStyle/>
          <a:p>
            <a:r>
              <a:rPr lang="en-US" sz="1050" dirty="0"/>
              <a:t>https://en.wikipedia.org/wiki/PID_controller</a:t>
            </a:r>
            <a:endParaRPr lang="en-SE" sz="1050" dirty="0"/>
          </a:p>
        </p:txBody>
      </p:sp>
    </p:spTree>
    <p:extLst>
      <p:ext uri="{BB962C8B-B14F-4D97-AF65-F5344CB8AC3E}">
        <p14:creationId xmlns:p14="http://schemas.microsoft.com/office/powerpoint/2010/main" val="152183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81498-E5D4-69E3-864D-D911C50EF3B3}"/>
              </a:ext>
            </a:extLst>
          </p:cNvPr>
          <p:cNvSpPr>
            <a:spLocks noGrp="1"/>
          </p:cNvSpPr>
          <p:nvPr>
            <p:ph type="title"/>
          </p:nvPr>
        </p:nvSpPr>
        <p:spPr/>
        <p:txBody>
          <a:bodyPr>
            <a:normAutofit/>
          </a:bodyPr>
          <a:lstStyle/>
          <a:p>
            <a:r>
              <a:rPr lang="en-US" dirty="0"/>
              <a:t>Step Response Performance Metrics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6483FF-813F-94EF-9480-8CB0FE00E940}"/>
                  </a:ext>
                </a:extLst>
              </p:cNvPr>
              <p:cNvSpPr>
                <a:spLocks noGrp="1"/>
              </p:cNvSpPr>
              <p:nvPr>
                <p:ph idx="1"/>
              </p:nvPr>
            </p:nvSpPr>
            <p:spPr>
              <a:xfrm>
                <a:off x="508001" y="1311563"/>
                <a:ext cx="6235700" cy="5120767"/>
              </a:xfrm>
            </p:spPr>
            <p:txBody>
              <a:bodyPr>
                <a:normAutofit fontScale="85000" lnSpcReduction="20000"/>
              </a:bodyPr>
              <a:lstStyle/>
              <a:p>
                <a:r>
                  <a:rPr lang="en-US" dirty="0"/>
                  <a:t>The control input (reference input) jumps from 0 to a reference value (e.g., 1.0) at time 0, and the controller aims to track it closely</a:t>
                </a:r>
              </a:p>
              <a:p>
                <a:pPr lvl="1"/>
                <a:r>
                  <a:rPr lang="en-US" dirty="0"/>
                  <a:t>Rise time: the time it takes the transient response to move to </a:t>
                </a:r>
                <a14:m>
                  <m:oMath xmlns:m="http://schemas.openxmlformats.org/officeDocument/2006/math">
                    <m:r>
                      <a:rPr lang="en-US" b="0" i="1" dirty="0" smtClean="0">
                        <a:latin typeface="Cambria Math" panose="02040503050406030204" pitchFamily="18" charset="0"/>
                      </a:rPr>
                      <m:t>1.0−</m:t>
                    </m:r>
                    <m:r>
                      <a:rPr lang="en-US" b="0" i="1" dirty="0" smtClean="0">
                        <a:latin typeface="Cambria Math" panose="02040503050406030204" pitchFamily="18" charset="0"/>
                      </a:rPr>
                      <m:t>𝛿</m:t>
                    </m:r>
                  </m:oMath>
                </a14:m>
                <a:r>
                  <a:rPr lang="en-US" dirty="0"/>
                  <a:t> of the steady state response</a:t>
                </a:r>
              </a:p>
              <a:p>
                <a:pPr lvl="1"/>
                <a:r>
                  <a:rPr lang="en-US" dirty="0"/>
                  <a:t>Maximum overshoot: the amount (or percentage) by which the maximum value of the transient response exceeds the steady state value</a:t>
                </a:r>
              </a:p>
              <a:p>
                <a:pPr lvl="1"/>
                <a:r>
                  <a:rPr lang="en-US" dirty="0"/>
                  <a:t>Peak time: the time at which the maximum overshoot occurs</a:t>
                </a:r>
              </a:p>
              <a:p>
                <a:pPr lvl="1"/>
                <a:r>
                  <a:rPr lang="en-US" dirty="0"/>
                  <a:t>Settling time: the time after which the output is within a specified band around the steady state value </a:t>
                </a:r>
                <a14:m>
                  <m:oMath xmlns:m="http://schemas.openxmlformats.org/officeDocument/2006/math">
                    <m:r>
                      <a:rPr lang="en-US" b="0" i="1" smtClean="0">
                        <a:latin typeface="Cambria Math" panose="02040503050406030204" pitchFamily="18" charset="0"/>
                      </a:rPr>
                      <m:t>[</m:t>
                    </m:r>
                    <m:r>
                      <a:rPr lang="en-US" i="1" dirty="0">
                        <a:latin typeface="Cambria Math" panose="02040503050406030204" pitchFamily="18" charset="0"/>
                      </a:rPr>
                      <m:t>1.0−</m:t>
                    </m:r>
                    <m:r>
                      <a:rPr lang="en-US" i="1" dirty="0">
                        <a:latin typeface="Cambria Math" panose="02040503050406030204" pitchFamily="18" charset="0"/>
                      </a:rPr>
                      <m:t>𝛿</m:t>
                    </m:r>
                    <m:r>
                      <a:rPr lang="en-US" b="0" i="1" dirty="0" smtClean="0">
                        <a:latin typeface="Cambria Math" panose="02040503050406030204" pitchFamily="18" charset="0"/>
                      </a:rPr>
                      <m:t>, </m:t>
                    </m:r>
                    <m:r>
                      <a:rPr lang="en-US" i="1" dirty="0">
                        <a:latin typeface="Cambria Math" panose="02040503050406030204" pitchFamily="18" charset="0"/>
                      </a:rPr>
                      <m:t>1.0</m:t>
                    </m:r>
                    <m:r>
                      <a:rPr lang="en-US" b="0" i="1" dirty="0" smtClean="0">
                        <a:latin typeface="Cambria Math" panose="02040503050406030204" pitchFamily="18" charset="0"/>
                      </a:rPr>
                      <m:t>+</m:t>
                    </m:r>
                    <m:r>
                      <a:rPr lang="en-US" i="1" dirty="0">
                        <a:latin typeface="Cambria Math" panose="02040503050406030204" pitchFamily="18" charset="0"/>
                      </a:rPr>
                      <m:t>𝛿</m:t>
                    </m:r>
                    <m:r>
                      <a:rPr lang="en-US" b="0" i="1" smtClean="0">
                        <a:latin typeface="Cambria Math" panose="02040503050406030204" pitchFamily="18" charset="0"/>
                      </a:rPr>
                      <m:t>]</m:t>
                    </m:r>
                  </m:oMath>
                </a14:m>
                <a:endParaRPr lang="en-SE" dirty="0"/>
              </a:p>
            </p:txBody>
          </p:sp>
        </mc:Choice>
        <mc:Fallback xmlns="">
          <p:sp>
            <p:nvSpPr>
              <p:cNvPr id="3" name="Content Placeholder 2">
                <a:extLst>
                  <a:ext uri="{FF2B5EF4-FFF2-40B4-BE49-F238E27FC236}">
                    <a16:creationId xmlns:a16="http://schemas.microsoft.com/office/drawing/2014/main" id="{2A6483FF-813F-94EF-9480-8CB0FE00E940}"/>
                  </a:ext>
                </a:extLst>
              </p:cNvPr>
              <p:cNvSpPr>
                <a:spLocks noGrp="1" noRot="1" noChangeAspect="1" noMove="1" noResize="1" noEditPoints="1" noAdjustHandles="1" noChangeArrowheads="1" noChangeShapeType="1" noTextEdit="1"/>
              </p:cNvSpPr>
              <p:nvPr>
                <p:ph idx="1"/>
              </p:nvPr>
            </p:nvSpPr>
            <p:spPr>
              <a:xfrm>
                <a:off x="508001" y="1311563"/>
                <a:ext cx="6235700" cy="5120767"/>
              </a:xfrm>
              <a:blipFill>
                <a:blip r:embed="rId3"/>
                <a:stretch>
                  <a:fillRect l="-1662" t="-3214" r="-20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F68564D-85F5-4877-E765-A24397E11245}"/>
              </a:ext>
            </a:extLst>
          </p:cNvPr>
          <p:cNvSpPr>
            <a:spLocks noGrp="1"/>
          </p:cNvSpPr>
          <p:nvPr>
            <p:ph type="sldNum" sz="quarter" idx="12"/>
          </p:nvPr>
        </p:nvSpPr>
        <p:spPr/>
        <p:txBody>
          <a:bodyPr/>
          <a:lstStyle/>
          <a:p>
            <a:fld id="{1F57BF9A-7B35-9447-9112-EAE7E91B4E99}" type="slidenum">
              <a:rPr lang="en-US" smtClean="0"/>
              <a:t>6</a:t>
            </a:fld>
            <a:endParaRPr lang="en-US"/>
          </a:p>
        </p:txBody>
      </p:sp>
      <p:pic>
        <p:nvPicPr>
          <p:cNvPr id="1026" name="Picture 2" descr="Response for a system using only proportional controls leads to overshoot and non-zero steady-state errors">
            <a:extLst>
              <a:ext uri="{FF2B5EF4-FFF2-40B4-BE49-F238E27FC236}">
                <a16:creationId xmlns:a16="http://schemas.microsoft.com/office/drawing/2014/main" id="{8CB0851E-3218-C8AE-26B0-4FC1D263DD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7200" y="1237592"/>
            <a:ext cx="5183800" cy="53565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622E3B-5700-F2C4-C16D-5FEDD401D025}"/>
              </a:ext>
            </a:extLst>
          </p:cNvPr>
          <p:cNvSpPr txBox="1"/>
          <p:nvPr/>
        </p:nvSpPr>
        <p:spPr>
          <a:xfrm>
            <a:off x="8044873" y="6445313"/>
            <a:ext cx="3336170" cy="253916"/>
          </a:xfrm>
          <a:prstGeom prst="rect">
            <a:avLst/>
          </a:prstGeom>
          <a:noFill/>
        </p:spPr>
        <p:txBody>
          <a:bodyPr wrap="none" rtlCol="0">
            <a:spAutoFit/>
          </a:bodyPr>
          <a:lstStyle/>
          <a:p>
            <a:r>
              <a:rPr lang="en-US" sz="1050" dirty="0"/>
              <a:t>https://www.newport.com/n/control-theory-terminology</a:t>
            </a:r>
            <a:endParaRPr lang="en-SE" sz="1050" dirty="0"/>
          </a:p>
        </p:txBody>
      </p:sp>
    </p:spTree>
    <p:extLst>
      <p:ext uri="{BB962C8B-B14F-4D97-AF65-F5344CB8AC3E}">
        <p14:creationId xmlns:p14="http://schemas.microsoft.com/office/powerpoint/2010/main" val="41313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68209EB-2DBB-33E2-29E4-CAA7F284C249}"/>
                  </a:ext>
                </a:extLst>
              </p:cNvPr>
              <p:cNvSpPr>
                <a:spLocks noGrp="1"/>
              </p:cNvSpPr>
              <p:nvPr>
                <p:ph type="title"/>
              </p:nvPr>
            </p:nvSpPr>
            <p:spPr/>
            <p:txBody>
              <a:bodyPr/>
              <a:lstStyle/>
              <a:p>
                <a:r>
                  <a:rPr lang="en-US" sz="4800" dirty="0"/>
                  <a:t>Proportional Term </a:t>
                </a:r>
                <a14:m>
                  <m:oMath xmlns:m="http://schemas.openxmlformats.org/officeDocument/2006/math">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𝐾</m:t>
                        </m:r>
                      </m:e>
                      <m:sub>
                        <m:r>
                          <a:rPr lang="en-US" sz="4800" b="0" i="1" smtClean="0">
                            <a:latin typeface="Cambria Math" panose="02040503050406030204" pitchFamily="18" charset="0"/>
                          </a:rPr>
                          <m:t>𝑝</m:t>
                        </m:r>
                      </m:sub>
                    </m:sSub>
                  </m:oMath>
                </a14:m>
                <a:endParaRPr lang="en-SE" dirty="0"/>
              </a:p>
            </p:txBody>
          </p:sp>
        </mc:Choice>
        <mc:Fallback xmlns="">
          <p:sp>
            <p:nvSpPr>
              <p:cNvPr id="2" name="Title 1">
                <a:extLst>
                  <a:ext uri="{FF2B5EF4-FFF2-40B4-BE49-F238E27FC236}">
                    <a16:creationId xmlns:a16="http://schemas.microsoft.com/office/drawing/2014/main" id="{068209EB-2DBB-33E2-29E4-CAA7F284C249}"/>
                  </a:ext>
                </a:extLst>
              </p:cNvPr>
              <p:cNvSpPr>
                <a:spLocks noGrp="1" noRot="1" noChangeAspect="1" noMove="1" noResize="1" noEditPoints="1" noAdjustHandles="1" noChangeArrowheads="1" noChangeShapeType="1" noTextEdit="1"/>
              </p:cNvSpPr>
              <p:nvPr>
                <p:ph type="title"/>
              </p:nvPr>
            </p:nvSpPr>
            <p:spPr>
              <a:blipFill>
                <a:blip r:embed="rId2"/>
                <a:stretch>
                  <a:fillRect l="-2506" t="-5682" b="-1420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5C53EB-C687-1BD1-32C2-DF4BD0027ED8}"/>
                  </a:ext>
                </a:extLst>
              </p:cNvPr>
              <p:cNvSpPr>
                <a:spLocks noGrp="1"/>
              </p:cNvSpPr>
              <p:nvPr>
                <p:ph idx="1"/>
              </p:nvPr>
            </p:nvSpPr>
            <p:spPr>
              <a:xfrm>
                <a:off x="622738" y="1237593"/>
                <a:ext cx="6267589" cy="5194738"/>
              </a:xfrm>
            </p:spPr>
            <p:txBody>
              <a:bodyPr/>
              <a:lstStyle/>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𝐾</m:t>
                        </m:r>
                      </m:e>
                      <m:sub>
                        <m:r>
                          <a:rPr lang="en-US" b="0" i="1" smtClean="0">
                            <a:solidFill>
                              <a:srgbClr val="FF0000"/>
                            </a:solidFill>
                            <a:latin typeface="Cambria Math" panose="02040503050406030204" pitchFamily="18" charset="0"/>
                          </a:rPr>
                          <m:t>𝑝</m:t>
                        </m:r>
                      </m:sub>
                    </m:sSub>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𝑡</m:t>
                        </m:r>
                      </m:sup>
                      <m:e>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𝜏</m:t>
                            </m:r>
                          </m:e>
                        </m:d>
                        <m:r>
                          <a:rPr lang="en-US" b="0" i="1" smtClean="0">
                            <a:latin typeface="Cambria Math" panose="02040503050406030204" pitchFamily="18" charset="0"/>
                          </a:rPr>
                          <m:t>𝑑</m:t>
                        </m:r>
                        <m:r>
                          <a:rPr lang="en-US" i="1">
                            <a:latin typeface="Cambria Math" panose="02040503050406030204" pitchFamily="18" charset="0"/>
                          </a:rPr>
                          <m:t>𝜏</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endParaRPr lang="en-SE" dirty="0"/>
              </a:p>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t> proportional to error </a:t>
                </a:r>
                <a14:m>
                  <m:oMath xmlns:m="http://schemas.openxmlformats.org/officeDocument/2006/math">
                    <m:r>
                      <a:rPr lang="en-US" i="1">
                        <a:latin typeface="Cambria Math" panose="02040503050406030204" pitchFamily="18" charset="0"/>
                      </a:rPr>
                      <m:t>𝑒</m:t>
                    </m:r>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with factor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oMath>
                </a14:m>
                <a:endParaRPr lang="en-US" dirty="0"/>
              </a:p>
              <a:p>
                <a:r>
                  <a:rPr lang="en-US" dirty="0"/>
                  <a:t>Increasing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oMath>
                </a14:m>
                <a:r>
                  <a:rPr lang="en-US" dirty="0"/>
                  <a:t> leads to:</a:t>
                </a:r>
              </a:p>
              <a:p>
                <a:pPr lvl="1"/>
                <a:r>
                  <a:rPr lang="en-US" dirty="0"/>
                  <a:t>Faster response</a:t>
                </a:r>
              </a:p>
              <a:p>
                <a:pPr lvl="1"/>
                <a:r>
                  <a:rPr lang="en-US" dirty="0"/>
                  <a:t>Bigger overshoot, oscillations</a:t>
                </a:r>
              </a:p>
              <a:p>
                <a:pPr lvl="2"/>
                <a:r>
                  <a:rPr lang="en-US" dirty="0"/>
                  <a:t>System may become unstable</a:t>
                </a:r>
                <a:endParaRPr lang="en-SE" dirty="0"/>
              </a:p>
              <a:p>
                <a:pPr lvl="1"/>
                <a:r>
                  <a:rPr lang="en-US" dirty="0"/>
                  <a:t>Smaller but non-zero steady state error </a:t>
                </a:r>
              </a:p>
            </p:txBody>
          </p:sp>
        </mc:Choice>
        <mc:Fallback xmlns="">
          <p:sp>
            <p:nvSpPr>
              <p:cNvPr id="3" name="Content Placeholder 2">
                <a:extLst>
                  <a:ext uri="{FF2B5EF4-FFF2-40B4-BE49-F238E27FC236}">
                    <a16:creationId xmlns:a16="http://schemas.microsoft.com/office/drawing/2014/main" id="{A75C53EB-C687-1BD1-32C2-DF4BD0027ED8}"/>
                  </a:ext>
                </a:extLst>
              </p:cNvPr>
              <p:cNvSpPr>
                <a:spLocks noGrp="1" noRot="1" noChangeAspect="1" noMove="1" noResize="1" noEditPoints="1" noAdjustHandles="1" noChangeArrowheads="1" noChangeShapeType="1" noTextEdit="1"/>
              </p:cNvSpPr>
              <p:nvPr>
                <p:ph idx="1"/>
              </p:nvPr>
            </p:nvSpPr>
            <p:spPr>
              <a:xfrm>
                <a:off x="622738" y="1237593"/>
                <a:ext cx="6267589" cy="5194738"/>
              </a:xfrm>
              <a:blipFill>
                <a:blip r:embed="rId3"/>
                <a:stretch>
                  <a:fillRect l="-223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194FC71-56F0-63A2-E3BF-586C1AA5FBA5}"/>
              </a:ext>
            </a:extLst>
          </p:cNvPr>
          <p:cNvSpPr>
            <a:spLocks noGrp="1"/>
          </p:cNvSpPr>
          <p:nvPr>
            <p:ph type="sldNum" sz="quarter" idx="12"/>
          </p:nvPr>
        </p:nvSpPr>
        <p:spPr/>
        <p:txBody>
          <a:bodyPr/>
          <a:lstStyle/>
          <a:p>
            <a:fld id="{1F57BF9A-7B35-9447-9112-EAE7E91B4E99}" type="slidenum">
              <a:rPr lang="en-US" smtClean="0"/>
              <a:t>7</a:t>
            </a:fld>
            <a:endParaRPr lang="en-US"/>
          </a:p>
        </p:txBody>
      </p:sp>
      <p:pic>
        <p:nvPicPr>
          <p:cNvPr id="6" name="Picture 5">
            <a:extLst>
              <a:ext uri="{FF2B5EF4-FFF2-40B4-BE49-F238E27FC236}">
                <a16:creationId xmlns:a16="http://schemas.microsoft.com/office/drawing/2014/main" id="{217C97D2-C74F-F760-5184-CD5E072DFC12}"/>
              </a:ext>
            </a:extLst>
          </p:cNvPr>
          <p:cNvPicPr>
            <a:picLocks noChangeAspect="1"/>
          </p:cNvPicPr>
          <p:nvPr/>
        </p:nvPicPr>
        <p:blipFill>
          <a:blip r:embed="rId4"/>
          <a:stretch>
            <a:fillRect/>
          </a:stretch>
        </p:blipFill>
        <p:spPr>
          <a:xfrm>
            <a:off x="6793884" y="283805"/>
            <a:ext cx="5145518" cy="3960588"/>
          </a:xfrm>
          <a:prstGeom prst="rect">
            <a:avLst/>
          </a:prstGeom>
        </p:spPr>
      </p:pic>
      <p:pic>
        <p:nvPicPr>
          <p:cNvPr id="7" name="Picture 6">
            <a:extLst>
              <a:ext uri="{FF2B5EF4-FFF2-40B4-BE49-F238E27FC236}">
                <a16:creationId xmlns:a16="http://schemas.microsoft.com/office/drawing/2014/main" id="{88E19BFF-EC30-3DA7-F483-24F79853BB49}"/>
              </a:ext>
            </a:extLst>
          </p:cNvPr>
          <p:cNvPicPr>
            <a:picLocks noChangeAspect="1"/>
          </p:cNvPicPr>
          <p:nvPr/>
        </p:nvPicPr>
        <p:blipFill>
          <a:blip r:embed="rId5"/>
          <a:stretch>
            <a:fillRect/>
          </a:stretch>
        </p:blipFill>
        <p:spPr>
          <a:xfrm>
            <a:off x="7200848" y="4273291"/>
            <a:ext cx="4577482" cy="2375418"/>
          </a:xfrm>
          <a:prstGeom prst="rect">
            <a:avLst/>
          </a:prstGeom>
        </p:spPr>
      </p:pic>
    </p:spTree>
    <p:extLst>
      <p:ext uri="{BB962C8B-B14F-4D97-AF65-F5344CB8AC3E}">
        <p14:creationId xmlns:p14="http://schemas.microsoft.com/office/powerpoint/2010/main" val="920629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F5E3940-3E91-EF49-B3E0-0445C02F59BD}"/>
                  </a:ext>
                </a:extLst>
              </p:cNvPr>
              <p:cNvSpPr>
                <a:spLocks noGrp="1"/>
              </p:cNvSpPr>
              <p:nvPr>
                <p:ph type="title"/>
              </p:nvPr>
            </p:nvSpPr>
            <p:spPr/>
            <p:txBody>
              <a:bodyPr>
                <a:normAutofit/>
              </a:bodyPr>
              <a:lstStyle/>
              <a:p>
                <a:r>
                  <a:rPr lang="en-US" kern="0" dirty="0"/>
                  <a:t>Integral Term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𝐾</m:t>
                        </m:r>
                      </m:e>
                      <m:sub>
                        <m:r>
                          <a:rPr lang="en-US" b="0" i="1" kern="0" smtClean="0">
                            <a:latin typeface="Cambria Math" panose="02040503050406030204" pitchFamily="18" charset="0"/>
                          </a:rPr>
                          <m:t>𝑖</m:t>
                        </m:r>
                      </m:sub>
                    </m:sSub>
                  </m:oMath>
                </a14:m>
                <a:endParaRPr lang="en-SE" dirty="0"/>
              </a:p>
            </p:txBody>
          </p:sp>
        </mc:Choice>
        <mc:Fallback xmlns="">
          <p:sp>
            <p:nvSpPr>
              <p:cNvPr id="2" name="Title 1">
                <a:extLst>
                  <a:ext uri="{FF2B5EF4-FFF2-40B4-BE49-F238E27FC236}">
                    <a16:creationId xmlns:a16="http://schemas.microsoft.com/office/drawing/2014/main" id="{CF5E3940-3E91-EF49-B3E0-0445C02F59BD}"/>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18E3E2-4EDE-E425-D976-B034518F88C1}"/>
                  </a:ext>
                </a:extLst>
              </p:cNvPr>
              <p:cNvSpPr>
                <a:spLocks noGrp="1"/>
              </p:cNvSpPr>
              <p:nvPr>
                <p:ph idx="1"/>
              </p:nvPr>
            </p:nvSpPr>
            <p:spPr>
              <a:xfrm>
                <a:off x="622737" y="1237593"/>
                <a:ext cx="6379905" cy="5194738"/>
              </a:xfrm>
            </p:spPr>
            <p:txBody>
              <a:bodyPr/>
              <a:lstStyle/>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𝑝</m:t>
                        </m:r>
                      </m:sub>
                    </m:sSub>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𝐾</m:t>
                        </m:r>
                      </m:e>
                      <m:sub>
                        <m:r>
                          <a:rPr lang="en-US" b="0" i="1" smtClean="0">
                            <a:solidFill>
                              <a:srgbClr val="FF0000"/>
                            </a:solidFill>
                            <a:latin typeface="Cambria Math" panose="02040503050406030204" pitchFamily="18" charset="0"/>
                          </a:rPr>
                          <m:t>𝑖</m:t>
                        </m:r>
                      </m:sub>
                    </m:sSub>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𝑡</m:t>
                        </m:r>
                      </m:sup>
                      <m:e>
                        <m:r>
                          <a:rPr lang="en-US" b="0" i="1" smtClean="0">
                            <a:latin typeface="Cambria Math" panose="02040503050406030204" pitchFamily="18" charset="0"/>
                          </a:rPr>
                          <m:t>𝑒</m:t>
                        </m:r>
                        <m:d>
                          <m:dPr>
                            <m:ctrlPr>
                              <a:rPr lang="en-US" b="0" i="1" smtClean="0">
                                <a:latin typeface="Cambria Math" panose="02040503050406030204" pitchFamily="18" charset="0"/>
                              </a:rPr>
                            </m:ctrlPr>
                          </m:dPr>
                          <m:e>
                            <m:r>
                              <a:rPr lang="en-US" b="0" i="1" smtClean="0">
                                <a:latin typeface="Cambria Math" panose="02040503050406030204" pitchFamily="18" charset="0"/>
                              </a:rPr>
                              <m:t>𝜏</m:t>
                            </m:r>
                          </m:e>
                        </m:d>
                        <m:r>
                          <a:rPr lang="en-US" b="0" i="1" smtClean="0">
                            <a:latin typeface="Cambria Math" panose="02040503050406030204" pitchFamily="18" charset="0"/>
                          </a:rPr>
                          <m:t>𝑑</m:t>
                        </m:r>
                        <m:r>
                          <a:rPr lang="en-US" i="1">
                            <a:latin typeface="Cambria Math" panose="02040503050406030204" pitchFamily="18" charset="0"/>
                          </a:rPr>
                          <m:t>𝜏</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endParaRPr lang="en-SE"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t>takes into account history of tracking error, and eliminates steady state error</a:t>
                </a:r>
              </a:p>
              <a:p>
                <a:r>
                  <a:rPr lang="en-US" dirty="0"/>
                  <a:t>Increasing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𝑖</m:t>
                        </m:r>
                      </m:sub>
                    </m:sSub>
                  </m:oMath>
                </a14:m>
                <a:r>
                  <a:rPr lang="en-US" dirty="0"/>
                  <a:t> leads to:</a:t>
                </a:r>
              </a:p>
              <a:p>
                <a:pPr lvl="1"/>
                <a:r>
                  <a:rPr lang="en-US" dirty="0"/>
                  <a:t>Increased overshoot</a:t>
                </a:r>
              </a:p>
              <a:p>
                <a:pPr lvl="1"/>
                <a:r>
                  <a:rPr lang="en-US" dirty="0"/>
                  <a:t>More robust to disturbances</a:t>
                </a:r>
                <a:endParaRPr lang="en-SE" dirty="0"/>
              </a:p>
            </p:txBody>
          </p:sp>
        </mc:Choice>
        <mc:Fallback xmlns="">
          <p:sp>
            <p:nvSpPr>
              <p:cNvPr id="3" name="Content Placeholder 2">
                <a:extLst>
                  <a:ext uri="{FF2B5EF4-FFF2-40B4-BE49-F238E27FC236}">
                    <a16:creationId xmlns:a16="http://schemas.microsoft.com/office/drawing/2014/main" id="{6518E3E2-4EDE-E425-D976-B034518F88C1}"/>
                  </a:ext>
                </a:extLst>
              </p:cNvPr>
              <p:cNvSpPr>
                <a:spLocks noGrp="1" noRot="1" noChangeAspect="1" noMove="1" noResize="1" noEditPoints="1" noAdjustHandles="1" noChangeArrowheads="1" noChangeShapeType="1" noTextEdit="1"/>
              </p:cNvSpPr>
              <p:nvPr>
                <p:ph idx="1"/>
              </p:nvPr>
            </p:nvSpPr>
            <p:spPr>
              <a:xfrm>
                <a:off x="622737" y="1237593"/>
                <a:ext cx="6379905" cy="5194738"/>
              </a:xfrm>
              <a:blipFill>
                <a:blip r:embed="rId3"/>
                <a:stretch>
                  <a:fillRect l="-219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8DBBE5F-E81D-AA95-2A2F-149DE83B0D1D}"/>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5" name="Picture 4">
            <a:extLst>
              <a:ext uri="{FF2B5EF4-FFF2-40B4-BE49-F238E27FC236}">
                <a16:creationId xmlns:a16="http://schemas.microsoft.com/office/drawing/2014/main" id="{4C400237-D049-4ED2-4C65-250078662AB5}"/>
              </a:ext>
            </a:extLst>
          </p:cNvPr>
          <p:cNvPicPr>
            <a:picLocks noChangeAspect="1"/>
          </p:cNvPicPr>
          <p:nvPr/>
        </p:nvPicPr>
        <p:blipFill>
          <a:blip r:embed="rId4"/>
          <a:stretch>
            <a:fillRect/>
          </a:stretch>
        </p:blipFill>
        <p:spPr>
          <a:xfrm>
            <a:off x="7002642" y="159970"/>
            <a:ext cx="4873283" cy="3880061"/>
          </a:xfrm>
          <a:prstGeom prst="rect">
            <a:avLst/>
          </a:prstGeom>
        </p:spPr>
      </p:pic>
      <p:pic>
        <p:nvPicPr>
          <p:cNvPr id="6" name="Picture 5">
            <a:extLst>
              <a:ext uri="{FF2B5EF4-FFF2-40B4-BE49-F238E27FC236}">
                <a16:creationId xmlns:a16="http://schemas.microsoft.com/office/drawing/2014/main" id="{ADF5D8C7-F1F6-F014-E32D-CB97ECDCA6FC}"/>
              </a:ext>
            </a:extLst>
          </p:cNvPr>
          <p:cNvPicPr>
            <a:picLocks noChangeAspect="1"/>
          </p:cNvPicPr>
          <p:nvPr/>
        </p:nvPicPr>
        <p:blipFill>
          <a:blip r:embed="rId5"/>
          <a:stretch>
            <a:fillRect/>
          </a:stretch>
        </p:blipFill>
        <p:spPr>
          <a:xfrm>
            <a:off x="7213217" y="4092554"/>
            <a:ext cx="4588547" cy="2552953"/>
          </a:xfrm>
          <a:prstGeom prst="rect">
            <a:avLst/>
          </a:prstGeom>
        </p:spPr>
      </p:pic>
    </p:spTree>
    <p:extLst>
      <p:ext uri="{BB962C8B-B14F-4D97-AF65-F5344CB8AC3E}">
        <p14:creationId xmlns:p14="http://schemas.microsoft.com/office/powerpoint/2010/main" val="1486862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4716CBE-DE31-1F51-6EAF-5F9E1E125D39}"/>
                  </a:ext>
                </a:extLst>
              </p:cNvPr>
              <p:cNvSpPr>
                <a:spLocks noGrp="1"/>
              </p:cNvSpPr>
              <p:nvPr>
                <p:ph type="title"/>
              </p:nvPr>
            </p:nvSpPr>
            <p:spPr/>
            <p:txBody>
              <a:bodyPr/>
              <a:lstStyle/>
              <a:p>
                <a:r>
                  <a:rPr lang="en-US" sz="4800" dirty="0"/>
                  <a:t>Derivative Term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𝐾</m:t>
                        </m:r>
                      </m:e>
                      <m:sub>
                        <m:r>
                          <a:rPr lang="en-US" sz="4800" b="0" i="1" smtClean="0">
                            <a:latin typeface="Cambria Math" panose="02040503050406030204" pitchFamily="18" charset="0"/>
                          </a:rPr>
                          <m:t>𝑑</m:t>
                        </m:r>
                      </m:sub>
                    </m:sSub>
                  </m:oMath>
                </a14:m>
                <a:endParaRPr lang="en-SE" dirty="0"/>
              </a:p>
            </p:txBody>
          </p:sp>
        </mc:Choice>
        <mc:Fallback xmlns="">
          <p:sp>
            <p:nvSpPr>
              <p:cNvPr id="2" name="Title 1">
                <a:extLst>
                  <a:ext uri="{FF2B5EF4-FFF2-40B4-BE49-F238E27FC236}">
                    <a16:creationId xmlns:a16="http://schemas.microsoft.com/office/drawing/2014/main" id="{A4716CBE-DE31-1F51-6EAF-5F9E1E125D39}"/>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556F9A-8047-66E5-069E-8D5D80EDD35E}"/>
                  </a:ext>
                </a:extLst>
              </p:cNvPr>
              <p:cNvSpPr>
                <a:spLocks noGrp="1"/>
              </p:cNvSpPr>
              <p:nvPr>
                <p:ph idx="1"/>
              </p:nvPr>
            </p:nvSpPr>
            <p:spPr>
              <a:xfrm>
                <a:off x="622738" y="1237593"/>
                <a:ext cx="6217167" cy="5194738"/>
              </a:xfrm>
            </p:spPr>
            <p:txBody>
              <a:bodyPr/>
              <a:lstStyle/>
              <a:p>
                <a14:m>
                  <m:oMath xmlns:m="http://schemas.openxmlformats.org/officeDocument/2006/math">
                    <m:r>
                      <a:rPr lang="en-US" b="0" i="1" smtClean="0">
                        <a:solidFill>
                          <a:schemeClr val="tx1"/>
                        </a:solidFill>
                        <a:latin typeface="Cambria Math" panose="02040503050406030204" pitchFamily="18" charset="0"/>
                      </a:rPr>
                      <m:t>𝑢</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𝑝</m:t>
                        </m:r>
                      </m:sub>
                    </m:sSub>
                    <m:r>
                      <a:rPr lang="en-US" b="0" i="1" smtClean="0">
                        <a:solidFill>
                          <a:schemeClr val="tx1"/>
                        </a:solidFill>
                        <a:latin typeface="Cambria Math" panose="02040503050406030204" pitchFamily="18" charset="0"/>
                      </a:rPr>
                      <m:t>𝑒</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𝑖</m:t>
                        </m:r>
                      </m:sub>
                    </m:sSub>
                    <m:nary>
                      <m:naryPr>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0</m:t>
                        </m:r>
                      </m:sub>
                      <m:sup>
                        <m:r>
                          <a:rPr lang="en-US" b="0" i="1" smtClean="0">
                            <a:solidFill>
                              <a:schemeClr val="tx1"/>
                            </a:solidFill>
                            <a:latin typeface="Cambria Math" panose="02040503050406030204" pitchFamily="18" charset="0"/>
                          </a:rPr>
                          <m:t>𝑡</m:t>
                        </m:r>
                      </m:sup>
                      <m:e>
                        <m:r>
                          <a:rPr lang="en-US" b="0" i="1" smtClean="0">
                            <a:solidFill>
                              <a:schemeClr val="tx1"/>
                            </a:solidFill>
                            <a:latin typeface="Cambria Math" panose="02040503050406030204" pitchFamily="18" charset="0"/>
                          </a:rPr>
                          <m:t>𝑒</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𝜏</m:t>
                            </m:r>
                          </m:e>
                        </m:d>
                        <m:r>
                          <a:rPr lang="en-US" b="0" i="1" smtClean="0">
                            <a:solidFill>
                              <a:schemeClr val="tx1"/>
                            </a:solidFill>
                            <a:latin typeface="Cambria Math" panose="02040503050406030204" pitchFamily="18" charset="0"/>
                          </a:rPr>
                          <m:t>𝑑</m:t>
                        </m:r>
                        <m:r>
                          <a:rPr lang="en-US" i="1">
                            <a:solidFill>
                              <a:schemeClr val="tx1"/>
                            </a:solidFill>
                            <a:latin typeface="Cambria Math" panose="02040503050406030204" pitchFamily="18" charset="0"/>
                          </a:rPr>
                          <m:t>𝜏</m:t>
                        </m:r>
                      </m:e>
                    </m:nary>
                    <m:r>
                      <a:rPr lang="en-US" b="0" i="1" smtClean="0">
                        <a:solidFill>
                          <a:schemeClr val="tx1"/>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𝐾</m:t>
                        </m:r>
                      </m:e>
                      <m:sub>
                        <m:r>
                          <a:rPr lang="en-US" b="0" i="1" smtClean="0">
                            <a:solidFill>
                              <a:srgbClr val="FF0000"/>
                            </a:solidFill>
                            <a:latin typeface="Cambria Math" panose="02040503050406030204" pitchFamily="18" charset="0"/>
                          </a:rPr>
                          <m:t>𝑑</m:t>
                        </m:r>
                      </m:sub>
                    </m:sSub>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𝑒</m:t>
                        </m:r>
                      </m:e>
                    </m:acc>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𝑡</m:t>
                    </m:r>
                    <m:r>
                      <a:rPr lang="en-US" b="0" i="1" dirty="0" smtClean="0">
                        <a:solidFill>
                          <a:schemeClr val="tx1"/>
                        </a:solidFill>
                        <a:latin typeface="Cambria Math" panose="02040503050406030204" pitchFamily="18" charset="0"/>
                      </a:rPr>
                      <m:t>)</m:t>
                    </m:r>
                  </m:oMath>
                </a14:m>
                <a:endParaRPr lang="en-SE" dirty="0">
                  <a:solidFill>
                    <a:schemeClr val="tx1"/>
                  </a:solidFill>
                </a:endParaRPr>
              </a:p>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t> proportional to error derivative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𝑒</m:t>
                        </m:r>
                      </m:e>
                    </m:acc>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m:t>
                    </m:r>
                  </m:oMath>
                </a14:m>
                <a:r>
                  <a:rPr lang="en-US" dirty="0"/>
                  <a:t> by factor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𝑑</m:t>
                        </m:r>
                      </m:sub>
                    </m:sSub>
                  </m:oMath>
                </a14:m>
                <a:endParaRPr lang="en-US" dirty="0">
                  <a:solidFill>
                    <a:schemeClr val="tx1"/>
                  </a:solidFill>
                </a:endParaRPr>
              </a:p>
              <a:p>
                <a:r>
                  <a:rPr lang="en-US" dirty="0">
                    <a:solidFill>
                      <a:schemeClr val="tx1"/>
                    </a:solidFill>
                  </a:rPr>
                  <a:t>Increasing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𝑑</m:t>
                        </m:r>
                      </m:sub>
                    </m:sSub>
                  </m:oMath>
                </a14:m>
                <a:r>
                  <a:rPr lang="en-US" dirty="0">
                    <a:solidFill>
                      <a:schemeClr val="tx1"/>
                    </a:solidFill>
                  </a:rPr>
                  <a:t> leads to:</a:t>
                </a:r>
              </a:p>
              <a:p>
                <a:pPr lvl="1"/>
                <a:r>
                  <a:rPr lang="en-US" dirty="0">
                    <a:solidFill>
                      <a:schemeClr val="tx1"/>
                    </a:solidFill>
                  </a:rPr>
                  <a:t>Reduced overshoot</a:t>
                </a:r>
              </a:p>
              <a:p>
                <a:pPr lvl="1"/>
                <a:r>
                  <a:rPr lang="en-US" dirty="0">
                    <a:solidFill>
                      <a:schemeClr val="tx1"/>
                    </a:solidFill>
                  </a:rPr>
                  <a:t>Faster response </a:t>
                </a:r>
              </a:p>
              <a:p>
                <a:pPr lvl="1"/>
                <a:r>
                  <a:rPr lang="en-US" dirty="0">
                    <a:solidFill>
                      <a:schemeClr val="tx1"/>
                    </a:solidFill>
                  </a:rPr>
                  <a:t>Little effect on steady state</a:t>
                </a:r>
              </a:p>
              <a:p>
                <a:pPr lvl="1"/>
                <a:r>
                  <a:rPr lang="en-US" dirty="0">
                    <a:solidFill>
                      <a:schemeClr val="tx1"/>
                    </a:solidFill>
                  </a:rPr>
                  <a:t>More sensitive to measurement noise</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2B556F9A-8047-66E5-069E-8D5D80EDD35E}"/>
                  </a:ext>
                </a:extLst>
              </p:cNvPr>
              <p:cNvSpPr>
                <a:spLocks noGrp="1" noRot="1" noChangeAspect="1" noMove="1" noResize="1" noEditPoints="1" noAdjustHandles="1" noChangeArrowheads="1" noChangeShapeType="1" noTextEdit="1"/>
              </p:cNvSpPr>
              <p:nvPr>
                <p:ph idx="1"/>
              </p:nvPr>
            </p:nvSpPr>
            <p:spPr>
              <a:xfrm>
                <a:off x="622738" y="1237593"/>
                <a:ext cx="6217167" cy="5194738"/>
              </a:xfrm>
              <a:blipFill>
                <a:blip r:embed="rId3"/>
                <a:stretch>
                  <a:fillRect l="-225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0D86EE9-5213-B679-68C7-FFB87B55041A}"/>
              </a:ext>
            </a:extLst>
          </p:cNvPr>
          <p:cNvSpPr>
            <a:spLocks noGrp="1"/>
          </p:cNvSpPr>
          <p:nvPr>
            <p:ph type="sldNum" sz="quarter" idx="12"/>
          </p:nvPr>
        </p:nvSpPr>
        <p:spPr/>
        <p:txBody>
          <a:bodyPr/>
          <a:lstStyle/>
          <a:p>
            <a:fld id="{1F57BF9A-7B35-9447-9112-EAE7E91B4E99}" type="slidenum">
              <a:rPr lang="en-US" smtClean="0"/>
              <a:t>9</a:t>
            </a:fld>
            <a:endParaRPr lang="en-US"/>
          </a:p>
        </p:txBody>
      </p:sp>
      <p:pic>
        <p:nvPicPr>
          <p:cNvPr id="5" name="Picture 4">
            <a:extLst>
              <a:ext uri="{FF2B5EF4-FFF2-40B4-BE49-F238E27FC236}">
                <a16:creationId xmlns:a16="http://schemas.microsoft.com/office/drawing/2014/main" id="{FED72251-28F4-C234-DC72-7DBA0A2FA1FF}"/>
              </a:ext>
            </a:extLst>
          </p:cNvPr>
          <p:cNvPicPr>
            <a:picLocks noChangeAspect="1"/>
          </p:cNvPicPr>
          <p:nvPr/>
        </p:nvPicPr>
        <p:blipFill>
          <a:blip r:embed="rId4"/>
          <a:stretch>
            <a:fillRect/>
          </a:stretch>
        </p:blipFill>
        <p:spPr>
          <a:xfrm>
            <a:off x="7216921" y="4170398"/>
            <a:ext cx="4588547" cy="2515999"/>
          </a:xfrm>
          <a:prstGeom prst="rect">
            <a:avLst/>
          </a:prstGeom>
        </p:spPr>
      </p:pic>
      <p:pic>
        <p:nvPicPr>
          <p:cNvPr id="6" name="Picture 5">
            <a:extLst>
              <a:ext uri="{FF2B5EF4-FFF2-40B4-BE49-F238E27FC236}">
                <a16:creationId xmlns:a16="http://schemas.microsoft.com/office/drawing/2014/main" id="{0E0E6F2C-507E-80C5-31A2-078A336FB44B}"/>
              </a:ext>
            </a:extLst>
          </p:cNvPr>
          <p:cNvPicPr>
            <a:picLocks noChangeAspect="1"/>
          </p:cNvPicPr>
          <p:nvPr/>
        </p:nvPicPr>
        <p:blipFill>
          <a:blip r:embed="rId5"/>
          <a:stretch>
            <a:fillRect/>
          </a:stretch>
        </p:blipFill>
        <p:spPr>
          <a:xfrm>
            <a:off x="6988325" y="302663"/>
            <a:ext cx="4901917" cy="3871628"/>
          </a:xfrm>
          <a:prstGeom prst="rect">
            <a:avLst/>
          </a:prstGeom>
        </p:spPr>
      </p:pic>
    </p:spTree>
    <p:extLst>
      <p:ext uri="{BB962C8B-B14F-4D97-AF65-F5344CB8AC3E}">
        <p14:creationId xmlns:p14="http://schemas.microsoft.com/office/powerpoint/2010/main" val="966079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01AE5-C201-770F-1587-9C258B4E94E0}"/>
              </a:ext>
            </a:extLst>
          </p:cNvPr>
          <p:cNvSpPr>
            <a:spLocks noGrp="1"/>
          </p:cNvSpPr>
          <p:nvPr>
            <p:ph type="title"/>
          </p:nvPr>
        </p:nvSpPr>
        <p:spPr/>
        <p:txBody>
          <a:bodyPr/>
          <a:lstStyle/>
          <a:p>
            <a:r>
              <a:rPr lang="en-US" dirty="0"/>
              <a:t>Effects of PID Gains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DB51D9-C498-3C3F-8A96-F00533DFDFC8}"/>
                  </a:ext>
                </a:extLst>
              </p:cNvPr>
              <p:cNvSpPr>
                <a:spLocks noGrp="1"/>
              </p:cNvSpPr>
              <p:nvPr>
                <p:ph idx="1"/>
              </p:nvPr>
            </p:nvSpPr>
            <p:spPr/>
            <p:txBody>
              <a:bodyPr/>
              <a:lstStyle/>
              <a:p>
                <a14:m>
                  <m:oMath xmlns:m="http://schemas.openxmlformats.org/officeDocument/2006/math">
                    <m:r>
                      <a:rPr lang="en-US" b="0" i="1" smtClean="0">
                        <a:solidFill>
                          <a:schemeClr val="tx1"/>
                        </a:solidFill>
                        <a:latin typeface="Cambria Math" panose="02040503050406030204" pitchFamily="18" charset="0"/>
                      </a:rPr>
                      <m:t>𝑢</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𝑝</m:t>
                        </m:r>
                      </m:sub>
                    </m:sSub>
                    <m:r>
                      <a:rPr lang="en-US" b="0" i="1" smtClean="0">
                        <a:solidFill>
                          <a:schemeClr val="tx1"/>
                        </a:solidFill>
                        <a:latin typeface="Cambria Math" panose="02040503050406030204" pitchFamily="18" charset="0"/>
                      </a:rPr>
                      <m:t>𝑒</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𝑖</m:t>
                        </m:r>
                      </m:sub>
                    </m:sSub>
                    <m:nary>
                      <m:naryPr>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0</m:t>
                        </m:r>
                      </m:sub>
                      <m:sup>
                        <m:r>
                          <a:rPr lang="en-US" b="0" i="1" smtClean="0">
                            <a:solidFill>
                              <a:schemeClr val="tx1"/>
                            </a:solidFill>
                            <a:latin typeface="Cambria Math" panose="02040503050406030204" pitchFamily="18" charset="0"/>
                          </a:rPr>
                          <m:t>𝑡</m:t>
                        </m:r>
                      </m:sup>
                      <m:e>
                        <m:r>
                          <a:rPr lang="en-US" b="0" i="1" smtClean="0">
                            <a:solidFill>
                              <a:schemeClr val="tx1"/>
                            </a:solidFill>
                            <a:latin typeface="Cambria Math" panose="02040503050406030204" pitchFamily="18" charset="0"/>
                          </a:rPr>
                          <m:t>𝑒</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𝜏</m:t>
                            </m:r>
                          </m:e>
                        </m:d>
                        <m:r>
                          <a:rPr lang="en-US" b="0" i="1" smtClean="0">
                            <a:solidFill>
                              <a:schemeClr val="tx1"/>
                            </a:solidFill>
                            <a:latin typeface="Cambria Math" panose="02040503050406030204" pitchFamily="18" charset="0"/>
                          </a:rPr>
                          <m:t>𝑑</m:t>
                        </m:r>
                        <m:r>
                          <a:rPr lang="en-US" i="1">
                            <a:solidFill>
                              <a:schemeClr val="tx1"/>
                            </a:solidFill>
                            <a:latin typeface="Cambria Math" panose="02040503050406030204" pitchFamily="18" charset="0"/>
                          </a:rPr>
                          <m:t>𝜏</m:t>
                        </m:r>
                      </m:e>
                    </m:nary>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𝐾</m:t>
                        </m:r>
                      </m:e>
                      <m:sub>
                        <m:r>
                          <a:rPr lang="en-US" b="0" i="1" smtClean="0">
                            <a:solidFill>
                              <a:schemeClr val="tx1"/>
                            </a:solidFill>
                            <a:latin typeface="Cambria Math" panose="02040503050406030204" pitchFamily="18" charset="0"/>
                          </a:rPr>
                          <m:t>𝑑</m:t>
                        </m:r>
                      </m:sub>
                    </m:sSub>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𝑒</m:t>
                        </m:r>
                      </m:e>
                    </m:acc>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𝑡</m:t>
                    </m:r>
                    <m:r>
                      <a:rPr lang="en-US" b="0" i="1" dirty="0" smtClean="0">
                        <a:solidFill>
                          <a:schemeClr val="tx1"/>
                        </a:solidFill>
                        <a:latin typeface="Cambria Math" panose="02040503050406030204" pitchFamily="18" charset="0"/>
                      </a:rPr>
                      <m:t>)</m:t>
                    </m:r>
                  </m:oMath>
                </a14:m>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2ADB51D9-C498-3C3F-8A96-F00533DFDFC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0A8A8A5-5ED6-F974-D38B-5447CB25E989}"/>
              </a:ext>
            </a:extLst>
          </p:cNvPr>
          <p:cNvSpPr>
            <a:spLocks noGrp="1"/>
          </p:cNvSpPr>
          <p:nvPr>
            <p:ph type="sldNum" sz="quarter" idx="12"/>
          </p:nvPr>
        </p:nvSpPr>
        <p:spPr/>
        <p:txBody>
          <a:bodyPr/>
          <a:lstStyle/>
          <a:p>
            <a:fld id="{1F57BF9A-7B35-9447-9112-EAE7E91B4E99}" type="slidenum">
              <a:rPr lang="en-US" smtClean="0"/>
              <a:t>10</a:t>
            </a:fld>
            <a:endParaRPr lang="en-US"/>
          </a:p>
        </p:txBody>
      </p:sp>
      <mc:AlternateContent xmlns:mc="http://schemas.openxmlformats.org/markup-compatibility/2006">
        <mc:Choice xmlns:a14="http://schemas.microsoft.com/office/drawing/2010/main" Requires="a14">
          <p:graphicFrame>
            <p:nvGraphicFramePr>
              <p:cNvPr id="5" name="Table 6">
                <a:extLst>
                  <a:ext uri="{FF2B5EF4-FFF2-40B4-BE49-F238E27FC236}">
                    <a16:creationId xmlns:a16="http://schemas.microsoft.com/office/drawing/2014/main" id="{60AB60F2-99F9-9C25-9BE5-A8DB7DD3A68B}"/>
                  </a:ext>
                </a:extLst>
              </p:cNvPr>
              <p:cNvGraphicFramePr>
                <a:graphicFrameLocks/>
              </p:cNvGraphicFramePr>
              <p:nvPr>
                <p:extLst>
                  <p:ext uri="{D42A27DB-BD31-4B8C-83A1-F6EECF244321}">
                    <p14:modId xmlns:p14="http://schemas.microsoft.com/office/powerpoint/2010/main" val="1327523545"/>
                  </p:ext>
                </p:extLst>
              </p:nvPr>
            </p:nvGraphicFramePr>
            <p:xfrm>
              <a:off x="160817" y="2245523"/>
              <a:ext cx="7865585" cy="3178878"/>
            </p:xfrm>
            <a:graphic>
              <a:graphicData uri="http://schemas.openxmlformats.org/drawingml/2006/table">
                <a:tbl>
                  <a:tblPr firstRow="1" bandRow="1">
                    <a:tableStyleId>{5C22544A-7EE6-4342-B048-85BDC9FD1C3A}</a:tableStyleId>
                  </a:tblPr>
                  <a:tblGrid>
                    <a:gridCol w="1722412">
                      <a:extLst>
                        <a:ext uri="{9D8B030D-6E8A-4147-A177-3AD203B41FA5}">
                          <a16:colId xmlns:a16="http://schemas.microsoft.com/office/drawing/2014/main" val="3274332866"/>
                        </a:ext>
                      </a:extLst>
                    </a:gridCol>
                    <a:gridCol w="1423822">
                      <a:extLst>
                        <a:ext uri="{9D8B030D-6E8A-4147-A177-3AD203B41FA5}">
                          <a16:colId xmlns:a16="http://schemas.microsoft.com/office/drawing/2014/main" val="534315537"/>
                        </a:ext>
                      </a:extLst>
                    </a:gridCol>
                    <a:gridCol w="1573117">
                      <a:extLst>
                        <a:ext uri="{9D8B030D-6E8A-4147-A177-3AD203B41FA5}">
                          <a16:colId xmlns:a16="http://schemas.microsoft.com/office/drawing/2014/main" val="3255375722"/>
                        </a:ext>
                      </a:extLst>
                    </a:gridCol>
                    <a:gridCol w="1573117">
                      <a:extLst>
                        <a:ext uri="{9D8B030D-6E8A-4147-A177-3AD203B41FA5}">
                          <a16:colId xmlns:a16="http://schemas.microsoft.com/office/drawing/2014/main" val="771108352"/>
                        </a:ext>
                      </a:extLst>
                    </a:gridCol>
                    <a:gridCol w="1573117">
                      <a:extLst>
                        <a:ext uri="{9D8B030D-6E8A-4147-A177-3AD203B41FA5}">
                          <a16:colId xmlns:a16="http://schemas.microsoft.com/office/drawing/2014/main" val="1485842654"/>
                        </a:ext>
                      </a:extLst>
                    </a:gridCol>
                  </a:tblGrid>
                  <a:tr h="703716">
                    <a:tc>
                      <a:txBody>
                        <a:bodyPr/>
                        <a:lstStyle/>
                        <a:p>
                          <a:r>
                            <a:rPr lang="en-US" sz="2000" b="1" dirty="0">
                              <a:solidFill>
                                <a:schemeClr val="tx1"/>
                              </a:solidFill>
                            </a:rPr>
                            <a:t>Closed-Loop Response</a:t>
                          </a:r>
                          <a:endParaRPr lang="en-SE" sz="2000" b="1" dirty="0">
                            <a:solidFill>
                              <a:schemeClr val="tx1"/>
                            </a:solidFill>
                          </a:endParaRPr>
                        </a:p>
                      </a:txBody>
                      <a:tcPr/>
                    </a:tc>
                    <a:tc>
                      <a:txBody>
                        <a:bodyPr/>
                        <a:lstStyle/>
                        <a:p>
                          <a:r>
                            <a:rPr lang="en-US" sz="2000" b="1" dirty="0">
                              <a:solidFill>
                                <a:schemeClr val="tx1"/>
                              </a:solidFill>
                            </a:rPr>
                            <a:t>Rise Time</a:t>
                          </a:r>
                          <a:endParaRPr lang="en-SE" sz="2000" b="1" dirty="0">
                            <a:solidFill>
                              <a:schemeClr val="tx1"/>
                            </a:solidFill>
                          </a:endParaRPr>
                        </a:p>
                      </a:txBody>
                      <a:tcPr/>
                    </a:tc>
                    <a:tc>
                      <a:txBody>
                        <a:bodyPr/>
                        <a:lstStyle/>
                        <a:p>
                          <a:r>
                            <a:rPr lang="en-US" sz="2000" b="1" dirty="0">
                              <a:solidFill>
                                <a:schemeClr val="tx1"/>
                              </a:solidFill>
                            </a:rPr>
                            <a:t>Overshoot</a:t>
                          </a:r>
                          <a:endParaRPr lang="en-SE" sz="2000" b="1" dirty="0">
                            <a:solidFill>
                              <a:schemeClr val="tx1"/>
                            </a:solidFill>
                          </a:endParaRPr>
                        </a:p>
                      </a:txBody>
                      <a:tcPr/>
                    </a:tc>
                    <a:tc>
                      <a:txBody>
                        <a:bodyPr/>
                        <a:lstStyle/>
                        <a:p>
                          <a:r>
                            <a:rPr lang="en-US" sz="2000" b="1" dirty="0">
                              <a:solidFill>
                                <a:schemeClr val="tx1"/>
                              </a:solidFill>
                            </a:rPr>
                            <a:t>Settling Time</a:t>
                          </a:r>
                          <a:endParaRPr lang="en-SE" sz="2000" b="1" dirty="0">
                            <a:solidFill>
                              <a:schemeClr val="tx1"/>
                            </a:solidFill>
                          </a:endParaRPr>
                        </a:p>
                      </a:txBody>
                      <a:tcPr/>
                    </a:tc>
                    <a:tc>
                      <a:txBody>
                        <a:bodyPr/>
                        <a:lstStyle/>
                        <a:p>
                          <a:r>
                            <a:rPr lang="en-US" sz="2000" b="1" dirty="0">
                              <a:solidFill>
                                <a:schemeClr val="tx1"/>
                              </a:solidFill>
                            </a:rPr>
                            <a:t>Steady State Error</a:t>
                          </a:r>
                          <a:endParaRPr lang="en-SE" sz="2000" b="1" dirty="0">
                            <a:solidFill>
                              <a:schemeClr val="tx1"/>
                            </a:solidFill>
                          </a:endParaRPr>
                        </a:p>
                      </a:txBody>
                      <a:tcPr/>
                    </a:tc>
                    <a:extLst>
                      <a:ext uri="{0D108BD9-81ED-4DB2-BD59-A6C34878D82A}">
                        <a16:rowId xmlns:a16="http://schemas.microsoft.com/office/drawing/2014/main" val="962676007"/>
                      </a:ext>
                    </a:extLst>
                  </a:tr>
                  <a:tr h="826101">
                    <a:tc>
                      <a:txBody>
                        <a:bodyPr/>
                        <a:lstStyle/>
                        <a:p>
                          <a:r>
                            <a:rPr lang="en-US" sz="2400" dirty="0"/>
                            <a:t>Increase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𝑝</m:t>
                                  </m:r>
                                </m:sub>
                              </m:sSub>
                            </m:oMath>
                          </a14:m>
                          <a:endParaRPr lang="en-SE" sz="2400" dirty="0"/>
                        </a:p>
                      </a:txBody>
                      <a:tcPr/>
                    </a:tc>
                    <a:tc>
                      <a:txBody>
                        <a:bodyPr/>
                        <a:lstStyle/>
                        <a:p>
                          <a:r>
                            <a:rPr lang="en-US" sz="2400" dirty="0"/>
                            <a:t>Decrease</a:t>
                          </a:r>
                          <a:endParaRPr lang="en-SE" sz="2400" dirty="0"/>
                        </a:p>
                      </a:txBody>
                      <a:tcPr/>
                    </a:tc>
                    <a:tc>
                      <a:txBody>
                        <a:bodyPr/>
                        <a:lstStyle/>
                        <a:p>
                          <a:r>
                            <a:rPr lang="en-US" sz="2400" dirty="0"/>
                            <a:t>Increase</a:t>
                          </a:r>
                          <a:endParaRPr lang="en-SE" sz="2400" dirty="0"/>
                        </a:p>
                      </a:txBody>
                      <a:tcPr/>
                    </a:tc>
                    <a:tc>
                      <a:txBody>
                        <a:bodyPr/>
                        <a:lstStyle/>
                        <a:p>
                          <a:r>
                            <a:rPr lang="en-US" sz="2400" dirty="0"/>
                            <a:t>Small increase</a:t>
                          </a:r>
                          <a:endParaRPr lang="en-SE" sz="2400" dirty="0"/>
                        </a:p>
                      </a:txBody>
                      <a:tcPr/>
                    </a:tc>
                    <a:tc>
                      <a:txBody>
                        <a:bodyPr/>
                        <a:lstStyle/>
                        <a:p>
                          <a:r>
                            <a:rPr lang="en-US" sz="2400" dirty="0"/>
                            <a:t>Decrease</a:t>
                          </a:r>
                          <a:endParaRPr lang="en-SE" sz="2400" dirty="0"/>
                        </a:p>
                      </a:txBody>
                      <a:tcPr/>
                    </a:tc>
                    <a:extLst>
                      <a:ext uri="{0D108BD9-81ED-4DB2-BD59-A6C34878D82A}">
                        <a16:rowId xmlns:a16="http://schemas.microsoft.com/office/drawing/2014/main" val="4129286159"/>
                      </a:ext>
                    </a:extLst>
                  </a:tr>
                  <a:tr h="458945">
                    <a:tc>
                      <a:txBody>
                        <a:bodyPr/>
                        <a:lstStyle/>
                        <a:p>
                          <a:r>
                            <a:rPr lang="en-US" sz="2400" dirty="0"/>
                            <a:t>Increase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𝑖</m:t>
                                  </m:r>
                                </m:sub>
                              </m:sSub>
                            </m:oMath>
                          </a14:m>
                          <a:endParaRPr lang="en-SE" sz="2400" dirty="0"/>
                        </a:p>
                      </a:txBody>
                      <a:tcPr/>
                    </a:tc>
                    <a:tc>
                      <a:txBody>
                        <a:bodyPr/>
                        <a:lstStyle/>
                        <a:p>
                          <a:r>
                            <a:rPr lang="en-US" sz="2400" dirty="0"/>
                            <a:t>Small</a:t>
                          </a:r>
                        </a:p>
                        <a:p>
                          <a:r>
                            <a:rPr lang="en-US" sz="2400" dirty="0"/>
                            <a:t>decrease</a:t>
                          </a:r>
                          <a:endParaRPr lang="en-SE" sz="2400" dirty="0"/>
                        </a:p>
                      </a:txBody>
                      <a:tcPr/>
                    </a:tc>
                    <a:tc>
                      <a:txBody>
                        <a:bodyPr/>
                        <a:lstStyle/>
                        <a:p>
                          <a:r>
                            <a:rPr lang="en-US" sz="2400" dirty="0"/>
                            <a:t>Increase</a:t>
                          </a:r>
                          <a:endParaRPr lang="en-SE" sz="2400" dirty="0"/>
                        </a:p>
                      </a:txBody>
                      <a:tcPr/>
                    </a:tc>
                    <a:tc>
                      <a:txBody>
                        <a:bodyPr/>
                        <a:lstStyle/>
                        <a:p>
                          <a:r>
                            <a:rPr lang="en-US" sz="2400" dirty="0"/>
                            <a:t>Increase</a:t>
                          </a:r>
                          <a:endParaRPr lang="en-SE" sz="2400" dirty="0"/>
                        </a:p>
                      </a:txBody>
                      <a:tcPr/>
                    </a:tc>
                    <a:tc>
                      <a:txBody>
                        <a:bodyPr/>
                        <a:lstStyle/>
                        <a:p>
                          <a:r>
                            <a:rPr lang="en-US" sz="2400" dirty="0"/>
                            <a:t>Large</a:t>
                          </a:r>
                        </a:p>
                        <a:p>
                          <a:r>
                            <a:rPr lang="en-US" sz="2400" dirty="0"/>
                            <a:t>decrease</a:t>
                          </a:r>
                          <a:endParaRPr lang="en-SE" sz="2400" dirty="0"/>
                        </a:p>
                      </a:txBody>
                      <a:tcPr/>
                    </a:tc>
                    <a:extLst>
                      <a:ext uri="{0D108BD9-81ED-4DB2-BD59-A6C34878D82A}">
                        <a16:rowId xmlns:a16="http://schemas.microsoft.com/office/drawing/2014/main" val="99543511"/>
                      </a:ext>
                    </a:extLst>
                  </a:tr>
                  <a:tr h="826101">
                    <a:tc>
                      <a:txBody>
                        <a:bodyPr/>
                        <a:lstStyle/>
                        <a:p>
                          <a:r>
                            <a:rPr lang="en-US" sz="2400" dirty="0"/>
                            <a:t>Increase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𝑑</m:t>
                                  </m:r>
                                </m:sub>
                              </m:sSub>
                            </m:oMath>
                          </a14:m>
                          <a:endParaRPr lang="en-SE" sz="2400" dirty="0"/>
                        </a:p>
                      </a:txBody>
                      <a:tcPr/>
                    </a:tc>
                    <a:tc>
                      <a:txBody>
                        <a:bodyPr/>
                        <a:lstStyle/>
                        <a:p>
                          <a:r>
                            <a:rPr lang="en-US" sz="2400" dirty="0"/>
                            <a:t>Small decrease</a:t>
                          </a:r>
                          <a:endParaRPr lang="en-SE" sz="2400" dirty="0"/>
                        </a:p>
                      </a:txBody>
                      <a:tcPr/>
                    </a:tc>
                    <a:tc>
                      <a:txBody>
                        <a:bodyPr/>
                        <a:lstStyle/>
                        <a:p>
                          <a:r>
                            <a:rPr lang="en-US" sz="2400" dirty="0"/>
                            <a:t>Decrease</a:t>
                          </a:r>
                          <a:endParaRPr lang="en-SE" sz="2400" dirty="0"/>
                        </a:p>
                      </a:txBody>
                      <a:tcPr/>
                    </a:tc>
                    <a:tc>
                      <a:txBody>
                        <a:bodyPr/>
                        <a:lstStyle/>
                        <a:p>
                          <a:r>
                            <a:rPr lang="en-US" sz="2400" dirty="0"/>
                            <a:t>Decrease</a:t>
                          </a:r>
                          <a:endParaRPr lang="en-SE" sz="2400" dirty="0"/>
                        </a:p>
                      </a:txBody>
                      <a:tcPr/>
                    </a:tc>
                    <a:tc>
                      <a:txBody>
                        <a:bodyPr/>
                        <a:lstStyle/>
                        <a:p>
                          <a:r>
                            <a:rPr lang="en-US" sz="2400" dirty="0"/>
                            <a:t>Minor change</a:t>
                          </a:r>
                          <a:endParaRPr lang="en-SE" sz="2400" dirty="0"/>
                        </a:p>
                      </a:txBody>
                      <a:tcPr/>
                    </a:tc>
                    <a:extLst>
                      <a:ext uri="{0D108BD9-81ED-4DB2-BD59-A6C34878D82A}">
                        <a16:rowId xmlns:a16="http://schemas.microsoft.com/office/drawing/2014/main" val="672490871"/>
                      </a:ext>
                    </a:extLst>
                  </a:tr>
                </a:tbl>
              </a:graphicData>
            </a:graphic>
          </p:graphicFrame>
        </mc:Choice>
        <mc:Fallback>
          <p:graphicFrame>
            <p:nvGraphicFramePr>
              <p:cNvPr id="5" name="Table 6">
                <a:extLst>
                  <a:ext uri="{FF2B5EF4-FFF2-40B4-BE49-F238E27FC236}">
                    <a16:creationId xmlns:a16="http://schemas.microsoft.com/office/drawing/2014/main" id="{60AB60F2-99F9-9C25-9BE5-A8DB7DD3A68B}"/>
                  </a:ext>
                </a:extLst>
              </p:cNvPr>
              <p:cNvGraphicFramePr>
                <a:graphicFrameLocks/>
              </p:cNvGraphicFramePr>
              <p:nvPr>
                <p:extLst>
                  <p:ext uri="{D42A27DB-BD31-4B8C-83A1-F6EECF244321}">
                    <p14:modId xmlns:p14="http://schemas.microsoft.com/office/powerpoint/2010/main" val="1327523545"/>
                  </p:ext>
                </p:extLst>
              </p:nvPr>
            </p:nvGraphicFramePr>
            <p:xfrm>
              <a:off x="160817" y="2245523"/>
              <a:ext cx="7865585" cy="3178878"/>
            </p:xfrm>
            <a:graphic>
              <a:graphicData uri="http://schemas.openxmlformats.org/drawingml/2006/table">
                <a:tbl>
                  <a:tblPr firstRow="1" bandRow="1">
                    <a:tableStyleId>{5C22544A-7EE6-4342-B048-85BDC9FD1C3A}</a:tableStyleId>
                  </a:tblPr>
                  <a:tblGrid>
                    <a:gridCol w="1722412">
                      <a:extLst>
                        <a:ext uri="{9D8B030D-6E8A-4147-A177-3AD203B41FA5}">
                          <a16:colId xmlns:a16="http://schemas.microsoft.com/office/drawing/2014/main" val="3274332866"/>
                        </a:ext>
                      </a:extLst>
                    </a:gridCol>
                    <a:gridCol w="1423822">
                      <a:extLst>
                        <a:ext uri="{9D8B030D-6E8A-4147-A177-3AD203B41FA5}">
                          <a16:colId xmlns:a16="http://schemas.microsoft.com/office/drawing/2014/main" val="534315537"/>
                        </a:ext>
                      </a:extLst>
                    </a:gridCol>
                    <a:gridCol w="1573117">
                      <a:extLst>
                        <a:ext uri="{9D8B030D-6E8A-4147-A177-3AD203B41FA5}">
                          <a16:colId xmlns:a16="http://schemas.microsoft.com/office/drawing/2014/main" val="3255375722"/>
                        </a:ext>
                      </a:extLst>
                    </a:gridCol>
                    <a:gridCol w="1573117">
                      <a:extLst>
                        <a:ext uri="{9D8B030D-6E8A-4147-A177-3AD203B41FA5}">
                          <a16:colId xmlns:a16="http://schemas.microsoft.com/office/drawing/2014/main" val="771108352"/>
                        </a:ext>
                      </a:extLst>
                    </a:gridCol>
                    <a:gridCol w="1573117">
                      <a:extLst>
                        <a:ext uri="{9D8B030D-6E8A-4147-A177-3AD203B41FA5}">
                          <a16:colId xmlns:a16="http://schemas.microsoft.com/office/drawing/2014/main" val="1485842654"/>
                        </a:ext>
                      </a:extLst>
                    </a:gridCol>
                  </a:tblGrid>
                  <a:tr h="703716">
                    <a:tc>
                      <a:txBody>
                        <a:bodyPr/>
                        <a:lstStyle/>
                        <a:p>
                          <a:r>
                            <a:rPr lang="en-US" sz="2000" b="1" dirty="0">
                              <a:solidFill>
                                <a:schemeClr val="tx1"/>
                              </a:solidFill>
                            </a:rPr>
                            <a:t>Closed-Loop Response</a:t>
                          </a:r>
                          <a:endParaRPr lang="en-SE" sz="2000" b="1" dirty="0">
                            <a:solidFill>
                              <a:schemeClr val="tx1"/>
                            </a:solidFill>
                          </a:endParaRPr>
                        </a:p>
                      </a:txBody>
                      <a:tcPr/>
                    </a:tc>
                    <a:tc>
                      <a:txBody>
                        <a:bodyPr/>
                        <a:lstStyle/>
                        <a:p>
                          <a:r>
                            <a:rPr lang="en-US" sz="2000" b="1" dirty="0">
                              <a:solidFill>
                                <a:schemeClr val="tx1"/>
                              </a:solidFill>
                            </a:rPr>
                            <a:t>Rise Time</a:t>
                          </a:r>
                          <a:endParaRPr lang="en-SE" sz="2000" b="1" dirty="0">
                            <a:solidFill>
                              <a:schemeClr val="tx1"/>
                            </a:solidFill>
                          </a:endParaRPr>
                        </a:p>
                      </a:txBody>
                      <a:tcPr/>
                    </a:tc>
                    <a:tc>
                      <a:txBody>
                        <a:bodyPr/>
                        <a:lstStyle/>
                        <a:p>
                          <a:r>
                            <a:rPr lang="en-US" sz="2000" b="1" dirty="0">
                              <a:solidFill>
                                <a:schemeClr val="tx1"/>
                              </a:solidFill>
                            </a:rPr>
                            <a:t>Overshoot</a:t>
                          </a:r>
                          <a:endParaRPr lang="en-SE" sz="2000" b="1" dirty="0">
                            <a:solidFill>
                              <a:schemeClr val="tx1"/>
                            </a:solidFill>
                          </a:endParaRPr>
                        </a:p>
                      </a:txBody>
                      <a:tcPr/>
                    </a:tc>
                    <a:tc>
                      <a:txBody>
                        <a:bodyPr/>
                        <a:lstStyle/>
                        <a:p>
                          <a:r>
                            <a:rPr lang="en-US" sz="2000" b="1" dirty="0">
                              <a:solidFill>
                                <a:schemeClr val="tx1"/>
                              </a:solidFill>
                            </a:rPr>
                            <a:t>Settling Time</a:t>
                          </a:r>
                          <a:endParaRPr lang="en-SE" sz="2000" b="1" dirty="0">
                            <a:solidFill>
                              <a:schemeClr val="tx1"/>
                            </a:solidFill>
                          </a:endParaRPr>
                        </a:p>
                      </a:txBody>
                      <a:tcPr/>
                    </a:tc>
                    <a:tc>
                      <a:txBody>
                        <a:bodyPr/>
                        <a:lstStyle/>
                        <a:p>
                          <a:r>
                            <a:rPr lang="en-US" sz="2000" b="1" dirty="0">
                              <a:solidFill>
                                <a:schemeClr val="tx1"/>
                              </a:solidFill>
                            </a:rPr>
                            <a:t>Steady State Error</a:t>
                          </a:r>
                          <a:endParaRPr lang="en-SE" sz="2000" b="1" dirty="0">
                            <a:solidFill>
                              <a:schemeClr val="tx1"/>
                            </a:solidFill>
                          </a:endParaRPr>
                        </a:p>
                      </a:txBody>
                      <a:tcPr/>
                    </a:tc>
                    <a:extLst>
                      <a:ext uri="{0D108BD9-81ED-4DB2-BD59-A6C34878D82A}">
                        <a16:rowId xmlns:a16="http://schemas.microsoft.com/office/drawing/2014/main" val="962676007"/>
                      </a:ext>
                    </a:extLst>
                  </a:tr>
                  <a:tr h="826101">
                    <a:tc>
                      <a:txBody>
                        <a:bodyPr/>
                        <a:lstStyle/>
                        <a:p>
                          <a:endParaRPr lang="zh-CN"/>
                        </a:p>
                      </a:txBody>
                      <a:tcPr>
                        <a:blipFill>
                          <a:blip r:embed="rId3"/>
                          <a:stretch>
                            <a:fillRect l="-353" t="-89630" r="-357597" b="-217037"/>
                          </a:stretch>
                        </a:blipFill>
                      </a:tcPr>
                    </a:tc>
                    <a:tc>
                      <a:txBody>
                        <a:bodyPr/>
                        <a:lstStyle/>
                        <a:p>
                          <a:r>
                            <a:rPr lang="en-US" sz="2400" dirty="0"/>
                            <a:t>Decrease</a:t>
                          </a:r>
                          <a:endParaRPr lang="en-SE" sz="2400" dirty="0"/>
                        </a:p>
                      </a:txBody>
                      <a:tcPr/>
                    </a:tc>
                    <a:tc>
                      <a:txBody>
                        <a:bodyPr/>
                        <a:lstStyle/>
                        <a:p>
                          <a:r>
                            <a:rPr lang="en-US" sz="2400" dirty="0"/>
                            <a:t>Increase</a:t>
                          </a:r>
                          <a:endParaRPr lang="en-SE" sz="2400" dirty="0"/>
                        </a:p>
                      </a:txBody>
                      <a:tcPr/>
                    </a:tc>
                    <a:tc>
                      <a:txBody>
                        <a:bodyPr/>
                        <a:lstStyle/>
                        <a:p>
                          <a:r>
                            <a:rPr lang="en-US" sz="2400" dirty="0"/>
                            <a:t>Small increase</a:t>
                          </a:r>
                          <a:endParaRPr lang="en-SE" sz="2400" dirty="0"/>
                        </a:p>
                      </a:txBody>
                      <a:tcPr/>
                    </a:tc>
                    <a:tc>
                      <a:txBody>
                        <a:bodyPr/>
                        <a:lstStyle/>
                        <a:p>
                          <a:r>
                            <a:rPr lang="en-US" sz="2400" dirty="0"/>
                            <a:t>Decrease</a:t>
                          </a:r>
                          <a:endParaRPr lang="en-SE" sz="2400" dirty="0"/>
                        </a:p>
                      </a:txBody>
                      <a:tcPr/>
                    </a:tc>
                    <a:extLst>
                      <a:ext uri="{0D108BD9-81ED-4DB2-BD59-A6C34878D82A}">
                        <a16:rowId xmlns:a16="http://schemas.microsoft.com/office/drawing/2014/main" val="4129286159"/>
                      </a:ext>
                    </a:extLst>
                  </a:tr>
                  <a:tr h="822960">
                    <a:tc>
                      <a:txBody>
                        <a:bodyPr/>
                        <a:lstStyle/>
                        <a:p>
                          <a:endParaRPr lang="zh-CN"/>
                        </a:p>
                      </a:txBody>
                      <a:tcPr>
                        <a:blipFill>
                          <a:blip r:embed="rId3"/>
                          <a:stretch>
                            <a:fillRect l="-353" t="-189630" r="-357597" b="-117037"/>
                          </a:stretch>
                        </a:blipFill>
                      </a:tcPr>
                    </a:tc>
                    <a:tc>
                      <a:txBody>
                        <a:bodyPr/>
                        <a:lstStyle/>
                        <a:p>
                          <a:r>
                            <a:rPr lang="en-US" sz="2400" dirty="0"/>
                            <a:t>Small</a:t>
                          </a:r>
                        </a:p>
                        <a:p>
                          <a:r>
                            <a:rPr lang="en-US" sz="2400" dirty="0"/>
                            <a:t>decrease</a:t>
                          </a:r>
                          <a:endParaRPr lang="en-SE" sz="2400" dirty="0"/>
                        </a:p>
                      </a:txBody>
                      <a:tcPr/>
                    </a:tc>
                    <a:tc>
                      <a:txBody>
                        <a:bodyPr/>
                        <a:lstStyle/>
                        <a:p>
                          <a:r>
                            <a:rPr lang="en-US" sz="2400" dirty="0"/>
                            <a:t>Increase</a:t>
                          </a:r>
                          <a:endParaRPr lang="en-SE" sz="2400" dirty="0"/>
                        </a:p>
                      </a:txBody>
                      <a:tcPr/>
                    </a:tc>
                    <a:tc>
                      <a:txBody>
                        <a:bodyPr/>
                        <a:lstStyle/>
                        <a:p>
                          <a:r>
                            <a:rPr lang="en-US" sz="2400" dirty="0"/>
                            <a:t>Increase</a:t>
                          </a:r>
                          <a:endParaRPr lang="en-SE" sz="2400" dirty="0"/>
                        </a:p>
                      </a:txBody>
                      <a:tcPr/>
                    </a:tc>
                    <a:tc>
                      <a:txBody>
                        <a:bodyPr/>
                        <a:lstStyle/>
                        <a:p>
                          <a:r>
                            <a:rPr lang="en-US" sz="2400" dirty="0"/>
                            <a:t>Large</a:t>
                          </a:r>
                        </a:p>
                        <a:p>
                          <a:r>
                            <a:rPr lang="en-US" sz="2400" dirty="0"/>
                            <a:t>decrease</a:t>
                          </a:r>
                          <a:endParaRPr lang="en-SE" sz="2400" dirty="0"/>
                        </a:p>
                      </a:txBody>
                      <a:tcPr/>
                    </a:tc>
                    <a:extLst>
                      <a:ext uri="{0D108BD9-81ED-4DB2-BD59-A6C34878D82A}">
                        <a16:rowId xmlns:a16="http://schemas.microsoft.com/office/drawing/2014/main" val="99543511"/>
                      </a:ext>
                    </a:extLst>
                  </a:tr>
                  <a:tr h="826101">
                    <a:tc>
                      <a:txBody>
                        <a:bodyPr/>
                        <a:lstStyle/>
                        <a:p>
                          <a:endParaRPr lang="zh-CN"/>
                        </a:p>
                      </a:txBody>
                      <a:tcPr>
                        <a:blipFill>
                          <a:blip r:embed="rId3"/>
                          <a:stretch>
                            <a:fillRect l="-353" t="-287500" r="-357597" b="-16176"/>
                          </a:stretch>
                        </a:blipFill>
                      </a:tcPr>
                    </a:tc>
                    <a:tc>
                      <a:txBody>
                        <a:bodyPr/>
                        <a:lstStyle/>
                        <a:p>
                          <a:r>
                            <a:rPr lang="en-US" sz="2400" dirty="0"/>
                            <a:t>Small decrease</a:t>
                          </a:r>
                          <a:endParaRPr lang="en-SE" sz="2400" dirty="0"/>
                        </a:p>
                      </a:txBody>
                      <a:tcPr/>
                    </a:tc>
                    <a:tc>
                      <a:txBody>
                        <a:bodyPr/>
                        <a:lstStyle/>
                        <a:p>
                          <a:r>
                            <a:rPr lang="en-US" sz="2400" dirty="0"/>
                            <a:t>Decrease</a:t>
                          </a:r>
                          <a:endParaRPr lang="en-SE" sz="2400" dirty="0"/>
                        </a:p>
                      </a:txBody>
                      <a:tcPr/>
                    </a:tc>
                    <a:tc>
                      <a:txBody>
                        <a:bodyPr/>
                        <a:lstStyle/>
                        <a:p>
                          <a:r>
                            <a:rPr lang="en-US" sz="2400" dirty="0"/>
                            <a:t>Decrease</a:t>
                          </a:r>
                          <a:endParaRPr lang="en-SE" sz="2400" dirty="0"/>
                        </a:p>
                      </a:txBody>
                      <a:tcPr/>
                    </a:tc>
                    <a:tc>
                      <a:txBody>
                        <a:bodyPr/>
                        <a:lstStyle/>
                        <a:p>
                          <a:r>
                            <a:rPr lang="en-US" sz="2400" dirty="0"/>
                            <a:t>Minor change</a:t>
                          </a:r>
                          <a:endParaRPr lang="en-SE" sz="2400" dirty="0"/>
                        </a:p>
                      </a:txBody>
                      <a:tcPr/>
                    </a:tc>
                    <a:extLst>
                      <a:ext uri="{0D108BD9-81ED-4DB2-BD59-A6C34878D82A}">
                        <a16:rowId xmlns:a16="http://schemas.microsoft.com/office/drawing/2014/main" val="672490871"/>
                      </a:ext>
                    </a:extLst>
                  </a:tr>
                </a:tbl>
              </a:graphicData>
            </a:graphic>
          </p:graphicFrame>
        </mc:Fallback>
      </mc:AlternateContent>
      <p:pic>
        <p:nvPicPr>
          <p:cNvPr id="10" name="Picture 2" descr="Response for a system using only proportional controls leads to overshoot and non-zero steady-state errors">
            <a:extLst>
              <a:ext uri="{FF2B5EF4-FFF2-40B4-BE49-F238E27FC236}">
                <a16:creationId xmlns:a16="http://schemas.microsoft.com/office/drawing/2014/main" id="{B942D1CD-2844-CD96-3CEB-40A4DAC0C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5708" y="1916247"/>
            <a:ext cx="3875475" cy="4004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944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A633-250D-E7B5-CF5C-D2A4C4828469}"/>
              </a:ext>
            </a:extLst>
          </p:cNvPr>
          <p:cNvSpPr>
            <a:spLocks noGrp="1"/>
          </p:cNvSpPr>
          <p:nvPr>
            <p:ph type="title"/>
          </p:nvPr>
        </p:nvSpPr>
        <p:spPr/>
        <p:txBody>
          <a:bodyPr/>
          <a:lstStyle/>
          <a:p>
            <a:r>
              <a:rPr lang="en-US" dirty="0"/>
              <a:t>Example: Vehicle Lateral Control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74C33D-EA5C-F72F-B644-D6D8825582C2}"/>
                  </a:ext>
                </a:extLst>
              </p:cNvPr>
              <p:cNvSpPr>
                <a:spLocks noGrp="1"/>
              </p:cNvSpPr>
              <p:nvPr>
                <p:ph idx="1"/>
              </p:nvPr>
            </p:nvSpPr>
            <p:spPr>
              <a:xfrm>
                <a:off x="622737" y="1237593"/>
                <a:ext cx="10949153" cy="2059789"/>
              </a:xfrm>
            </p:spPr>
            <p:txBody>
              <a:bodyPr>
                <a:normAutofit fontScale="55000" lnSpcReduction="20000"/>
              </a:bodyPr>
              <a:lstStyle/>
              <a:p>
                <a:r>
                  <a:rPr lang="en-US" dirty="0"/>
                  <a:t>State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𝜃</m:t>
                        </m:r>
                      </m:e>
                    </m:d>
                  </m:oMath>
                </a14:m>
                <a:endParaRPr lang="en-US" b="0" dirty="0"/>
              </a:p>
              <a:p>
                <a:pPr lvl="1"/>
                <a14:m>
                  <m:oMath xmlns:m="http://schemas.openxmlformats.org/officeDocument/2006/math">
                    <m:r>
                      <a:rPr lang="en-US" i="1">
                        <a:latin typeface="Cambria Math" panose="02040503050406030204" pitchFamily="18" charset="0"/>
                      </a:rPr>
                      <m:t>𝑑</m:t>
                    </m:r>
                  </m:oMath>
                </a14:m>
                <a:r>
                  <a:rPr lang="en-US" dirty="0"/>
                  <a:t>: distance to center of lane; </a:t>
                </a:r>
                <a14:m>
                  <m:oMath xmlns:m="http://schemas.openxmlformats.org/officeDocument/2006/math">
                    <m:r>
                      <a:rPr lang="en-US" i="1">
                        <a:latin typeface="Cambria Math" panose="02040503050406030204" pitchFamily="18" charset="0"/>
                      </a:rPr>
                      <m:t>𝜃</m:t>
                    </m:r>
                  </m:oMath>
                </a14:m>
                <a:r>
                  <a:rPr lang="en-US" dirty="0"/>
                  <a:t>: heading angle.</a:t>
                </a:r>
              </a:p>
              <a:p>
                <a:r>
                  <a:rPr lang="en-US" dirty="0"/>
                  <a:t>Reference trajectory: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𝑟𝑒𝑓</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𝑟𝑒𝑓</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0,0</m:t>
                        </m:r>
                      </m:e>
                    </m:d>
                  </m:oMath>
                </a14:m>
                <a:endParaRPr lang="en-US" dirty="0"/>
              </a:p>
              <a:p>
                <a:pPr lvl="1"/>
                <a:r>
                  <a:rPr lang="en-US" dirty="0"/>
                  <a:t>The vehicle travels straight ahead at center of lane.</a:t>
                </a:r>
              </a:p>
              <a:p>
                <a:r>
                  <a:rPr lang="en-US" dirty="0"/>
                  <a:t>Vehicle has constant speed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oMath>
                </a14:m>
                <a:r>
                  <a:rPr lang="en-US" dirty="0"/>
                  <a:t>, so the only control input is </a:t>
                </a:r>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r>
                  <a:rPr lang="en-US" dirty="0"/>
                  <a:t>, the angular velocity.</a:t>
                </a:r>
              </a:p>
              <a:p>
                <a:r>
                  <a:rPr lang="en-US" dirty="0"/>
                  <a:t>Assume perfect sensor state estimation: </a:t>
                </a:r>
                <a14:m>
                  <m:oMath xmlns:m="http://schemas.openxmlformats.org/officeDocument/2006/math">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𝜃</m:t>
                        </m:r>
                      </m:e>
                    </m:acc>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 </m:t>
                    </m:r>
                    <m:r>
                      <a:rPr lang="en-US" b="0" i="1" dirty="0" smtClean="0">
                        <a:latin typeface="Cambria Math" panose="02040503050406030204" pitchFamily="18" charset="0"/>
                      </a:rPr>
                      <m:t>𝜃</m:t>
                    </m:r>
                    <m:r>
                      <a:rPr lang="en-US" b="0" i="1" dirty="0" smtClean="0">
                        <a:latin typeface="Cambria Math" panose="02040503050406030204" pitchFamily="18" charset="0"/>
                      </a:rPr>
                      <m:t>)</m:t>
                    </m:r>
                  </m:oMath>
                </a14:m>
                <a:endParaRPr lang="en-US" dirty="0"/>
              </a:p>
              <a:p>
                <a:pPr lvl="1"/>
                <a:r>
                  <a:rPr lang="en-US" dirty="0"/>
                  <a:t>Ref. Control Algorithms for Autonomous Vehicles </a:t>
                </a:r>
                <a:r>
                  <a:rPr lang="en-US" dirty="0">
                    <a:hlinkClick r:id="rId3"/>
                  </a:rPr>
                  <a:t>https://www.icloud.com/keynote/035Qivaw_FXYD70xCbD5R9lDA#control_AV</a:t>
                </a:r>
                <a:r>
                  <a:rPr lang="en-US" dirty="0"/>
                  <a:t> </a:t>
                </a:r>
              </a:p>
            </p:txBody>
          </p:sp>
        </mc:Choice>
        <mc:Fallback xmlns="">
          <p:sp>
            <p:nvSpPr>
              <p:cNvPr id="3" name="Content Placeholder 2">
                <a:extLst>
                  <a:ext uri="{FF2B5EF4-FFF2-40B4-BE49-F238E27FC236}">
                    <a16:creationId xmlns:a16="http://schemas.microsoft.com/office/drawing/2014/main" id="{9074C33D-EA5C-F72F-B644-D6D8825582C2}"/>
                  </a:ext>
                </a:extLst>
              </p:cNvPr>
              <p:cNvSpPr>
                <a:spLocks noGrp="1" noRot="1" noChangeAspect="1" noMove="1" noResize="1" noEditPoints="1" noAdjustHandles="1" noChangeArrowheads="1" noChangeShapeType="1" noTextEdit="1"/>
              </p:cNvSpPr>
              <p:nvPr>
                <p:ph idx="1"/>
              </p:nvPr>
            </p:nvSpPr>
            <p:spPr>
              <a:xfrm>
                <a:off x="622737" y="1237593"/>
                <a:ext cx="10949153" cy="2059789"/>
              </a:xfrm>
              <a:blipFill>
                <a:blip r:embed="rId4"/>
                <a:stretch>
                  <a:fillRect l="-334" t="-473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6BB1D44-9C71-C3AE-07E9-11480E9BC191}"/>
              </a:ext>
            </a:extLst>
          </p:cNvPr>
          <p:cNvSpPr>
            <a:spLocks noGrp="1"/>
          </p:cNvSpPr>
          <p:nvPr>
            <p:ph type="sldNum" sz="quarter" idx="12"/>
          </p:nvPr>
        </p:nvSpPr>
        <p:spPr/>
        <p:txBody>
          <a:bodyPr/>
          <a:lstStyle/>
          <a:p>
            <a:fld id="{1F57BF9A-7B35-9447-9112-EAE7E91B4E99}" type="slidenum">
              <a:rPr lang="en-US" smtClean="0"/>
              <a:t>11</a:t>
            </a:fld>
            <a:endParaRPr lang="en-US"/>
          </a:p>
        </p:txBody>
      </p:sp>
      <p:pic>
        <p:nvPicPr>
          <p:cNvPr id="5" name="Picture 4">
            <a:extLst>
              <a:ext uri="{FF2B5EF4-FFF2-40B4-BE49-F238E27FC236}">
                <a16:creationId xmlns:a16="http://schemas.microsoft.com/office/drawing/2014/main" id="{C55C9047-7FEA-74A0-1190-7BF857442774}"/>
              </a:ext>
            </a:extLst>
          </p:cNvPr>
          <p:cNvPicPr>
            <a:picLocks noChangeAspect="1"/>
          </p:cNvPicPr>
          <p:nvPr/>
        </p:nvPicPr>
        <p:blipFill>
          <a:blip r:embed="rId5"/>
          <a:stretch>
            <a:fillRect/>
          </a:stretch>
        </p:blipFill>
        <p:spPr>
          <a:xfrm>
            <a:off x="2340692" y="3207673"/>
            <a:ext cx="7753674" cy="1093282"/>
          </a:xfrm>
          <a:prstGeom prst="rect">
            <a:avLst/>
          </a:prstGeom>
        </p:spPr>
      </p:pic>
      <p:pic>
        <p:nvPicPr>
          <p:cNvPr id="6" name="Picture 5">
            <a:extLst>
              <a:ext uri="{FF2B5EF4-FFF2-40B4-BE49-F238E27FC236}">
                <a16:creationId xmlns:a16="http://schemas.microsoft.com/office/drawing/2014/main" id="{A0749C4D-7841-749E-BF18-DE65EB990BA8}"/>
              </a:ext>
            </a:extLst>
          </p:cNvPr>
          <p:cNvPicPr>
            <a:picLocks noChangeAspect="1"/>
          </p:cNvPicPr>
          <p:nvPr/>
        </p:nvPicPr>
        <p:blipFill>
          <a:blip r:embed="rId6"/>
          <a:stretch>
            <a:fillRect/>
          </a:stretch>
        </p:blipFill>
        <p:spPr>
          <a:xfrm>
            <a:off x="2414600" y="4245692"/>
            <a:ext cx="7436708" cy="2549246"/>
          </a:xfrm>
          <a:prstGeom prst="rect">
            <a:avLst/>
          </a:prstGeom>
        </p:spPr>
      </p:pic>
    </p:spTree>
    <p:extLst>
      <p:ext uri="{BB962C8B-B14F-4D97-AF65-F5344CB8AC3E}">
        <p14:creationId xmlns:p14="http://schemas.microsoft.com/office/powerpoint/2010/main" val="369405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9180-33A8-EF61-D439-D73C6D33A284}"/>
              </a:ext>
            </a:extLst>
          </p:cNvPr>
          <p:cNvSpPr>
            <a:spLocks noGrp="1"/>
          </p:cNvSpPr>
          <p:nvPr>
            <p:ph type="title"/>
          </p:nvPr>
        </p:nvSpPr>
        <p:spPr/>
        <p:txBody>
          <a:bodyPr/>
          <a:lstStyle/>
          <a:p>
            <a:r>
              <a:rPr lang="en-US" dirty="0"/>
              <a:t>System and </a:t>
            </a:r>
            <a:r>
              <a:rPr lang="en-US" sz="4800" dirty="0"/>
              <a:t>P Control</a:t>
            </a:r>
            <a:r>
              <a:rPr lang="en-US" dirty="0"/>
              <a:t> Modeling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7B4E69-DE92-EE9F-7BFF-BCAC3A24BBD4}"/>
                  </a:ext>
                </a:extLst>
              </p:cNvPr>
              <p:cNvSpPr>
                <a:spLocks noGrp="1"/>
              </p:cNvSpPr>
              <p:nvPr>
                <p:ph idx="1"/>
              </p:nvPr>
            </p:nvSpPr>
            <p:spPr>
              <a:xfrm>
                <a:off x="622738" y="1274536"/>
                <a:ext cx="5547154" cy="3085026"/>
              </a:xfrm>
            </p:spPr>
            <p:txBody>
              <a:bodyPr>
                <a:normAutofit fontScale="47500" lnSpcReduction="20000"/>
              </a:bodyPr>
              <a:lstStyle/>
              <a:p>
                <a:r>
                  <a:rPr lang="en-US" sz="3000" dirty="0"/>
                  <a:t>Linear system dynamics: </a:t>
                </a:r>
              </a:p>
              <a:p>
                <a:pPr lvl="1"/>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acc>
                                <m:accPr>
                                  <m:chr m:val="̇"/>
                                  <m:ctrlPr>
                                    <a:rPr lang="en-US" b="0" i="1" smtClean="0">
                                      <a:latin typeface="Cambria Math" panose="02040503050406030204" pitchFamily="18" charset="0"/>
                                    </a:rPr>
                                  </m:ctrlPr>
                                </m:accPr>
                                <m:e>
                                  <m:r>
                                    <m:rPr>
                                      <m:brk m:alnAt="7"/>
                                    </m:rPr>
                                    <a:rPr lang="en-US" b="0" i="1" smtClean="0">
                                      <a:latin typeface="Cambria Math" panose="02040503050406030204" pitchFamily="18" charset="0"/>
                                    </a:rPr>
                                    <m:t>𝑑</m:t>
                                  </m:r>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mr>
                        </m:m>
                      </m:e>
                    </m:d>
                    <m:r>
                      <a:rPr lang="en-US" b="0" i="1" smtClean="0">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2"/>
                                  <m:mcJc m:val="center"/>
                                </m:mcPr>
                              </m:mc>
                            </m:mcs>
                            <m:ctrlPr>
                              <a:rPr lang="en-SE" i="1">
                                <a:latin typeface="Cambria Math" panose="02040503050406030204" pitchFamily="18" charset="0"/>
                              </a:rPr>
                            </m:ctrlPr>
                          </m:mPr>
                          <m:mr>
                            <m:e>
                              <m:r>
                                <m:rPr>
                                  <m:brk m:alnAt="7"/>
                                </m:rP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𝑟</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
                      </m:e>
                    </m:d>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b="0" i="1" smtClean="0">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r>
                                <a:rPr lang="en-US" b="0" i="1" smtClean="0">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r>
                      <a:rPr lang="en-US" b="0" i="1" smtClean="0">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r>
                      <a:rPr lang="en-US" b="0" i="1" smtClean="0">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endParaRPr lang="en-US" b="0" dirty="0"/>
              </a:p>
              <a:p>
                <a:pPr lvl="1"/>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𝑟</m:t>
                        </m:r>
                      </m:sub>
                    </m:sSub>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func>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r>
                      <a:rPr lang="en-US" b="0" i="1" smtClean="0">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assuming </a:t>
                </a:r>
                <a14:m>
                  <m:oMath xmlns:m="http://schemas.openxmlformats.org/officeDocument/2006/math">
                    <m:r>
                      <a:rPr lang="en-US" b="0" i="1" smtClean="0">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is small ( linearized kinematic model)</a:t>
                </a:r>
              </a:p>
              <a:p>
                <a:pPr lvl="1"/>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endParaRPr lang="en-US" dirty="0"/>
              </a:p>
              <a:p>
                <a:r>
                  <a:rPr lang="en-US" sz="3000" dirty="0"/>
                  <a:t>P Controller: </a:t>
                </a:r>
              </a:p>
              <a:p>
                <a:pPr lvl="1"/>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𝐾</m:t>
                                  </m:r>
                                </m:e>
                                <m:sub>
                                  <m:r>
                                    <m:rPr>
                                      <m:brk m:alnAt="7"/>
                                    </m:rPr>
                                    <a:rPr lang="en-US" b="0" i="1" smtClean="0">
                                      <a:latin typeface="Cambria Math" panose="02040503050406030204" pitchFamily="18" charset="0"/>
                                    </a:rPr>
                                    <m:t>𝑑</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𝜃</m:t>
                                  </m:r>
                                </m:sub>
                              </m:sSub>
                            </m:e>
                          </m:mr>
                        </m:m>
                      </m:e>
                    </m:d>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oMath>
                </a14:m>
                <a:endParaRPr lang="en-US" dirty="0"/>
              </a:p>
              <a:p>
                <a:r>
                  <a:rPr lang="en-US" sz="3000" dirty="0"/>
                  <a:t>Closed-loop dynamics is obtained by plugging </a:t>
                </a:r>
                <a14:m>
                  <m:oMath xmlns:m="http://schemas.openxmlformats.org/officeDocument/2006/math">
                    <m:r>
                      <a:rPr lang="en-US" sz="3000">
                        <a:latin typeface="Cambria Math" panose="02040503050406030204" pitchFamily="18" charset="0"/>
                      </a:rPr>
                      <m:t>𝑢</m:t>
                    </m:r>
                    <m:d>
                      <m:dPr>
                        <m:ctrlPr>
                          <a:rPr lang="en-US" sz="3000">
                            <a:latin typeface="Cambria Math" panose="02040503050406030204" pitchFamily="18" charset="0"/>
                          </a:rPr>
                        </m:ctrlPr>
                      </m:dPr>
                      <m:e>
                        <m:r>
                          <a:rPr lang="en-US" sz="3000">
                            <a:latin typeface="Cambria Math" panose="02040503050406030204" pitchFamily="18" charset="0"/>
                          </a:rPr>
                          <m:t>𝑡</m:t>
                        </m:r>
                      </m:e>
                    </m:d>
                  </m:oMath>
                </a14:m>
                <a:r>
                  <a:rPr lang="en-US" sz="3000" dirty="0"/>
                  <a:t> into system dynamics: </a:t>
                </a:r>
              </a:p>
              <a:p>
                <a:pPr lvl="1"/>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acc>
                                <m:accPr>
                                  <m:chr m:val="̇"/>
                                  <m:ctrlPr>
                                    <a:rPr lang="en-US" i="1">
                                      <a:latin typeface="Cambria Math" panose="02040503050406030204" pitchFamily="18" charset="0"/>
                                    </a:rPr>
                                  </m:ctrlPr>
                                </m:accPr>
                                <m:e>
                                  <m:r>
                                    <m:rPr>
                                      <m:brk m:alnAt="7"/>
                                    </m:rPr>
                                    <a:rPr lang="en-US" i="1">
                                      <a:latin typeface="Cambria Math" panose="02040503050406030204" pitchFamily="18" charset="0"/>
                                    </a:rPr>
                                    <m:t>𝑑</m:t>
                                  </m:r>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r>
                      <a:rPr lang="en-US" i="1">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2"/>
                                  <m:mcJc m:val="center"/>
                                </m:mcPr>
                              </m:mc>
                            </m:mcs>
                            <m:ctrlPr>
                              <a:rPr lang="en-SE" i="1">
                                <a:latin typeface="Cambria Math" panose="02040503050406030204" pitchFamily="18" charset="0"/>
                              </a:rPr>
                            </m:ctrlPr>
                          </m:mPr>
                          <m:mr>
                            <m:e>
                              <m:r>
                                <m:rPr>
                                  <m:brk m:alnAt="7"/>
                                </m:rPr>
                                <a:rPr lang="en-US" i="1">
                                  <a:latin typeface="Cambria Math" panose="02040503050406030204" pitchFamily="18" charset="0"/>
                                </a:rPr>
                                <m:t>0</m:t>
                              </m:r>
                            </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e>
                          </m:m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𝐾</m:t>
                                  </m:r>
                                </m:e>
                                <m:sub>
                                  <m:r>
                                    <m:rPr>
                                      <m:brk m:alnAt="7"/>
                                    </m:rPr>
                                    <a:rPr lang="en-US" i="1">
                                      <a:latin typeface="Cambria Math" panose="02040503050406030204" pitchFamily="18" charset="0"/>
                                    </a:rPr>
                                    <m:t>𝑑</m:t>
                                  </m:r>
                                </m:sub>
                              </m:sSub>
                            </m:e>
                            <m:e>
                              <m:sSub>
                                <m:sSubPr>
                                  <m:ctrlPr>
                                    <a:rPr lang="en-US" i="1">
                                      <a:latin typeface="Cambria Math" panose="02040503050406030204" pitchFamily="18" charset="0"/>
                                    </a:rPr>
                                  </m:ctrlPr>
                                </m:sSubPr>
                                <m:e>
                                  <m:r>
                                    <m:rPr>
                                      <m:brk m:alnAt="7"/>
                                    </m:rPr>
                                    <a:rPr lang="en-US" i="1">
                                      <a:latin typeface="Cambria Math" panose="02040503050406030204" pitchFamily="18" charset="0"/>
                                    </a:rPr>
                                    <m:t>𝐾</m:t>
                                  </m:r>
                                </m:e>
                                <m:sub>
                                  <m:r>
                                    <a:rPr lang="en-US" b="0" i="1" smtClean="0">
                                      <a:latin typeface="Cambria Math" panose="02040503050406030204" pitchFamily="18" charset="0"/>
                                    </a:rPr>
                                    <m:t>𝜃</m:t>
                                  </m:r>
                                </m:sub>
                              </m:sSub>
                            </m:e>
                          </m:mr>
                        </m:m>
                      </m:e>
                    </m:d>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oMath>
                </a14:m>
                <a:endParaRPr lang="en-US" dirty="0"/>
              </a:p>
            </p:txBody>
          </p:sp>
        </mc:Choice>
        <mc:Fallback xmlns="">
          <p:sp>
            <p:nvSpPr>
              <p:cNvPr id="3" name="Content Placeholder 2">
                <a:extLst>
                  <a:ext uri="{FF2B5EF4-FFF2-40B4-BE49-F238E27FC236}">
                    <a16:creationId xmlns:a16="http://schemas.microsoft.com/office/drawing/2014/main" id="{3E7B4E69-DE92-EE9F-7BFF-BCAC3A24BBD4}"/>
                  </a:ext>
                </a:extLst>
              </p:cNvPr>
              <p:cNvSpPr>
                <a:spLocks noGrp="1" noRot="1" noChangeAspect="1" noMove="1" noResize="1" noEditPoints="1" noAdjustHandles="1" noChangeArrowheads="1" noChangeShapeType="1" noTextEdit="1"/>
              </p:cNvSpPr>
              <p:nvPr>
                <p:ph idx="1"/>
              </p:nvPr>
            </p:nvSpPr>
            <p:spPr>
              <a:xfrm>
                <a:off x="622738" y="1274536"/>
                <a:ext cx="5547154" cy="3085026"/>
              </a:xfrm>
              <a:blipFill>
                <a:blip r:embed="rId2"/>
                <a:stretch>
                  <a:fillRect l="-110" t="-217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1CFAB60-1539-AA34-9220-4A8B531A2081}"/>
              </a:ext>
            </a:extLst>
          </p:cNvPr>
          <p:cNvSpPr>
            <a:spLocks noGrp="1"/>
          </p:cNvSpPr>
          <p:nvPr>
            <p:ph type="sldNum" sz="quarter" idx="12"/>
          </p:nvPr>
        </p:nvSpPr>
        <p:spPr/>
        <p:txBody>
          <a:bodyPr/>
          <a:lstStyle/>
          <a:p>
            <a:fld id="{1F57BF9A-7B35-9447-9112-EAE7E91B4E99}" type="slidenum">
              <a:rPr lang="en-US" smtClean="0"/>
              <a:t>12</a:t>
            </a:fld>
            <a:endParaRPr lang="en-US"/>
          </a:p>
        </p:txBody>
      </p:sp>
      <p:pic>
        <p:nvPicPr>
          <p:cNvPr id="6" name="Picture 5">
            <a:extLst>
              <a:ext uri="{FF2B5EF4-FFF2-40B4-BE49-F238E27FC236}">
                <a16:creationId xmlns:a16="http://schemas.microsoft.com/office/drawing/2014/main" id="{5F14D891-E9C2-8B50-8C55-E868D6D9DE80}"/>
              </a:ext>
            </a:extLst>
          </p:cNvPr>
          <p:cNvPicPr>
            <a:picLocks noChangeAspect="1"/>
          </p:cNvPicPr>
          <p:nvPr/>
        </p:nvPicPr>
        <p:blipFill>
          <a:blip r:embed="rId3"/>
          <a:stretch>
            <a:fillRect/>
          </a:stretch>
        </p:blipFill>
        <p:spPr>
          <a:xfrm>
            <a:off x="2414600" y="4245692"/>
            <a:ext cx="7436708" cy="2549246"/>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266B6360-6CA8-E53F-C6A5-100808E7F41B}"/>
                  </a:ext>
                </a:extLst>
              </p:cNvPr>
              <p:cNvSpPr txBox="1">
                <a:spLocks/>
              </p:cNvSpPr>
              <p:nvPr/>
            </p:nvSpPr>
            <p:spPr>
              <a:xfrm>
                <a:off x="6169892" y="1274536"/>
                <a:ext cx="5547154" cy="3085026"/>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Ref trajectory: </a:t>
                </a:r>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𝑟𝑒𝑓</m:t>
                                  </m:r>
                                </m:sub>
                              </m:sSub>
                            </m:e>
                          </m:mr>
                          <m:mr>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𝑟𝑒𝑓</m:t>
                                  </m:r>
                                </m:sub>
                              </m:sSub>
                            </m:e>
                          </m:mr>
                        </m:m>
                      </m:e>
                    </m:d>
                    <m:r>
                      <a:rPr lang="en-US" i="1">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a:latin typeface="Cambria Math" panose="02040503050406030204" pitchFamily="18" charset="0"/>
                                </a:rPr>
                                <m:t>0</m:t>
                              </m:r>
                            </m:e>
                          </m:mr>
                          <m:mr>
                            <m:e>
                              <m:r>
                                <a:rPr lang="en-US" i="1">
                                  <a:latin typeface="Cambria Math" panose="02040503050406030204" pitchFamily="18" charset="0"/>
                                </a:rPr>
                                <m:t>0</m:t>
                              </m:r>
                            </m:e>
                          </m:mr>
                        </m:m>
                      </m:e>
                    </m:d>
                  </m:oMath>
                </a14:m>
                <a:endParaRPr lang="en-US" dirty="0"/>
              </a:p>
              <a:p>
                <a:r>
                  <a:rPr lang="en-US" dirty="0"/>
                  <a:t>Error signal:</a:t>
                </a:r>
              </a:p>
              <a:p>
                <a:pPr lvl="1"/>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sSub>
                                <m:sSubPr>
                                  <m:ctrlPr>
                                    <a:rPr lang="en-US" i="1" smtClean="0">
                                      <a:latin typeface="Cambria Math" panose="02040503050406030204" pitchFamily="18" charset="0"/>
                                    </a:rPr>
                                  </m:ctrlPr>
                                </m:sSubPr>
                                <m:e>
                                  <m:r>
                                    <a:rPr lang="en-US" i="1" smtClean="0">
                                      <a:latin typeface="Cambria Math" panose="02040503050406030204" pitchFamily="18" charset="0"/>
                                    </a:rPr>
                                    <m:t>𝑒</m:t>
                                  </m:r>
                                </m:e>
                                <m:sub>
                                  <m:r>
                                    <a:rPr lang="en-US" i="1" smtClean="0">
                                      <a:latin typeface="Cambria Math" panose="02040503050406030204" pitchFamily="18" charset="0"/>
                                    </a:rPr>
                                    <m:t>𝑑</m:t>
                                  </m:r>
                                </m:sub>
                              </m:sSub>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𝑒</m:t>
                                  </m:r>
                                </m:e>
                                <m:sub>
                                  <m:r>
                                    <a:rPr lang="en-US" i="1" smtClean="0">
                                      <a:latin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r>
                      <a:rPr lang="en-US" i="1">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𝑟𝑒𝑓</m:t>
                                  </m:r>
                                </m:sub>
                              </m:sSub>
                            </m:e>
                          </m:mr>
                          <m:mr>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𝑟𝑒𝑓</m:t>
                                  </m:r>
                                </m:sub>
                              </m:sSub>
                            </m:e>
                          </m:mr>
                        </m:m>
                      </m:e>
                    </m:d>
                    <m:r>
                      <a:rPr lang="en-US" i="1" smtClean="0">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smtClean="0">
                                  <a:latin typeface="Cambria Math" panose="02040503050406030204" pitchFamily="18" charset="0"/>
                                </a:rPr>
                                <m:t>𝑑</m:t>
                              </m:r>
                              <m:d>
                                <m:dPr>
                                  <m:ctrlPr>
                                    <a:rPr lang="en-US" i="1" smtClean="0">
                                      <a:latin typeface="Cambria Math" panose="02040503050406030204" pitchFamily="18" charset="0"/>
                                    </a:rPr>
                                  </m:ctrlPr>
                                </m:dPr>
                                <m:e>
                                  <m:r>
                                    <a:rPr lang="en-US" i="1" smtClean="0">
                                      <a:latin typeface="Cambria Math" panose="02040503050406030204" pitchFamily="18" charset="0"/>
                                    </a:rPr>
                                    <m:t>𝑡</m:t>
                                  </m:r>
                                </m:e>
                              </m:d>
                            </m:e>
                          </m:mr>
                          <m:mr>
                            <m:e>
                              <m:r>
                                <a:rPr lang="en-US" i="1" smtClean="0">
                                  <a:latin typeface="Cambria Math" panose="02040503050406030204" pitchFamily="18" charset="0"/>
                                </a:rPr>
                                <m:t>𝜃</m:t>
                              </m:r>
                              <m:d>
                                <m:dPr>
                                  <m:ctrlPr>
                                    <a:rPr lang="en-US" i="1" smtClean="0">
                                      <a:latin typeface="Cambria Math" panose="02040503050406030204" pitchFamily="18" charset="0"/>
                                    </a:rPr>
                                  </m:ctrlPr>
                                </m:dPr>
                                <m:e>
                                  <m:r>
                                    <a:rPr lang="en-US" i="1" smtClean="0">
                                      <a:latin typeface="Cambria Math" panose="02040503050406030204" pitchFamily="18" charset="0"/>
                                    </a:rPr>
                                    <m:t>𝑡</m:t>
                                  </m:r>
                                </m:e>
                              </m:d>
                            </m:e>
                          </m:mr>
                        </m:m>
                      </m:e>
                    </m:d>
                    <m:r>
                      <a:rPr lang="en-US" i="1" smtClean="0">
                        <a:latin typeface="Cambria Math" panose="02040503050406030204" pitchFamily="18" charset="0"/>
                      </a:rPr>
                      <m:t>=</m:t>
                    </m:r>
                    <m:r>
                      <a:rPr lang="en-US" i="1">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𝑡</m:t>
                                  </m:r>
                                </m:e>
                              </m:d>
                            </m:e>
                          </m:mr>
                          <m:mr>
                            <m:e>
                              <m:r>
                                <a:rPr lang="en-US" i="1">
                                  <a:latin typeface="Cambria Math" panose="02040503050406030204" pitchFamily="18" charset="0"/>
                                </a:rPr>
                                <m:t>𝜃</m:t>
                              </m:r>
                              <m:d>
                                <m:dPr>
                                  <m:ctrlPr>
                                    <a:rPr lang="en-US" i="1">
                                      <a:latin typeface="Cambria Math" panose="02040503050406030204" pitchFamily="18" charset="0"/>
                                    </a:rPr>
                                  </m:ctrlPr>
                                </m:dPr>
                                <m:e>
                                  <m:r>
                                    <a:rPr lang="en-US" i="1">
                                      <a:latin typeface="Cambria Math" panose="02040503050406030204" pitchFamily="18" charset="0"/>
                                    </a:rPr>
                                    <m:t>𝑡</m:t>
                                  </m:r>
                                </m:e>
                              </m:d>
                            </m:e>
                          </m:mr>
                        </m:m>
                      </m:e>
                    </m:d>
                  </m:oMath>
                </a14:m>
                <a:endParaRPr lang="en-US" dirty="0"/>
              </a:p>
              <a:p>
                <a:r>
                  <a:rPr lang="en-US" dirty="0"/>
                  <a:t>Error dynamics:</a:t>
                </a:r>
              </a:p>
              <a:p>
                <a:pPr lvl="1"/>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𝑑</m:t>
                                      </m:r>
                                    </m:sub>
                                  </m:sSub>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𝜃</m:t>
                                      </m:r>
                                    </m:sub>
                                  </m:sSub>
                                </m:e>
                              </m:acc>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r>
                      <a:rPr lang="en-US" i="1">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acc>
                                <m:accPr>
                                  <m:chr m:val="̇"/>
                                  <m:ctrlPr>
                                    <a:rPr lang="en-US" i="1">
                                      <a:latin typeface="Cambria Math" panose="02040503050406030204" pitchFamily="18" charset="0"/>
                                    </a:rPr>
                                  </m:ctrlPr>
                                </m:accPr>
                                <m:e>
                                  <m:r>
                                    <a:rPr lang="en-US" i="1">
                                      <a:latin typeface="Cambria Math" panose="02040503050406030204" pitchFamily="18" charset="0"/>
                                    </a:rPr>
                                    <m:t>𝑑</m:t>
                                  </m:r>
                                </m:e>
                              </m:acc>
                              <m:d>
                                <m:dPr>
                                  <m:ctrlPr>
                                    <a:rPr lang="en-US" i="1">
                                      <a:latin typeface="Cambria Math" panose="02040503050406030204" pitchFamily="18" charset="0"/>
                                    </a:rPr>
                                  </m:ctrlPr>
                                </m:dPr>
                                <m:e>
                                  <m:r>
                                    <a:rPr lang="en-US" i="1">
                                      <a:latin typeface="Cambria Math" panose="02040503050406030204" pitchFamily="18" charset="0"/>
                                    </a:rPr>
                                    <m:t>𝑡</m:t>
                                  </m:r>
                                </m:e>
                              </m:d>
                            </m:e>
                          </m:mr>
                          <m:mr>
                            <m:e>
                              <m:acc>
                                <m:accPr>
                                  <m:chr m:val="̇"/>
                                  <m:ctrlPr>
                                    <a:rPr lang="en-US" i="1">
                                      <a:latin typeface="Cambria Math" panose="02040503050406030204" pitchFamily="18" charset="0"/>
                                    </a:rPr>
                                  </m:ctrlPr>
                                </m:accPr>
                                <m:e>
                                  <m:r>
                                    <a:rPr lang="en-US" i="1">
                                      <a:latin typeface="Cambria Math" panose="02040503050406030204" pitchFamily="18" charset="0"/>
                                    </a:rPr>
                                    <m:t>𝜃</m:t>
                                  </m:r>
                                </m:e>
                              </m:acc>
                              <m:d>
                                <m:dPr>
                                  <m:ctrlPr>
                                    <a:rPr lang="en-US" i="1">
                                      <a:latin typeface="Cambria Math" panose="02040503050406030204" pitchFamily="18" charset="0"/>
                                    </a:rPr>
                                  </m:ctrlPr>
                                </m:dPr>
                                <m:e>
                                  <m:r>
                                    <a:rPr lang="en-US" i="1">
                                      <a:latin typeface="Cambria Math" panose="02040503050406030204" pitchFamily="18" charset="0"/>
                                    </a:rPr>
                                    <m:t>𝑡</m:t>
                                  </m:r>
                                </m:e>
                              </m:d>
                            </m:e>
                          </m:mr>
                        </m:m>
                      </m:e>
                    </m:d>
                    <m:r>
                      <a:rPr lang="en-US" i="1" smtClean="0">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2"/>
                                  <m:mcJc m:val="center"/>
                                </m:mcPr>
                              </m:mc>
                            </m:mcs>
                            <m:ctrlPr>
                              <a:rPr lang="en-SE" i="1">
                                <a:latin typeface="Cambria Math" panose="02040503050406030204" pitchFamily="18" charset="0"/>
                              </a:rPr>
                            </m:ctrlPr>
                          </m:mPr>
                          <m:mr>
                            <m:e>
                              <m:r>
                                <m:rPr>
                                  <m:brk m:alnAt="7"/>
                                </m:rPr>
                                <a:rPr lang="en-US" i="1">
                                  <a:latin typeface="Cambria Math" panose="02040503050406030204" pitchFamily="18" charset="0"/>
                                </a:rPr>
                                <m:t>0</m:t>
                              </m:r>
                            </m:e>
                            <m:e>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m:t>
                                  </m:r>
                                  <m:r>
                                    <m:rPr>
                                      <m:brk m:alnAt="7"/>
                                    </m:rPr>
                                    <a:rPr lang="en-US" i="1">
                                      <a:latin typeface="Cambria Math" panose="02040503050406030204" pitchFamily="18" charset="0"/>
                                    </a:rPr>
                                    <m:t>𝐾</m:t>
                                  </m:r>
                                </m:e>
                                <m:sub>
                                  <m:r>
                                    <m:rPr>
                                      <m:brk m:alnAt="7"/>
                                    </m:rPr>
                                    <a:rPr lang="en-US" i="1">
                                      <a:latin typeface="Cambria Math" panose="02040503050406030204" pitchFamily="18" charset="0"/>
                                    </a:rPr>
                                    <m:t>𝑑</m:t>
                                  </m:r>
                                </m:sub>
                              </m:sSub>
                            </m:e>
                            <m:e>
                              <m:sSub>
                                <m:sSubPr>
                                  <m:ctrlPr>
                                    <a:rPr lang="en-US" i="1" smtClean="0">
                                      <a:latin typeface="Cambria Math" panose="02040503050406030204" pitchFamily="18" charset="0"/>
                                    </a:rPr>
                                  </m:ctrlPr>
                                </m:sSubPr>
                                <m:e>
                                  <m:r>
                                    <a:rPr lang="en-US" i="1" smtClean="0">
                                      <a:latin typeface="Cambria Math" panose="02040503050406030204" pitchFamily="18" charset="0"/>
                                    </a:rPr>
                                    <m:t>−</m:t>
                                  </m:r>
                                  <m:r>
                                    <m:rPr>
                                      <m:brk m:alnAt="7"/>
                                    </m:rPr>
                                    <a:rPr lang="en-US" i="1">
                                      <a:latin typeface="Cambria Math" panose="02040503050406030204" pitchFamily="18" charset="0"/>
                                    </a:rPr>
                                    <m:t>𝐾</m:t>
                                  </m:r>
                                </m:e>
                                <m:sub>
                                  <m:r>
                                    <a:rPr lang="en-US" i="1">
                                      <a:latin typeface="Cambria Math" panose="02040503050406030204" pitchFamily="18" charset="0"/>
                                    </a:rPr>
                                    <m:t>𝜃</m:t>
                                  </m:r>
                                </m:sub>
                              </m:sSub>
                            </m:e>
                          </m:mr>
                        </m:m>
                      </m:e>
                    </m:d>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oMath>
                </a14:m>
                <a:endParaRPr lang="en-US" dirty="0"/>
              </a:p>
              <a:p>
                <a:r>
                  <a:rPr lang="en-US" dirty="0"/>
                  <a:t>Control objective: design </a:t>
                </a:r>
                <a14:m>
                  <m:oMath xmlns:m="http://schemas.openxmlformats.org/officeDocument/2006/math">
                    <m:sSub>
                      <m:sSubPr>
                        <m:ctrlPr>
                          <a:rPr lang="en-US" i="1">
                            <a:latin typeface="Cambria Math" panose="02040503050406030204" pitchFamily="18" charset="0"/>
                          </a:rPr>
                        </m:ctrlPr>
                      </m:sSubPr>
                      <m:e>
                        <m:r>
                          <m:rPr>
                            <m:brk m:alnAt="7"/>
                          </m:rPr>
                          <a:rPr lang="en-US" i="1">
                            <a:latin typeface="Cambria Math" panose="02040503050406030204" pitchFamily="18" charset="0"/>
                          </a:rPr>
                          <m:t>𝐾</m:t>
                        </m:r>
                      </m:e>
                      <m:sub>
                        <m:r>
                          <m:rPr>
                            <m:brk m:alnAt="7"/>
                          </m:rPr>
                          <a:rPr lang="en-US" i="1">
                            <a:latin typeface="Cambria Math" panose="02040503050406030204" pitchFamily="18" charset="0"/>
                          </a:rPr>
                          <m:t>𝑑</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𝐾</m:t>
                        </m:r>
                      </m:e>
                      <m:sub>
                        <m:r>
                          <a:rPr lang="en-US" i="1">
                            <a:latin typeface="Cambria Math" panose="02040503050406030204" pitchFamily="18" charset="0"/>
                          </a:rPr>
                          <m:t>𝜃</m:t>
                        </m:r>
                      </m:sub>
                    </m:sSub>
                  </m:oMath>
                </a14:m>
                <a:r>
                  <a:rPr lang="en-US" dirty="0"/>
                  <a:t> to drive error </a:t>
                </a:r>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𝑑</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mr>
                        </m:m>
                      </m:e>
                    </m:d>
                  </m:oMath>
                </a14:m>
                <a:r>
                  <a:rPr lang="en-US" dirty="0"/>
                  <a:t> to </a:t>
                </a:r>
                <a14:m>
                  <m:oMath xmlns:m="http://schemas.openxmlformats.org/officeDocument/2006/math">
                    <m:d>
                      <m:dPr>
                        <m:begChr m:val="["/>
                        <m:endChr m:val="]"/>
                        <m:ctrlPr>
                          <a:rPr lang="en-SE" i="1">
                            <a:latin typeface="Cambria Math" panose="02040503050406030204" pitchFamily="18" charset="0"/>
                          </a:rPr>
                        </m:ctrlPr>
                      </m:dPr>
                      <m:e>
                        <m:m>
                          <m:mPr>
                            <m:mcs>
                              <m:mc>
                                <m:mcPr>
                                  <m:count m:val="1"/>
                                  <m:mcJc m:val="center"/>
                                </m:mcPr>
                              </m:mc>
                            </m:mcs>
                            <m:ctrlPr>
                              <a:rPr lang="en-SE" i="1">
                                <a:latin typeface="Cambria Math" panose="02040503050406030204" pitchFamily="18" charset="0"/>
                              </a:rPr>
                            </m:ctrlPr>
                          </m:mPr>
                          <m:mr>
                            <m:e>
                              <m:r>
                                <a:rPr lang="en-US" i="1" smtClean="0">
                                  <a:latin typeface="Cambria Math" panose="02040503050406030204" pitchFamily="18" charset="0"/>
                                </a:rPr>
                                <m:t>0</m:t>
                              </m:r>
                            </m:e>
                          </m:mr>
                          <m:mr>
                            <m:e>
                              <m:r>
                                <a:rPr lang="en-US" i="1" smtClean="0">
                                  <a:latin typeface="Cambria Math" panose="02040503050406030204" pitchFamily="18" charset="0"/>
                                </a:rPr>
                                <m:t>0</m:t>
                              </m:r>
                            </m:e>
                          </m:mr>
                        </m:m>
                      </m:e>
                    </m:d>
                  </m:oMath>
                </a14:m>
                <a:endParaRPr lang="en-SE" dirty="0"/>
              </a:p>
              <a:p>
                <a:pPr marL="0" indent="0">
                  <a:buFont typeface="Arial" panose="020B0604020202020204" pitchFamily="34" charset="0"/>
                  <a:buNone/>
                </a:pPr>
                <a:endParaRPr lang="en-SE" dirty="0"/>
              </a:p>
            </p:txBody>
          </p:sp>
        </mc:Choice>
        <mc:Fallback xmlns="">
          <p:sp>
            <p:nvSpPr>
              <p:cNvPr id="7" name="Content Placeholder 2">
                <a:extLst>
                  <a:ext uri="{FF2B5EF4-FFF2-40B4-BE49-F238E27FC236}">
                    <a16:creationId xmlns:a16="http://schemas.microsoft.com/office/drawing/2014/main" id="{266B6360-6CA8-E53F-C6A5-100808E7F41B}"/>
                  </a:ext>
                </a:extLst>
              </p:cNvPr>
              <p:cNvSpPr txBox="1">
                <a:spLocks noRot="1" noChangeAspect="1" noMove="1" noResize="1" noEditPoints="1" noAdjustHandles="1" noChangeArrowheads="1" noChangeShapeType="1" noTextEdit="1"/>
              </p:cNvSpPr>
              <p:nvPr/>
            </p:nvSpPr>
            <p:spPr>
              <a:xfrm>
                <a:off x="6169892" y="1274536"/>
                <a:ext cx="5547154" cy="3085026"/>
              </a:xfrm>
              <a:prstGeom prst="rect">
                <a:avLst/>
              </a:prstGeom>
              <a:blipFill>
                <a:blip r:embed="rId4"/>
                <a:stretch>
                  <a:fillRect l="-659" t="-2174"/>
                </a:stretch>
              </a:blipFill>
            </p:spPr>
            <p:txBody>
              <a:bodyPr/>
              <a:lstStyle/>
              <a:p>
                <a:r>
                  <a:rPr lang="en-SE">
                    <a:noFill/>
                  </a:rPr>
                  <a:t> </a:t>
                </a:r>
              </a:p>
            </p:txBody>
          </p:sp>
        </mc:Fallback>
      </mc:AlternateContent>
    </p:spTree>
    <p:extLst>
      <p:ext uri="{BB962C8B-B14F-4D97-AF65-F5344CB8AC3E}">
        <p14:creationId xmlns:p14="http://schemas.microsoft.com/office/powerpoint/2010/main" val="777265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E770-564B-F869-B86C-67E125A1D9FB}"/>
              </a:ext>
            </a:extLst>
          </p:cNvPr>
          <p:cNvSpPr>
            <a:spLocks noGrp="1"/>
          </p:cNvSpPr>
          <p:nvPr>
            <p:ph type="title"/>
          </p:nvPr>
        </p:nvSpPr>
        <p:spPr/>
        <p:txBody>
          <a:bodyPr>
            <a:normAutofit fontScale="90000"/>
          </a:bodyPr>
          <a:lstStyle/>
          <a:p>
            <a:r>
              <a:rPr lang="en-US" sz="4800" dirty="0"/>
              <a:t>P Control Design with Pole Placement (not covered in this course)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0DE258-1D21-CAB0-AEE9-FECCCCFC60FC}"/>
                  </a:ext>
                </a:extLst>
              </p:cNvPr>
              <p:cNvSpPr>
                <a:spLocks noGrp="1"/>
              </p:cNvSpPr>
              <p:nvPr>
                <p:ph idx="1"/>
              </p:nvPr>
            </p:nvSpPr>
            <p:spPr>
              <a:xfrm>
                <a:off x="622737" y="1237593"/>
                <a:ext cx="10949153" cy="3008099"/>
              </a:xfrm>
            </p:spPr>
            <p:txBody>
              <a:bodyPr>
                <a:normAutofit fontScale="77500" lnSpcReduction="20000"/>
              </a:bodyPr>
              <a:lstStyle/>
              <a:p>
                <a:r>
                  <a:rPr lang="en-US" dirty="0"/>
                  <a:t>Closed-loop poles:</a:t>
                </a:r>
              </a:p>
              <a:p>
                <a:pPr lvl="1"/>
                <a14:m>
                  <m:oMath xmlns:m="http://schemas.openxmlformats.org/officeDocument/2006/math">
                    <m:r>
                      <a:rPr lang="en-US" b="0" i="1" smtClean="0">
                        <a:latin typeface="Cambria Math" panose="02040503050406030204" pitchFamily="18" charset="0"/>
                      </a:rPr>
                      <m:t>0=</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det</m:t>
                        </m:r>
                      </m:fName>
                      <m:e>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𝐼</m:t>
                        </m:r>
                        <m:r>
                          <a:rPr lang="en-US" b="0" i="1" smtClean="0">
                            <a:latin typeface="Cambria Math" panose="02040503050406030204" pitchFamily="18" charset="0"/>
                          </a:rPr>
                          <m:t>−</m:t>
                        </m:r>
                        <m:d>
                          <m:dPr>
                            <m:begChr m:val="["/>
                            <m:endChr m:val="]"/>
                            <m:ctrlPr>
                              <a:rPr lang="en-SE" i="1">
                                <a:latin typeface="Cambria Math" panose="02040503050406030204" pitchFamily="18" charset="0"/>
                              </a:rPr>
                            </m:ctrlPr>
                          </m:dPr>
                          <m:e>
                            <m:m>
                              <m:mPr>
                                <m:mcs>
                                  <m:mc>
                                    <m:mcPr>
                                      <m:count m:val="2"/>
                                      <m:mcJc m:val="center"/>
                                    </m:mcPr>
                                  </m:mc>
                                </m:mcs>
                                <m:ctrlPr>
                                  <a:rPr lang="en-SE" i="1">
                                    <a:latin typeface="Cambria Math" panose="02040503050406030204" pitchFamily="18" charset="0"/>
                                  </a:rPr>
                                </m:ctrlPr>
                              </m:mPr>
                              <m:mr>
                                <m:e>
                                  <m:r>
                                    <m:rPr>
                                      <m:brk m:alnAt="7"/>
                                    </m:rPr>
                                    <a:rPr lang="en-US" i="1">
                                      <a:latin typeface="Cambria Math" panose="02040503050406030204" pitchFamily="18" charset="0"/>
                                    </a:rPr>
                                    <m:t>0</m:t>
                                  </m:r>
                                </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e>
                              </m:m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𝐾</m:t>
                                      </m:r>
                                    </m:e>
                                    <m:sub>
                                      <m:r>
                                        <m:rPr>
                                          <m:brk m:alnAt="7"/>
                                        </m:rPr>
                                        <a:rPr lang="en-US" i="1">
                                          <a:latin typeface="Cambria Math" panose="02040503050406030204" pitchFamily="18" charset="0"/>
                                        </a:rPr>
                                        <m:t>𝑑</m:t>
                                      </m:r>
                                    </m:sub>
                                  </m:sSub>
                                </m:e>
                                <m:e>
                                  <m:sSub>
                                    <m:sSubPr>
                                      <m:ctrlPr>
                                        <a:rPr lang="en-US" b="0" i="1" smtClean="0">
                                          <a:latin typeface="Cambria Math" panose="02040503050406030204" pitchFamily="18" charset="0"/>
                                        </a:rPr>
                                      </m:ctrlPr>
                                    </m:sSubPr>
                                    <m:e>
                                      <m:r>
                                        <m:rPr>
                                          <m:brk m:alnAt="7"/>
                                        </m:rPr>
                                        <a:rPr lang="en-US" i="1">
                                          <a:latin typeface="Cambria Math" panose="02040503050406030204" pitchFamily="18" charset="0"/>
                                        </a:rPr>
                                        <m:t>𝐾</m:t>
                                      </m:r>
                                    </m:e>
                                    <m:sub>
                                      <m:r>
                                        <a:rPr lang="en-US" i="1">
                                          <a:latin typeface="Cambria Math" panose="02040503050406030204" pitchFamily="18" charset="0"/>
                                        </a:rPr>
                                        <m:t>𝜃</m:t>
                                      </m:r>
                                    </m:sub>
                                  </m:sSub>
                                </m:e>
                              </m:mr>
                            </m:m>
                          </m:e>
                        </m:d>
                        <m:r>
                          <a:rPr lang="en-US" b="0" i="1" smtClean="0">
                            <a:latin typeface="Cambria Math" panose="02040503050406030204" pitchFamily="18" charset="0"/>
                          </a:rPr>
                          <m:t>)</m:t>
                        </m:r>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𝜃</m:t>
                        </m:r>
                      </m:sub>
                    </m:sSub>
                    <m:r>
                      <a:rPr lang="en-US" b="0" i="1" smtClean="0">
                        <a:latin typeface="Cambria Math" panose="02040503050406030204" pitchFamily="18" charset="0"/>
                      </a:rPr>
                      <m:t>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𝑟</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oMath>
                </a14:m>
                <a:endParaRPr lang="en-US" b="0" dirty="0"/>
              </a:p>
              <a:p>
                <a:pPr lvl="1"/>
                <a:r>
                  <a:rPr lang="en-US" dirty="0"/>
                  <a:t>Solution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1,2</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𝜃</m:t>
                            </m:r>
                          </m:sub>
                        </m:sSub>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0"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rad>
                      <m:radPr>
                        <m:degHide m:val="on"/>
                        <m:ctrlPr>
                          <a:rPr lang="en-US" i="1" smtClean="0">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𝜃</m:t>
                            </m:r>
                          </m:sub>
                          <m:sup>
                            <m:r>
                              <a:rPr lang="en-US" i="1">
                                <a:latin typeface="Cambria Math" panose="02040503050406030204" pitchFamily="18" charset="0"/>
                              </a:rPr>
                              <m:t>2</m:t>
                            </m:r>
                          </m:sup>
                        </m:sSubSup>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𝑑</m:t>
                            </m:r>
                          </m:sub>
                        </m:sSub>
                      </m:e>
                    </m:rad>
                  </m:oMath>
                </a14:m>
                <a:endParaRPr lang="en-US" dirty="0"/>
              </a:p>
              <a:p>
                <a:r>
                  <a:rPr lang="en-US" dirty="0"/>
                  <a:t>Critically-damped dynamics (repeated real roots):</a:t>
                </a:r>
              </a:p>
              <a:p>
                <a:pPr lvl="1"/>
                <a14:m>
                  <m:oMath xmlns:m="http://schemas.openxmlformats.org/officeDocument/2006/math">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𝜃</m:t>
                            </m:r>
                          </m:sub>
                          <m:sup>
                            <m:r>
                              <a:rPr lang="en-US" i="1">
                                <a:latin typeface="Cambria Math" panose="02040503050406030204" pitchFamily="18" charset="0"/>
                              </a:rPr>
                              <m:t>2</m:t>
                            </m:r>
                          </m:sup>
                        </m:sSubSup>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𝑑</m:t>
                            </m:r>
                          </m:sub>
                        </m:sSub>
                      </m:e>
                    </m:rad>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𝑑</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𝜃</m:t>
                            </m:r>
                          </m:sub>
                          <m:sup>
                            <m:r>
                              <a:rPr lang="en-US" i="1">
                                <a:latin typeface="Cambria Math" panose="02040503050406030204" pitchFamily="18" charset="0"/>
                              </a:rPr>
                              <m:t>2</m:t>
                            </m:r>
                          </m:sup>
                        </m:sSubSup>
                      </m:num>
                      <m:den>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𝑟</m:t>
                            </m:r>
                          </m:sub>
                        </m:sSub>
                      </m:den>
                    </m:f>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𝜃</m:t>
                        </m:r>
                      </m:sub>
                    </m:sSub>
                  </m:oMath>
                </a14:m>
                <a:r>
                  <a:rPr lang="en-US" dirty="0"/>
                  <a:t> chosen empirically</a:t>
                </a:r>
                <a:endParaRPr lang="en-SE" dirty="0"/>
              </a:p>
              <a:p>
                <a:pPr lvl="1"/>
                <a:r>
                  <a:rPr lang="en-US" dirty="0"/>
                  <a:t xml:space="preserve">Stable closed loop requires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a:latin typeface="Cambria Math" panose="02040503050406030204" pitchFamily="18" charset="0"/>
                          </a:rPr>
                          <m:t>K</m:t>
                        </m:r>
                      </m:e>
                      <m:sub>
                        <m:r>
                          <a:rPr lang="en-US" i="1">
                            <a:latin typeface="Cambria Math" panose="02040503050406030204" pitchFamily="18" charset="0"/>
                          </a:rPr>
                          <m:t>θ</m:t>
                        </m:r>
                      </m:sub>
                    </m:sSub>
                    <m:r>
                      <m:rPr>
                        <m:sty m:val="p"/>
                      </m:rPr>
                      <a:rPr lang="en-US" i="0">
                        <a:latin typeface="Cambria Math" panose="02040503050406030204" pitchFamily="18" charset="0"/>
                      </a:rPr>
                      <m:t>&lt;</m:t>
                    </m:r>
                    <m:r>
                      <a:rPr lang="en-US" i="1">
                        <a:latin typeface="Cambria Math" panose="02040503050406030204" pitchFamily="18" charset="0"/>
                      </a:rPr>
                      <m:t>0</m:t>
                    </m:r>
                  </m:oMath>
                </a14:m>
                <a:r>
                  <a:rPr lang="en-US" dirty="0"/>
                  <a:t xml:space="preserve"> and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a:latin typeface="Cambria Math" panose="02040503050406030204" pitchFamily="18" charset="0"/>
                          </a:rPr>
                          <m:t>K</m:t>
                        </m:r>
                      </m:e>
                      <m:sub>
                        <m:r>
                          <a:rPr lang="en-US" i="1">
                            <a:latin typeface="Cambria Math" panose="02040503050406030204" pitchFamily="18" charset="0"/>
                          </a:rPr>
                          <m:t>d</m:t>
                        </m:r>
                      </m:sub>
                    </m:sSub>
                    <m:r>
                      <m:rPr>
                        <m:sty m:val="p"/>
                      </m:rPr>
                      <a:rPr lang="en-US" i="0">
                        <a:latin typeface="Cambria Math" panose="02040503050406030204" pitchFamily="18" charset="0"/>
                      </a:rPr>
                      <m:t>&lt;</m:t>
                    </m:r>
                    <m:r>
                      <a:rPr lang="en-US" i="1">
                        <a:latin typeface="Cambria Math" panose="02040503050406030204" pitchFamily="18" charset="0"/>
                      </a:rPr>
                      <m:t>0</m:t>
                    </m:r>
                  </m:oMath>
                </a14:m>
                <a:r>
                  <a:rPr lang="en-US" dirty="0"/>
                  <a:t xml:space="preserve"> (negative feedback on both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a:latin typeface="Cambria Math" panose="02040503050406030204" pitchFamily="18" charset="0"/>
                      </a:rPr>
                      <m:t>d</m:t>
                    </m:r>
                  </m:oMath>
                </a14:m>
                <a:r>
                  <a:rPr lang="en-US" dirty="0"/>
                  <a:t xml:space="preserve"> and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a:latin typeface="Cambria Math" panose="02040503050406030204" pitchFamily="18" charset="0"/>
                      </a:rPr>
                      <m:t>θ</m:t>
                    </m:r>
                  </m:oMath>
                </a14:m>
                <a:r>
                  <a:rPr lang="en-US" dirty="0"/>
                  <a:t>)</a:t>
                </a:r>
              </a:p>
            </p:txBody>
          </p:sp>
        </mc:Choice>
        <mc:Fallback xmlns="">
          <p:sp>
            <p:nvSpPr>
              <p:cNvPr id="3" name="Content Placeholder 2">
                <a:extLst>
                  <a:ext uri="{FF2B5EF4-FFF2-40B4-BE49-F238E27FC236}">
                    <a16:creationId xmlns:a16="http://schemas.microsoft.com/office/drawing/2014/main" id="{DA0DE258-1D21-CAB0-AEE9-FECCCCFC60FC}"/>
                  </a:ext>
                </a:extLst>
              </p:cNvPr>
              <p:cNvSpPr>
                <a:spLocks noGrp="1" noRot="1" noChangeAspect="1" noMove="1" noResize="1" noEditPoints="1" noAdjustHandles="1" noChangeArrowheads="1" noChangeShapeType="1" noTextEdit="1"/>
              </p:cNvSpPr>
              <p:nvPr>
                <p:ph idx="1"/>
              </p:nvPr>
            </p:nvSpPr>
            <p:spPr>
              <a:xfrm>
                <a:off x="622737" y="1237593"/>
                <a:ext cx="10949153" cy="3008099"/>
              </a:xfrm>
              <a:blipFill>
                <a:blip r:embed="rId2"/>
                <a:stretch>
                  <a:fillRect l="-780" t="-4665" b="-101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62F8E0C-6D51-B22C-C540-C8B1E92B3BFE}"/>
              </a:ext>
            </a:extLst>
          </p:cNvPr>
          <p:cNvSpPr>
            <a:spLocks noGrp="1"/>
          </p:cNvSpPr>
          <p:nvPr>
            <p:ph type="sldNum" sz="quarter" idx="12"/>
          </p:nvPr>
        </p:nvSpPr>
        <p:spPr/>
        <p:txBody>
          <a:bodyPr/>
          <a:lstStyle/>
          <a:p>
            <a:fld id="{1F57BF9A-7B35-9447-9112-EAE7E91B4E99}" type="slidenum">
              <a:rPr lang="en-US" smtClean="0"/>
              <a:t>13</a:t>
            </a:fld>
            <a:endParaRPr lang="en-US"/>
          </a:p>
        </p:txBody>
      </p:sp>
      <p:pic>
        <p:nvPicPr>
          <p:cNvPr id="6" name="Picture 5">
            <a:extLst>
              <a:ext uri="{FF2B5EF4-FFF2-40B4-BE49-F238E27FC236}">
                <a16:creationId xmlns:a16="http://schemas.microsoft.com/office/drawing/2014/main" id="{238B0791-08C3-9BBC-966A-F946C7706582}"/>
              </a:ext>
            </a:extLst>
          </p:cNvPr>
          <p:cNvPicPr>
            <a:picLocks noChangeAspect="1"/>
          </p:cNvPicPr>
          <p:nvPr/>
        </p:nvPicPr>
        <p:blipFill>
          <a:blip r:embed="rId3"/>
          <a:stretch>
            <a:fillRect/>
          </a:stretch>
        </p:blipFill>
        <p:spPr>
          <a:xfrm>
            <a:off x="2414600" y="4245692"/>
            <a:ext cx="7436708" cy="2549246"/>
          </a:xfrm>
          <a:prstGeom prst="rect">
            <a:avLst/>
          </a:prstGeom>
        </p:spPr>
      </p:pic>
    </p:spTree>
    <p:extLst>
      <p:ext uri="{BB962C8B-B14F-4D97-AF65-F5344CB8AC3E}">
        <p14:creationId xmlns:p14="http://schemas.microsoft.com/office/powerpoint/2010/main" val="303011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DB4FD-ECF3-F1D8-D20B-5E193CFE3983}"/>
              </a:ext>
            </a:extLst>
          </p:cNvPr>
          <p:cNvSpPr>
            <a:spLocks noGrp="1"/>
          </p:cNvSpPr>
          <p:nvPr>
            <p:ph type="title"/>
          </p:nvPr>
        </p:nvSpPr>
        <p:spPr/>
        <p:txBody>
          <a:bodyPr/>
          <a:lstStyle/>
          <a:p>
            <a:r>
              <a:rPr lang="en-US" sz="4800" dirty="0"/>
              <a:t>P </a:t>
            </a:r>
            <a:r>
              <a:rPr lang="en-US" dirty="0"/>
              <a:t>Control Design Cont’d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1B2D58-E434-0386-533C-14B3D2C62723}"/>
                  </a:ext>
                </a:extLst>
              </p:cNvPr>
              <p:cNvSpPr>
                <a:spLocks noGrp="1"/>
              </p:cNvSpPr>
              <p:nvPr>
                <p:ph idx="1"/>
              </p:nvPr>
            </p:nvSpPr>
            <p:spPr>
              <a:xfrm>
                <a:off x="622737" y="1172941"/>
                <a:ext cx="10949153" cy="3371350"/>
              </a:xfrm>
            </p:spPr>
            <p:txBody>
              <a:bodyPr>
                <a:normAutofit fontScale="77500" lnSpcReduction="20000"/>
              </a:bodyPr>
              <a:lstStyle/>
              <a:p>
                <a:r>
                  <a:rPr lang="en-US" dirty="0"/>
                  <a:t>Linear systems dynamics relies on the small angle approximation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func>
                    <m:r>
                      <a:rPr lang="en-US" i="1">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assuming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𝑡ℎ</m:t>
                        </m:r>
                      </m:sub>
                    </m:sSub>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oMath>
                </a14:m>
                <a:endParaRPr lang="en-US" dirty="0"/>
              </a:p>
              <a:p>
                <a:r>
                  <a:rPr lang="en-US" dirty="0"/>
                  <a:t>Closed-loop dynamics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𝜃</m:t>
                        </m:r>
                      </m:sub>
                    </m:sSub>
                    <m:r>
                      <a:rPr lang="en-US" b="0" i="1" smtClean="0">
                        <a:latin typeface="Cambria Math" panose="02040503050406030204" pitchFamily="18" charset="0"/>
                      </a:rPr>
                      <m:t>𝜃</m:t>
                    </m:r>
                    <m:d>
                      <m:dPr>
                        <m:ctrlPr>
                          <a:rPr lang="en-US" i="1">
                            <a:latin typeface="Cambria Math" panose="02040503050406030204" pitchFamily="18" charset="0"/>
                          </a:rPr>
                        </m:ctrlPr>
                      </m:dPr>
                      <m:e>
                        <m:r>
                          <a:rPr lang="en-US" i="1">
                            <a:latin typeface="Cambria Math" panose="02040503050406030204" pitchFamily="18" charset="0"/>
                          </a:rPr>
                          <m:t>𝑡</m:t>
                        </m:r>
                      </m:e>
                    </m:d>
                  </m:oMath>
                </a14:m>
                <a:endParaRPr lang="en-US" i="1" dirty="0">
                  <a:latin typeface="Cambria Math" panose="02040503050406030204" pitchFamily="18" charset="0"/>
                </a:endParaRPr>
              </a:p>
              <a:p>
                <a:pPr lvl="1"/>
                <a:r>
                  <a:rPr lang="en-US" dirty="0"/>
                  <a:t>Set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𝜃</m:t>
                                </m:r>
                              </m:sub>
                              <m:sup>
                                <m:r>
                                  <a:rPr lang="en-US" i="1">
                                    <a:latin typeface="Cambria Math" panose="02040503050406030204" pitchFamily="18" charset="0"/>
                                  </a:rPr>
                                  <m:t>2</m:t>
                                </m:r>
                              </m:sup>
                            </m:sSubSup>
                          </m:num>
                          <m:den>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m:t>
                                </m:r>
                              </m:sub>
                            </m:sSub>
                          </m:den>
                        </m:f>
                        <m:r>
                          <m:rPr>
                            <m:sty m:val="p"/>
                          </m:rPr>
                          <a:rPr lang="en-US" b="0" i="0" smtClean="0">
                            <a:latin typeface="Cambria Math" panose="02040503050406030204" pitchFamily="18" charset="0"/>
                          </a:rPr>
                          <m:t>sat</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𝑡ℎ</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𝜃</m:t>
                        </m:r>
                      </m:sub>
                    </m:sSub>
                    <m:r>
                      <a:rPr lang="en-US" i="1">
                        <a:latin typeface="Cambria Math" panose="02040503050406030204" pitchFamily="18" charset="0"/>
                      </a:rPr>
                      <m:t>𝜃</m:t>
                    </m:r>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a:t>
                </a:r>
              </a:p>
              <a:p>
                <a:pPr lvl="1"/>
                <a:endParaRPr lang="en-US" dirty="0"/>
              </a:p>
              <a:p>
                <a:pPr lvl="1"/>
                <a:r>
                  <a:rPr lang="en-US" dirty="0"/>
                  <a:t>where: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sat</m:t>
                        </m:r>
                      </m:fName>
                      <m:e>
                        <m:d>
                          <m:dPr>
                            <m:ctrlPr>
                              <a:rPr lang="en-US" i="1">
                                <a:latin typeface="Cambria Math" panose="02040503050406030204" pitchFamily="18" charset="0"/>
                              </a:rPr>
                            </m:ctrlPr>
                          </m:dPr>
                          <m:e>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𝑡ℎ</m:t>
                                </m:r>
                              </m:sub>
                            </m:sSub>
                          </m:e>
                        </m:d>
                      </m:e>
                    </m:fun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e>
                            <m:e>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)&lt;−</m:t>
                              </m:r>
                              <m:sSub>
                                <m:sSubPr>
                                  <m:ctrlPr>
                                    <a:rPr lang="en-US" i="1">
                                      <a:latin typeface="Cambria Math" panose="02040503050406030204" pitchFamily="18" charset="0"/>
                                    </a:rPr>
                                  </m:ctrlPr>
                                </m:sSubPr>
                                <m:e>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e>
                          </m:mr>
                          <m:m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e>
                              <m:r>
                                <a:rPr lang="en-US" b="0" i="1" smtClean="0">
                                  <a:latin typeface="Cambria Math" panose="02040503050406030204" pitchFamily="18" charset="0"/>
                                </a:rPr>
                                <m:t>          </m:t>
                              </m:r>
                              <m:r>
                                <m:rPr>
                                  <m:sty m:val="p"/>
                                </m:rPr>
                                <a:rPr lang="en-US">
                                  <a:latin typeface="Cambria Math" panose="02040503050406030204" pitchFamily="18" charset="0"/>
                                </a:rPr>
                                <m:t>if</m:t>
                              </m:r>
                              <m:r>
                                <a:rPr lang="en-US" b="0" i="1" smtClean="0">
                                  <a:latin typeface="Cambria Math" panose="02040503050406030204" pitchFamily="18" charset="0"/>
                                </a:rPr>
                                <m:t> </m:t>
                              </m:r>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m:t>
                              </m:r>
                              <m:r>
                                <m:rPr>
                                  <m:brk m:alnAt="7"/>
                                </m:rPr>
                                <a:rPr lang="en-US" i="1">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r>
                                <a:rPr lang="en-US" b="0" i="1" smtClean="0">
                                  <a:latin typeface="Cambria Math" panose="02040503050406030204" pitchFamily="18" charset="0"/>
                                </a:rPr>
                                <m:t>]</m:t>
                              </m:r>
                            </m:e>
                          </m:m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e>
                            <m:e>
                              <m:r>
                                <m:rPr>
                                  <m:sty m:val="p"/>
                                </m:rPr>
                                <a:rPr lang="en-US">
                                  <a:latin typeface="Cambria Math" panose="02040503050406030204" pitchFamily="18" charset="0"/>
                                </a:rPr>
                                <m:t>if</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&gt;</m:t>
                                  </m:r>
                                  <m:r>
                                    <m:rPr>
                                      <m:brk m:alnAt="7"/>
                                    </m:rPr>
                                    <a:rPr lang="en-US" i="1">
                                      <a:latin typeface="Cambria Math" panose="02040503050406030204" pitchFamily="18" charset="0"/>
                                    </a:rPr>
                                    <m:t>𝑑</m:t>
                                  </m:r>
                                </m:e>
                                <m:sub>
                                  <m:r>
                                    <m:rPr>
                                      <m:brk m:alnAt="7"/>
                                    </m:rPr>
                                    <a:rPr lang="en-US" i="1">
                                      <a:latin typeface="Cambria Math" panose="02040503050406030204" pitchFamily="18" charset="0"/>
                                    </a:rPr>
                                    <m:t>𝑡</m:t>
                                  </m:r>
                                  <m:r>
                                    <a:rPr lang="en-US" i="1">
                                      <a:latin typeface="Cambria Math" panose="02040503050406030204" pitchFamily="18" charset="0"/>
                                    </a:rPr>
                                    <m:t>ℎ</m:t>
                                  </m:r>
                                </m:sub>
                              </m:sSub>
                            </m:e>
                          </m:mr>
                        </m:m>
                      </m:e>
                    </m:d>
                  </m:oMath>
                </a14:m>
                <a:endParaRPr lang="en-US" dirty="0"/>
              </a:p>
              <a:p>
                <a:r>
                  <a:rPr lang="en-US" dirty="0"/>
                  <a:t>Empirical param settings: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𝑡ℎ</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6</m:t>
                        </m:r>
                      </m:den>
                    </m:f>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i="1">
                            <a:latin typeface="Cambria Math" panose="02040503050406030204" pitchFamily="18" charset="0"/>
                          </a:rPr>
                          <m:t>𝑡ℎ</m:t>
                        </m:r>
                      </m:sub>
                    </m:sSub>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𝜃</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𝑡ℎ</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den>
                        </m:f>
                      </m:e>
                    </m:d>
                  </m:oMath>
                </a14:m>
                <a:endParaRPr lang="en-US" dirty="0"/>
              </a:p>
            </p:txBody>
          </p:sp>
        </mc:Choice>
        <mc:Fallback xmlns="">
          <p:sp>
            <p:nvSpPr>
              <p:cNvPr id="3" name="Content Placeholder 2">
                <a:extLst>
                  <a:ext uri="{FF2B5EF4-FFF2-40B4-BE49-F238E27FC236}">
                    <a16:creationId xmlns:a16="http://schemas.microsoft.com/office/drawing/2014/main" id="{DA1B2D58-E434-0386-533C-14B3D2C62723}"/>
                  </a:ext>
                </a:extLst>
              </p:cNvPr>
              <p:cNvSpPr>
                <a:spLocks noGrp="1" noRot="1" noChangeAspect="1" noMove="1" noResize="1" noEditPoints="1" noAdjustHandles="1" noChangeArrowheads="1" noChangeShapeType="1" noTextEdit="1"/>
              </p:cNvSpPr>
              <p:nvPr>
                <p:ph idx="1"/>
              </p:nvPr>
            </p:nvSpPr>
            <p:spPr>
              <a:xfrm>
                <a:off x="622737" y="1172941"/>
                <a:ext cx="10949153" cy="3371350"/>
              </a:xfrm>
              <a:blipFill>
                <a:blip r:embed="rId3"/>
                <a:stretch>
                  <a:fillRect l="-780" t="-4159" r="-122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ADAA2261-9EA9-81CA-D898-A8398C618255}"/>
              </a:ext>
            </a:extLst>
          </p:cNvPr>
          <p:cNvSpPr>
            <a:spLocks noGrp="1"/>
          </p:cNvSpPr>
          <p:nvPr>
            <p:ph type="sldNum" sz="quarter" idx="12"/>
          </p:nvPr>
        </p:nvSpPr>
        <p:spPr/>
        <p:txBody>
          <a:bodyPr/>
          <a:lstStyle/>
          <a:p>
            <a:fld id="{1F57BF9A-7B35-9447-9112-EAE7E91B4E99}" type="slidenum">
              <a:rPr lang="en-US" smtClean="0"/>
              <a:t>14</a:t>
            </a:fld>
            <a:endParaRPr lang="en-US"/>
          </a:p>
        </p:txBody>
      </p:sp>
      <p:pic>
        <p:nvPicPr>
          <p:cNvPr id="6" name="Picture 5">
            <a:extLst>
              <a:ext uri="{FF2B5EF4-FFF2-40B4-BE49-F238E27FC236}">
                <a16:creationId xmlns:a16="http://schemas.microsoft.com/office/drawing/2014/main" id="{04D392BB-4F09-3D24-3477-DD476DC95BA7}"/>
              </a:ext>
            </a:extLst>
          </p:cNvPr>
          <p:cNvPicPr>
            <a:picLocks noChangeAspect="1"/>
          </p:cNvPicPr>
          <p:nvPr/>
        </p:nvPicPr>
        <p:blipFill>
          <a:blip r:embed="rId4"/>
          <a:stretch>
            <a:fillRect/>
          </a:stretch>
        </p:blipFill>
        <p:spPr>
          <a:xfrm>
            <a:off x="2782320" y="4527143"/>
            <a:ext cx="6615654" cy="2267795"/>
          </a:xfrm>
          <a:prstGeom prst="rect">
            <a:avLst/>
          </a:prstGeom>
        </p:spPr>
      </p:pic>
    </p:spTree>
    <p:extLst>
      <p:ext uri="{BB962C8B-B14F-4D97-AF65-F5344CB8AC3E}">
        <p14:creationId xmlns:p14="http://schemas.microsoft.com/office/powerpoint/2010/main" val="1007388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476F-E110-0853-E98F-8CF7F148AA4C}"/>
              </a:ext>
            </a:extLst>
          </p:cNvPr>
          <p:cNvSpPr>
            <a:spLocks noGrp="1"/>
          </p:cNvSpPr>
          <p:nvPr>
            <p:ph type="title"/>
          </p:nvPr>
        </p:nvSpPr>
        <p:spPr/>
        <p:txBody>
          <a:bodyPr/>
          <a:lstStyle/>
          <a:p>
            <a:r>
              <a:rPr lang="en-US" dirty="0"/>
              <a:t>Simplifying Assumptions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8B5CF3-1067-A281-E707-671EC46D8188}"/>
                  </a:ext>
                </a:extLst>
              </p:cNvPr>
              <p:cNvSpPr>
                <a:spLocks noGrp="1"/>
              </p:cNvSpPr>
              <p:nvPr>
                <p:ph idx="1"/>
              </p:nvPr>
            </p:nvSpPr>
            <p:spPr/>
            <p:txBody>
              <a:bodyPr>
                <a:normAutofit lnSpcReduction="10000"/>
              </a:bodyPr>
              <a:lstStyle/>
              <a:p>
                <a:r>
                  <a:rPr lang="en-US" dirty="0"/>
                  <a:t>Did not consider:</a:t>
                </a:r>
              </a:p>
              <a:p>
                <a:pPr lvl="1"/>
                <a:r>
                  <a:rPr lang="en-US" dirty="0"/>
                  <a:t>Estimation uncertainty due to measurement noise</a:t>
                </a:r>
              </a:p>
              <a:p>
                <a:pPr lvl="2"/>
                <a:r>
                  <a:rPr lang="en-US" dirty="0"/>
                  <a:t>We assume perfect state estimation </a:t>
                </a:r>
                <a14:m>
                  <m:oMath xmlns:m="http://schemas.openxmlformats.org/officeDocument/2006/math">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𝑑</m:t>
                        </m:r>
                      </m:e>
                    </m:acc>
                    <m:r>
                      <a:rPr lang="en-US" i="1" dirty="0">
                        <a:latin typeface="Cambria Math" panose="02040503050406030204" pitchFamily="18" charset="0"/>
                      </a:rPr>
                      <m:t>, </m:t>
                    </m:r>
                    <m:acc>
                      <m:accPr>
                        <m:chr m:val="̂"/>
                        <m:ctrlPr>
                          <a:rPr lang="en-US" i="1" dirty="0">
                            <a:latin typeface="Cambria Math" panose="02040503050406030204" pitchFamily="18" charset="0"/>
                          </a:rPr>
                        </m:ctrlPr>
                      </m:accPr>
                      <m:e>
                        <m:r>
                          <a:rPr lang="en-US" i="1" dirty="0">
                            <a:latin typeface="Cambria Math" panose="02040503050406030204" pitchFamily="18" charset="0"/>
                          </a:rPr>
                          <m:t>𝜃</m:t>
                        </m:r>
                      </m:e>
                    </m:acc>
                    <m:r>
                      <a:rPr lang="en-US" i="1" dirty="0">
                        <a:latin typeface="Cambria Math" panose="02040503050406030204" pitchFamily="18" charset="0"/>
                      </a:rPr>
                      <m:t>)=(</m:t>
                    </m:r>
                    <m:r>
                      <a:rPr lang="en-US" i="1" dirty="0">
                        <a:latin typeface="Cambria Math" panose="02040503050406030204" pitchFamily="18" charset="0"/>
                      </a:rPr>
                      <m:t>𝑑</m:t>
                    </m:r>
                    <m:r>
                      <a:rPr lang="en-US" i="1" dirty="0">
                        <a:latin typeface="Cambria Math" panose="02040503050406030204" pitchFamily="18" charset="0"/>
                      </a:rPr>
                      <m:t>, </m:t>
                    </m:r>
                    <m:r>
                      <a:rPr lang="en-US" i="1" dirty="0">
                        <a:latin typeface="Cambria Math" panose="02040503050406030204" pitchFamily="18" charset="0"/>
                      </a:rPr>
                      <m:t>𝜃</m:t>
                    </m:r>
                    <m:r>
                      <a:rPr lang="en-US" i="1" dirty="0">
                        <a:latin typeface="Cambria Math" panose="02040503050406030204" pitchFamily="18" charset="0"/>
                      </a:rPr>
                      <m:t>)</m:t>
                    </m:r>
                  </m:oMath>
                </a14:m>
                <a:endParaRPr lang="en-US" dirty="0"/>
              </a:p>
              <a:p>
                <a:pPr lvl="1"/>
                <a:r>
                  <a:rPr lang="en-US" dirty="0"/>
                  <a:t>Estimation latency: </a:t>
                </a:r>
              </a:p>
              <a:p>
                <a:pPr lvl="2"/>
                <a:r>
                  <a:rPr lang="en-US" dirty="0"/>
                  <a:t>Time from measurements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𝑑</m:t>
                    </m:r>
                    <m:r>
                      <a:rPr lang="en-US" i="1" dirty="0">
                        <a:latin typeface="Cambria Math" panose="02040503050406030204" pitchFamily="18" charset="0"/>
                      </a:rPr>
                      <m:t>, </m:t>
                    </m:r>
                    <m:r>
                      <a:rPr lang="en-US" i="1" dirty="0">
                        <a:latin typeface="Cambria Math" panose="02040503050406030204" pitchFamily="18" charset="0"/>
                      </a:rPr>
                      <m:t>𝜃</m:t>
                    </m:r>
                    <m:r>
                      <a:rPr lang="en-US" i="1" dirty="0">
                        <a:latin typeface="Cambria Math" panose="02040503050406030204" pitchFamily="18" charset="0"/>
                      </a:rPr>
                      <m:t>)</m:t>
                    </m:r>
                  </m:oMath>
                </a14:m>
                <a:r>
                  <a:rPr lang="en-US" dirty="0"/>
                  <a:t>  to state estimation </a:t>
                </a:r>
                <a14:m>
                  <m:oMath xmlns:m="http://schemas.openxmlformats.org/officeDocument/2006/math">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𝑑</m:t>
                        </m:r>
                      </m:e>
                    </m:acc>
                    <m:r>
                      <a:rPr lang="en-US" i="1" dirty="0">
                        <a:latin typeface="Cambria Math" panose="02040503050406030204" pitchFamily="18" charset="0"/>
                      </a:rPr>
                      <m:t>, </m:t>
                    </m:r>
                    <m:acc>
                      <m:accPr>
                        <m:chr m:val="̂"/>
                        <m:ctrlPr>
                          <a:rPr lang="en-US" i="1" dirty="0">
                            <a:latin typeface="Cambria Math" panose="02040503050406030204" pitchFamily="18" charset="0"/>
                          </a:rPr>
                        </m:ctrlPr>
                      </m:accPr>
                      <m:e>
                        <m:r>
                          <a:rPr lang="en-US" i="1" dirty="0">
                            <a:latin typeface="Cambria Math" panose="02040503050406030204" pitchFamily="18" charset="0"/>
                          </a:rPr>
                          <m:t>𝜃</m:t>
                        </m:r>
                      </m:e>
                    </m:acc>
                    <m:r>
                      <a:rPr lang="en-US" i="1" dirty="0">
                        <a:latin typeface="Cambria Math" panose="02040503050406030204" pitchFamily="18" charset="0"/>
                      </a:rPr>
                      <m:t>)</m:t>
                    </m:r>
                  </m:oMath>
                </a14:m>
                <a:r>
                  <a:rPr lang="en-US" dirty="0"/>
                  <a:t> availability to the controller</a:t>
                </a:r>
              </a:p>
              <a:p>
                <a:pPr lvl="1"/>
                <a:r>
                  <a:rPr lang="en-US" dirty="0"/>
                  <a:t>Constraints (e.g., actuator limits)</a:t>
                </a:r>
              </a:p>
              <a:p>
                <a:pPr lvl="2"/>
                <a:r>
                  <a:rPr lang="en-US" dirty="0"/>
                  <a:t>Need to impose a minimum turning radius (maximum curvature) to simulate a real car.</a:t>
                </a:r>
              </a:p>
              <a:p>
                <a:pPr lvl="1"/>
                <a:r>
                  <a:rPr lang="en-US" dirty="0"/>
                  <a:t>Discrete time (multi-rate), non-uniform sampling: </a:t>
                </a:r>
              </a:p>
              <a:p>
                <a:pPr lvl="2"/>
                <a:r>
                  <a:rPr lang="en-US" dirty="0"/>
                  <a:t>Our controller is continuous time, but the actual implementation runs in discrete time.</a:t>
                </a:r>
              </a:p>
              <a:p>
                <a:pPr lvl="2"/>
                <a:r>
                  <a:rPr lang="en-US" dirty="0"/>
                  <a:t>Sampling rate of the estimator (slower) may be different than that of actuation (faster), or may be variable</a:t>
                </a:r>
                <a:endParaRPr lang="en-SE" dirty="0"/>
              </a:p>
            </p:txBody>
          </p:sp>
        </mc:Choice>
        <mc:Fallback xmlns="">
          <p:sp>
            <p:nvSpPr>
              <p:cNvPr id="3" name="Content Placeholder 2">
                <a:extLst>
                  <a:ext uri="{FF2B5EF4-FFF2-40B4-BE49-F238E27FC236}">
                    <a16:creationId xmlns:a16="http://schemas.microsoft.com/office/drawing/2014/main" id="{D88B5CF3-1067-A281-E707-671EC46D8188}"/>
                  </a:ext>
                </a:extLst>
              </p:cNvPr>
              <p:cNvSpPr>
                <a:spLocks noGrp="1" noRot="1" noChangeAspect="1" noMove="1" noResize="1" noEditPoints="1" noAdjustHandles="1" noChangeArrowheads="1" noChangeShapeType="1" noTextEdit="1"/>
              </p:cNvSpPr>
              <p:nvPr>
                <p:ph idx="1"/>
              </p:nvPr>
            </p:nvSpPr>
            <p:spPr>
              <a:blipFill>
                <a:blip r:embed="rId2"/>
                <a:stretch>
                  <a:fillRect l="-1281" t="-31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AF6ED92-230B-178E-43C0-C2C24C8C5937}"/>
              </a:ext>
            </a:extLst>
          </p:cNvPr>
          <p:cNvSpPr>
            <a:spLocks noGrp="1"/>
          </p:cNvSpPr>
          <p:nvPr>
            <p:ph type="sldNum" sz="quarter" idx="12"/>
          </p:nvPr>
        </p:nvSpPr>
        <p:spPr/>
        <p:txBody>
          <a:bodyPr/>
          <a:lstStyle/>
          <a:p>
            <a:fld id="{1F57BF9A-7B35-9447-9112-EAE7E91B4E99}" type="slidenum">
              <a:rPr lang="en-US" smtClean="0"/>
              <a:t>15</a:t>
            </a:fld>
            <a:endParaRPr lang="en-US"/>
          </a:p>
        </p:txBody>
      </p:sp>
    </p:spTree>
    <p:extLst>
      <p:ext uri="{BB962C8B-B14F-4D97-AF65-F5344CB8AC3E}">
        <p14:creationId xmlns:p14="http://schemas.microsoft.com/office/powerpoint/2010/main" val="952196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705C-2259-3C4A-C696-D432793B2EF3}"/>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5D2EECD8-7090-2514-955D-C0BEAE30D231}"/>
              </a:ext>
            </a:extLst>
          </p:cNvPr>
          <p:cNvSpPr>
            <a:spLocks noGrp="1"/>
          </p:cNvSpPr>
          <p:nvPr>
            <p:ph idx="1"/>
          </p:nvPr>
        </p:nvSpPr>
        <p:spPr/>
        <p:txBody>
          <a:bodyPr/>
          <a:lstStyle/>
          <a:p>
            <a:r>
              <a:rPr lang="en-US" dirty="0"/>
              <a:t>PID Control</a:t>
            </a:r>
          </a:p>
          <a:p>
            <a:r>
              <a:rPr lang="en-US" dirty="0"/>
              <a:t>LQR (Linear Quadratic Regulator)</a:t>
            </a:r>
          </a:p>
          <a:p>
            <a:r>
              <a:rPr lang="en-US" dirty="0">
                <a:solidFill>
                  <a:srgbClr val="FF0000"/>
                </a:solidFill>
              </a:rPr>
              <a:t>MPC Control</a:t>
            </a:r>
          </a:p>
          <a:p>
            <a:r>
              <a:rPr lang="en-US" dirty="0"/>
              <a:t>Kinematic bicycle model</a:t>
            </a:r>
          </a:p>
          <a:p>
            <a:r>
              <a:rPr lang="en-US" dirty="0"/>
              <a:t>Geometric path tracking: Pure Pursuit &amp; Stanley</a:t>
            </a:r>
          </a:p>
          <a:p>
            <a:r>
              <a:rPr lang="en-US" dirty="0"/>
              <a:t>Twiddle() for PID control tuning</a:t>
            </a:r>
          </a:p>
        </p:txBody>
      </p:sp>
      <p:sp>
        <p:nvSpPr>
          <p:cNvPr id="4" name="Slide Number Placeholder 3">
            <a:extLst>
              <a:ext uri="{FF2B5EF4-FFF2-40B4-BE49-F238E27FC236}">
                <a16:creationId xmlns:a16="http://schemas.microsoft.com/office/drawing/2014/main" id="{56AD6761-DD61-152F-9A9D-1CE1C3D22506}"/>
              </a:ext>
            </a:extLst>
          </p:cNvPr>
          <p:cNvSpPr>
            <a:spLocks noGrp="1"/>
          </p:cNvSpPr>
          <p:nvPr>
            <p:ph type="sldNum" sz="quarter" idx="12"/>
          </p:nvPr>
        </p:nvSpPr>
        <p:spPr/>
        <p:txBody>
          <a:bodyPr/>
          <a:lstStyle/>
          <a:p>
            <a:fld id="{1F57BF9A-7B35-9447-9112-EAE7E91B4E99}" type="slidenum">
              <a:rPr lang="en-US" smtClean="0"/>
              <a:t>16</a:t>
            </a:fld>
            <a:endParaRPr lang="en-US"/>
          </a:p>
        </p:txBody>
      </p:sp>
    </p:spTree>
    <p:extLst>
      <p:ext uri="{BB962C8B-B14F-4D97-AF65-F5344CB8AC3E}">
        <p14:creationId xmlns:p14="http://schemas.microsoft.com/office/powerpoint/2010/main" val="2994617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ADEF-3FA3-BA01-D632-0EB44E90DD55}"/>
              </a:ext>
            </a:extLst>
          </p:cNvPr>
          <p:cNvSpPr>
            <a:spLocks noGrp="1"/>
          </p:cNvSpPr>
          <p:nvPr>
            <p:ph type="title"/>
          </p:nvPr>
        </p:nvSpPr>
        <p:spPr/>
        <p:txBody>
          <a:bodyPr/>
          <a:lstStyle/>
          <a:p>
            <a:r>
              <a:rPr lang="en-US" dirty="0"/>
              <a:t>MPC (Model-Predictive Control)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F92CC5-24CB-75A9-5CF5-F61CFA9CAE24}"/>
                  </a:ext>
                </a:extLst>
              </p:cNvPr>
              <p:cNvSpPr>
                <a:spLocks noGrp="1"/>
              </p:cNvSpPr>
              <p:nvPr>
                <p:ph idx="1"/>
              </p:nvPr>
            </p:nvSpPr>
            <p:spPr>
              <a:xfrm>
                <a:off x="622739" y="1237594"/>
                <a:ext cx="5473262" cy="3971716"/>
              </a:xfrm>
            </p:spPr>
            <p:txBody>
              <a:bodyPr>
                <a:normAutofit fontScale="62500" lnSpcReduction="20000"/>
              </a:bodyPr>
              <a:lstStyle/>
              <a:p>
                <a:r>
                  <a:rPr lang="en-US" dirty="0"/>
                  <a:t>Also called Receding Horizon Control </a:t>
                </a:r>
              </a:p>
              <a:p>
                <a:r>
                  <a:rPr lang="en-US" dirty="0"/>
                  <a:t>Choose prediction horizon </a:t>
                </a:r>
                <a14:m>
                  <m:oMath xmlns:m="http://schemas.openxmlformats.org/officeDocument/2006/math">
                    <m:r>
                      <a:rPr lang="en-US" b="0" i="1" smtClean="0">
                        <a:latin typeface="Cambria Math" panose="02040503050406030204" pitchFamily="18" charset="0"/>
                      </a:rPr>
                      <m:t>𝑚</m:t>
                    </m:r>
                  </m:oMath>
                </a14:m>
                <a:r>
                  <a:rPr lang="en-US" dirty="0"/>
                  <a:t> and control horizon </a:t>
                </a:r>
                <a14:m>
                  <m:oMath xmlns:m="http://schemas.openxmlformats.org/officeDocument/2006/math">
                    <m:r>
                      <a:rPr lang="en-US" b="0" i="1" smtClean="0">
                        <a:latin typeface="Cambria Math" panose="02040503050406030204" pitchFamily="18" charset="0"/>
                      </a:rPr>
                      <m:t>𝑝</m:t>
                    </m:r>
                  </m:oMath>
                </a14:m>
                <a:endParaRPr lang="en-US" dirty="0"/>
              </a:p>
              <a:p>
                <a:r>
                  <a:rPr lang="en-US" dirty="0"/>
                  <a:t>At each time step </a:t>
                </a:r>
                <a14:m>
                  <m:oMath xmlns:m="http://schemas.openxmlformats.org/officeDocument/2006/math">
                    <m:r>
                      <a:rPr lang="en-US" b="0" i="1" smtClean="0">
                        <a:latin typeface="Cambria Math" panose="02040503050406030204" pitchFamily="18" charset="0"/>
                      </a:rPr>
                      <m:t>𝑘</m:t>
                    </m:r>
                  </m:oMath>
                </a14:m>
                <a:r>
                  <a:rPr lang="en-US" dirty="0"/>
                  <a:t>:</a:t>
                </a:r>
              </a:p>
              <a:p>
                <a:pPr lvl="1"/>
                <a:r>
                  <a:rPr lang="en-US" dirty="0"/>
                  <a:t>Set initial state to the current (measured/estimated) state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pPr lvl="1"/>
                <a:r>
                  <a:rPr lang="en-US" dirty="0"/>
                  <a:t>Solve a constrained optimization problem over lookahead window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dirty="0"/>
                  <a:t>, to get a sequence of control inputs </a:t>
                </a:r>
                <a14:m>
                  <m:oMath xmlns:m="http://schemas.openxmlformats.org/officeDocument/2006/math">
                    <m:r>
                      <a:rPr lang="en-US" b="0" i="1" smtClean="0">
                        <a:latin typeface="Cambria Math" panose="02040503050406030204" pitchFamily="18" charset="0"/>
                      </a:rPr>
                      <m:t>𝑢</m:t>
                    </m:r>
                  </m:oMath>
                </a14:m>
                <a:r>
                  <a:rPr lang="en-US" dirty="0"/>
                  <a:t>, while in the time interval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𝑘</m:t>
                        </m:r>
                        <m:r>
                          <a:rPr lang="en-US" b="0" i="1" smtClean="0">
                            <a:latin typeface="Cambria Math" panose="02040503050406030204" pitchFamily="18" charset="0"/>
                          </a:rPr>
                          <m:t>−1,</m:t>
                        </m:r>
                        <m:r>
                          <a:rPr lang="en-US" b="0" i="1" smtClean="0">
                            <a:latin typeface="Cambria Math" panose="02040503050406030204" pitchFamily="18" charset="0"/>
                          </a:rPr>
                          <m:t>𝑘</m:t>
                        </m:r>
                      </m:e>
                    </m:d>
                  </m:oMath>
                </a14:m>
                <a:endParaRPr lang="en-US" dirty="0"/>
              </a:p>
              <a:p>
                <a:pPr lvl="1"/>
                <a:r>
                  <a:rPr lang="en-US" dirty="0"/>
                  <a:t>Apply 1</a:t>
                </a:r>
                <a:r>
                  <a:rPr lang="en-US" baseline="30000" dirty="0"/>
                  <a:t>st</a:t>
                </a:r>
                <a:r>
                  <a:rPr lang="en-US" dirty="0"/>
                  <a:t> control command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at time step </a:t>
                </a:r>
                <a14:m>
                  <m:oMath xmlns:m="http://schemas.openxmlformats.org/officeDocument/2006/math">
                    <m:r>
                      <a:rPr lang="en-US" b="0" i="1" smtClean="0">
                        <a:latin typeface="Cambria Math" panose="02040503050406030204" pitchFamily="18" charset="0"/>
                      </a:rPr>
                      <m:t>𝑘</m:t>
                    </m:r>
                  </m:oMath>
                </a14:m>
                <a:endParaRPr lang="en-US" dirty="0"/>
              </a:p>
              <a:p>
                <a:r>
                  <a:rPr lang="en-US" dirty="0"/>
                  <a:t>Control horizon </a:t>
                </a:r>
                <a14:m>
                  <m:oMath xmlns:m="http://schemas.openxmlformats.org/officeDocument/2006/math">
                    <m:r>
                      <a:rPr lang="en-US" b="0" i="1" smtClean="0">
                        <a:latin typeface="Cambria Math" panose="02040503050406030204" pitchFamily="18" charset="0"/>
                      </a:rPr>
                      <m:t>𝑝</m:t>
                    </m:r>
                  </m:oMath>
                </a14:m>
                <a:r>
                  <a:rPr lang="en-US" dirty="0"/>
                  <a:t> and prediction horizon </a:t>
                </a:r>
                <a14:m>
                  <m:oMath xmlns:m="http://schemas.openxmlformats.org/officeDocument/2006/math">
                    <m:r>
                      <a:rPr lang="en-US" b="0" i="1" smtClean="0">
                        <a:latin typeface="Cambria Math" panose="02040503050406030204" pitchFamily="18" charset="0"/>
                      </a:rPr>
                      <m:t>𝑚</m:t>
                    </m:r>
                  </m:oMath>
                </a14:m>
                <a:r>
                  <a:rPr lang="en-US" dirty="0"/>
                  <a:t> may be different, but often the same</a:t>
                </a:r>
              </a:p>
              <a:p>
                <a:pPr lvl="1"/>
                <a:r>
                  <a:rPr lang="en-US" dirty="0"/>
                  <a:t>denoted as lookahead horizon </a:t>
                </a:r>
                <a14:m>
                  <m:oMath xmlns:m="http://schemas.openxmlformats.org/officeDocument/2006/math">
                    <m:r>
                      <a:rPr lang="en-US" b="0" i="1" smtClean="0">
                        <a:latin typeface="Cambria Math" panose="02040503050406030204" pitchFamily="18" charset="0"/>
                      </a:rPr>
                      <m:t>𝑇</m:t>
                    </m:r>
                  </m:oMath>
                </a14:m>
                <a:r>
                  <a:rPr lang="en-US" dirty="0"/>
                  <a:t> in the next slides (current time is denoted as </a:t>
                </a:r>
                <a14:m>
                  <m:oMath xmlns:m="http://schemas.openxmlformats.org/officeDocument/2006/math">
                    <m:r>
                      <a:rPr lang="en-US" b="0" i="1" smtClean="0">
                        <a:latin typeface="Cambria Math" panose="02040503050406030204" pitchFamily="18" charset="0"/>
                      </a:rPr>
                      <m:t>𝑡</m:t>
                    </m:r>
                  </m:oMath>
                </a14:m>
                <a:r>
                  <a:rPr lang="en-US" dirty="0"/>
                  <a:t>)</a:t>
                </a:r>
              </a:p>
            </p:txBody>
          </p:sp>
        </mc:Choice>
        <mc:Fallback xmlns="">
          <p:sp>
            <p:nvSpPr>
              <p:cNvPr id="3" name="Content Placeholder 2">
                <a:extLst>
                  <a:ext uri="{FF2B5EF4-FFF2-40B4-BE49-F238E27FC236}">
                    <a16:creationId xmlns:a16="http://schemas.microsoft.com/office/drawing/2014/main" id="{D0F92CC5-24CB-75A9-5CF5-F61CFA9CAE24}"/>
                  </a:ext>
                </a:extLst>
              </p:cNvPr>
              <p:cNvSpPr>
                <a:spLocks noGrp="1" noRot="1" noChangeAspect="1" noMove="1" noResize="1" noEditPoints="1" noAdjustHandles="1" noChangeArrowheads="1" noChangeShapeType="1" noTextEdit="1"/>
              </p:cNvSpPr>
              <p:nvPr>
                <p:ph idx="1"/>
              </p:nvPr>
            </p:nvSpPr>
            <p:spPr>
              <a:xfrm>
                <a:off x="622739" y="1237594"/>
                <a:ext cx="5473262" cy="3971716"/>
              </a:xfrm>
              <a:blipFill>
                <a:blip r:embed="rId2"/>
                <a:stretch>
                  <a:fillRect l="-1002" t="-2761" r="-200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3224C8B-652E-7536-927E-4EB24CE979C3}"/>
              </a:ext>
            </a:extLst>
          </p:cNvPr>
          <p:cNvSpPr>
            <a:spLocks noGrp="1"/>
          </p:cNvSpPr>
          <p:nvPr>
            <p:ph type="sldNum" sz="quarter" idx="12"/>
          </p:nvPr>
        </p:nvSpPr>
        <p:spPr/>
        <p:txBody>
          <a:bodyPr/>
          <a:lstStyle/>
          <a:p>
            <a:fld id="{1F57BF9A-7B35-9447-9112-EAE7E91B4E99}" type="slidenum">
              <a:rPr lang="en-US" smtClean="0"/>
              <a:t>17</a:t>
            </a:fld>
            <a:endParaRPr lang="en-US"/>
          </a:p>
        </p:txBody>
      </p:sp>
      <p:pic>
        <p:nvPicPr>
          <p:cNvPr id="6" name="Picture 2" descr="enter image description here">
            <a:extLst>
              <a:ext uri="{FF2B5EF4-FFF2-40B4-BE49-F238E27FC236}">
                <a16:creationId xmlns:a16="http://schemas.microsoft.com/office/drawing/2014/main" id="{0D54D51E-4896-FF51-25A4-94A003B4D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85022"/>
            <a:ext cx="5932394" cy="43864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79C2CD7-4440-F5B2-FB7C-2CF8DACC314C}"/>
              </a:ext>
            </a:extLst>
          </p:cNvPr>
          <p:cNvPicPr>
            <a:picLocks noChangeAspect="1"/>
          </p:cNvPicPr>
          <p:nvPr/>
        </p:nvPicPr>
        <p:blipFill>
          <a:blip r:embed="rId4"/>
          <a:stretch>
            <a:fillRect/>
          </a:stretch>
        </p:blipFill>
        <p:spPr>
          <a:xfrm>
            <a:off x="1529978" y="4833300"/>
            <a:ext cx="3658784" cy="1961638"/>
          </a:xfrm>
          <a:prstGeom prst="rect">
            <a:avLst/>
          </a:prstGeom>
        </p:spPr>
      </p:pic>
    </p:spTree>
    <p:extLst>
      <p:ext uri="{BB962C8B-B14F-4D97-AF65-F5344CB8AC3E}">
        <p14:creationId xmlns:p14="http://schemas.microsoft.com/office/powerpoint/2010/main" val="261059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4F935-F5DB-8F59-D79B-87704CEED5C6}"/>
              </a:ext>
            </a:extLst>
          </p:cNvPr>
          <p:cNvSpPr>
            <a:spLocks noGrp="1"/>
          </p:cNvSpPr>
          <p:nvPr>
            <p:ph type="title"/>
          </p:nvPr>
        </p:nvSpPr>
        <p:spPr/>
        <p:txBody>
          <a:bodyPr/>
          <a:lstStyle/>
          <a:p>
            <a:r>
              <a:rPr lang="en-US" dirty="0"/>
              <a:t>MPC Example</a:t>
            </a:r>
            <a:endParaRPr lang="en-SE" dirty="0"/>
          </a:p>
        </p:txBody>
      </p:sp>
      <p:sp>
        <p:nvSpPr>
          <p:cNvPr id="3" name="Content Placeholder 2">
            <a:extLst>
              <a:ext uri="{FF2B5EF4-FFF2-40B4-BE49-F238E27FC236}">
                <a16:creationId xmlns:a16="http://schemas.microsoft.com/office/drawing/2014/main" id="{C703BEB7-2A67-9D6C-35F1-0F5A09AA067E}"/>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F9014E53-7F5D-B4BD-E8DC-A1BA3B4D759A}"/>
              </a:ext>
            </a:extLst>
          </p:cNvPr>
          <p:cNvSpPr>
            <a:spLocks noGrp="1"/>
          </p:cNvSpPr>
          <p:nvPr>
            <p:ph type="sldNum" sz="quarter" idx="12"/>
          </p:nvPr>
        </p:nvSpPr>
        <p:spPr/>
        <p:txBody>
          <a:bodyPr/>
          <a:lstStyle/>
          <a:p>
            <a:fld id="{1F57BF9A-7B35-9447-9112-EAE7E91B4E99}" type="slidenum">
              <a:rPr lang="en-US" smtClean="0"/>
              <a:t>18</a:t>
            </a:fld>
            <a:endParaRPr lang="en-US"/>
          </a:p>
        </p:txBody>
      </p:sp>
      <p:pic>
        <p:nvPicPr>
          <p:cNvPr id="5" name="Picture 4">
            <a:extLst>
              <a:ext uri="{FF2B5EF4-FFF2-40B4-BE49-F238E27FC236}">
                <a16:creationId xmlns:a16="http://schemas.microsoft.com/office/drawing/2014/main" id="{052383FE-FDD5-E120-E139-6AEB64E9F870}"/>
              </a:ext>
            </a:extLst>
          </p:cNvPr>
          <p:cNvPicPr>
            <a:picLocks noChangeAspect="1"/>
          </p:cNvPicPr>
          <p:nvPr/>
        </p:nvPicPr>
        <p:blipFill>
          <a:blip r:embed="rId3"/>
          <a:stretch>
            <a:fillRect/>
          </a:stretch>
        </p:blipFill>
        <p:spPr>
          <a:xfrm>
            <a:off x="1625643" y="1259032"/>
            <a:ext cx="2195736" cy="2621968"/>
          </a:xfrm>
          <a:prstGeom prst="rect">
            <a:avLst/>
          </a:prstGeom>
        </p:spPr>
      </p:pic>
      <p:pic>
        <p:nvPicPr>
          <p:cNvPr id="6" name="Picture 5">
            <a:extLst>
              <a:ext uri="{FF2B5EF4-FFF2-40B4-BE49-F238E27FC236}">
                <a16:creationId xmlns:a16="http://schemas.microsoft.com/office/drawing/2014/main" id="{A155A1A4-7808-3C53-BD42-5B0FEABA9BFA}"/>
              </a:ext>
            </a:extLst>
          </p:cNvPr>
          <p:cNvPicPr>
            <a:picLocks noChangeAspect="1"/>
          </p:cNvPicPr>
          <p:nvPr/>
        </p:nvPicPr>
        <p:blipFill>
          <a:blip r:embed="rId4"/>
          <a:stretch>
            <a:fillRect/>
          </a:stretch>
        </p:blipFill>
        <p:spPr>
          <a:xfrm>
            <a:off x="5492227" y="1237593"/>
            <a:ext cx="2031472" cy="2628963"/>
          </a:xfrm>
          <a:prstGeom prst="rect">
            <a:avLst/>
          </a:prstGeom>
        </p:spPr>
      </p:pic>
      <p:pic>
        <p:nvPicPr>
          <p:cNvPr id="7" name="Picture 6">
            <a:extLst>
              <a:ext uri="{FF2B5EF4-FFF2-40B4-BE49-F238E27FC236}">
                <a16:creationId xmlns:a16="http://schemas.microsoft.com/office/drawing/2014/main" id="{3870D395-7535-5582-4335-1E84E0DD4395}"/>
              </a:ext>
            </a:extLst>
          </p:cNvPr>
          <p:cNvPicPr>
            <a:picLocks noChangeAspect="1"/>
          </p:cNvPicPr>
          <p:nvPr/>
        </p:nvPicPr>
        <p:blipFill>
          <a:blip r:embed="rId5"/>
          <a:stretch>
            <a:fillRect/>
          </a:stretch>
        </p:blipFill>
        <p:spPr>
          <a:xfrm>
            <a:off x="8516563" y="1237593"/>
            <a:ext cx="2069975" cy="2621968"/>
          </a:xfrm>
          <a:prstGeom prst="rect">
            <a:avLst/>
          </a:prstGeom>
        </p:spPr>
      </p:pic>
      <p:pic>
        <p:nvPicPr>
          <p:cNvPr id="8" name="Picture 7">
            <a:extLst>
              <a:ext uri="{FF2B5EF4-FFF2-40B4-BE49-F238E27FC236}">
                <a16:creationId xmlns:a16="http://schemas.microsoft.com/office/drawing/2014/main" id="{E4B5C558-3BC2-C816-E0B1-8059B299CC2B}"/>
              </a:ext>
            </a:extLst>
          </p:cNvPr>
          <p:cNvPicPr>
            <a:picLocks noChangeAspect="1"/>
          </p:cNvPicPr>
          <p:nvPr/>
        </p:nvPicPr>
        <p:blipFill>
          <a:blip r:embed="rId6"/>
          <a:stretch>
            <a:fillRect/>
          </a:stretch>
        </p:blipFill>
        <p:spPr>
          <a:xfrm>
            <a:off x="1616677" y="3897486"/>
            <a:ext cx="2204701" cy="2837664"/>
          </a:xfrm>
          <a:prstGeom prst="rect">
            <a:avLst/>
          </a:prstGeom>
        </p:spPr>
      </p:pic>
      <p:pic>
        <p:nvPicPr>
          <p:cNvPr id="9" name="Picture 8">
            <a:extLst>
              <a:ext uri="{FF2B5EF4-FFF2-40B4-BE49-F238E27FC236}">
                <a16:creationId xmlns:a16="http://schemas.microsoft.com/office/drawing/2014/main" id="{589CC0F1-6530-682B-76A1-1E14B659B6C2}"/>
              </a:ext>
            </a:extLst>
          </p:cNvPr>
          <p:cNvPicPr>
            <a:picLocks noChangeAspect="1"/>
          </p:cNvPicPr>
          <p:nvPr/>
        </p:nvPicPr>
        <p:blipFill>
          <a:blip r:embed="rId7"/>
          <a:stretch>
            <a:fillRect/>
          </a:stretch>
        </p:blipFill>
        <p:spPr>
          <a:xfrm>
            <a:off x="5264331" y="4030183"/>
            <a:ext cx="2316128" cy="266221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316BAE-1D6C-36B4-062E-FBC3E23F0030}"/>
                  </a:ext>
                </a:extLst>
              </p:cNvPr>
              <p:cNvSpPr txBox="1"/>
              <p:nvPr/>
            </p:nvSpPr>
            <p:spPr>
              <a:xfrm>
                <a:off x="3740807" y="1316881"/>
                <a:ext cx="1886873" cy="2301977"/>
              </a:xfrm>
              <a:prstGeom prst="rect">
                <a:avLst/>
              </a:prstGeom>
              <a:noFill/>
            </p:spPr>
            <p:txBody>
              <a:bodyPr wrap="square" rtlCol="0">
                <a:spAutoFit/>
              </a:bodyPr>
              <a:lstStyle/>
              <a:p>
                <a:r>
                  <a:rPr lang="en-US" dirty="0"/>
                  <a:t>Solve for opt control inputs </a:t>
                </a:r>
                <a14:m>
                  <m:oMath xmlns:m="http://schemas.openxmlformats.org/officeDocument/2006/math">
                    <m:r>
                      <m:rPr>
                        <m:sty m:val="p"/>
                      </m:rPr>
                      <a:rPr lang="en-US">
                        <a:latin typeface="Cambria Math" panose="02040503050406030204" pitchFamily="18" charset="0"/>
                      </a:rPr>
                      <m:t>U</m:t>
                    </m:r>
                    <m:r>
                      <a:rPr lang="en-US">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−1</m:t>
                            </m:r>
                          </m:sub>
                        </m:sSub>
                      </m:e>
                    </m:d>
                  </m:oMath>
                </a14:m>
                <a:r>
                  <a:rPr lang="en-US" dirty="0"/>
                  <a:t> within lookahead horizon </a:t>
                </a:r>
                <a14:m>
                  <m:oMath xmlns:m="http://schemas.openxmlformats.org/officeDocument/2006/math">
                    <m:r>
                      <a:rPr lang="en-US" b="0" i="1" smtClean="0">
                        <a:latin typeface="Cambria Math" panose="02040503050406030204" pitchFamily="18" charset="0"/>
                      </a:rPr>
                      <m:t>𝑇</m:t>
                    </m:r>
                  </m:oMath>
                </a14:m>
                <a:r>
                  <a:rPr lang="en-US" dirty="0"/>
                  <a:t> to track the blue desired </a:t>
                </a:r>
                <a:r>
                  <a:rPr lang="en-US" dirty="0" err="1"/>
                  <a:t>traj</a:t>
                </a:r>
                <a:endParaRPr lang="en-SE" dirty="0"/>
              </a:p>
            </p:txBody>
          </p:sp>
        </mc:Choice>
        <mc:Fallback xmlns="">
          <p:sp>
            <p:nvSpPr>
              <p:cNvPr id="10" name="TextBox 9">
                <a:extLst>
                  <a:ext uri="{FF2B5EF4-FFF2-40B4-BE49-F238E27FC236}">
                    <a16:creationId xmlns:a16="http://schemas.microsoft.com/office/drawing/2014/main" id="{CA316BAE-1D6C-36B4-062E-FBC3E23F0030}"/>
                  </a:ext>
                </a:extLst>
              </p:cNvPr>
              <p:cNvSpPr txBox="1">
                <a:spLocks noRot="1" noChangeAspect="1" noMove="1" noResize="1" noEditPoints="1" noAdjustHandles="1" noChangeArrowheads="1" noChangeShapeType="1" noTextEdit="1"/>
              </p:cNvSpPr>
              <p:nvPr/>
            </p:nvSpPr>
            <p:spPr>
              <a:xfrm>
                <a:off x="3740807" y="1316881"/>
                <a:ext cx="1886873" cy="2301977"/>
              </a:xfrm>
              <a:prstGeom prst="rect">
                <a:avLst/>
              </a:prstGeom>
              <a:blipFill>
                <a:blip r:embed="rId8"/>
                <a:stretch>
                  <a:fillRect l="-2913" t="-1323" r="-2913" b="-3175"/>
                </a:stretch>
              </a:blipFill>
            </p:spPr>
            <p:txBody>
              <a:bodyPr/>
              <a:lstStyle/>
              <a:p>
                <a:r>
                  <a:rPr lang="en-SE">
                    <a:noFill/>
                  </a:rPr>
                  <a:t> </a:t>
                </a:r>
              </a:p>
            </p:txBody>
          </p:sp>
        </mc:Fallback>
      </mc:AlternateContent>
      <p:sp>
        <p:nvSpPr>
          <p:cNvPr id="11" name="Arrow: Right 10">
            <a:extLst>
              <a:ext uri="{FF2B5EF4-FFF2-40B4-BE49-F238E27FC236}">
                <a16:creationId xmlns:a16="http://schemas.microsoft.com/office/drawing/2014/main" id="{1CBAE6A4-FBBB-488C-492F-F6B018414F1C}"/>
              </a:ext>
            </a:extLst>
          </p:cNvPr>
          <p:cNvSpPr/>
          <p:nvPr/>
        </p:nvSpPr>
        <p:spPr bwMode="auto">
          <a:xfrm>
            <a:off x="7675479" y="3538037"/>
            <a:ext cx="719592" cy="333400"/>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73AF72F-84E7-7E59-03C6-D8ECB82587A4}"/>
                  </a:ext>
                </a:extLst>
              </p:cNvPr>
              <p:cNvSpPr txBox="1"/>
              <p:nvPr/>
            </p:nvSpPr>
            <p:spPr>
              <a:xfrm>
                <a:off x="7452339" y="1397663"/>
                <a:ext cx="1280248" cy="1477328"/>
              </a:xfrm>
              <a:prstGeom prst="rect">
                <a:avLst/>
              </a:prstGeom>
              <a:noFill/>
            </p:spPr>
            <p:txBody>
              <a:bodyPr wrap="square" rtlCol="0">
                <a:spAutoFit/>
              </a:bodyPr>
              <a:lstStyle/>
              <a:p>
                <a:r>
                  <a:rPr lang="en-US" dirty="0"/>
                  <a:t>Execute control input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𝑡</m:t>
                        </m:r>
                      </m:sub>
                    </m:sSub>
                  </m:oMath>
                </a14:m>
                <a:r>
                  <a:rPr lang="en-US" dirty="0"/>
                  <a:t> </a:t>
                </a:r>
              </a:p>
              <a:p>
                <a:r>
                  <a:rPr lang="en-US" dirty="0"/>
                  <a:t>at 1</a:t>
                </a:r>
                <a:r>
                  <a:rPr lang="en-US" baseline="30000" dirty="0"/>
                  <a:t>st</a:t>
                </a:r>
                <a:r>
                  <a:rPr lang="en-US" dirty="0"/>
                  <a:t> timestep</a:t>
                </a:r>
                <a:endParaRPr lang="en-SE" dirty="0"/>
              </a:p>
            </p:txBody>
          </p:sp>
        </mc:Choice>
        <mc:Fallback xmlns="">
          <p:sp>
            <p:nvSpPr>
              <p:cNvPr id="12" name="TextBox 11">
                <a:extLst>
                  <a:ext uri="{FF2B5EF4-FFF2-40B4-BE49-F238E27FC236}">
                    <a16:creationId xmlns:a16="http://schemas.microsoft.com/office/drawing/2014/main" id="{073AF72F-84E7-7E59-03C6-D8ECB82587A4}"/>
                  </a:ext>
                </a:extLst>
              </p:cNvPr>
              <p:cNvSpPr txBox="1">
                <a:spLocks noRot="1" noChangeAspect="1" noMove="1" noResize="1" noEditPoints="1" noAdjustHandles="1" noChangeArrowheads="1" noChangeShapeType="1" noTextEdit="1"/>
              </p:cNvSpPr>
              <p:nvPr/>
            </p:nvSpPr>
            <p:spPr>
              <a:xfrm>
                <a:off x="7452339" y="1397663"/>
                <a:ext cx="1280248" cy="1477328"/>
              </a:xfrm>
              <a:prstGeom prst="rect">
                <a:avLst/>
              </a:prstGeom>
              <a:blipFill>
                <a:blip r:embed="rId9"/>
                <a:stretch>
                  <a:fillRect l="-3791" t="-2058" b="-5350"/>
                </a:stretch>
              </a:blipFill>
            </p:spPr>
            <p:txBody>
              <a:bodyPr/>
              <a:lstStyle/>
              <a:p>
                <a:r>
                  <a:rPr lang="en-SE">
                    <a:noFill/>
                  </a:rPr>
                  <a:t> </a:t>
                </a:r>
              </a:p>
            </p:txBody>
          </p:sp>
        </mc:Fallback>
      </mc:AlternateContent>
      <p:sp>
        <p:nvSpPr>
          <p:cNvPr id="13" name="Arrow: Right 12">
            <a:extLst>
              <a:ext uri="{FF2B5EF4-FFF2-40B4-BE49-F238E27FC236}">
                <a16:creationId xmlns:a16="http://schemas.microsoft.com/office/drawing/2014/main" id="{328221A5-653C-DAC7-93F0-EA4B7E72E026}"/>
              </a:ext>
            </a:extLst>
          </p:cNvPr>
          <p:cNvSpPr/>
          <p:nvPr/>
        </p:nvSpPr>
        <p:spPr bwMode="auto">
          <a:xfrm>
            <a:off x="4233392" y="6156965"/>
            <a:ext cx="726363" cy="333400"/>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BD530CD-225F-A138-92A1-B9145D99E941}"/>
                  </a:ext>
                </a:extLst>
              </p:cNvPr>
              <p:cNvSpPr txBox="1"/>
              <p:nvPr/>
            </p:nvSpPr>
            <p:spPr>
              <a:xfrm>
                <a:off x="3740807" y="4228638"/>
                <a:ext cx="1468182" cy="2031325"/>
              </a:xfrm>
              <a:prstGeom prst="rect">
                <a:avLst/>
              </a:prstGeom>
              <a:noFill/>
            </p:spPr>
            <p:txBody>
              <a:bodyPr wrap="square" rtlCol="0">
                <a:spAutoFit/>
              </a:bodyPr>
              <a:lstStyle/>
              <a:p>
                <a:r>
                  <a:rPr lang="en-US" dirty="0"/>
                  <a:t>Replan a new set of control inputs </a:t>
                </a:r>
                <a14:m>
                  <m:oMath xmlns:m="http://schemas.openxmlformats.org/officeDocument/2006/math">
                    <m:r>
                      <m:rPr>
                        <m:sty m:val="p"/>
                      </m:rPr>
                      <a:rPr lang="en-US">
                        <a:latin typeface="Cambria Math" panose="02040503050406030204" pitchFamily="18" charset="0"/>
                      </a:rPr>
                      <m:t>U</m:t>
                    </m:r>
                    <m:r>
                      <a:rPr lang="en-US">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−1</m:t>
                            </m:r>
                          </m:sub>
                        </m:sSub>
                      </m:e>
                    </m:d>
                  </m:oMath>
                </a14:m>
                <a:r>
                  <a:rPr lang="en-US" dirty="0"/>
                  <a:t> at next time step </a:t>
                </a:r>
                <a14:m>
                  <m:oMath xmlns:m="http://schemas.openxmlformats.org/officeDocument/2006/math">
                    <m:r>
                      <a:rPr lang="en-US" b="0" i="1" smtClean="0">
                        <a:latin typeface="Cambria Math" panose="02040503050406030204" pitchFamily="18" charset="0"/>
                      </a:rPr>
                      <m:t>𝑡</m:t>
                    </m:r>
                  </m:oMath>
                </a14:m>
                <a:endParaRPr lang="en-SE" dirty="0"/>
              </a:p>
            </p:txBody>
          </p:sp>
        </mc:Choice>
        <mc:Fallback xmlns="">
          <p:sp>
            <p:nvSpPr>
              <p:cNvPr id="14" name="TextBox 13">
                <a:extLst>
                  <a:ext uri="{FF2B5EF4-FFF2-40B4-BE49-F238E27FC236}">
                    <a16:creationId xmlns:a16="http://schemas.microsoft.com/office/drawing/2014/main" id="{BBD530CD-225F-A138-92A1-B9145D99E941}"/>
                  </a:ext>
                </a:extLst>
              </p:cNvPr>
              <p:cNvSpPr txBox="1">
                <a:spLocks noRot="1" noChangeAspect="1" noMove="1" noResize="1" noEditPoints="1" noAdjustHandles="1" noChangeArrowheads="1" noChangeShapeType="1" noTextEdit="1"/>
              </p:cNvSpPr>
              <p:nvPr/>
            </p:nvSpPr>
            <p:spPr>
              <a:xfrm>
                <a:off x="3740807" y="4228638"/>
                <a:ext cx="1468182" cy="2031325"/>
              </a:xfrm>
              <a:prstGeom prst="rect">
                <a:avLst/>
              </a:prstGeom>
              <a:blipFill>
                <a:blip r:embed="rId10"/>
                <a:stretch>
                  <a:fillRect l="-3750" t="-1802" r="-4583"/>
                </a:stretch>
              </a:blipFill>
            </p:spPr>
            <p:txBody>
              <a:bodyPr/>
              <a:lstStyle/>
              <a:p>
                <a:r>
                  <a:rPr lang="en-SE">
                    <a:noFill/>
                  </a:rPr>
                  <a:t> </a:t>
                </a:r>
              </a:p>
            </p:txBody>
          </p:sp>
        </mc:Fallback>
      </mc:AlternateContent>
      <p:sp>
        <p:nvSpPr>
          <p:cNvPr id="15" name="Arrow: Right 14">
            <a:extLst>
              <a:ext uri="{FF2B5EF4-FFF2-40B4-BE49-F238E27FC236}">
                <a16:creationId xmlns:a16="http://schemas.microsoft.com/office/drawing/2014/main" id="{95C87EB7-2054-97F5-0C73-9E92F001F1D8}"/>
              </a:ext>
            </a:extLst>
          </p:cNvPr>
          <p:cNvSpPr/>
          <p:nvPr/>
        </p:nvSpPr>
        <p:spPr bwMode="auto">
          <a:xfrm>
            <a:off x="7774351" y="6156965"/>
            <a:ext cx="719592" cy="333400"/>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5C8E21-2E3F-3D4E-BC04-7086971ED523}"/>
                  </a:ext>
                </a:extLst>
              </p:cNvPr>
              <p:cNvSpPr txBox="1"/>
              <p:nvPr/>
            </p:nvSpPr>
            <p:spPr>
              <a:xfrm>
                <a:off x="7525117" y="4090138"/>
                <a:ext cx="1280248" cy="1477328"/>
              </a:xfrm>
              <a:prstGeom prst="rect">
                <a:avLst/>
              </a:prstGeom>
              <a:noFill/>
            </p:spPr>
            <p:txBody>
              <a:bodyPr wrap="square" rtlCol="0">
                <a:spAutoFit/>
              </a:bodyPr>
              <a:lstStyle/>
              <a:p>
                <a:r>
                  <a:rPr lang="en-US" dirty="0"/>
                  <a:t>Execute control input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𝑡</m:t>
                        </m:r>
                      </m:sub>
                    </m:sSub>
                  </m:oMath>
                </a14:m>
                <a:r>
                  <a:rPr lang="en-US" dirty="0"/>
                  <a:t> at 1</a:t>
                </a:r>
                <a:r>
                  <a:rPr lang="en-US" baseline="30000" dirty="0"/>
                  <a:t>st</a:t>
                </a:r>
                <a:r>
                  <a:rPr lang="en-US" dirty="0"/>
                  <a:t> timestep</a:t>
                </a:r>
                <a:endParaRPr lang="en-SE" dirty="0"/>
              </a:p>
            </p:txBody>
          </p:sp>
        </mc:Choice>
        <mc:Fallback xmlns="">
          <p:sp>
            <p:nvSpPr>
              <p:cNvPr id="16" name="TextBox 15">
                <a:extLst>
                  <a:ext uri="{FF2B5EF4-FFF2-40B4-BE49-F238E27FC236}">
                    <a16:creationId xmlns:a16="http://schemas.microsoft.com/office/drawing/2014/main" id="{025C8E21-2E3F-3D4E-BC04-7086971ED523}"/>
                  </a:ext>
                </a:extLst>
              </p:cNvPr>
              <p:cNvSpPr txBox="1">
                <a:spLocks noRot="1" noChangeAspect="1" noMove="1" noResize="1" noEditPoints="1" noAdjustHandles="1" noChangeArrowheads="1" noChangeShapeType="1" noTextEdit="1"/>
              </p:cNvSpPr>
              <p:nvPr/>
            </p:nvSpPr>
            <p:spPr>
              <a:xfrm>
                <a:off x="7525117" y="4090138"/>
                <a:ext cx="1280248" cy="1477328"/>
              </a:xfrm>
              <a:prstGeom prst="rect">
                <a:avLst/>
              </a:prstGeom>
              <a:blipFill>
                <a:blip r:embed="rId11"/>
                <a:stretch>
                  <a:fillRect l="-3810" t="-2479" r="-476" b="-5785"/>
                </a:stretch>
              </a:blipFill>
            </p:spPr>
            <p:txBody>
              <a:bodyPr/>
              <a:lstStyle/>
              <a:p>
                <a:r>
                  <a:rPr lang="en-SE">
                    <a:noFill/>
                  </a:rPr>
                  <a:t> </a:t>
                </a:r>
              </a:p>
            </p:txBody>
          </p:sp>
        </mc:Fallback>
      </mc:AlternateContent>
      <p:sp>
        <p:nvSpPr>
          <p:cNvPr id="17" name="Arrow: Right 16">
            <a:extLst>
              <a:ext uri="{FF2B5EF4-FFF2-40B4-BE49-F238E27FC236}">
                <a16:creationId xmlns:a16="http://schemas.microsoft.com/office/drawing/2014/main" id="{5B6B615F-59FC-2849-363A-32B4988FDB82}"/>
              </a:ext>
            </a:extLst>
          </p:cNvPr>
          <p:cNvSpPr/>
          <p:nvPr/>
        </p:nvSpPr>
        <p:spPr bwMode="auto">
          <a:xfrm>
            <a:off x="4118809" y="3538037"/>
            <a:ext cx="726363" cy="333400"/>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8" name="TextBox 17">
            <a:extLst>
              <a:ext uri="{FF2B5EF4-FFF2-40B4-BE49-F238E27FC236}">
                <a16:creationId xmlns:a16="http://schemas.microsoft.com/office/drawing/2014/main" id="{53781301-1031-EBB5-B8D5-C8CF4C34F329}"/>
              </a:ext>
            </a:extLst>
          </p:cNvPr>
          <p:cNvSpPr txBox="1"/>
          <p:nvPr/>
        </p:nvSpPr>
        <p:spPr>
          <a:xfrm>
            <a:off x="9276718" y="5116263"/>
            <a:ext cx="441146" cy="400110"/>
          </a:xfrm>
          <a:prstGeom prst="rect">
            <a:avLst/>
          </a:prstGeom>
          <a:noFill/>
        </p:spPr>
        <p:txBody>
          <a:bodyPr wrap="none" rtlCol="0">
            <a:spAutoFit/>
          </a:bodyPr>
          <a:lstStyle/>
          <a:p>
            <a:r>
              <a:rPr lang="en-US" sz="2000" dirty="0"/>
              <a:t>…</a:t>
            </a:r>
            <a:endParaRPr lang="en-SE" sz="2000" dirty="0"/>
          </a:p>
        </p:txBody>
      </p:sp>
    </p:spTree>
    <p:extLst>
      <p:ext uri="{BB962C8B-B14F-4D97-AF65-F5344CB8AC3E}">
        <p14:creationId xmlns:p14="http://schemas.microsoft.com/office/powerpoint/2010/main" val="3541192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6D0B2-5297-965B-FFA7-6C308D90A81A}"/>
              </a:ext>
            </a:extLst>
          </p:cNvPr>
          <p:cNvSpPr>
            <a:spLocks noGrp="1"/>
          </p:cNvSpPr>
          <p:nvPr>
            <p:ph type="title"/>
          </p:nvPr>
        </p:nvSpPr>
        <p:spPr/>
        <p:txBody>
          <a:bodyPr/>
          <a:lstStyle/>
          <a:p>
            <a:r>
              <a:rPr lang="en-US" dirty="0"/>
              <a:t>MPC Illustration </a:t>
            </a:r>
            <a:r>
              <a:rPr lang="en-US" dirty="0" err="1"/>
              <a:t>Con’t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0DE15B-1080-852B-D88C-49831A80DD0D}"/>
                  </a:ext>
                </a:extLst>
              </p:cNvPr>
              <p:cNvSpPr>
                <a:spLocks noGrp="1"/>
              </p:cNvSpPr>
              <p:nvPr>
                <p:ph idx="1"/>
              </p:nvPr>
            </p:nvSpPr>
            <p:spPr>
              <a:xfrm>
                <a:off x="622737" y="1237593"/>
                <a:ext cx="5473263" cy="5194738"/>
              </a:xfrm>
            </p:spPr>
            <p:txBody>
              <a:bodyPr/>
              <a:lstStyle/>
              <a:p>
                <a:r>
                  <a:rPr lang="en-US" dirty="0">
                    <a:solidFill>
                      <a:srgbClr val="FFC000"/>
                    </a:solidFill>
                  </a:rPr>
                  <a:t>Yellow</a:t>
                </a:r>
                <a:r>
                  <a:rPr lang="en-US" dirty="0"/>
                  <a:t>: reference trajectory from planner</a:t>
                </a:r>
              </a:p>
              <a:p>
                <a:r>
                  <a:rPr lang="en-US" dirty="0">
                    <a:solidFill>
                      <a:srgbClr val="00B050"/>
                    </a:solidFill>
                  </a:rPr>
                  <a:t>Green</a:t>
                </a:r>
                <a:r>
                  <a:rPr lang="en-US" dirty="0"/>
                  <a:t>: trajectory from running control inputs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[0,…,</m:t>
                    </m:r>
                    <m:r>
                      <a:rPr lang="en-US" b="0" i="1" smtClean="0">
                        <a:latin typeface="Cambria Math" panose="02040503050406030204" pitchFamily="18" charset="0"/>
                      </a:rPr>
                      <m:t>𝑇</m:t>
                    </m:r>
                    <m:r>
                      <a:rPr lang="en-US" b="0" i="1" smtClean="0">
                        <a:latin typeface="Cambria Math" panose="02040503050406030204" pitchFamily="18" charset="0"/>
                      </a:rPr>
                      <m:t>−1]</m:t>
                    </m:r>
                  </m:oMath>
                </a14:m>
                <a:r>
                  <a:rPr lang="en-US" dirty="0"/>
                  <a:t> computed by MPC based on system model for lookahead horizon </a:t>
                </a:r>
                <a14:m>
                  <m:oMath xmlns:m="http://schemas.openxmlformats.org/officeDocument/2006/math">
                    <m:r>
                      <a:rPr lang="en-US" b="0" i="1" smtClean="0">
                        <a:latin typeface="Cambria Math" panose="02040503050406030204" pitchFamily="18" charset="0"/>
                      </a:rPr>
                      <m:t>𝑇</m:t>
                    </m:r>
                  </m:oMath>
                </a14:m>
                <a:endParaRPr lang="en-US" dirty="0"/>
              </a:p>
              <a:p>
                <a:endParaRPr lang="en-SE" dirty="0"/>
              </a:p>
            </p:txBody>
          </p:sp>
        </mc:Choice>
        <mc:Fallback xmlns="">
          <p:sp>
            <p:nvSpPr>
              <p:cNvPr id="3" name="Content Placeholder 2">
                <a:extLst>
                  <a:ext uri="{FF2B5EF4-FFF2-40B4-BE49-F238E27FC236}">
                    <a16:creationId xmlns:a16="http://schemas.microsoft.com/office/drawing/2014/main" id="{450DE15B-1080-852B-D88C-49831A80DD0D}"/>
                  </a:ext>
                </a:extLst>
              </p:cNvPr>
              <p:cNvSpPr>
                <a:spLocks noGrp="1" noRot="1" noChangeAspect="1" noMove="1" noResize="1" noEditPoints="1" noAdjustHandles="1" noChangeArrowheads="1" noChangeShapeType="1" noTextEdit="1"/>
              </p:cNvSpPr>
              <p:nvPr>
                <p:ph idx="1"/>
              </p:nvPr>
            </p:nvSpPr>
            <p:spPr>
              <a:xfrm>
                <a:off x="622737" y="1237593"/>
                <a:ext cx="5473263" cy="5194738"/>
              </a:xfrm>
              <a:blipFill>
                <a:blip r:embed="rId2"/>
                <a:stretch>
                  <a:fillRect l="-2561" t="-246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71B2FE2-FB5C-99F7-1EDE-6F0A032FF541}"/>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2">
            <a:extLst>
              <a:ext uri="{FF2B5EF4-FFF2-40B4-BE49-F238E27FC236}">
                <a16:creationId xmlns:a16="http://schemas.microsoft.com/office/drawing/2014/main" id="{6A5D00B9-649A-7984-6542-FB4E17E67DA0}"/>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298743" y="1903860"/>
            <a:ext cx="5699226" cy="41794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4D27CCD-5A51-DB39-0CC6-EB9934197543}"/>
              </a:ext>
            </a:extLst>
          </p:cNvPr>
          <p:cNvSpPr/>
          <p:nvPr/>
        </p:nvSpPr>
        <p:spPr>
          <a:xfrm>
            <a:off x="6997263" y="6094708"/>
            <a:ext cx="3984773" cy="246221"/>
          </a:xfrm>
          <a:prstGeom prst="rect">
            <a:avLst/>
          </a:prstGeom>
        </p:spPr>
        <p:txBody>
          <a:bodyPr wrap="square">
            <a:spAutoFit/>
          </a:bodyPr>
          <a:lstStyle/>
          <a:p>
            <a:r>
              <a:rPr lang="en-US" sz="1000" dirty="0"/>
              <a:t>https://medium.com/@david010/vehicle-mpc-controller-33ae813cf3be</a:t>
            </a:r>
            <a:endParaRPr lang="en-SE" sz="1000" dirty="0"/>
          </a:p>
        </p:txBody>
      </p:sp>
    </p:spTree>
    <p:extLst>
      <p:ext uri="{BB962C8B-B14F-4D97-AF65-F5344CB8AC3E}">
        <p14:creationId xmlns:p14="http://schemas.microsoft.com/office/powerpoint/2010/main" val="1422643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E7B9-AC96-A731-78B7-93DF5D836B25}"/>
              </a:ext>
            </a:extLst>
          </p:cNvPr>
          <p:cNvSpPr>
            <a:spLocks noGrp="1"/>
          </p:cNvSpPr>
          <p:nvPr>
            <p:ph type="title"/>
          </p:nvPr>
        </p:nvSpPr>
        <p:spPr/>
        <p:txBody>
          <a:bodyPr/>
          <a:lstStyle/>
          <a:p>
            <a:r>
              <a:rPr lang="en-US" dirty="0"/>
              <a:t>Linear vs. Nonlinear MPC</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AF3051-3E21-B2C7-A84D-65ECE4435A1B}"/>
                  </a:ext>
                </a:extLst>
              </p:cNvPr>
              <p:cNvSpPr>
                <a:spLocks noGrp="1"/>
              </p:cNvSpPr>
              <p:nvPr>
                <p:ph idx="1"/>
              </p:nvPr>
            </p:nvSpPr>
            <p:spPr>
              <a:xfrm>
                <a:off x="621423" y="1252616"/>
                <a:ext cx="10949153" cy="5813197"/>
              </a:xfrm>
            </p:spPr>
            <p:txBody>
              <a:bodyPr>
                <a:normAutofit fontScale="55000" lnSpcReduction="20000"/>
              </a:bodyPr>
              <a:lstStyle/>
              <a:p>
                <a:r>
                  <a:rPr lang="en-US" dirty="0"/>
                  <a:t>Linear MPC (no constraints)</a:t>
                </a:r>
                <a:endParaRPr lang="en-US" b="0" i="1" dirty="0">
                  <a:latin typeface="Cambria Math" panose="02040503050406030204" pitchFamily="18" charset="0"/>
                </a:endParaRPr>
              </a:p>
              <a:p>
                <a:pPr lvl="1"/>
                <a14:m>
                  <m:oMath xmlns:m="http://schemas.openxmlformats.org/officeDocument/2006/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min</m:t>
                            </m:r>
                          </m:e>
                          <m:lim>
                            <m:r>
                              <m:rPr>
                                <m:sty m:val="p"/>
                              </m:rPr>
                              <a:rPr lang="en-US">
                                <a:latin typeface="Cambria Math" panose="02040503050406030204" pitchFamily="18" charset="0"/>
                              </a:rPr>
                              <m:t>U</m:t>
                            </m:r>
                            <m:r>
                              <a:rPr lang="en-US">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−1</m:t>
                                    </m:r>
                                  </m:sub>
                                </m:sSub>
                              </m:e>
                            </m:d>
                          </m:lim>
                        </m:limLow>
                      </m:fName>
                      <m:e>
                        <m:r>
                          <a:rPr lang="en-US" i="1">
                            <a:latin typeface="Cambria Math" panose="02040503050406030204" pitchFamily="18" charset="0"/>
                          </a:rPr>
                          <m:t>𝐽</m:t>
                        </m:r>
                        <m:d>
                          <m:dPr>
                            <m:ctrlPr>
                              <a:rPr lang="en-US" i="1">
                                <a:latin typeface="Cambria Math" panose="02040503050406030204" pitchFamily="18" charset="0"/>
                              </a:rPr>
                            </m:ctrlPr>
                          </m:dPr>
                          <m:e>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m:t>
                        </m:r>
                      </m:e>
                    </m:func>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𝑡</m:t>
                        </m:r>
                      </m:sub>
                      <m:sup>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−1</m:t>
                        </m:r>
                      </m:sup>
                      <m:e>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𝑇</m:t>
                            </m:r>
                          </m:sup>
                        </m:sSubSup>
                        <m:r>
                          <a:rPr lang="en-US" i="1">
                            <a:latin typeface="Cambria Math" panose="02040503050406030204" pitchFamily="18" charset="0"/>
                          </a:rPr>
                          <m:t>𝑄</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𝑗</m:t>
                        </m:r>
                      </m:sub>
                      <m:sup>
                        <m:r>
                          <a:rPr lang="en-US" i="1">
                            <a:latin typeface="Cambria Math" panose="02040503050406030204" pitchFamily="18" charset="0"/>
                          </a:rPr>
                          <m:t>𝑇</m:t>
                        </m:r>
                      </m:sup>
                    </m:sSubSup>
                    <m:r>
                      <a:rPr lang="en-US" i="1">
                        <a:latin typeface="Cambria Math" panose="02040503050406030204" pitchFamily="18" charset="0"/>
                      </a:rPr>
                      <m:t>𝑅</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r>
                      <a:rPr lang="en-US" b="0" i="1" smtClean="0">
                        <a:latin typeface="Cambria Math" panose="02040503050406030204" pitchFamily="18" charset="0"/>
                      </a:rPr>
                      <m:t>)</m:t>
                    </m:r>
                  </m:oMath>
                </a14:m>
                <a:endParaRPr lang="en-US" b="0" i="1" dirty="0">
                  <a:latin typeface="Cambria Math" panose="02040503050406030204" pitchFamily="18" charset="0"/>
                </a:endParaRPr>
              </a:p>
              <a:p>
                <a:pPr lvl="1"/>
                <a:r>
                  <a:rPr lang="en-US" sz="2700" dirty="0"/>
                  <a:t>s.t. for</a:t>
                </a:r>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−1</m:t>
                    </m:r>
                  </m:oMath>
                </a14:m>
                <a:r>
                  <a:rPr lang="en-US" i="1" dirty="0">
                    <a:latin typeface="Cambria Math" panose="02040503050406030204" pitchFamily="18" charset="0"/>
                  </a:rPr>
                  <a:t>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i="1">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i="1">
                            <a:latin typeface="Cambria Math" panose="02040503050406030204" pitchFamily="18" charset="0"/>
                          </a:rPr>
                          <m:t>𝑗</m:t>
                        </m:r>
                      </m:sub>
                    </m:sSub>
                  </m:oMath>
                </a14:m>
                <a:endParaRPr lang="en-US" b="0" i="1" dirty="0">
                  <a:latin typeface="Cambria Math" panose="02040503050406030204" pitchFamily="18" charset="0"/>
                </a:endParaRPr>
              </a:p>
              <a:p>
                <a:pPr lvl="1"/>
                <a14:m>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𝑥</m:t>
                        </m:r>
                      </m:e>
                      <m:sub>
                        <m:r>
                          <a:rPr lang="en-US" sz="2700" b="0" i="1" smtClean="0">
                            <a:latin typeface="Cambria Math" panose="02040503050406030204" pitchFamily="18" charset="0"/>
                          </a:rPr>
                          <m:t>𝑗</m:t>
                        </m:r>
                      </m:sub>
                    </m:sSub>
                  </m:oMath>
                </a14:m>
                <a:r>
                  <a:rPr lang="en-US" sz="2700" dirty="0"/>
                  <a:t> is the difference between actual state and ref state (assumed to be 0 here), which should be minimized with the term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𝑇</m:t>
                        </m:r>
                      </m:sub>
                      <m:sup>
                        <m:r>
                          <a:rPr lang="en-US" sz="2400" i="1">
                            <a:latin typeface="Cambria Math" panose="02040503050406030204" pitchFamily="18" charset="0"/>
                          </a:rPr>
                          <m:t>𝑇</m:t>
                        </m:r>
                      </m:sup>
                    </m:sSubSup>
                    <m:sSub>
                      <m:sSubPr>
                        <m:ctrlPr>
                          <a:rPr lang="en-US" sz="2400" i="1">
                            <a:latin typeface="Cambria Math" panose="02040503050406030204" pitchFamily="18" charset="0"/>
                          </a:rPr>
                        </m:ctrlPr>
                      </m:sSubPr>
                      <m:e>
                        <m:r>
                          <a:rPr lang="en-US" sz="2400" i="1">
                            <a:latin typeface="Cambria Math" panose="02040503050406030204" pitchFamily="18" charset="0"/>
                          </a:rPr>
                          <m:t>𝑄</m:t>
                        </m:r>
                      </m:e>
                      <m:sub>
                        <m:r>
                          <a:rPr lang="en-US" sz="2400" i="1">
                            <a:latin typeface="Cambria Math" panose="02040503050406030204" pitchFamily="18" charset="0"/>
                          </a:rPr>
                          <m:t>𝑓</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𝑇</m:t>
                        </m:r>
                      </m:sub>
                    </m:sSub>
                  </m:oMath>
                </a14:m>
                <a:endParaRPr lang="en-US" sz="2700" dirty="0"/>
              </a:p>
              <a:p>
                <a:pPr lvl="1"/>
                <a14:m>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𝑢</m:t>
                        </m:r>
                      </m:e>
                      <m:sub>
                        <m:r>
                          <a:rPr lang="en-US" sz="2700" b="0" i="1" smtClean="0">
                            <a:latin typeface="Cambria Math" panose="02040503050406030204" pitchFamily="18" charset="0"/>
                          </a:rPr>
                          <m:t>𝑗</m:t>
                        </m:r>
                      </m:sub>
                    </m:sSub>
                  </m:oMath>
                </a14:m>
                <a:r>
                  <a:rPr lang="en-US" sz="2700" dirty="0"/>
                  <a:t> is control input, which should be minimized with the term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𝑢</m:t>
                        </m:r>
                      </m:e>
                      <m:sub>
                        <m:r>
                          <a:rPr lang="en-US" sz="2400" i="1">
                            <a:latin typeface="Cambria Math" panose="02040503050406030204" pitchFamily="18" charset="0"/>
                          </a:rPr>
                          <m:t>𝑗</m:t>
                        </m:r>
                      </m:sub>
                      <m:sup>
                        <m:r>
                          <a:rPr lang="en-US" sz="2400" i="1">
                            <a:latin typeface="Cambria Math" panose="02040503050406030204" pitchFamily="18" charset="0"/>
                          </a:rPr>
                          <m:t>𝑇</m:t>
                        </m:r>
                      </m:sup>
                    </m:sSubSup>
                    <m:r>
                      <a:rPr lang="en-US" sz="2400" i="1">
                        <a:latin typeface="Cambria Math" panose="02040503050406030204" pitchFamily="18" charset="0"/>
                      </a:rPr>
                      <m:t>𝑅</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𝑗</m:t>
                        </m:r>
                      </m:sub>
                    </m:sSub>
                  </m:oMath>
                </a14:m>
                <a:r>
                  <a:rPr lang="en-US" sz="2700" dirty="0"/>
                  <a:t> (to reduce control effort)</a:t>
                </a:r>
              </a:p>
              <a:p>
                <a:pPr lvl="1"/>
                <a:r>
                  <a:rPr lang="en-US" sz="2700" dirty="0"/>
                  <a:t>Relative magnitudes of </a:t>
                </a:r>
                <a14:m>
                  <m:oMath xmlns:m="http://schemas.openxmlformats.org/officeDocument/2006/math">
                    <m:r>
                      <a:rPr lang="en-US" sz="2400" i="1">
                        <a:latin typeface="Cambria Math" panose="02040503050406030204" pitchFamily="18" charset="0"/>
                      </a:rPr>
                      <m:t>𝑄</m:t>
                    </m:r>
                  </m:oMath>
                </a14:m>
                <a:r>
                  <a:rPr lang="en-US" sz="2700" dirty="0"/>
                  <a:t> and </a:t>
                </a:r>
                <a14:m>
                  <m:oMath xmlns:m="http://schemas.openxmlformats.org/officeDocument/2006/math">
                    <m:r>
                      <a:rPr lang="en-US" sz="2400" i="1">
                        <a:latin typeface="Cambria Math" panose="02040503050406030204" pitchFamily="18" charset="0"/>
                      </a:rPr>
                      <m:t>𝑅</m:t>
                    </m:r>
                  </m:oMath>
                </a14:m>
                <a:r>
                  <a:rPr lang="en-US" sz="2700" dirty="0"/>
                  <a:t> encode relative importance of the two objectives</a:t>
                </a:r>
              </a:p>
              <a:p>
                <a:pPr lvl="1"/>
                <a:r>
                  <a:rPr lang="en-US" sz="2700" dirty="0"/>
                  <a:t>Can be solved analytically at each time step </a:t>
                </a:r>
                <a14:m>
                  <m:oMath xmlns:m="http://schemas.openxmlformats.org/officeDocument/2006/math">
                    <m:sSub>
                      <m:sSubPr>
                        <m:ctrlPr>
                          <a:rPr lang="en-US" sz="2700">
                            <a:latin typeface="Cambria Math" panose="02040503050406030204" pitchFamily="18" charset="0"/>
                          </a:rPr>
                        </m:ctrlPr>
                      </m:sSubPr>
                      <m:e>
                        <m:r>
                          <a:rPr lang="en-US" sz="2700">
                            <a:latin typeface="Cambria Math" panose="02040503050406030204" pitchFamily="18" charset="0"/>
                          </a:rPr>
                          <m:t>𝑢</m:t>
                        </m:r>
                      </m:e>
                      <m:sub>
                        <m:r>
                          <a:rPr lang="en-US" sz="2700">
                            <a:latin typeface="Cambria Math" panose="02040503050406030204" pitchFamily="18" charset="0"/>
                          </a:rPr>
                          <m:t>𝑡</m:t>
                        </m:r>
                      </m:sub>
                    </m:sSub>
                    <m:r>
                      <a:rPr lang="en-US" sz="2700">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𝐾</m:t>
                        </m:r>
                      </m:e>
                      <m:sub>
                        <m:r>
                          <a:rPr lang="en-US" sz="2700" b="0" i="1" smtClean="0">
                            <a:latin typeface="Cambria Math" panose="02040503050406030204" pitchFamily="18" charset="0"/>
                          </a:rPr>
                          <m:t>𝑡</m:t>
                        </m:r>
                      </m:sub>
                    </m:sSub>
                    <m:sSub>
                      <m:sSubPr>
                        <m:ctrlPr>
                          <a:rPr lang="en-US" sz="2700">
                            <a:latin typeface="Cambria Math" panose="02040503050406030204" pitchFamily="18" charset="0"/>
                          </a:rPr>
                        </m:ctrlPr>
                      </m:sSubPr>
                      <m:e>
                        <m:r>
                          <a:rPr lang="en-US" sz="2700">
                            <a:latin typeface="Cambria Math" panose="02040503050406030204" pitchFamily="18" charset="0"/>
                          </a:rPr>
                          <m:t>𝑥</m:t>
                        </m:r>
                      </m:e>
                      <m:sub>
                        <m:r>
                          <a:rPr lang="en-US" sz="2700">
                            <a:latin typeface="Cambria Math" panose="02040503050406030204" pitchFamily="18" charset="0"/>
                          </a:rPr>
                          <m:t>𝑡</m:t>
                        </m:r>
                      </m:sub>
                    </m:sSub>
                  </m:oMath>
                </a14:m>
                <a:endParaRPr lang="en-US" sz="2700" dirty="0"/>
              </a:p>
              <a:p>
                <a:r>
                  <a:rPr lang="en-US" dirty="0"/>
                  <a:t>Nonlinear MPC (with constraints)</a:t>
                </a:r>
                <a:endParaRPr lang="en-US" i="1" dirty="0">
                  <a:latin typeface="Cambria Math" panose="02040503050406030204" pitchFamily="18" charset="0"/>
                </a:endParaRPr>
              </a:p>
              <a:p>
                <a:pPr lvl="1"/>
                <a14:m>
                  <m:oMath xmlns:m="http://schemas.openxmlformats.org/officeDocument/2006/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min</m:t>
                            </m:r>
                          </m:e>
                          <m:lim>
                            <m:r>
                              <m:rPr>
                                <m:sty m:val="p"/>
                              </m:rPr>
                              <a:rPr lang="en-US">
                                <a:latin typeface="Cambria Math" panose="02040503050406030204" pitchFamily="18" charset="0"/>
                              </a:rPr>
                              <m:t>U</m:t>
                            </m:r>
                            <m:r>
                              <a:rPr lang="en-US">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u</m:t>
                                    </m:r>
                                  </m:e>
                                  <m:sub>
                                    <m:r>
                                      <m:rPr>
                                        <m:sty m:val="p"/>
                                      </m:rPr>
                                      <a:rPr lang="en-US">
                                        <a:latin typeface="Cambria Math" panose="02040503050406030204" pitchFamily="18" charset="0"/>
                                      </a:rPr>
                                      <m:t>t</m:t>
                                    </m:r>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−1</m:t>
                                    </m:r>
                                  </m:sub>
                                </m:sSub>
                              </m:e>
                            </m:d>
                          </m:lim>
                        </m:limLow>
                      </m:fName>
                      <m:e>
                        <m:r>
                          <a:rPr lang="en-US" i="1">
                            <a:latin typeface="Cambria Math" panose="02040503050406030204" pitchFamily="18" charset="0"/>
                          </a:rPr>
                          <m:t>𝐽</m:t>
                        </m:r>
                        <m:d>
                          <m:dPr>
                            <m:ctrlPr>
                              <a:rPr lang="en-US" i="1">
                                <a:latin typeface="Cambria Math" panose="02040503050406030204" pitchFamily="18" charset="0"/>
                              </a:rPr>
                            </m:ctrlPr>
                          </m:dPr>
                          <m:e>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m:t>
                        </m:r>
                      </m:e>
                    </m:func>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𝑡</m:t>
                        </m:r>
                      </m:sub>
                      <m:sup>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−1</m:t>
                        </m:r>
                      </m:sup>
                      <m:e>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i="1" smtClean="0">
                            <a:latin typeface="Cambria Math" panose="02040503050406030204" pitchFamily="18" charset="0"/>
                          </a:rPr>
                          <m:t> </m:t>
                        </m:r>
                      </m:e>
                    </m:nary>
                    <m:r>
                      <m:rPr>
                        <m:sty m:val="p"/>
                      </m:rPr>
                      <a:rPr lang="en-US" i="0">
                        <a:latin typeface="Cambria Math" panose="02040503050406030204" pitchFamily="18" charset="0"/>
                      </a:rPr>
                      <m:t>+</m:t>
                    </m:r>
                    <m:sSub>
                      <m:e>
                        <m:r>
                          <a:rPr lang="en-US" i="1">
                            <a:latin typeface="Cambria Math" panose="02040503050406030204" pitchFamily="18" charset="0"/>
                          </a:rPr>
                          <m:t>C</m:t>
                        </m:r>
                      </m:e>
                      <m:sub>
                        <m:r>
                          <a:rPr lang="en-US" i="1">
                            <a:latin typeface="Cambria Math" panose="02040503050406030204" pitchFamily="18" charset="0"/>
                          </a:rPr>
                          <m:t>f</m:t>
                        </m:r>
                      </m:sub>
                    </m:sSub>
                    <m:d>
                      <m:dPr>
                        <m:begChr m:val="("/>
                        <m:endChr m:val=")"/>
                        <m:sepChr m:val=""/>
                        <m:grow/>
                      </m:dPr>
                      <m:e>
                        <m:sSub>
                          <m:e>
                            <m:r>
                              <a:rPr lang="en-US" i="1">
                                <a:latin typeface="Cambria Math" panose="02040503050406030204" pitchFamily="18" charset="0"/>
                              </a:rPr>
                              <m:t>x</m:t>
                            </m:r>
                          </m:e>
                          <m:sub>
                            <m:r>
                              <a:rPr lang="en-US" i="1">
                                <a:latin typeface="Cambria Math" panose="02040503050406030204" pitchFamily="18" charset="0"/>
                              </a:rPr>
                              <m:t>t</m:t>
                            </m:r>
                            <m:r>
                              <m:rPr>
                                <m:sty m:val="p"/>
                              </m:rPr>
                              <a:rPr lang="en-US" i="0">
                                <a:latin typeface="Cambria Math" panose="02040503050406030204" pitchFamily="18" charset="0"/>
                              </a:rPr>
                              <m:t>+</m:t>
                            </m:r>
                            <m:r>
                              <a:rPr lang="en-US" i="1">
                                <a:latin typeface="Cambria Math" panose="02040503050406030204" pitchFamily="18" charset="0"/>
                              </a:rPr>
                              <m:t>T</m:t>
                            </m:r>
                          </m:sub>
                        </m:sSub>
                      </m:e>
                    </m:d>
                  </m:oMath>
                </a14:m>
                <a:endParaRPr lang="en-US" i="1" dirty="0">
                  <a:latin typeface="Cambria Math" panose="02040503050406030204" pitchFamily="18" charset="0"/>
                </a:endParaRPr>
              </a:p>
              <a:p>
                <a:pPr lvl="1"/>
                <a:r>
                  <a:rPr lang="en-US" sz="2700" dirty="0" err="1"/>
                  <a:t>s.t.</a:t>
                </a:r>
                <a:r>
                  <a:rPr lang="en-US" sz="2700" dirty="0"/>
                  <a:t> for</a:t>
                </a:r>
                <a:r>
                  <a:rPr lang="en-US" i="1" dirty="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−1</m:t>
                    </m:r>
                  </m:oMath>
                </a14:m>
                <a:r>
                  <a:rPr lang="en-US" i="1" dirty="0">
                    <a:latin typeface="Cambria Math" panose="02040503050406030204" pitchFamily="18" charset="0"/>
                  </a:rPr>
                  <a: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e>
                    </m:d>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𝑚𝑎𝑥</m:t>
                        </m:r>
                      </m:sub>
                    </m:sSub>
                  </m:oMath>
                </a14:m>
                <a:endParaRPr lang="en-US"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𝑚𝑖𝑛</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i="1">
                            <a:latin typeface="Cambria Math" panose="02040503050406030204" pitchFamily="18" charset="0"/>
                          </a:rPr>
                          <m:t>𝑚𝑎𝑥</m:t>
                        </m:r>
                      </m:sub>
                    </m:sSub>
                  </m:oMath>
                </a14:m>
                <a:endParaRPr lang="en-US"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e>
                    </m:d>
                    <m:r>
                      <a:rPr lang="en-US" b="0" i="1" smtClean="0">
                        <a:latin typeface="Cambria Math" panose="02040503050406030204" pitchFamily="18" charset="0"/>
                      </a:rPr>
                      <m:t>≤0</m:t>
                    </m:r>
                  </m:oMath>
                </a14:m>
                <a:r>
                  <a:rPr lang="en-US" i="1" dirty="0">
                    <a:latin typeface="Cambria Math" panose="02040503050406030204" pitchFamily="18" charset="0"/>
                  </a:rPr>
                  <a:t> </a:t>
                </a:r>
              </a:p>
              <a:p>
                <a:pPr lvl="1"/>
                <a14:m>
                  <m:oMath xmlns:m="http://schemas.openxmlformats.org/officeDocument/2006/math">
                    <m:r>
                      <a:rPr lang="en-US" b="0" i="1" smtClean="0">
                        <a:latin typeface="Cambria Math" panose="02040503050406030204" pitchFamily="18" charset="0"/>
                      </a:rPr>
                      <m:t>ℎ</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e>
                    </m:d>
                    <m:r>
                      <a:rPr lang="en-US" b="0" i="1" smtClean="0">
                        <a:latin typeface="Cambria Math" panose="02040503050406030204" pitchFamily="18" charset="0"/>
                      </a:rPr>
                      <m:t>=</m:t>
                    </m:r>
                    <m:r>
                      <a:rPr lang="en-US" i="1">
                        <a:latin typeface="Cambria Math" panose="02040503050406030204" pitchFamily="18" charset="0"/>
                      </a:rPr>
                      <m:t>0</m:t>
                    </m:r>
                  </m:oMath>
                </a14:m>
                <a:endParaRPr lang="en-US" i="1" dirty="0">
                  <a:latin typeface="Cambria Math" panose="02040503050406030204" pitchFamily="18" charset="0"/>
                </a:endParaRPr>
              </a:p>
              <a:p>
                <a:pPr lvl="1"/>
                <a:r>
                  <a:rPr lang="en-US" dirty="0"/>
                  <a:t>Both objective </a:t>
                </a:r>
                <a14:m>
                  <m:oMath xmlns:m="http://schemas.openxmlformats.org/officeDocument/2006/math">
                    <m:r>
                      <a:rPr lang="en-US" i="1">
                        <a:latin typeface="Cambria Math" panose="02040503050406030204" pitchFamily="18" charset="0"/>
                      </a:rPr>
                      <m:t>𝐽</m:t>
                    </m:r>
                    <m:d>
                      <m:dPr>
                        <m:ctrlPr>
                          <a:rPr lang="en-US" i="1">
                            <a:latin typeface="Cambria Math" panose="02040503050406030204" pitchFamily="18" charset="0"/>
                          </a:rPr>
                        </m:ctrlPr>
                      </m:dPr>
                      <m:e>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 </m:t>
                    </m:r>
                  </m:oMath>
                </a14:m>
                <a:r>
                  <a:rPr lang="en-US" dirty="0"/>
                  <a:t>and system dynamics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e>
                    </m:d>
                  </m:oMath>
                </a14:m>
                <a:r>
                  <a:rPr lang="en-US" dirty="0"/>
                  <a:t> may be nonlinear</a:t>
                </a:r>
              </a:p>
              <a:p>
                <a:pPr lvl="1"/>
                <a:r>
                  <a:rPr lang="en-US" dirty="0"/>
                  <a:t>Cannot </a:t>
                </a:r>
                <a:r>
                  <a:rPr lang="en-US" sz="2800" dirty="0"/>
                  <a:t>be solved analytically; must solve numerically with optimizers, e.g., </a:t>
                </a:r>
                <a:r>
                  <a:rPr lang="en-US" sz="2800" dirty="0" err="1"/>
                  <a:t>CasADi</a:t>
                </a:r>
                <a:endParaRPr lang="en-US" dirty="0"/>
              </a:p>
              <a:p>
                <a:r>
                  <a:rPr lang="en-US" altLang="zh-CN" dirty="0"/>
                  <a:t>(Note: in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sub>
                      <m:sup>
                        <m:r>
                          <a:rPr lang="en-US" i="1">
                            <a:latin typeface="Cambria Math" panose="02040503050406030204" pitchFamily="18" charset="0"/>
                          </a:rPr>
                          <m:t>𝑇</m:t>
                        </m:r>
                      </m:sup>
                    </m:sSubSup>
                  </m:oMath>
                </a14:m>
                <a:r>
                  <a:rPr lang="en-US" altLang="zh-CN" dirty="0"/>
                  <a:t>, superscript </a:t>
                </a:r>
                <a14:m>
                  <m:oMath xmlns:m="http://schemas.openxmlformats.org/officeDocument/2006/math">
                    <m:r>
                      <a:rPr lang="en-US" altLang="zh-CN" b="0" i="1" smtClean="0">
                        <a:latin typeface="Cambria Math" panose="02040503050406030204" pitchFamily="18" charset="0"/>
                      </a:rPr>
                      <m:t>𝑇</m:t>
                    </m:r>
                  </m:oMath>
                </a14:m>
                <a:r>
                  <a:rPr lang="en-US" altLang="zh-CN" dirty="0"/>
                  <a:t> denotes “vector transpose”; subscript </a:t>
                </a:r>
                <a14:m>
                  <m:oMath xmlns:m="http://schemas.openxmlformats.org/officeDocument/2006/math">
                    <m:r>
                      <a:rPr lang="en-US" altLang="zh-CN" i="1">
                        <a:latin typeface="Cambria Math" panose="02040503050406030204" pitchFamily="18" charset="0"/>
                      </a:rPr>
                      <m:t>𝑇</m:t>
                    </m:r>
                  </m:oMath>
                </a14:m>
                <a:r>
                  <a:rPr lang="en-US" altLang="zh-CN" dirty="0"/>
                  <a:t> denotes “lookahead </a:t>
                </a:r>
                <a:r>
                  <a:rPr lang="en-US" dirty="0"/>
                  <a:t>horizon</a:t>
                </a:r>
                <a:r>
                  <a:rPr lang="en-US" altLang="zh-CN" dirty="0"/>
                  <a:t>”)</a:t>
                </a:r>
                <a:endParaRPr lang="en-SE" dirty="0"/>
              </a:p>
            </p:txBody>
          </p:sp>
        </mc:Choice>
        <mc:Fallback xmlns="">
          <p:sp>
            <p:nvSpPr>
              <p:cNvPr id="3" name="Content Placeholder 2">
                <a:extLst>
                  <a:ext uri="{FF2B5EF4-FFF2-40B4-BE49-F238E27FC236}">
                    <a16:creationId xmlns:a16="http://schemas.microsoft.com/office/drawing/2014/main" id="{C8AF3051-3E21-B2C7-A84D-65ECE4435A1B}"/>
                  </a:ext>
                </a:extLst>
              </p:cNvPr>
              <p:cNvSpPr>
                <a:spLocks noGrp="1" noRot="1" noChangeAspect="1" noMove="1" noResize="1" noEditPoints="1" noAdjustHandles="1" noChangeArrowheads="1" noChangeShapeType="1" noTextEdit="1"/>
              </p:cNvSpPr>
              <p:nvPr>
                <p:ph idx="1"/>
              </p:nvPr>
            </p:nvSpPr>
            <p:spPr>
              <a:xfrm>
                <a:off x="621423" y="1252616"/>
                <a:ext cx="10949153" cy="5813197"/>
              </a:xfrm>
              <a:blipFill>
                <a:blip r:embed="rId2"/>
                <a:stretch>
                  <a:fillRect l="-390" t="-188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18922DA-A5B0-8805-B75D-63D38746683C}"/>
              </a:ext>
            </a:extLst>
          </p:cNvPr>
          <p:cNvSpPr>
            <a:spLocks noGrp="1"/>
          </p:cNvSpPr>
          <p:nvPr>
            <p:ph type="sldNum" sz="quarter" idx="12"/>
          </p:nvPr>
        </p:nvSpPr>
        <p:spPr/>
        <p:txBody>
          <a:bodyPr/>
          <a:lstStyle/>
          <a:p>
            <a:fld id="{1F57BF9A-7B35-9447-9112-EAE7E91B4E99}" type="slidenum">
              <a:rPr lang="en-US" smtClean="0"/>
              <a:t>20</a:t>
            </a:fld>
            <a:endParaRPr lang="en-US"/>
          </a:p>
        </p:txBody>
      </p:sp>
    </p:spTree>
    <p:extLst>
      <p:ext uri="{BB962C8B-B14F-4D97-AF65-F5344CB8AC3E}">
        <p14:creationId xmlns:p14="http://schemas.microsoft.com/office/powerpoint/2010/main" val="510411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59E35-EBFD-AC6C-7EBD-D79D6CB4DB22}"/>
              </a:ext>
            </a:extLst>
          </p:cNvPr>
          <p:cNvSpPr>
            <a:spLocks noGrp="1"/>
          </p:cNvSpPr>
          <p:nvPr>
            <p:ph type="title"/>
          </p:nvPr>
        </p:nvSpPr>
        <p:spPr/>
        <p:txBody>
          <a:bodyPr/>
          <a:lstStyle/>
          <a:p>
            <a:r>
              <a:rPr lang="en-US" dirty="0"/>
              <a:t>MPC Pros and Cons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F3C62E-CED5-24AC-9891-4561DB0D50BE}"/>
                  </a:ext>
                </a:extLst>
              </p:cNvPr>
              <p:cNvSpPr>
                <a:spLocks noGrp="1"/>
              </p:cNvSpPr>
              <p:nvPr>
                <p:ph idx="1"/>
              </p:nvPr>
            </p:nvSpPr>
            <p:spPr>
              <a:xfrm>
                <a:off x="622737" y="1237592"/>
                <a:ext cx="10949153" cy="5557345"/>
              </a:xfrm>
            </p:spPr>
            <p:txBody>
              <a:bodyPr>
                <a:normAutofit fontScale="92500" lnSpcReduction="10000"/>
              </a:bodyPr>
              <a:lstStyle/>
              <a:p>
                <a:r>
                  <a:rPr lang="en-US" dirty="0"/>
                  <a:t>Pros</a:t>
                </a:r>
              </a:p>
              <a:p>
                <a:pPr lvl="1"/>
                <a:r>
                  <a:rPr lang="en-US" dirty="0"/>
                  <a:t>Predictive control with lookahead</a:t>
                </a:r>
              </a:p>
              <a:p>
                <a:pPr lvl="2"/>
                <a:r>
                  <a:rPr lang="en-US" dirty="0"/>
                  <a:t>PID is reactive control, like driving your car by looking in the rearview mirror</a:t>
                </a:r>
              </a:p>
              <a:p>
                <a:pPr lvl="1"/>
                <a:r>
                  <a:rPr lang="en-US" dirty="0"/>
                  <a:t>Handles constraints explicitly</a:t>
                </a:r>
              </a:p>
              <a:p>
                <a:pPr lvl="2"/>
                <a:r>
                  <a:rPr lang="en-US" dirty="0"/>
                  <a:t>PID control cannot handle constraints</a:t>
                </a:r>
              </a:p>
              <a:p>
                <a:pPr lvl="1"/>
                <a:r>
                  <a:rPr lang="en-US" dirty="0"/>
                  <a:t>Applicable to both linear and nonlinear systems</a:t>
                </a:r>
              </a:p>
              <a:p>
                <a:pPr lvl="2"/>
                <a:r>
                  <a:rPr lang="en-US" altLang="zh-CN" dirty="0"/>
                  <a:t>Pole placement for PID control design is applicable to linear systems only</a:t>
                </a:r>
                <a:endParaRPr lang="en-SE" dirty="0"/>
              </a:p>
              <a:p>
                <a:pPr lvl="2"/>
                <a:r>
                  <a:rPr lang="en-US" altLang="zh-CN" dirty="0"/>
                  <a:t>Empirical PID param tuning is model-free and applicable to any system (</a:t>
                </a:r>
                <a:r>
                  <a:rPr lang="en-US" altLang="zh-CN" dirty="0" err="1"/>
                  <a:t>blackbox</a:t>
                </a:r>
                <a:r>
                  <a:rPr lang="en-US" altLang="zh-CN" dirty="0"/>
                  <a:t>)</a:t>
                </a:r>
                <a:endParaRPr lang="en-SE" dirty="0"/>
              </a:p>
              <a:p>
                <a:r>
                  <a:rPr lang="en-US" dirty="0"/>
                  <a:t>Cons</a:t>
                </a:r>
              </a:p>
              <a:p>
                <a:pPr lvl="1"/>
                <a:r>
                  <a:rPr lang="en-US" dirty="0"/>
                  <a:t>Requires accurate yet efficient system model (</a:t>
                </a:r>
                <a:r>
                  <a:rPr lang="en-US" dirty="0" err="1"/>
                  <a:t>whitebox</a:t>
                </a:r>
                <a:r>
                  <a:rPr lang="en-US" dirty="0"/>
                  <a:t>)</a:t>
                </a:r>
                <a:endParaRPr lang="en-SE" dirty="0"/>
              </a:p>
              <a:p>
                <a:pPr lvl="1"/>
                <a:r>
                  <a:rPr lang="en-US" dirty="0"/>
                  <a:t>Optimizer computation may be expensive, esp. for non-linear MPC</a:t>
                </a:r>
              </a:p>
              <a:p>
                <a:pPr lvl="2"/>
                <a:r>
                  <a:rPr lang="en-US" dirty="0"/>
                  <a:t>Select lookahead horizon </a:t>
                </a:r>
                <a14:m>
                  <m:oMath xmlns:m="http://schemas.openxmlformats.org/officeDocument/2006/math">
                    <m:r>
                      <a:rPr lang="en-US" b="0" i="1" smtClean="0">
                        <a:latin typeface="Cambria Math" panose="02040503050406030204" pitchFamily="18" charset="0"/>
                      </a:rPr>
                      <m:t>𝑇</m:t>
                    </m:r>
                  </m:oMath>
                </a14:m>
                <a:r>
                  <a:rPr lang="en-US" dirty="0"/>
                  <a:t> to tradeoff between control performance and computation overhead</a:t>
                </a:r>
              </a:p>
              <a:p>
                <a:pPr lvl="2"/>
                <a:r>
                  <a:rPr lang="en-US" dirty="0"/>
                  <a:t>Small </a:t>
                </a:r>
                <a14:m>
                  <m:oMath xmlns:m="http://schemas.openxmlformats.org/officeDocument/2006/math">
                    <m:r>
                      <a:rPr lang="en-US" i="1">
                        <a:latin typeface="Cambria Math" panose="02040503050406030204" pitchFamily="18" charset="0"/>
                      </a:rPr>
                      <m:t>𝑇</m:t>
                    </m:r>
                  </m:oMath>
                </a14:m>
                <a:r>
                  <a:rPr lang="en-US" dirty="0"/>
                  <a:t> </a:t>
                </a:r>
                <a14:m>
                  <m:oMath xmlns:m="http://schemas.openxmlformats.org/officeDocument/2006/math">
                    <m:r>
                      <a:rPr lang="en-US" i="1" dirty="0">
                        <a:latin typeface="Cambria Math" panose="02040503050406030204" pitchFamily="18" charset="0"/>
                      </a:rPr>
                      <m:t>→ </m:t>
                    </m:r>
                  </m:oMath>
                </a14:m>
                <a:r>
                  <a:rPr lang="en-US" dirty="0"/>
                  <a:t>myopic behavior, lower overhead; Larger </a:t>
                </a:r>
                <a14:m>
                  <m:oMath xmlns:m="http://schemas.openxmlformats.org/officeDocument/2006/math">
                    <m:r>
                      <a:rPr lang="en-US" b="0" i="1" smtClean="0">
                        <a:latin typeface="Cambria Math" panose="02040503050406030204" pitchFamily="18" charset="0"/>
                      </a:rPr>
                      <m:t>𝑇</m:t>
                    </m:r>
                  </m:oMath>
                </a14:m>
                <a:r>
                  <a:rPr lang="en-US" dirty="0"/>
                  <a:t> </a:t>
                </a:r>
                <a14:m>
                  <m:oMath xmlns:m="http://schemas.openxmlformats.org/officeDocument/2006/math">
                    <m:r>
                      <a:rPr lang="en-US" b="0" i="1" dirty="0" smtClean="0">
                        <a:latin typeface="Cambria Math" panose="02040503050406030204" pitchFamily="18" charset="0"/>
                      </a:rPr>
                      <m:t>→</m:t>
                    </m:r>
                  </m:oMath>
                </a14:m>
                <a:r>
                  <a:rPr lang="en-US" dirty="0"/>
                  <a:t> better control performance but higher overhead</a:t>
                </a:r>
              </a:p>
            </p:txBody>
          </p:sp>
        </mc:Choice>
        <mc:Fallback xmlns="">
          <p:sp>
            <p:nvSpPr>
              <p:cNvPr id="3" name="Content Placeholder 2">
                <a:extLst>
                  <a:ext uri="{FF2B5EF4-FFF2-40B4-BE49-F238E27FC236}">
                    <a16:creationId xmlns:a16="http://schemas.microsoft.com/office/drawing/2014/main" id="{EBF3C62E-CED5-24AC-9891-4561DB0D50BE}"/>
                  </a:ext>
                </a:extLst>
              </p:cNvPr>
              <p:cNvSpPr>
                <a:spLocks noGrp="1" noRot="1" noChangeAspect="1" noMove="1" noResize="1" noEditPoints="1" noAdjustHandles="1" noChangeArrowheads="1" noChangeShapeType="1" noTextEdit="1"/>
              </p:cNvSpPr>
              <p:nvPr>
                <p:ph idx="1"/>
              </p:nvPr>
            </p:nvSpPr>
            <p:spPr>
              <a:xfrm>
                <a:off x="622737" y="1237592"/>
                <a:ext cx="10949153" cy="5557345"/>
              </a:xfrm>
              <a:blipFill>
                <a:blip r:embed="rId3"/>
                <a:stretch>
                  <a:fillRect l="-1114" t="-2851" r="-27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7E5DE0B-55A0-0330-26AE-8728B6440848}"/>
              </a:ext>
            </a:extLst>
          </p:cNvPr>
          <p:cNvSpPr>
            <a:spLocks noGrp="1"/>
          </p:cNvSpPr>
          <p:nvPr>
            <p:ph type="sldNum" sz="quarter" idx="12"/>
          </p:nvPr>
        </p:nvSpPr>
        <p:spPr/>
        <p:txBody>
          <a:bodyPr/>
          <a:lstStyle/>
          <a:p>
            <a:fld id="{1F57BF9A-7B35-9447-9112-EAE7E91B4E99}" type="slidenum">
              <a:rPr lang="en-US" smtClean="0"/>
              <a:t>21</a:t>
            </a:fld>
            <a:endParaRPr lang="en-US"/>
          </a:p>
        </p:txBody>
      </p:sp>
    </p:spTree>
    <p:extLst>
      <p:ext uri="{BB962C8B-B14F-4D97-AF65-F5344CB8AC3E}">
        <p14:creationId xmlns:p14="http://schemas.microsoft.com/office/powerpoint/2010/main" val="361415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812F-8466-C0D8-F77F-7A4EAEB48D90}"/>
              </a:ext>
            </a:extLst>
          </p:cNvPr>
          <p:cNvSpPr>
            <a:spLocks noGrp="1"/>
          </p:cNvSpPr>
          <p:nvPr>
            <p:ph type="title"/>
          </p:nvPr>
        </p:nvSpPr>
        <p:spPr/>
        <p:txBody>
          <a:bodyPr/>
          <a:lstStyle/>
          <a:p>
            <a:r>
              <a:rPr lang="en-US" altLang="zh-CN" sz="4800" dirty="0"/>
              <a:t>PID Control Example (No Look-Ahead)</a:t>
            </a:r>
            <a:endParaRPr lang="en-SE" dirty="0"/>
          </a:p>
        </p:txBody>
      </p:sp>
      <p:sp>
        <p:nvSpPr>
          <p:cNvPr id="3" name="Content Placeholder 2">
            <a:extLst>
              <a:ext uri="{FF2B5EF4-FFF2-40B4-BE49-F238E27FC236}">
                <a16:creationId xmlns:a16="http://schemas.microsoft.com/office/drawing/2014/main" id="{78F2FEFC-1E51-87CF-59B4-B0E3F18AE95C}"/>
              </a:ext>
            </a:extLst>
          </p:cNvPr>
          <p:cNvSpPr>
            <a:spLocks noGrp="1"/>
          </p:cNvSpPr>
          <p:nvPr>
            <p:ph idx="1"/>
          </p:nvPr>
        </p:nvSpPr>
        <p:spPr>
          <a:xfrm>
            <a:off x="622737" y="1237593"/>
            <a:ext cx="10949153" cy="1275863"/>
          </a:xfrm>
        </p:spPr>
        <p:txBody>
          <a:bodyPr>
            <a:normAutofit fontScale="92500" lnSpcReduction="20000"/>
          </a:bodyPr>
          <a:lstStyle/>
          <a:p>
            <a:r>
              <a:rPr lang="en-US" altLang="zh-CN" sz="3200" dirty="0"/>
              <a:t>Vehicle </a:t>
            </a:r>
            <a:r>
              <a:rPr lang="en-US" sz="3200" dirty="0"/>
              <a:t>accelerates to track setpoint speed of 70 km/h</a:t>
            </a:r>
          </a:p>
          <a:p>
            <a:r>
              <a:rPr lang="en-US" sz="3200" dirty="0"/>
              <a:t>Then decelerates upon encountering a sharp turn, but it is too late and cannot track the lane</a:t>
            </a:r>
            <a:endParaRPr lang="en-SE" sz="3200" dirty="0"/>
          </a:p>
        </p:txBody>
      </p:sp>
      <p:sp>
        <p:nvSpPr>
          <p:cNvPr id="4" name="Slide Number Placeholder 3">
            <a:extLst>
              <a:ext uri="{FF2B5EF4-FFF2-40B4-BE49-F238E27FC236}">
                <a16:creationId xmlns:a16="http://schemas.microsoft.com/office/drawing/2014/main" id="{6718FA34-D355-09AF-F571-449B3ED2CA3B}"/>
              </a:ext>
            </a:extLst>
          </p:cNvPr>
          <p:cNvSpPr>
            <a:spLocks noGrp="1"/>
          </p:cNvSpPr>
          <p:nvPr>
            <p:ph type="sldNum" sz="quarter" idx="12"/>
          </p:nvPr>
        </p:nvSpPr>
        <p:spPr/>
        <p:txBody>
          <a:bodyPr/>
          <a:lstStyle/>
          <a:p>
            <a:fld id="{1F57BF9A-7B35-9447-9112-EAE7E91B4E99}" type="slidenum">
              <a:rPr lang="en-US" smtClean="0"/>
              <a:t>22</a:t>
            </a:fld>
            <a:endParaRPr lang="en-US"/>
          </a:p>
        </p:txBody>
      </p:sp>
      <p:pic>
        <p:nvPicPr>
          <p:cNvPr id="5" name="Picture 4">
            <a:extLst>
              <a:ext uri="{FF2B5EF4-FFF2-40B4-BE49-F238E27FC236}">
                <a16:creationId xmlns:a16="http://schemas.microsoft.com/office/drawing/2014/main" id="{4CC05A2C-B619-2390-462D-89C378F88EDA}"/>
              </a:ext>
            </a:extLst>
          </p:cNvPr>
          <p:cNvPicPr>
            <a:picLocks noChangeAspect="1"/>
          </p:cNvPicPr>
          <p:nvPr/>
        </p:nvPicPr>
        <p:blipFill>
          <a:blip r:embed="rId2"/>
          <a:stretch>
            <a:fillRect/>
          </a:stretch>
        </p:blipFill>
        <p:spPr>
          <a:xfrm>
            <a:off x="1488865" y="2531064"/>
            <a:ext cx="4389733" cy="1318444"/>
          </a:xfrm>
          <a:prstGeom prst="rect">
            <a:avLst/>
          </a:prstGeom>
        </p:spPr>
      </p:pic>
      <p:pic>
        <p:nvPicPr>
          <p:cNvPr id="6" name="Picture 5">
            <a:extLst>
              <a:ext uri="{FF2B5EF4-FFF2-40B4-BE49-F238E27FC236}">
                <a16:creationId xmlns:a16="http://schemas.microsoft.com/office/drawing/2014/main" id="{73CECF55-F6E1-F4FF-BC41-67E868FEC598}"/>
              </a:ext>
            </a:extLst>
          </p:cNvPr>
          <p:cNvPicPr>
            <a:picLocks noChangeAspect="1"/>
          </p:cNvPicPr>
          <p:nvPr/>
        </p:nvPicPr>
        <p:blipFill>
          <a:blip r:embed="rId3"/>
          <a:stretch>
            <a:fillRect/>
          </a:stretch>
        </p:blipFill>
        <p:spPr>
          <a:xfrm>
            <a:off x="6096000" y="2531064"/>
            <a:ext cx="3856258" cy="1295581"/>
          </a:xfrm>
          <a:prstGeom prst="rect">
            <a:avLst/>
          </a:prstGeom>
        </p:spPr>
      </p:pic>
      <p:pic>
        <p:nvPicPr>
          <p:cNvPr id="7" name="Picture 6">
            <a:extLst>
              <a:ext uri="{FF2B5EF4-FFF2-40B4-BE49-F238E27FC236}">
                <a16:creationId xmlns:a16="http://schemas.microsoft.com/office/drawing/2014/main" id="{24E13D9D-B6D0-B4B8-12B8-B4FEC454EBE9}"/>
              </a:ext>
            </a:extLst>
          </p:cNvPr>
          <p:cNvPicPr>
            <a:picLocks noChangeAspect="1"/>
          </p:cNvPicPr>
          <p:nvPr/>
        </p:nvPicPr>
        <p:blipFill>
          <a:blip r:embed="rId4"/>
          <a:stretch>
            <a:fillRect/>
          </a:stretch>
        </p:blipFill>
        <p:spPr>
          <a:xfrm>
            <a:off x="2008476" y="3920048"/>
            <a:ext cx="3871500" cy="1310823"/>
          </a:xfrm>
          <a:prstGeom prst="rect">
            <a:avLst/>
          </a:prstGeom>
        </p:spPr>
      </p:pic>
      <p:pic>
        <p:nvPicPr>
          <p:cNvPr id="8" name="Picture 7">
            <a:extLst>
              <a:ext uri="{FF2B5EF4-FFF2-40B4-BE49-F238E27FC236}">
                <a16:creationId xmlns:a16="http://schemas.microsoft.com/office/drawing/2014/main" id="{73B62231-94BB-69D8-3C83-D691ABDFA620}"/>
              </a:ext>
            </a:extLst>
          </p:cNvPr>
          <p:cNvPicPr>
            <a:picLocks noChangeAspect="1"/>
          </p:cNvPicPr>
          <p:nvPr/>
        </p:nvPicPr>
        <p:blipFill>
          <a:blip r:embed="rId5"/>
          <a:stretch>
            <a:fillRect/>
          </a:stretch>
        </p:blipFill>
        <p:spPr>
          <a:xfrm>
            <a:off x="6096000" y="3935291"/>
            <a:ext cx="3863879" cy="1280338"/>
          </a:xfrm>
          <a:prstGeom prst="rect">
            <a:avLst/>
          </a:prstGeom>
        </p:spPr>
      </p:pic>
      <p:pic>
        <p:nvPicPr>
          <p:cNvPr id="9" name="Picture 8">
            <a:extLst>
              <a:ext uri="{FF2B5EF4-FFF2-40B4-BE49-F238E27FC236}">
                <a16:creationId xmlns:a16="http://schemas.microsoft.com/office/drawing/2014/main" id="{BF9A904D-D81B-C2D6-0D08-13F0AC2D90FA}"/>
              </a:ext>
            </a:extLst>
          </p:cNvPr>
          <p:cNvPicPr>
            <a:picLocks noChangeAspect="1"/>
          </p:cNvPicPr>
          <p:nvPr/>
        </p:nvPicPr>
        <p:blipFill>
          <a:blip r:embed="rId6"/>
          <a:stretch>
            <a:fillRect/>
          </a:stretch>
        </p:blipFill>
        <p:spPr>
          <a:xfrm>
            <a:off x="4295800" y="5333598"/>
            <a:ext cx="3856258" cy="1295581"/>
          </a:xfrm>
          <a:prstGeom prst="rect">
            <a:avLst/>
          </a:prstGeom>
        </p:spPr>
      </p:pic>
      <p:sp>
        <p:nvSpPr>
          <p:cNvPr id="10" name="TextBox 9">
            <a:extLst>
              <a:ext uri="{FF2B5EF4-FFF2-40B4-BE49-F238E27FC236}">
                <a16:creationId xmlns:a16="http://schemas.microsoft.com/office/drawing/2014/main" id="{791149C2-68CD-7137-AB4E-94FED1FA86E8}"/>
              </a:ext>
            </a:extLst>
          </p:cNvPr>
          <p:cNvSpPr txBox="1"/>
          <p:nvPr/>
        </p:nvSpPr>
        <p:spPr>
          <a:xfrm>
            <a:off x="1862056" y="6611779"/>
            <a:ext cx="9100233" cy="246221"/>
          </a:xfrm>
          <a:prstGeom prst="rect">
            <a:avLst/>
          </a:prstGeom>
          <a:noFill/>
        </p:spPr>
        <p:txBody>
          <a:bodyPr wrap="square">
            <a:spAutoFit/>
          </a:bodyPr>
          <a:lstStyle/>
          <a:p>
            <a:r>
              <a:rPr lang="en-SE" sz="1000" dirty="0">
                <a:hlinkClick r:id="rId7"/>
              </a:rPr>
              <a:t>https://uni-tuebingen.de/fakultaeten/mathematisch-naturwissenschaftliche-fakultaet/fachbereiche/informatik/lehrstuehle/autonomous-vision/lectures/self-driving-cars/</a:t>
            </a:r>
            <a:r>
              <a:rPr lang="en-US" sz="1000" dirty="0"/>
              <a:t> </a:t>
            </a:r>
            <a:endParaRPr lang="en-SE" sz="1000" dirty="0"/>
          </a:p>
        </p:txBody>
      </p:sp>
    </p:spTree>
    <p:extLst>
      <p:ext uri="{BB962C8B-B14F-4D97-AF65-F5344CB8AC3E}">
        <p14:creationId xmlns:p14="http://schemas.microsoft.com/office/powerpoint/2010/main" val="302582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928D-EDEF-BB08-7245-35D7A970E6A5}"/>
              </a:ext>
            </a:extLst>
          </p:cNvPr>
          <p:cNvSpPr>
            <a:spLocks noGrp="1"/>
          </p:cNvSpPr>
          <p:nvPr>
            <p:ph type="title"/>
          </p:nvPr>
        </p:nvSpPr>
        <p:spPr/>
        <p:txBody>
          <a:bodyPr/>
          <a:lstStyle/>
          <a:p>
            <a:r>
              <a:rPr lang="en-US" sz="4800" dirty="0"/>
              <a:t>MPC Control Example </a:t>
            </a:r>
            <a:r>
              <a:rPr lang="en-US" altLang="zh-CN" sz="4800" dirty="0"/>
              <a:t>(Look-Ahead)</a:t>
            </a:r>
            <a:endParaRPr lang="en-SE" dirty="0"/>
          </a:p>
        </p:txBody>
      </p:sp>
      <p:sp>
        <p:nvSpPr>
          <p:cNvPr id="3" name="Content Placeholder 2">
            <a:extLst>
              <a:ext uri="{FF2B5EF4-FFF2-40B4-BE49-F238E27FC236}">
                <a16:creationId xmlns:a16="http://schemas.microsoft.com/office/drawing/2014/main" id="{954D7445-276B-050E-417C-7347FCEA0570}"/>
              </a:ext>
            </a:extLst>
          </p:cNvPr>
          <p:cNvSpPr>
            <a:spLocks noGrp="1"/>
          </p:cNvSpPr>
          <p:nvPr>
            <p:ph idx="1"/>
          </p:nvPr>
        </p:nvSpPr>
        <p:spPr>
          <a:xfrm>
            <a:off x="622737" y="1237593"/>
            <a:ext cx="10949153" cy="1265593"/>
          </a:xfrm>
        </p:spPr>
        <p:txBody>
          <a:bodyPr>
            <a:normAutofit fontScale="92500" lnSpcReduction="20000"/>
          </a:bodyPr>
          <a:lstStyle/>
          <a:p>
            <a:r>
              <a:rPr lang="en-US" sz="3200" kern="0" dirty="0"/>
              <a:t>MPC computes control actions based on a lookahead window into the future</a:t>
            </a:r>
          </a:p>
          <a:p>
            <a:r>
              <a:rPr lang="en-US" sz="3200" dirty="0"/>
              <a:t>Vehicle decelerates early in anticipation of the sharp turn</a:t>
            </a:r>
            <a:endParaRPr lang="en-SE" sz="3200" dirty="0"/>
          </a:p>
        </p:txBody>
      </p:sp>
      <p:sp>
        <p:nvSpPr>
          <p:cNvPr id="4" name="Slide Number Placeholder 3">
            <a:extLst>
              <a:ext uri="{FF2B5EF4-FFF2-40B4-BE49-F238E27FC236}">
                <a16:creationId xmlns:a16="http://schemas.microsoft.com/office/drawing/2014/main" id="{F30E0CD0-5818-5F96-0C53-74C74B480185}"/>
              </a:ext>
            </a:extLst>
          </p:cNvPr>
          <p:cNvSpPr>
            <a:spLocks noGrp="1"/>
          </p:cNvSpPr>
          <p:nvPr>
            <p:ph type="sldNum" sz="quarter" idx="12"/>
          </p:nvPr>
        </p:nvSpPr>
        <p:spPr/>
        <p:txBody>
          <a:bodyPr/>
          <a:lstStyle/>
          <a:p>
            <a:fld id="{1F57BF9A-7B35-9447-9112-EAE7E91B4E99}" type="slidenum">
              <a:rPr lang="en-US" smtClean="0"/>
              <a:t>23</a:t>
            </a:fld>
            <a:endParaRPr lang="en-US"/>
          </a:p>
        </p:txBody>
      </p:sp>
      <p:pic>
        <p:nvPicPr>
          <p:cNvPr id="10" name="Content Placeholder 13">
            <a:extLst>
              <a:ext uri="{FF2B5EF4-FFF2-40B4-BE49-F238E27FC236}">
                <a16:creationId xmlns:a16="http://schemas.microsoft.com/office/drawing/2014/main" id="{429079DC-358B-9C09-B237-D9DDB55ED775}"/>
              </a:ext>
            </a:extLst>
          </p:cNvPr>
          <p:cNvPicPr>
            <a:picLocks noChangeAspect="1"/>
          </p:cNvPicPr>
          <p:nvPr/>
        </p:nvPicPr>
        <p:blipFill>
          <a:blip r:embed="rId2"/>
          <a:stretch>
            <a:fillRect/>
          </a:stretch>
        </p:blipFill>
        <p:spPr>
          <a:xfrm>
            <a:off x="2028752" y="3873313"/>
            <a:ext cx="3833395" cy="1280338"/>
          </a:xfrm>
          <a:prstGeom prst="rect">
            <a:avLst/>
          </a:prstGeom>
        </p:spPr>
      </p:pic>
      <p:pic>
        <p:nvPicPr>
          <p:cNvPr id="11" name="Picture 10">
            <a:extLst>
              <a:ext uri="{FF2B5EF4-FFF2-40B4-BE49-F238E27FC236}">
                <a16:creationId xmlns:a16="http://schemas.microsoft.com/office/drawing/2014/main" id="{8357DED0-DC18-1C5F-ED2E-1D8134AAA8DC}"/>
              </a:ext>
            </a:extLst>
          </p:cNvPr>
          <p:cNvPicPr>
            <a:picLocks noChangeAspect="1"/>
          </p:cNvPicPr>
          <p:nvPr/>
        </p:nvPicPr>
        <p:blipFill>
          <a:blip r:embed="rId3"/>
          <a:stretch>
            <a:fillRect/>
          </a:stretch>
        </p:blipFill>
        <p:spPr>
          <a:xfrm>
            <a:off x="1419067" y="2364640"/>
            <a:ext cx="4443080" cy="1310823"/>
          </a:xfrm>
          <a:prstGeom prst="rect">
            <a:avLst/>
          </a:prstGeom>
        </p:spPr>
      </p:pic>
      <p:pic>
        <p:nvPicPr>
          <p:cNvPr id="12" name="Picture 11">
            <a:extLst>
              <a:ext uri="{FF2B5EF4-FFF2-40B4-BE49-F238E27FC236}">
                <a16:creationId xmlns:a16="http://schemas.microsoft.com/office/drawing/2014/main" id="{591FD355-E0A2-684B-4398-77F801EC639E}"/>
              </a:ext>
            </a:extLst>
          </p:cNvPr>
          <p:cNvPicPr>
            <a:picLocks noChangeAspect="1"/>
          </p:cNvPicPr>
          <p:nvPr/>
        </p:nvPicPr>
        <p:blipFill>
          <a:blip r:embed="rId4"/>
          <a:stretch>
            <a:fillRect/>
          </a:stretch>
        </p:blipFill>
        <p:spPr>
          <a:xfrm>
            <a:off x="6196374" y="2364640"/>
            <a:ext cx="3833395" cy="1318444"/>
          </a:xfrm>
          <a:prstGeom prst="rect">
            <a:avLst/>
          </a:prstGeom>
        </p:spPr>
      </p:pic>
      <p:pic>
        <p:nvPicPr>
          <p:cNvPr id="13" name="Picture 12">
            <a:extLst>
              <a:ext uri="{FF2B5EF4-FFF2-40B4-BE49-F238E27FC236}">
                <a16:creationId xmlns:a16="http://schemas.microsoft.com/office/drawing/2014/main" id="{FA5676CB-5985-F833-3B75-1530BA61AB9B}"/>
              </a:ext>
            </a:extLst>
          </p:cNvPr>
          <p:cNvPicPr>
            <a:picLocks noChangeAspect="1"/>
          </p:cNvPicPr>
          <p:nvPr/>
        </p:nvPicPr>
        <p:blipFill>
          <a:blip r:embed="rId5"/>
          <a:stretch>
            <a:fillRect/>
          </a:stretch>
        </p:blipFill>
        <p:spPr>
          <a:xfrm>
            <a:off x="6196374" y="3904011"/>
            <a:ext cx="3856258" cy="1287960"/>
          </a:xfrm>
          <a:prstGeom prst="rect">
            <a:avLst/>
          </a:prstGeom>
        </p:spPr>
      </p:pic>
      <p:pic>
        <p:nvPicPr>
          <p:cNvPr id="14" name="Picture 13">
            <a:extLst>
              <a:ext uri="{FF2B5EF4-FFF2-40B4-BE49-F238E27FC236}">
                <a16:creationId xmlns:a16="http://schemas.microsoft.com/office/drawing/2014/main" id="{1508C24A-FC31-8027-8FAC-47FE1E50123E}"/>
              </a:ext>
            </a:extLst>
          </p:cNvPr>
          <p:cNvPicPr>
            <a:picLocks noChangeAspect="1"/>
          </p:cNvPicPr>
          <p:nvPr/>
        </p:nvPicPr>
        <p:blipFill>
          <a:blip r:embed="rId6"/>
          <a:stretch>
            <a:fillRect/>
          </a:stretch>
        </p:blipFill>
        <p:spPr>
          <a:xfrm>
            <a:off x="4342354" y="5344531"/>
            <a:ext cx="3894363" cy="1287960"/>
          </a:xfrm>
          <a:prstGeom prst="rect">
            <a:avLst/>
          </a:prstGeom>
        </p:spPr>
      </p:pic>
      <p:sp>
        <p:nvSpPr>
          <p:cNvPr id="15" name="TextBox 14">
            <a:extLst>
              <a:ext uri="{FF2B5EF4-FFF2-40B4-BE49-F238E27FC236}">
                <a16:creationId xmlns:a16="http://schemas.microsoft.com/office/drawing/2014/main" id="{162FF78B-13D0-FE02-D967-AC416E6FE65E}"/>
              </a:ext>
            </a:extLst>
          </p:cNvPr>
          <p:cNvSpPr txBox="1"/>
          <p:nvPr/>
        </p:nvSpPr>
        <p:spPr>
          <a:xfrm>
            <a:off x="1862056" y="6611779"/>
            <a:ext cx="9100233" cy="246221"/>
          </a:xfrm>
          <a:prstGeom prst="rect">
            <a:avLst/>
          </a:prstGeom>
          <a:noFill/>
        </p:spPr>
        <p:txBody>
          <a:bodyPr wrap="square">
            <a:spAutoFit/>
          </a:bodyPr>
          <a:lstStyle/>
          <a:p>
            <a:r>
              <a:rPr lang="en-SE" sz="1000" dirty="0">
                <a:hlinkClick r:id="rId7"/>
              </a:rPr>
              <a:t>https://uni-tuebingen.de/fakultaeten/mathematisch-naturwissenschaftliche-fakultaet/fachbereiche/informatik/lehrstuehle/autonomous-vision/lectures/self-driving-cars/</a:t>
            </a:r>
            <a:r>
              <a:rPr lang="en-US" sz="1000" dirty="0"/>
              <a:t> </a:t>
            </a:r>
            <a:endParaRPr lang="en-SE" sz="1000" dirty="0"/>
          </a:p>
        </p:txBody>
      </p:sp>
    </p:spTree>
    <p:extLst>
      <p:ext uri="{BB962C8B-B14F-4D97-AF65-F5344CB8AC3E}">
        <p14:creationId xmlns:p14="http://schemas.microsoft.com/office/powerpoint/2010/main" val="1463801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018E-4298-B31C-A2F0-4E50F8EB73EE}"/>
              </a:ext>
            </a:extLst>
          </p:cNvPr>
          <p:cNvSpPr>
            <a:spLocks noGrp="1"/>
          </p:cNvSpPr>
          <p:nvPr>
            <p:ph type="title"/>
          </p:nvPr>
        </p:nvSpPr>
        <p:spPr/>
        <p:txBody>
          <a:bodyPr/>
          <a:lstStyle/>
          <a:p>
            <a:r>
              <a:rPr lang="en-US" dirty="0"/>
              <a:t>MPC Quiz</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94C7B4-F162-AC7A-E5DE-116D5C41F3E8}"/>
                  </a:ext>
                </a:extLst>
              </p:cNvPr>
              <p:cNvSpPr>
                <a:spLocks noGrp="1"/>
              </p:cNvSpPr>
              <p:nvPr>
                <p:ph idx="1"/>
              </p:nvPr>
            </p:nvSpPr>
            <p:spPr/>
            <p:txBody>
              <a:bodyPr/>
              <a:lstStyle/>
              <a:p>
                <a:r>
                  <a:rPr lang="en-US" kern="1200" dirty="0">
                    <a:latin typeface="Arial" charset="0"/>
                  </a:rPr>
                  <a:t>Which of the statements below about MPC are true?</a:t>
                </a:r>
              </a:p>
              <a:p>
                <a:pPr lvl="1"/>
                <a:r>
                  <a:rPr lang="en-US" kern="1200" dirty="0">
                    <a:latin typeface="Arial" charset="0"/>
                  </a:rPr>
                  <a:t>1) Horizon is a finite window of time</a:t>
                </a:r>
              </a:p>
              <a:p>
                <a:pPr lvl="1"/>
                <a:r>
                  <a:rPr lang="en-US" kern="1200" dirty="0">
                    <a:latin typeface="Arial" charset="0"/>
                  </a:rPr>
                  <a:t>2) Prediction horizon keeps being shifted at each time step</a:t>
                </a:r>
              </a:p>
              <a:p>
                <a:pPr lvl="1"/>
                <a:r>
                  <a:rPr lang="en-US" kern="1200" dirty="0">
                    <a:latin typeface="Arial" charset="0"/>
                  </a:rPr>
                  <a:t>3) Full optimization over the time horizon is performed at each iteration</a:t>
                </a:r>
              </a:p>
              <a:p>
                <a:pPr lvl="1"/>
                <a:r>
                  <a:rPr lang="en-US" kern="1200" dirty="0">
                    <a:latin typeface="Arial" charset="0"/>
                  </a:rPr>
                  <a:t>4) Only the first control action from the optimization is applied at time </a:t>
                </a:r>
                <a14:m>
                  <m:oMath xmlns:m="http://schemas.openxmlformats.org/officeDocument/2006/math">
                    <m:r>
                      <a:rPr lang="en-US" b="0" i="1" kern="1200" smtClean="0">
                        <a:latin typeface="Cambria Math" panose="02040503050406030204" pitchFamily="18" charset="0"/>
                      </a:rPr>
                      <m:t>𝑡</m:t>
                    </m:r>
                  </m:oMath>
                </a14:m>
                <a:endParaRPr lang="en-US" kern="1200" dirty="0">
                  <a:latin typeface="Arial" charset="0"/>
                </a:endParaRPr>
              </a:p>
              <a:p>
                <a:pPr lvl="1"/>
                <a:r>
                  <a:rPr lang="en-US" kern="1200" dirty="0">
                    <a:latin typeface="Arial" charset="0"/>
                  </a:rPr>
                  <a:t>5) All of the above</a:t>
                </a:r>
              </a:p>
              <a:p>
                <a:r>
                  <a:rPr lang="en-US" kern="1200" dirty="0">
                    <a:latin typeface="Arial" charset="0"/>
                  </a:rPr>
                  <a:t>ANS: 5</a:t>
                </a:r>
              </a:p>
            </p:txBody>
          </p:sp>
        </mc:Choice>
        <mc:Fallback xmlns="">
          <p:sp>
            <p:nvSpPr>
              <p:cNvPr id="3" name="Content Placeholder 2">
                <a:extLst>
                  <a:ext uri="{FF2B5EF4-FFF2-40B4-BE49-F238E27FC236}">
                    <a16:creationId xmlns:a16="http://schemas.microsoft.com/office/drawing/2014/main" id="{5C94C7B4-F162-AC7A-E5DE-116D5C41F3E8}"/>
                  </a:ext>
                </a:extLst>
              </p:cNvPr>
              <p:cNvSpPr>
                <a:spLocks noGrp="1" noRot="1" noChangeAspect="1" noMove="1" noResize="1" noEditPoints="1" noAdjustHandles="1" noChangeArrowheads="1" noChangeShapeType="1" noTextEdit="1"/>
              </p:cNvSpPr>
              <p:nvPr>
                <p:ph idx="1"/>
              </p:nvPr>
            </p:nvSpPr>
            <p:spPr>
              <a:blipFill>
                <a:blip r:embed="rId2"/>
                <a:stretch>
                  <a:fillRect l="-1281" t="-2465" r="-17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62F92F2-3AF5-10E2-3204-9B9D33248C6A}"/>
              </a:ext>
            </a:extLst>
          </p:cNvPr>
          <p:cNvSpPr>
            <a:spLocks noGrp="1"/>
          </p:cNvSpPr>
          <p:nvPr>
            <p:ph type="sldNum" sz="quarter" idx="12"/>
          </p:nvPr>
        </p:nvSpPr>
        <p:spPr/>
        <p:txBody>
          <a:bodyPr/>
          <a:lstStyle/>
          <a:p>
            <a:fld id="{1F57BF9A-7B35-9447-9112-EAE7E91B4E99}" type="slidenum">
              <a:rPr lang="en-US" smtClean="0"/>
              <a:t>24</a:t>
            </a:fld>
            <a:endParaRPr lang="en-US"/>
          </a:p>
        </p:txBody>
      </p:sp>
    </p:spTree>
    <p:extLst>
      <p:ext uri="{BB962C8B-B14F-4D97-AF65-F5344CB8AC3E}">
        <p14:creationId xmlns:p14="http://schemas.microsoft.com/office/powerpoint/2010/main" val="279697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705C-2259-3C4A-C696-D432793B2EF3}"/>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5D2EECD8-7090-2514-955D-C0BEAE30D231}"/>
              </a:ext>
            </a:extLst>
          </p:cNvPr>
          <p:cNvSpPr>
            <a:spLocks noGrp="1"/>
          </p:cNvSpPr>
          <p:nvPr>
            <p:ph idx="1"/>
          </p:nvPr>
        </p:nvSpPr>
        <p:spPr/>
        <p:txBody>
          <a:bodyPr/>
          <a:lstStyle/>
          <a:p>
            <a:r>
              <a:rPr lang="en-US" dirty="0"/>
              <a:t>PID Control</a:t>
            </a:r>
          </a:p>
          <a:p>
            <a:r>
              <a:rPr lang="en-US" dirty="0"/>
              <a:t>LQR (Linear Quadratic Regulator)</a:t>
            </a:r>
          </a:p>
          <a:p>
            <a:r>
              <a:rPr lang="en-US" dirty="0"/>
              <a:t>MPC Control</a:t>
            </a:r>
          </a:p>
          <a:p>
            <a:r>
              <a:rPr lang="en-US" dirty="0">
                <a:solidFill>
                  <a:srgbClr val="FF0000"/>
                </a:solidFill>
              </a:rPr>
              <a:t>Kinematic bicycle model</a:t>
            </a:r>
          </a:p>
          <a:p>
            <a:r>
              <a:rPr lang="en-US" dirty="0"/>
              <a:t>Geometric path tracking: Pure Pursuit &amp; Stanley</a:t>
            </a:r>
          </a:p>
          <a:p>
            <a:r>
              <a:rPr lang="en-US" dirty="0"/>
              <a:t>Twiddle() for PID control tuning</a:t>
            </a:r>
          </a:p>
        </p:txBody>
      </p:sp>
      <p:sp>
        <p:nvSpPr>
          <p:cNvPr id="4" name="Slide Number Placeholder 3">
            <a:extLst>
              <a:ext uri="{FF2B5EF4-FFF2-40B4-BE49-F238E27FC236}">
                <a16:creationId xmlns:a16="http://schemas.microsoft.com/office/drawing/2014/main" id="{56AD6761-DD61-152F-9A9D-1CE1C3D22506}"/>
              </a:ext>
            </a:extLst>
          </p:cNvPr>
          <p:cNvSpPr>
            <a:spLocks noGrp="1"/>
          </p:cNvSpPr>
          <p:nvPr>
            <p:ph type="sldNum" sz="quarter" idx="12"/>
          </p:nvPr>
        </p:nvSpPr>
        <p:spPr/>
        <p:txBody>
          <a:bodyPr/>
          <a:lstStyle/>
          <a:p>
            <a:fld id="{1F57BF9A-7B35-9447-9112-EAE7E91B4E99}" type="slidenum">
              <a:rPr lang="en-US" smtClean="0"/>
              <a:t>25</a:t>
            </a:fld>
            <a:endParaRPr lang="en-US"/>
          </a:p>
        </p:txBody>
      </p:sp>
    </p:spTree>
    <p:extLst>
      <p:ext uri="{BB962C8B-B14F-4D97-AF65-F5344CB8AC3E}">
        <p14:creationId xmlns:p14="http://schemas.microsoft.com/office/powerpoint/2010/main" val="2211077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B6FE-00C2-A591-3E6F-694B48D0CD9A}"/>
              </a:ext>
            </a:extLst>
          </p:cNvPr>
          <p:cNvSpPr>
            <a:spLocks noGrp="1"/>
          </p:cNvSpPr>
          <p:nvPr>
            <p:ph type="title"/>
          </p:nvPr>
        </p:nvSpPr>
        <p:spPr/>
        <p:txBody>
          <a:bodyPr/>
          <a:lstStyle/>
          <a:p>
            <a:r>
              <a:rPr lang="en-US" dirty="0"/>
              <a:t>Kinematics vs. Dynamics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6485DC-393F-2C42-EDCC-6A7BA1DC8994}"/>
                  </a:ext>
                </a:extLst>
              </p:cNvPr>
              <p:cNvSpPr>
                <a:spLocks noGrp="1"/>
              </p:cNvSpPr>
              <p:nvPr>
                <p:ph idx="1"/>
              </p:nvPr>
            </p:nvSpPr>
            <p:spPr/>
            <p:txBody>
              <a:bodyPr>
                <a:normAutofit fontScale="62500" lnSpcReduction="20000"/>
              </a:bodyPr>
              <a:lstStyle/>
              <a:p>
                <a:r>
                  <a:rPr lang="en-US" dirty="0"/>
                  <a:t>Kinematics is study of motion without considering the forces that affect the motion. It deals with the geometric relationships that govern the system</a:t>
                </a:r>
              </a:p>
              <a:p>
                <a:pPr lvl="1"/>
                <a:r>
                  <a:rPr lang="en-US" dirty="0"/>
                  <a:t>A kinematic model: </a:t>
                </a:r>
                <a14:m>
                  <m:oMath xmlns:m="http://schemas.openxmlformats.org/officeDocument/2006/math">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r>
                      <a:rPr lang="en-US" b="0" i="1" dirty="0" smtClean="0">
                        <a:latin typeface="Cambria Math" panose="02040503050406030204" pitchFamily="18" charset="0"/>
                      </a:rPr>
                      <m:t>𝑎</m:t>
                    </m:r>
                  </m:oMath>
                </a14:m>
                <a:endParaRPr lang="en-US" dirty="0"/>
              </a:p>
              <a:p>
                <a:pPr lvl="1"/>
                <a:r>
                  <a:rPr lang="en-US" dirty="0"/>
                  <a:t>Uses position, velocity, acceleration (and/or further derivatives) as control input (e.g. the kinematic bicycle model)</a:t>
                </a:r>
              </a:p>
              <a:p>
                <a:r>
                  <a:rPr lang="en-US" dirty="0"/>
                  <a:t>Dynamics is the study of motion taking into account the forces that affect it. It is described by the equations of motion.</a:t>
                </a:r>
              </a:p>
              <a:p>
                <a:pPr lvl="1"/>
                <a:r>
                  <a:rPr lang="en-US" dirty="0"/>
                  <a:t>A dynamic model: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dirty="0" smtClean="0">
                        <a:latin typeface="Cambria Math" panose="02040503050406030204" pitchFamily="18" charset="0"/>
                      </a:rPr>
                      <m:t>+</m:t>
                    </m:r>
                    <m:r>
                      <a:rPr lang="en-US" b="0" i="1" dirty="0" smtClean="0">
                        <a:latin typeface="Cambria Math" panose="02040503050406030204" pitchFamily="18" charset="0"/>
                      </a:rPr>
                      <m:t>𝐵</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r>
                      <a:rPr lang="en-US" i="1">
                        <a:latin typeface="Cambria Math" panose="02040503050406030204" pitchFamily="18" charset="0"/>
                      </a:rPr>
                      <m:t>𝑀</m:t>
                    </m:r>
                    <m:r>
                      <a:rPr lang="en-US" i="1" smtClean="0">
                        <a:latin typeface="Cambria Math" panose="02040503050406030204" pitchFamily="18" charset="0"/>
                      </a:rPr>
                      <m:t>𝑎</m:t>
                    </m:r>
                    <m:r>
                      <a:rPr lang="en-US" i="1" dirty="0">
                        <a:latin typeface="Cambria Math" panose="02040503050406030204" pitchFamily="18" charset="0"/>
                      </a:rPr>
                      <m:t>+</m:t>
                    </m:r>
                    <m:r>
                      <a:rPr lang="en-US" i="1" dirty="0">
                        <a:latin typeface="Cambria Math" panose="02040503050406030204" pitchFamily="18" charset="0"/>
                      </a:rPr>
                      <m:t>𝐵𝑣</m:t>
                    </m:r>
                  </m:oMath>
                </a14:m>
                <a:r>
                  <a:rPr lang="en-US" b="0" dirty="0"/>
                  <a:t> (Newton’s law with friction)</a:t>
                </a:r>
              </a:p>
              <a:p>
                <a:pPr lvl="1"/>
                <a:r>
                  <a:rPr lang="en-US" dirty="0"/>
                  <a:t>Uses force and torque as control input, and takes mass and inertia into consideration.</a:t>
                </a:r>
              </a:p>
              <a:p>
                <a:pPr lvl="1"/>
                <a:r>
                  <a:rPr lang="en-US" dirty="0"/>
                  <a:t>e.g., vehicle dynamics model (longitudinal and lateral)</a:t>
                </a:r>
              </a:p>
              <a:p>
                <a:r>
                  <a:rPr lang="en-US" dirty="0"/>
                  <a:t>Consider two vehicles with the same geometry but different mass/weight turning a tight corner</a:t>
                </a:r>
              </a:p>
              <a:p>
                <a:pPr lvl="1"/>
                <a:r>
                  <a:rPr lang="en-US" dirty="0"/>
                  <a:t>They may have the same kinematic model, but different dynamic model due to different mass </a:t>
                </a:r>
                <a14:m>
                  <m:oMath xmlns:m="http://schemas.openxmlformats.org/officeDocument/2006/math">
                    <m:r>
                      <a:rPr lang="en-US" b="0" i="1" smtClean="0">
                        <a:latin typeface="Cambria Math" panose="02040503050406030204" pitchFamily="18" charset="0"/>
                      </a:rPr>
                      <m:t>𝑀</m:t>
                    </m:r>
                  </m:oMath>
                </a14:m>
                <a:r>
                  <a:rPr lang="en-US" dirty="0"/>
                  <a:t>.</a:t>
                </a:r>
              </a:p>
              <a:p>
                <a:pPr lvl="1"/>
                <a:r>
                  <a:rPr lang="en-US" dirty="0"/>
                  <a:t>Both may be controllable kinematically by control input </a:t>
                </a:r>
                <a14:m>
                  <m:oMath xmlns:m="http://schemas.openxmlformats.org/officeDocument/2006/math">
                    <m:r>
                      <a:rPr lang="en-US" b="0" i="1" smtClean="0">
                        <a:latin typeface="Cambria Math" panose="02040503050406030204" pitchFamily="18" charset="0"/>
                      </a:rPr>
                      <m:t>𝑎</m:t>
                    </m:r>
                  </m:oMath>
                </a14:m>
                <a:endParaRPr lang="en-US" dirty="0"/>
              </a:p>
              <a:p>
                <a:pPr lvl="2"/>
                <a:r>
                  <a:rPr lang="en-US" dirty="0"/>
                  <a:t>The light vehicle may be controllable dynamically by control input </a:t>
                </a:r>
                <a14:m>
                  <m:oMath xmlns:m="http://schemas.openxmlformats.org/officeDocument/2006/math">
                    <m:r>
                      <a:rPr lang="en-US" b="0" i="1" smtClean="0">
                        <a:latin typeface="Cambria Math" panose="02040503050406030204" pitchFamily="18" charset="0"/>
                      </a:rPr>
                      <m:t>𝐹</m:t>
                    </m:r>
                  </m:oMath>
                </a14:m>
                <a:r>
                  <a:rPr lang="en-US" dirty="0"/>
                  <a:t>.</a:t>
                </a:r>
              </a:p>
              <a:p>
                <a:pPr lvl="2"/>
                <a:r>
                  <a:rPr lang="en-US" dirty="0"/>
                  <a:t>The heavy vehicle may not be controllable dynamically by control input </a:t>
                </a:r>
                <a14:m>
                  <m:oMath xmlns:m="http://schemas.openxmlformats.org/officeDocument/2006/math">
                    <m:r>
                      <a:rPr lang="en-US" i="1" smtClean="0">
                        <a:latin typeface="Cambria Math" panose="02040503050406030204" pitchFamily="18" charset="0"/>
                      </a:rPr>
                      <m:t>𝐹</m:t>
                    </m:r>
                  </m:oMath>
                </a14:m>
                <a:r>
                  <a:rPr lang="en-US" dirty="0"/>
                  <a:t>. Due to large </a:t>
                </a:r>
                <a14:m>
                  <m:oMath xmlns:m="http://schemas.openxmlformats.org/officeDocument/2006/math">
                    <m:r>
                      <a:rPr lang="en-US" b="0" i="1" smtClean="0">
                        <a:latin typeface="Cambria Math" panose="02040503050406030204" pitchFamily="18" charset="0"/>
                      </a:rPr>
                      <m:t>𝑀</m:t>
                    </m:r>
                  </m:oMath>
                </a14:m>
                <a:r>
                  <a:rPr lang="en-US" dirty="0"/>
                  <a:t>, </a:t>
                </a:r>
                <a14:m>
                  <m:oMath xmlns:m="http://schemas.openxmlformats.org/officeDocument/2006/math">
                    <m:r>
                      <a:rPr lang="en-US" b="0" i="1" smtClean="0">
                        <a:latin typeface="Cambria Math" panose="02040503050406030204" pitchFamily="18" charset="0"/>
                      </a:rPr>
                      <m:t>𝐹</m:t>
                    </m:r>
                  </m:oMath>
                </a14:m>
                <a:r>
                  <a:rPr lang="en-US" dirty="0"/>
                  <a:t> may exceed the max actuator limit.</a:t>
                </a:r>
              </a:p>
              <a:p>
                <a:r>
                  <a:rPr lang="en-US" dirty="0"/>
                  <a:t>Orthogonal issue from control algorithm</a:t>
                </a:r>
              </a:p>
              <a:p>
                <a:pPr lvl="1"/>
                <a:r>
                  <a:rPr lang="en-US" dirty="0"/>
                  <a:t>Control algorithms, e.g., PID or MPC, may be either kinematic or dynamic control</a:t>
                </a:r>
              </a:p>
            </p:txBody>
          </p:sp>
        </mc:Choice>
        <mc:Fallback xmlns="">
          <p:sp>
            <p:nvSpPr>
              <p:cNvPr id="3" name="Content Placeholder 2">
                <a:extLst>
                  <a:ext uri="{FF2B5EF4-FFF2-40B4-BE49-F238E27FC236}">
                    <a16:creationId xmlns:a16="http://schemas.microsoft.com/office/drawing/2014/main" id="{D66485DC-393F-2C42-EDCC-6A7BA1DC8994}"/>
                  </a:ext>
                </a:extLst>
              </p:cNvPr>
              <p:cNvSpPr>
                <a:spLocks noGrp="1" noRot="1" noChangeAspect="1" noMove="1" noResize="1" noEditPoints="1" noAdjustHandles="1" noChangeArrowheads="1" noChangeShapeType="1" noTextEdit="1"/>
              </p:cNvSpPr>
              <p:nvPr>
                <p:ph idx="1"/>
              </p:nvPr>
            </p:nvSpPr>
            <p:spPr>
              <a:blipFill>
                <a:blip r:embed="rId2"/>
                <a:stretch>
                  <a:fillRect l="-501" t="-211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8F9A5DA-4FDE-393A-C8EA-0D77FED278B7}"/>
              </a:ext>
            </a:extLst>
          </p:cNvPr>
          <p:cNvSpPr>
            <a:spLocks noGrp="1"/>
          </p:cNvSpPr>
          <p:nvPr>
            <p:ph type="sldNum" sz="quarter" idx="12"/>
          </p:nvPr>
        </p:nvSpPr>
        <p:spPr/>
        <p:txBody>
          <a:bodyPr/>
          <a:lstStyle/>
          <a:p>
            <a:fld id="{1F57BF9A-7B35-9447-9112-EAE7E91B4E99}" type="slidenum">
              <a:rPr lang="en-US" smtClean="0"/>
              <a:t>26</a:t>
            </a:fld>
            <a:endParaRPr lang="en-US"/>
          </a:p>
        </p:txBody>
      </p:sp>
    </p:spTree>
    <p:extLst>
      <p:ext uri="{BB962C8B-B14F-4D97-AF65-F5344CB8AC3E}">
        <p14:creationId xmlns:p14="http://schemas.microsoft.com/office/powerpoint/2010/main" val="2117111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50CA-C227-E7B8-9849-76A316D887D1}"/>
              </a:ext>
            </a:extLst>
          </p:cNvPr>
          <p:cNvSpPr>
            <a:spLocks noGrp="1"/>
          </p:cNvSpPr>
          <p:nvPr>
            <p:ph type="title"/>
          </p:nvPr>
        </p:nvSpPr>
        <p:spPr/>
        <p:txBody>
          <a:bodyPr/>
          <a:lstStyle/>
          <a:p>
            <a:r>
              <a:rPr lang="en-US" sz="4800" dirty="0"/>
              <a:t>Kinematic vs. Dynamic Control</a:t>
            </a:r>
            <a:endParaRPr lang="en-SE" dirty="0"/>
          </a:p>
        </p:txBody>
      </p:sp>
      <p:sp>
        <p:nvSpPr>
          <p:cNvPr id="3" name="Content Placeholder 2">
            <a:extLst>
              <a:ext uri="{FF2B5EF4-FFF2-40B4-BE49-F238E27FC236}">
                <a16:creationId xmlns:a16="http://schemas.microsoft.com/office/drawing/2014/main" id="{F7AF7C20-C012-CFC7-0B39-B849F6FA2B64}"/>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051D9652-0CCA-A4A4-7104-0803EE6004AC}"/>
              </a:ext>
            </a:extLst>
          </p:cNvPr>
          <p:cNvSpPr>
            <a:spLocks noGrp="1"/>
          </p:cNvSpPr>
          <p:nvPr>
            <p:ph type="sldNum" sz="quarter" idx="12"/>
          </p:nvPr>
        </p:nvSpPr>
        <p:spPr/>
        <p:txBody>
          <a:bodyPr/>
          <a:lstStyle/>
          <a:p>
            <a:fld id="{1F57BF9A-7B35-9447-9112-EAE7E91B4E99}" type="slidenum">
              <a:rPr lang="en-US" smtClean="0"/>
              <a:t>27</a:t>
            </a:fld>
            <a:endParaRPr lang="en-US"/>
          </a:p>
        </p:txBody>
      </p:sp>
      <p:pic>
        <p:nvPicPr>
          <p:cNvPr id="9" name="Picture 8">
            <a:extLst>
              <a:ext uri="{FF2B5EF4-FFF2-40B4-BE49-F238E27FC236}">
                <a16:creationId xmlns:a16="http://schemas.microsoft.com/office/drawing/2014/main" id="{A2E69D83-D1A1-DF9D-CACC-516191968DB8}"/>
              </a:ext>
            </a:extLst>
          </p:cNvPr>
          <p:cNvPicPr>
            <a:picLocks noChangeAspect="1"/>
          </p:cNvPicPr>
          <p:nvPr/>
        </p:nvPicPr>
        <p:blipFill>
          <a:blip r:embed="rId2"/>
          <a:stretch>
            <a:fillRect/>
          </a:stretch>
        </p:blipFill>
        <p:spPr>
          <a:xfrm>
            <a:off x="1832744" y="1273379"/>
            <a:ext cx="8290354" cy="1168955"/>
          </a:xfrm>
          <a:prstGeom prst="rect">
            <a:avLst/>
          </a:prstGeom>
        </p:spPr>
      </p:pic>
      <p:pic>
        <p:nvPicPr>
          <p:cNvPr id="10" name="Picture 9">
            <a:extLst>
              <a:ext uri="{FF2B5EF4-FFF2-40B4-BE49-F238E27FC236}">
                <a16:creationId xmlns:a16="http://schemas.microsoft.com/office/drawing/2014/main" id="{D67F572F-2B81-D7E9-8C5A-D7AB4B2D7D18}"/>
              </a:ext>
            </a:extLst>
          </p:cNvPr>
          <p:cNvPicPr>
            <a:picLocks noChangeAspect="1"/>
          </p:cNvPicPr>
          <p:nvPr/>
        </p:nvPicPr>
        <p:blipFill>
          <a:blip r:embed="rId3"/>
          <a:stretch>
            <a:fillRect/>
          </a:stretch>
        </p:blipFill>
        <p:spPr>
          <a:xfrm>
            <a:off x="2391208" y="3429000"/>
            <a:ext cx="7686675" cy="26525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1C74A9B-1053-B2E2-6240-A65B22A288B9}"/>
                  </a:ext>
                </a:extLst>
              </p:cNvPr>
              <p:cNvSpPr txBox="1"/>
              <p:nvPr/>
            </p:nvSpPr>
            <p:spPr>
              <a:xfrm>
                <a:off x="2058992" y="2434784"/>
                <a:ext cx="8534400" cy="722249"/>
              </a:xfrm>
              <a:prstGeom prst="rect">
                <a:avLst/>
              </a:prstGeom>
              <a:noFill/>
            </p:spPr>
            <p:txBody>
              <a:bodyPr wrap="square" rtlCol="0">
                <a:noAutofit/>
              </a:bodyPr>
              <a:lstStyle/>
              <a:p>
                <a:r>
                  <a:rPr lang="en-US" dirty="0"/>
                  <a:t>PID controller for kinematic bicycle model with heading angle rate </a:t>
                </a:r>
                <a14:m>
                  <m:oMath xmlns:m="http://schemas.openxmlformats.org/officeDocument/2006/math">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oMath>
                </a14:m>
                <a:r>
                  <a:rPr lang="en-US" dirty="0"/>
                  <a:t> and velocity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𝑟</m:t>
                        </m:r>
                      </m:sub>
                    </m:sSub>
                  </m:oMath>
                </a14:m>
                <a:r>
                  <a:rPr lang="en-US" dirty="0"/>
                  <a:t>, constant here) as control input.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should be controlled indirectly by controlling steering angle </a:t>
                </a:r>
                <a14:m>
                  <m:oMath xmlns:m="http://schemas.openxmlformats.org/officeDocument/2006/math">
                    <m:r>
                      <a:rPr lang="en-US" b="0" i="1" smtClean="0">
                        <a:latin typeface="Cambria Math" panose="02040503050406030204" pitchFamily="18" charset="0"/>
                      </a:rPr>
                      <m:t>𝛿</m:t>
                    </m:r>
                  </m:oMath>
                </a14:m>
                <a:r>
                  <a:rPr lang="en-US" dirty="0"/>
                  <a:t>, with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𝑣</m:t>
                        </m:r>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tan</m:t>
                            </m:r>
                          </m:fName>
                          <m:e>
                            <m:r>
                              <a:rPr lang="en-US" i="1" dirty="0">
                                <a:latin typeface="Cambria Math" panose="02040503050406030204" pitchFamily="18" charset="0"/>
                              </a:rPr>
                              <m:t>𝛿</m:t>
                            </m:r>
                          </m:e>
                        </m:func>
                      </m:num>
                      <m:den>
                        <m:r>
                          <a:rPr lang="en-US" i="1" dirty="0">
                            <a:latin typeface="Cambria Math" panose="02040503050406030204" pitchFamily="18" charset="0"/>
                          </a:rPr>
                          <m:t>𝐿</m:t>
                        </m:r>
                      </m:den>
                    </m:f>
                  </m:oMath>
                </a14:m>
                <a:r>
                  <a:rPr lang="en-US" dirty="0"/>
                  <a:t>.)</a:t>
                </a:r>
              </a:p>
            </p:txBody>
          </p:sp>
        </mc:Choice>
        <mc:Fallback xmlns="">
          <p:sp>
            <p:nvSpPr>
              <p:cNvPr id="11" name="TextBox 10">
                <a:extLst>
                  <a:ext uri="{FF2B5EF4-FFF2-40B4-BE49-F238E27FC236}">
                    <a16:creationId xmlns:a16="http://schemas.microsoft.com/office/drawing/2014/main" id="{81C74A9B-1053-B2E2-6240-A65B22A288B9}"/>
                  </a:ext>
                </a:extLst>
              </p:cNvPr>
              <p:cNvSpPr txBox="1">
                <a:spLocks noRot="1" noChangeAspect="1" noMove="1" noResize="1" noEditPoints="1" noAdjustHandles="1" noChangeArrowheads="1" noChangeShapeType="1" noTextEdit="1"/>
              </p:cNvSpPr>
              <p:nvPr/>
            </p:nvSpPr>
            <p:spPr>
              <a:xfrm>
                <a:off x="2058992" y="2434784"/>
                <a:ext cx="8534400" cy="722249"/>
              </a:xfrm>
              <a:prstGeom prst="rect">
                <a:avLst/>
              </a:prstGeom>
              <a:blipFill>
                <a:blip r:embed="rId4"/>
                <a:stretch>
                  <a:fillRect l="-643" t="-1681" b="-52941"/>
                </a:stretch>
              </a:blipFill>
            </p:spPr>
            <p:txBody>
              <a:bodyPr/>
              <a:lstStyle/>
              <a:p>
                <a:r>
                  <a:rPr lang="en-SE">
                    <a:noFill/>
                  </a:rPr>
                  <a:t> </a:t>
                </a:r>
              </a:p>
            </p:txBody>
          </p:sp>
        </mc:Fallback>
      </mc:AlternateContent>
      <p:sp>
        <p:nvSpPr>
          <p:cNvPr id="12" name="TextBox 11">
            <a:extLst>
              <a:ext uri="{FF2B5EF4-FFF2-40B4-BE49-F238E27FC236}">
                <a16:creationId xmlns:a16="http://schemas.microsoft.com/office/drawing/2014/main" id="{D6FFA909-DF7B-99E1-2999-DF564C0D5B01}"/>
              </a:ext>
            </a:extLst>
          </p:cNvPr>
          <p:cNvSpPr txBox="1"/>
          <p:nvPr/>
        </p:nvSpPr>
        <p:spPr>
          <a:xfrm>
            <a:off x="3338946" y="3247792"/>
            <a:ext cx="184731" cy="523220"/>
          </a:xfrm>
          <a:prstGeom prst="rect">
            <a:avLst/>
          </a:prstGeom>
          <a:noFill/>
        </p:spPr>
        <p:txBody>
          <a:bodyPr wrap="none" rtlCol="0">
            <a:spAutoFit/>
          </a:bodyPr>
          <a:lstStyle/>
          <a:p>
            <a:endParaRPr lang="en-SE" sz="2800" dirty="0"/>
          </a:p>
        </p:txBody>
      </p:sp>
      <p:sp>
        <p:nvSpPr>
          <p:cNvPr id="13" name="TextBox 12">
            <a:extLst>
              <a:ext uri="{FF2B5EF4-FFF2-40B4-BE49-F238E27FC236}">
                <a16:creationId xmlns:a16="http://schemas.microsoft.com/office/drawing/2014/main" id="{60C814EB-7AC9-4180-05C3-BD491265A771}"/>
              </a:ext>
            </a:extLst>
          </p:cNvPr>
          <p:cNvSpPr txBox="1"/>
          <p:nvPr/>
        </p:nvSpPr>
        <p:spPr>
          <a:xfrm>
            <a:off x="1986074" y="6185783"/>
            <a:ext cx="8744272" cy="722249"/>
          </a:xfrm>
          <a:prstGeom prst="rect">
            <a:avLst/>
          </a:prstGeom>
          <a:noFill/>
        </p:spPr>
        <p:txBody>
          <a:bodyPr wrap="square" rtlCol="0">
            <a:noAutofit/>
          </a:bodyPr>
          <a:lstStyle/>
          <a:p>
            <a:r>
              <a:rPr lang="en-US" sz="2000" dirty="0"/>
              <a:t>MPC for dynamic vehicle model (high-level controller) with forces (longitudinal and lateral) as control input.</a:t>
            </a:r>
            <a:endParaRPr lang="en-SE" sz="2000" dirty="0"/>
          </a:p>
        </p:txBody>
      </p:sp>
    </p:spTree>
    <p:extLst>
      <p:ext uri="{BB962C8B-B14F-4D97-AF65-F5344CB8AC3E}">
        <p14:creationId xmlns:p14="http://schemas.microsoft.com/office/powerpoint/2010/main" val="3089486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3DF5-321A-C2DA-1C1E-7A3BE7FBC5E9}"/>
              </a:ext>
            </a:extLst>
          </p:cNvPr>
          <p:cNvSpPr>
            <a:spLocks noGrp="1"/>
          </p:cNvSpPr>
          <p:nvPr>
            <p:ph type="title"/>
          </p:nvPr>
        </p:nvSpPr>
        <p:spPr/>
        <p:txBody>
          <a:bodyPr/>
          <a:lstStyle/>
          <a:p>
            <a:r>
              <a:rPr lang="en-US" dirty="0"/>
              <a:t>Kinematic Bicycle Model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2A3988-7AE1-6B92-D4BE-2419D82FC0F1}"/>
                  </a:ext>
                </a:extLst>
              </p:cNvPr>
              <p:cNvSpPr>
                <a:spLocks noGrp="1"/>
              </p:cNvSpPr>
              <p:nvPr>
                <p:ph idx="1"/>
              </p:nvPr>
            </p:nvSpPr>
            <p:spPr>
              <a:xfrm>
                <a:off x="622738" y="1237592"/>
                <a:ext cx="6299234" cy="5525371"/>
              </a:xfrm>
            </p:spPr>
            <p:txBody>
              <a:bodyPr>
                <a:normAutofit fontScale="62500" lnSpcReduction="20000"/>
              </a:bodyPr>
              <a:lstStyle/>
              <a:p>
                <a:r>
                  <a:rPr lang="en-US" dirty="0"/>
                  <a:t>Front wheel steering. Assuming here rear wheel as reference point (may also use front wheel or center of gravity). </a:t>
                </a:r>
              </a:p>
              <a:p>
                <a:r>
                  <a:rPr lang="en-US" dirty="0"/>
                  <a:t>State vector: </a:t>
                </a:r>
                <a14:m>
                  <m:oMath xmlns:m="http://schemas.openxmlformats.org/officeDocument/2006/math">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e>
                                <m:e>
                                  <m:r>
                                    <a:rPr lang="en-US" b="0" i="1" smtClean="0">
                                      <a:latin typeface="Cambria Math" panose="02040503050406030204" pitchFamily="18" charset="0"/>
                                    </a:rPr>
                                    <m:t>𝑦</m:t>
                                  </m:r>
                                </m:e>
                                <m:e>
                                  <m:r>
                                    <a:rPr lang="en-US" i="1">
                                      <a:latin typeface="Cambria Math" panose="02040503050406030204" pitchFamily="18" charset="0"/>
                                    </a:rPr>
                                    <m:t>𝜃</m:t>
                                  </m:r>
                                </m:e>
                              </m:mr>
                            </m:m>
                          </m:e>
                        </m:d>
                      </m:e>
                      <m:sup>
                        <m:r>
                          <a:rPr lang="en-US" b="0" i="1" smtClean="0">
                            <a:latin typeface="Cambria Math" panose="02040503050406030204" pitchFamily="18" charset="0"/>
                          </a:rPr>
                          <m:t>𝑇</m:t>
                        </m:r>
                      </m:sup>
                    </m:sSup>
                  </m:oMath>
                </a14:m>
                <a:r>
                  <a:rPr lang="en-US" b="0" dirty="0"/>
                  <a:t>: </a:t>
                </a:r>
                <a:r>
                  <a:rPr lang="en-US" dirty="0"/>
                  <a:t>vehicle pose includes its position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and heading angle </a:t>
                </a:r>
                <a14:m>
                  <m:oMath xmlns:m="http://schemas.openxmlformats.org/officeDocument/2006/math">
                    <m:r>
                      <a:rPr lang="en-US" i="1">
                        <a:latin typeface="Cambria Math" panose="02040503050406030204" pitchFamily="18" charset="0"/>
                      </a:rPr>
                      <m:t>𝜃</m:t>
                    </m:r>
                  </m:oMath>
                </a14:m>
                <a:r>
                  <a:rPr lang="en-US" dirty="0"/>
                  <a:t>.</a:t>
                </a:r>
              </a:p>
              <a:p>
                <a:r>
                  <a:rPr lang="en-US" dirty="0"/>
                  <a:t>Control inputs: </a:t>
                </a:r>
                <a14:m>
                  <m:oMath xmlns:m="http://schemas.openxmlformats.org/officeDocument/2006/math">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𝛿</m:t>
                                  </m:r>
                                </m:e>
                                <m:e>
                                  <m:r>
                                    <a:rPr lang="en-US" b="0" i="1" smtClean="0">
                                      <a:latin typeface="Cambria Math" panose="02040503050406030204" pitchFamily="18" charset="0"/>
                                    </a:rPr>
                                    <m:t>𝑣</m:t>
                                  </m:r>
                                </m:e>
                              </m:mr>
                            </m:m>
                          </m:e>
                        </m:d>
                      </m:e>
                      <m:sup>
                        <m:r>
                          <a:rPr lang="en-US" b="0" i="1" smtClean="0">
                            <a:latin typeface="Cambria Math" panose="02040503050406030204" pitchFamily="18" charset="0"/>
                          </a:rPr>
                          <m:t>𝑇</m:t>
                        </m:r>
                      </m:sup>
                    </m:sSup>
                  </m:oMath>
                </a14:m>
                <a:r>
                  <a:rPr lang="en-US" dirty="0"/>
                  <a:t>: steering angle </a:t>
                </a:r>
                <a14:m>
                  <m:oMath xmlns:m="http://schemas.openxmlformats.org/officeDocument/2006/math">
                    <m:r>
                      <a:rPr lang="en-US" i="1">
                        <a:latin typeface="Cambria Math" panose="02040503050406030204" pitchFamily="18" charset="0"/>
                      </a:rPr>
                      <m:t>𝛿</m:t>
                    </m:r>
                  </m:oMath>
                </a14:m>
                <a:r>
                  <a:rPr lang="en-US" dirty="0"/>
                  <a:t> and vehicle speed </a:t>
                </a:r>
                <a14:m>
                  <m:oMath xmlns:m="http://schemas.openxmlformats.org/officeDocument/2006/math">
                    <m:r>
                      <a:rPr lang="en-US" i="1">
                        <a:latin typeface="Cambria Math" panose="02040503050406030204" pitchFamily="18" charset="0"/>
                      </a:rPr>
                      <m:t>𝑣</m:t>
                    </m:r>
                  </m:oMath>
                </a14:m>
                <a:r>
                  <a:rPr lang="en-US" dirty="0"/>
                  <a:t> (assumed to be constant).</a:t>
                </a:r>
              </a:p>
              <a:p>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tan</m:t>
                        </m:r>
                      </m:fName>
                      <m:e>
                        <m:r>
                          <a:rPr lang="en-US" i="1">
                            <a:latin typeface="Cambria Math" panose="02040503050406030204" pitchFamily="18" charset="0"/>
                          </a:rPr>
                          <m:t>𝛿</m:t>
                        </m:r>
                      </m:e>
                    </m:fun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𝑅</m:t>
                        </m:r>
                      </m:den>
                    </m:f>
                  </m:oMath>
                </a14:m>
                <a:endParaRPr lang="en-US" dirty="0"/>
              </a:p>
              <a:p>
                <a:pPr lvl="1"/>
                <a14:m>
                  <m:oMath xmlns:m="http://schemas.openxmlformats.org/officeDocument/2006/math">
                    <m:r>
                      <a:rPr lang="en-US" i="1">
                        <a:latin typeface="Cambria Math" panose="02040503050406030204" pitchFamily="18" charset="0"/>
                      </a:rPr>
                      <m:t>𝐿</m:t>
                    </m:r>
                  </m:oMath>
                </a14:m>
                <a:r>
                  <a:rPr lang="en-US" dirty="0"/>
                  <a:t>: vehicle length (distance between 2 wheels); </a:t>
                </a:r>
                <a14:m>
                  <m:oMath xmlns:m="http://schemas.openxmlformats.org/officeDocument/2006/math">
                    <m:r>
                      <a:rPr lang="en-US" i="1">
                        <a:latin typeface="Cambria Math" panose="02040503050406030204" pitchFamily="18" charset="0"/>
                      </a:rPr>
                      <m:t>𝑅</m:t>
                    </m:r>
                  </m:oMath>
                </a14:m>
                <a:r>
                  <a:rPr lang="en-US" dirty="0"/>
                  <a:t>: rotation radius of Instantaneous Center of Rotation (ICR), equal to distance between ICR and rear wheel. Curvature </a:t>
                </a:r>
                <a14:m>
                  <m:oMath xmlns:m="http://schemas.openxmlformats.org/officeDocument/2006/math">
                    <m:r>
                      <a:rPr lang="en-US" b="0" i="1" smtClean="0">
                        <a:latin typeface="Cambria Math" panose="02040503050406030204" pitchFamily="18" charset="0"/>
                      </a:rPr>
                      <m:t>𝜅</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𝑅</m:t>
                        </m:r>
                      </m:den>
                    </m:f>
                  </m:oMath>
                </a14:m>
                <a:r>
                  <a:rPr lang="en-US" dirty="0"/>
                  <a:t>.</a:t>
                </a:r>
              </a:p>
              <a:p>
                <a:pPr lvl="1"/>
                <a:r>
                  <a:rPr lang="en-US" dirty="0"/>
                  <a:t>Line from ICR to each wheel is perpendicular to it.</a:t>
                </a:r>
                <a:endParaRPr lang="en-SE" dirty="0"/>
              </a:p>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dirty="0" smtClean="0">
                        <a:latin typeface="Cambria Math" panose="02040503050406030204" pitchFamily="18" charset="0"/>
                      </a:rPr>
                      <m:t>=</m:t>
                    </m:r>
                    <m:r>
                      <a:rPr lang="en-US" b="0" i="1" dirty="0" smtClean="0">
                        <a:latin typeface="Cambria Math" panose="02040503050406030204" pitchFamily="18" charset="0"/>
                      </a:rPr>
                      <m:t>𝜔</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𝑣</m:t>
                        </m:r>
                      </m:num>
                      <m:den>
                        <m:r>
                          <a:rPr lang="en-US" b="0" i="1" dirty="0" smtClean="0">
                            <a:latin typeface="Cambria Math" panose="02040503050406030204" pitchFamily="18" charset="0"/>
                          </a:rPr>
                          <m:t>𝑅</m:t>
                        </m:r>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𝑣</m:t>
                        </m:r>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tan</m:t>
                            </m:r>
                          </m:fName>
                          <m:e>
                            <m:r>
                              <a:rPr lang="en-US" b="0" i="1" dirty="0" smtClean="0">
                                <a:latin typeface="Cambria Math" panose="02040503050406030204" pitchFamily="18" charset="0"/>
                              </a:rPr>
                              <m:t>𝛿</m:t>
                            </m:r>
                          </m:e>
                        </m:func>
                      </m:num>
                      <m:den>
                        <m:r>
                          <a:rPr lang="en-US" i="1" dirty="0">
                            <a:latin typeface="Cambria Math" panose="02040503050406030204" pitchFamily="18" charset="0"/>
                          </a:rPr>
                          <m:t>𝐿</m:t>
                        </m:r>
                      </m:den>
                    </m:f>
                  </m:oMath>
                </a14:m>
                <a:r>
                  <a:rPr lang="en-US" dirty="0"/>
                  <a:t> </a:t>
                </a:r>
              </a:p>
              <a:p>
                <a:pPr lvl="1"/>
                <a:r>
                  <a:rPr lang="en-US" dirty="0"/>
                  <a:t>Angular velocity is speed </a:t>
                </a:r>
                <a14:m>
                  <m:oMath xmlns:m="http://schemas.openxmlformats.org/officeDocument/2006/math">
                    <m:r>
                      <a:rPr lang="en-US" i="1">
                        <a:latin typeface="Cambria Math" panose="02040503050406030204" pitchFamily="18" charset="0"/>
                      </a:rPr>
                      <m:t>𝑣</m:t>
                    </m:r>
                  </m:oMath>
                </a14:m>
                <a:r>
                  <a:rPr lang="en-US" dirty="0"/>
                  <a:t> divided by rotation radius </a:t>
                </a:r>
                <a14:m>
                  <m:oMath xmlns:m="http://schemas.openxmlformats.org/officeDocument/2006/math">
                    <m:r>
                      <a:rPr lang="en-US" i="1">
                        <a:latin typeface="Cambria Math" panose="02040503050406030204" pitchFamily="18" charset="0"/>
                      </a:rPr>
                      <m:t>𝑅</m:t>
                    </m:r>
                  </m:oMath>
                </a14:m>
                <a:endParaRPr lang="en-US" dirty="0"/>
              </a:p>
              <a:p>
                <a:r>
                  <a:rPr lang="en-US" dirty="0"/>
                  <a:t>Typically, angles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𝜃</m:t>
                    </m:r>
                  </m:oMath>
                </a14:m>
                <a:r>
                  <a:rPr lang="en-US" dirty="0"/>
                  <a:t> are based on counter-clockwise convention w.r.t reference direction.</a:t>
                </a:r>
              </a:p>
              <a:p>
                <a:pPr lvl="1"/>
                <a:r>
                  <a:rPr lang="en-US" dirty="0"/>
                  <a:t>In </a:t>
                </a:r>
                <a:r>
                  <a:rPr lang="en-US" sz="3200" dirty="0">
                    <a:ea typeface="+mn-ea"/>
                    <a:cs typeface="+mn-cs"/>
                  </a:rPr>
                  <a:t>the fig, </a:t>
                </a:r>
                <a14:m>
                  <m:oMath xmlns:m="http://schemas.openxmlformats.org/officeDocument/2006/math">
                    <m:r>
                      <a:rPr lang="en-US" sz="3200">
                        <a:latin typeface="Cambria Math" panose="02040503050406030204" pitchFamily="18" charset="0"/>
                        <a:ea typeface="+mn-ea"/>
                        <a:cs typeface="+mn-cs"/>
                      </a:rPr>
                      <m:t>𝛿</m:t>
                    </m:r>
                    <m:r>
                      <a:rPr lang="en-US" sz="3200" b="0" i="1" dirty="0" smtClean="0">
                        <a:latin typeface="Cambria Math" panose="02040503050406030204" pitchFamily="18" charset="0"/>
                        <a:ea typeface="+mn-ea"/>
                        <a:cs typeface="+mn-cs"/>
                      </a:rPr>
                      <m:t>≈</m:t>
                    </m:r>
                    <m:f>
                      <m:fPr>
                        <m:ctrlPr>
                          <a:rPr lang="en-US" sz="3200" dirty="0">
                            <a:latin typeface="Cambria Math" panose="02040503050406030204" pitchFamily="18" charset="0"/>
                            <a:ea typeface="+mn-ea"/>
                            <a:cs typeface="+mn-cs"/>
                          </a:rPr>
                        </m:ctrlPr>
                      </m:fPr>
                      <m:num>
                        <m:r>
                          <a:rPr lang="en-US" sz="3200" dirty="0">
                            <a:latin typeface="Cambria Math" panose="02040503050406030204" pitchFamily="18" charset="0"/>
                            <a:ea typeface="+mn-ea"/>
                            <a:cs typeface="+mn-cs"/>
                          </a:rPr>
                          <m:t>𝜋</m:t>
                        </m:r>
                      </m:num>
                      <m:den>
                        <m:r>
                          <a:rPr lang="en-US" sz="3200" dirty="0">
                            <a:latin typeface="Cambria Math" panose="02040503050406030204" pitchFamily="18" charset="0"/>
                            <a:ea typeface="+mn-ea"/>
                            <a:cs typeface="+mn-cs"/>
                          </a:rPr>
                          <m:t>6</m:t>
                        </m:r>
                      </m:den>
                    </m:f>
                  </m:oMath>
                </a14:m>
                <a:r>
                  <a:rPr lang="en-US" sz="3200" dirty="0">
                    <a:ea typeface="+mn-ea"/>
                    <a:cs typeface="+mn-cs"/>
                  </a:rPr>
                  <a:t> w.r.t </a:t>
                </a:r>
                <a:r>
                  <a:rPr lang="en-US" sz="3200" dirty="0">
                    <a:solidFill>
                      <a:schemeClr val="tx1"/>
                    </a:solidFill>
                    <a:ea typeface="+mn-ea"/>
                    <a:cs typeface="+mn-cs"/>
                  </a:rPr>
                  <a:t>ref direction </a:t>
                </a:r>
                <a14:m>
                  <m:oMath xmlns:m="http://schemas.openxmlformats.org/officeDocument/2006/math">
                    <m:r>
                      <a:rPr lang="en-US" b="0" i="1" smtClean="0">
                        <a:solidFill>
                          <a:schemeClr val="tx1"/>
                        </a:solidFill>
                        <a:latin typeface="Cambria Math" panose="02040503050406030204" pitchFamily="18" charset="0"/>
                      </a:rPr>
                      <m:t>𝑣</m:t>
                    </m:r>
                  </m:oMath>
                </a14:m>
                <a:r>
                  <a:rPr lang="en-US" i="1" dirty="0">
                    <a:solidFill>
                      <a:schemeClr val="tx1"/>
                    </a:solidFill>
                    <a:latin typeface="Cambria Math" panose="02040503050406030204" pitchFamily="18" charset="0"/>
                  </a:rPr>
                  <a:t>; </a:t>
                </a:r>
                <a14:m>
                  <m:oMath xmlns:m="http://schemas.openxmlformats.org/officeDocument/2006/math">
                    <m:r>
                      <a:rPr lang="en-US" i="1">
                        <a:solidFill>
                          <a:schemeClr val="tx1"/>
                        </a:solidFill>
                        <a:latin typeface="Cambria Math" panose="02040503050406030204" pitchFamily="18" charset="0"/>
                      </a:rPr>
                      <m:t>𝜃</m:t>
                    </m:r>
                    <m:r>
                      <a:rPr lang="en-US" i="1" dirty="0">
                        <a:latin typeface="Cambria Math" panose="02040503050406030204" pitchFamily="18" charset="0"/>
                      </a:rPr>
                      <m:t>≈</m:t>
                    </m:r>
                    <m:f>
                      <m:fPr>
                        <m:ctrlPr>
                          <a:rPr lang="en-US" i="1" dirty="0">
                            <a:solidFill>
                              <a:schemeClr val="tx1"/>
                            </a:solidFill>
                            <a:latin typeface="Cambria Math" panose="02040503050406030204" pitchFamily="18" charset="0"/>
                          </a:rPr>
                        </m:ctrlPr>
                      </m:fPr>
                      <m:num>
                        <m:r>
                          <a:rPr lang="en-US" i="1" dirty="0">
                            <a:solidFill>
                              <a:schemeClr val="tx1"/>
                            </a:solidFill>
                            <a:latin typeface="Cambria Math" panose="02040503050406030204" pitchFamily="18" charset="0"/>
                          </a:rPr>
                          <m:t>𝜋</m:t>
                        </m:r>
                      </m:num>
                      <m:den>
                        <m:r>
                          <a:rPr lang="en-US" i="1" dirty="0">
                            <a:solidFill>
                              <a:schemeClr val="tx1"/>
                            </a:solidFill>
                            <a:latin typeface="Cambria Math" panose="02040503050406030204" pitchFamily="18" charset="0"/>
                          </a:rPr>
                          <m:t>6</m:t>
                        </m:r>
                      </m:den>
                    </m:f>
                  </m:oMath>
                </a14:m>
                <a:r>
                  <a:rPr lang="en-US" dirty="0">
                    <a:solidFill>
                      <a:schemeClr val="tx1"/>
                    </a:solidFill>
                  </a:rPr>
                  <a:t> w.r.t ref direction east (horizontal);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dirty="0" smtClean="0">
                        <a:latin typeface="Cambria Math" panose="02040503050406030204" pitchFamily="18" charset="0"/>
                      </a:rPr>
                      <m:t>&gt;0</m:t>
                    </m:r>
                  </m:oMath>
                </a14:m>
                <a:r>
                  <a:rPr lang="en-US" dirty="0"/>
                  <a:t> for counter-clockwise rotation.</a:t>
                </a:r>
              </a:p>
              <a:p>
                <a:endParaRPr lang="en-SE" dirty="0"/>
              </a:p>
            </p:txBody>
          </p:sp>
        </mc:Choice>
        <mc:Fallback xmlns="">
          <p:sp>
            <p:nvSpPr>
              <p:cNvPr id="3" name="Content Placeholder 2">
                <a:extLst>
                  <a:ext uri="{FF2B5EF4-FFF2-40B4-BE49-F238E27FC236}">
                    <a16:creationId xmlns:a16="http://schemas.microsoft.com/office/drawing/2014/main" id="{9D2A3988-7AE1-6B92-D4BE-2419D82FC0F1}"/>
                  </a:ext>
                </a:extLst>
              </p:cNvPr>
              <p:cNvSpPr>
                <a:spLocks noGrp="1" noRot="1" noChangeAspect="1" noMove="1" noResize="1" noEditPoints="1" noAdjustHandles="1" noChangeArrowheads="1" noChangeShapeType="1" noTextEdit="1"/>
              </p:cNvSpPr>
              <p:nvPr>
                <p:ph idx="1"/>
              </p:nvPr>
            </p:nvSpPr>
            <p:spPr>
              <a:xfrm>
                <a:off x="622738" y="1237592"/>
                <a:ext cx="6299234" cy="5525371"/>
              </a:xfrm>
              <a:blipFill>
                <a:blip r:embed="rId2"/>
                <a:stretch>
                  <a:fillRect l="-871" t="-1987" r="-96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75A2B6C-4FE9-05EA-E94E-A094B5F3B923}"/>
              </a:ext>
            </a:extLst>
          </p:cNvPr>
          <p:cNvSpPr>
            <a:spLocks noGrp="1"/>
          </p:cNvSpPr>
          <p:nvPr>
            <p:ph type="sldNum" sz="quarter" idx="12"/>
          </p:nvPr>
        </p:nvSpPr>
        <p:spPr/>
        <p:txBody>
          <a:bodyPr/>
          <a:lstStyle/>
          <a:p>
            <a:fld id="{1F57BF9A-7B35-9447-9112-EAE7E91B4E99}" type="slidenum">
              <a:rPr lang="en-US" smtClean="0"/>
              <a:t>28</a:t>
            </a:fld>
            <a:endParaRPr lang="en-US"/>
          </a:p>
        </p:txBody>
      </p:sp>
      <p:pic>
        <p:nvPicPr>
          <p:cNvPr id="6" name="Picture 5">
            <a:extLst>
              <a:ext uri="{FF2B5EF4-FFF2-40B4-BE49-F238E27FC236}">
                <a16:creationId xmlns:a16="http://schemas.microsoft.com/office/drawing/2014/main" id="{F304DA70-AC66-60BB-FCFF-99D2BF7AB2A2}"/>
              </a:ext>
            </a:extLst>
          </p:cNvPr>
          <p:cNvPicPr>
            <a:picLocks noChangeAspect="1"/>
          </p:cNvPicPr>
          <p:nvPr/>
        </p:nvPicPr>
        <p:blipFill>
          <a:blip r:embed="rId3"/>
          <a:stretch>
            <a:fillRect/>
          </a:stretch>
        </p:blipFill>
        <p:spPr>
          <a:xfrm>
            <a:off x="6921972" y="1256402"/>
            <a:ext cx="4927848" cy="291133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2209A0-4BC4-9E93-D7E5-5507013032B5}"/>
                  </a:ext>
                </a:extLst>
              </p:cNvPr>
              <p:cNvSpPr txBox="1"/>
              <p:nvPr/>
            </p:nvSpPr>
            <p:spPr>
              <a:xfrm>
                <a:off x="7714059" y="3307935"/>
                <a:ext cx="632033"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𝜋</m:t>
                      </m:r>
                      <m:r>
                        <a:rPr lang="en-US" b="0" i="1" smtClean="0">
                          <a:latin typeface="Cambria Math" panose="02040503050406030204" pitchFamily="18" charset="0"/>
                        </a:rPr>
                        <m:t>/2</m:t>
                      </m:r>
                    </m:oMath>
                  </m:oMathPara>
                </a14:m>
                <a:endParaRPr lang="en-SE" dirty="0"/>
              </a:p>
            </p:txBody>
          </p:sp>
        </mc:Choice>
        <mc:Fallback xmlns="">
          <p:sp>
            <p:nvSpPr>
              <p:cNvPr id="7" name="TextBox 6">
                <a:extLst>
                  <a:ext uri="{FF2B5EF4-FFF2-40B4-BE49-F238E27FC236}">
                    <a16:creationId xmlns:a16="http://schemas.microsoft.com/office/drawing/2014/main" id="{AE2209A0-4BC4-9E93-D7E5-5507013032B5}"/>
                  </a:ext>
                </a:extLst>
              </p:cNvPr>
              <p:cNvSpPr txBox="1">
                <a:spLocks noRot="1" noChangeAspect="1" noMove="1" noResize="1" noEditPoints="1" noAdjustHandles="1" noChangeArrowheads="1" noChangeShapeType="1" noTextEdit="1"/>
              </p:cNvSpPr>
              <p:nvPr/>
            </p:nvSpPr>
            <p:spPr>
              <a:xfrm>
                <a:off x="7714059" y="3307935"/>
                <a:ext cx="632033" cy="369332"/>
              </a:xfrm>
              <a:prstGeom prst="rect">
                <a:avLst/>
              </a:prstGeom>
              <a:blipFill>
                <a:blip r:embed="rId4"/>
                <a:stretch>
                  <a:fillRect b="-13333"/>
                </a:stretch>
              </a:blipFill>
            </p:spPr>
            <p:txBody>
              <a:bodyPr/>
              <a:lstStyle/>
              <a:p>
                <a:r>
                  <a:rPr lang="en-SE">
                    <a:noFill/>
                  </a:rPr>
                  <a:t> </a:t>
                </a:r>
              </a:p>
            </p:txBody>
          </p:sp>
        </mc:Fallback>
      </mc:AlternateContent>
      <p:cxnSp>
        <p:nvCxnSpPr>
          <p:cNvPr id="8" name="Straight Connector 7">
            <a:extLst>
              <a:ext uri="{FF2B5EF4-FFF2-40B4-BE49-F238E27FC236}">
                <a16:creationId xmlns:a16="http://schemas.microsoft.com/office/drawing/2014/main" id="{C4708DB9-99BE-1F18-010D-C240097B2AD8}"/>
              </a:ext>
            </a:extLst>
          </p:cNvPr>
          <p:cNvCxnSpPr/>
          <p:nvPr/>
        </p:nvCxnSpPr>
        <p:spPr bwMode="auto">
          <a:xfrm flipV="1">
            <a:off x="7842037" y="3627516"/>
            <a:ext cx="144016" cy="72008"/>
          </a:xfrm>
          <a:prstGeom prst="line">
            <a:avLst/>
          </a:prstGeom>
          <a:noFill/>
          <a:ln w="25400"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0EC29C85-3B42-87C0-A966-A70732954C0A}"/>
              </a:ext>
            </a:extLst>
          </p:cNvPr>
          <p:cNvCxnSpPr/>
          <p:nvPr/>
        </p:nvCxnSpPr>
        <p:spPr bwMode="auto">
          <a:xfrm>
            <a:off x="7986053" y="3627516"/>
            <a:ext cx="88047" cy="184666"/>
          </a:xfrm>
          <a:prstGeom prst="line">
            <a:avLst/>
          </a:prstGeom>
          <a:noFill/>
          <a:ln w="25400" cap="flat" cmpd="sng" algn="ctr">
            <a:solidFill>
              <a:schemeClr val="tx1"/>
            </a:solidFill>
            <a:prstDash val="solid"/>
            <a:round/>
            <a:headEnd type="none" w="med" len="med"/>
            <a:tailEnd type="none" w="med" len="med"/>
          </a:ln>
          <a:effectLst/>
        </p:spPr>
      </p:cxnSp>
      <p:grpSp>
        <p:nvGrpSpPr>
          <p:cNvPr id="10" name="Group 9">
            <a:extLst>
              <a:ext uri="{FF2B5EF4-FFF2-40B4-BE49-F238E27FC236}">
                <a16:creationId xmlns:a16="http://schemas.microsoft.com/office/drawing/2014/main" id="{50CC05A5-0C75-9687-0E97-9BAA18A0CF44}"/>
              </a:ext>
            </a:extLst>
          </p:cNvPr>
          <p:cNvGrpSpPr/>
          <p:nvPr/>
        </p:nvGrpSpPr>
        <p:grpSpPr>
          <a:xfrm rot="18836033">
            <a:off x="9977275" y="2562035"/>
            <a:ext cx="232063" cy="184666"/>
            <a:chOff x="5148064" y="5094726"/>
            <a:chExt cx="232063" cy="184666"/>
          </a:xfrm>
        </p:grpSpPr>
        <p:cxnSp>
          <p:nvCxnSpPr>
            <p:cNvPr id="11" name="Straight Connector 10">
              <a:extLst>
                <a:ext uri="{FF2B5EF4-FFF2-40B4-BE49-F238E27FC236}">
                  <a16:creationId xmlns:a16="http://schemas.microsoft.com/office/drawing/2014/main" id="{67661E32-77B4-891A-E2A3-0F705516CFF1}"/>
                </a:ext>
              </a:extLst>
            </p:cNvPr>
            <p:cNvCxnSpPr/>
            <p:nvPr/>
          </p:nvCxnSpPr>
          <p:spPr bwMode="auto">
            <a:xfrm flipV="1">
              <a:off x="5148064" y="5094726"/>
              <a:ext cx="144016" cy="72008"/>
            </a:xfrm>
            <a:prstGeom prst="line">
              <a:avLst/>
            </a:prstGeom>
            <a:noFill/>
            <a:ln w="25400" cap="flat" cmpd="sng" algn="ctr">
              <a:solidFill>
                <a:schemeClr val="tx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5A282563-006F-E4E5-FCF3-0EAD15C4AD3B}"/>
                </a:ext>
              </a:extLst>
            </p:cNvPr>
            <p:cNvCxnSpPr/>
            <p:nvPr/>
          </p:nvCxnSpPr>
          <p:spPr bwMode="auto">
            <a:xfrm>
              <a:off x="5292080" y="5094726"/>
              <a:ext cx="88047" cy="184666"/>
            </a:xfrm>
            <a:prstGeom prst="line">
              <a:avLst/>
            </a:prstGeom>
            <a:noFill/>
            <a:ln w="25400" cap="flat" cmpd="sng" algn="ctr">
              <a:solidFill>
                <a:schemeClr val="tx1"/>
              </a:solidFill>
              <a:prstDash val="solid"/>
              <a:round/>
              <a:headEnd type="none" w="med" len="med"/>
              <a:tailEnd type="none" w="med" len="med"/>
            </a:ln>
            <a:effectLst/>
          </p:spPr>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2A2A9F-A8CD-866E-C6C5-74161986F563}"/>
                  </a:ext>
                </a:extLst>
              </p:cNvPr>
              <p:cNvSpPr txBox="1"/>
              <p:nvPr/>
            </p:nvSpPr>
            <p:spPr>
              <a:xfrm>
                <a:off x="9648255" y="2257863"/>
                <a:ext cx="632033"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𝜋</m:t>
                      </m:r>
                      <m:r>
                        <a:rPr lang="en-US" b="0" i="1" smtClean="0">
                          <a:latin typeface="Cambria Math" panose="02040503050406030204" pitchFamily="18" charset="0"/>
                        </a:rPr>
                        <m:t>/2</m:t>
                      </m:r>
                    </m:oMath>
                  </m:oMathPara>
                </a14:m>
                <a:endParaRPr lang="en-SE" dirty="0"/>
              </a:p>
            </p:txBody>
          </p:sp>
        </mc:Choice>
        <mc:Fallback xmlns="">
          <p:sp>
            <p:nvSpPr>
              <p:cNvPr id="13" name="TextBox 12">
                <a:extLst>
                  <a:ext uri="{FF2B5EF4-FFF2-40B4-BE49-F238E27FC236}">
                    <a16:creationId xmlns:a16="http://schemas.microsoft.com/office/drawing/2014/main" id="{942A2A9F-A8CD-866E-C6C5-74161986F563}"/>
                  </a:ext>
                </a:extLst>
              </p:cNvPr>
              <p:cNvSpPr txBox="1">
                <a:spLocks noRot="1" noChangeAspect="1" noMove="1" noResize="1" noEditPoints="1" noAdjustHandles="1" noChangeArrowheads="1" noChangeShapeType="1" noTextEdit="1"/>
              </p:cNvSpPr>
              <p:nvPr/>
            </p:nvSpPr>
            <p:spPr>
              <a:xfrm>
                <a:off x="9648255" y="2257863"/>
                <a:ext cx="632033" cy="369332"/>
              </a:xfrm>
              <a:prstGeom prst="rect">
                <a:avLst/>
              </a:prstGeom>
              <a:blipFill>
                <a:blip r:embed="rId5"/>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C4B03AC-F665-DE8A-C212-D2FD8315F30E}"/>
                  </a:ext>
                </a:extLst>
              </p:cNvPr>
              <p:cNvSpPr/>
              <p:nvPr/>
            </p:nvSpPr>
            <p:spPr>
              <a:xfrm>
                <a:off x="7894580" y="3925389"/>
                <a:ext cx="791948" cy="369332"/>
              </a:xfrm>
              <a:prstGeom prst="rect">
                <a:avLst/>
              </a:prstGeom>
            </p:spPr>
            <p:txBody>
              <a:bodyPr wrap="none">
                <a:spAutoFit/>
              </a:bodyPr>
              <a:lstStyle/>
              <a:p>
                <a:pPr/>
                <a14:m>
                  <m:oMathPara xmlns:m="http://schemas.openxmlformats.org/officeDocument/2006/math">
                    <m:oMath>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oMath>
                  </m:oMathPara>
                </a14:m>
                <a:endParaRPr lang="en-SE" dirty="0"/>
              </a:p>
            </p:txBody>
          </p:sp>
        </mc:Choice>
        <mc:Fallback xmlns="">
          <p:sp>
            <p:nvSpPr>
              <p:cNvPr id="14" name="Rectangle 13">
                <a:extLst>
                  <a:ext uri="{FF2B5EF4-FFF2-40B4-BE49-F238E27FC236}">
                    <a16:creationId xmlns:a16="http://schemas.microsoft.com/office/drawing/2014/main" id="{CC4B03AC-F665-DE8A-C212-D2FD8315F30E}"/>
                  </a:ext>
                </a:extLst>
              </p:cNvPr>
              <p:cNvSpPr>
                <a:spLocks noRot="1" noChangeAspect="1" noMove="1" noResize="1" noEditPoints="1" noAdjustHandles="1" noChangeArrowheads="1" noChangeShapeType="1" noTextEdit="1"/>
              </p:cNvSpPr>
              <p:nvPr/>
            </p:nvSpPr>
            <p:spPr>
              <a:xfrm>
                <a:off x="7894580" y="3925389"/>
                <a:ext cx="791948" cy="369332"/>
              </a:xfrm>
              <a:prstGeom prst="rect">
                <a:avLst/>
              </a:prstGeom>
              <a:blipFill>
                <a:blip r:embed="rId6"/>
                <a:stretch>
                  <a:fillRect b="-1147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C5FAF2DE-F5B1-0B86-DA03-FE2D84D7EC7B}"/>
                  </a:ext>
                </a:extLst>
              </p:cNvPr>
              <p:cNvSpPr/>
              <p:nvPr/>
            </p:nvSpPr>
            <p:spPr>
              <a:xfrm>
                <a:off x="8627411" y="5888825"/>
                <a:ext cx="2014078" cy="707886"/>
              </a:xfrm>
              <a:prstGeom prst="rect">
                <a:avLst/>
              </a:prstGeom>
            </p:spPr>
            <p:txBody>
              <a:bodyPr wrap="none">
                <a:spAutoFit/>
              </a:bodyPr>
              <a:lstStyle/>
              <a:p>
                <a:r>
                  <a:rPr lang="en-US" sz="2000" dirty="0"/>
                  <a:t>(Non-linear in </a:t>
                </a:r>
                <a14:m>
                  <m:oMath xmlns:m="http://schemas.openxmlformats.org/officeDocument/2006/math">
                    <m:r>
                      <a:rPr lang="en-US" sz="2000" i="1" dirty="0">
                        <a:solidFill>
                          <a:srgbClr val="FF0000"/>
                        </a:solidFill>
                        <a:latin typeface="Cambria Math" panose="02040503050406030204" pitchFamily="18" charset="0"/>
                      </a:rPr>
                      <m:t>𝛿</m:t>
                    </m:r>
                  </m:oMath>
                </a14:m>
                <a:r>
                  <a:rPr lang="en-US" sz="2000" dirty="0"/>
                  <a:t>;</a:t>
                </a:r>
              </a:p>
              <a:p>
                <a:r>
                  <a:rPr lang="en-US" sz="2000" dirty="0"/>
                  <a:t>Linear in </a:t>
                </a:r>
                <a14:m>
                  <m:oMath xmlns:m="http://schemas.openxmlformats.org/officeDocument/2006/math">
                    <m:r>
                      <a:rPr lang="en-US" sz="2000" i="1">
                        <a:solidFill>
                          <a:srgbClr val="FF0000"/>
                        </a:solidFill>
                        <a:latin typeface="Cambria Math" panose="02040503050406030204" pitchFamily="18" charset="0"/>
                      </a:rPr>
                      <m:t>𝑣</m:t>
                    </m:r>
                  </m:oMath>
                </a14:m>
                <a:r>
                  <a:rPr lang="en-US" sz="2000" dirty="0"/>
                  <a:t>)</a:t>
                </a:r>
                <a:endParaRPr lang="en-SE" sz="2000" dirty="0"/>
              </a:p>
            </p:txBody>
          </p:sp>
        </mc:Choice>
        <mc:Fallback xmlns="">
          <p:sp>
            <p:nvSpPr>
              <p:cNvPr id="15" name="Rectangle 14">
                <a:extLst>
                  <a:ext uri="{FF2B5EF4-FFF2-40B4-BE49-F238E27FC236}">
                    <a16:creationId xmlns:a16="http://schemas.microsoft.com/office/drawing/2014/main" id="{C5FAF2DE-F5B1-0B86-DA03-FE2D84D7EC7B}"/>
                  </a:ext>
                </a:extLst>
              </p:cNvPr>
              <p:cNvSpPr>
                <a:spLocks noRot="1" noChangeAspect="1" noMove="1" noResize="1" noEditPoints="1" noAdjustHandles="1" noChangeArrowheads="1" noChangeShapeType="1" noTextEdit="1"/>
              </p:cNvSpPr>
              <p:nvPr/>
            </p:nvSpPr>
            <p:spPr>
              <a:xfrm>
                <a:off x="8627411" y="5888825"/>
                <a:ext cx="2014078" cy="707886"/>
              </a:xfrm>
              <a:prstGeom prst="rect">
                <a:avLst/>
              </a:prstGeom>
              <a:blipFill>
                <a:blip r:embed="rId7"/>
                <a:stretch>
                  <a:fillRect l="-3021" t="-4310" b="-1465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6FE8932-5173-91DF-2028-988B3BDEF4B1}"/>
                  </a:ext>
                </a:extLst>
              </p:cNvPr>
              <p:cNvSpPr/>
              <p:nvPr/>
            </p:nvSpPr>
            <p:spPr>
              <a:xfrm>
                <a:off x="8609768" y="4346609"/>
                <a:ext cx="2343932" cy="1464119"/>
              </a:xfrm>
              <a:prstGeom prst="rect">
                <a:avLst/>
              </a:prstGeom>
            </p:spPr>
            <p:txBody>
              <a:bodyPr wrap="square">
                <a:spAutoFit/>
              </a:bodyPr>
              <a:lstStyle/>
              <a:p>
                <a:pPr/>
                <a14:m>
                  <m:oMathPara xmlns:m="http://schemas.openxmlformats.org/officeDocument/2006/math">
                    <m:oMath>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m>
                                <m:mPr>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𝑥</m:t>
                                    </m:r>
                                  </m:e>
                                </m:mr>
                                <m:m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mr>
                                <m:mr>
                                  <m:e>
                                    <m:acc>
                                      <m:accPr>
                                        <m:chr m:val="̇"/>
                                        <m:ctrlPr>
                                          <a:rPr lang="en-US" sz="2400" i="1">
                                            <a:latin typeface="Cambria Math" panose="02040503050406030204" pitchFamily="18" charset="0"/>
                                          </a:rPr>
                                        </m:ctrlPr>
                                      </m:accPr>
                                      <m:e>
                                        <m:r>
                                          <a:rPr lang="en-US" sz="2400" i="1">
                                            <a:latin typeface="Cambria Math" panose="02040503050406030204" pitchFamily="18" charset="0"/>
                                          </a:rPr>
                                          <m:t>𝜃</m:t>
                                        </m:r>
                                      </m:e>
                                    </m:acc>
                                  </m:e>
                                </m:mr>
                              </m:m>
                            </m:e>
                          </m:acc>
                        </m:e>
                      </m:d>
                      <m:r>
                        <a:rPr lang="en-US" sz="2400" i="1">
                          <a:latin typeface="Cambria Math" panose="02040503050406030204" pitchFamily="18" charset="0"/>
                        </a:rPr>
                        <m:t>=</m:t>
                      </m:r>
                      <m:r>
                        <a:rPr lang="en-US" sz="2400" b="0" i="1" smtClean="0">
                          <a:solidFill>
                            <a:srgbClr val="FF0000"/>
                          </a:solidFill>
                          <a:latin typeface="Cambria Math" panose="02040503050406030204" pitchFamily="18" charset="0"/>
                        </a:rPr>
                        <m:t>𝑣</m:t>
                      </m:r>
                      <m:d>
                        <m:dPr>
                          <m:begChr m:val="["/>
                          <m:endChr m:val="]"/>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rPr>
                                      <m:t>𝜃</m:t>
                                    </m:r>
                                  </m:e>
                                </m:func>
                              </m:e>
                            </m:mr>
                            <m:mr>
                              <m:e>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sin</m:t>
                                    </m:r>
                                  </m:fName>
                                  <m:e>
                                    <m:r>
                                      <a:rPr lang="en-US" sz="2400" i="1">
                                        <a:latin typeface="Cambria Math" panose="02040503050406030204" pitchFamily="18" charset="0"/>
                                      </a:rPr>
                                      <m:t>𝜃</m:t>
                                    </m:r>
                                  </m:e>
                                </m:func>
                              </m:e>
                            </m:mr>
                            <m:mr>
                              <m:e>
                                <m:f>
                                  <m:fPr>
                                    <m:ctrlPr>
                                      <a:rPr lang="en-US" sz="2400" i="1" dirty="0">
                                        <a:latin typeface="Cambria Math" panose="02040503050406030204" pitchFamily="18" charset="0"/>
                                      </a:rPr>
                                    </m:ctrlPr>
                                  </m:fPr>
                                  <m:num>
                                    <m:func>
                                      <m:funcPr>
                                        <m:ctrlPr>
                                          <a:rPr lang="en-US" sz="2400" dirty="0">
                                            <a:latin typeface="Cambria Math" panose="02040503050406030204" pitchFamily="18" charset="0"/>
                                          </a:rPr>
                                        </m:ctrlPr>
                                      </m:funcPr>
                                      <m:fName>
                                        <m:r>
                                          <m:rPr>
                                            <m:sty m:val="p"/>
                                          </m:rPr>
                                          <a:rPr lang="en-US" sz="2400" dirty="0">
                                            <a:latin typeface="Cambria Math" panose="02040503050406030204" pitchFamily="18" charset="0"/>
                                          </a:rPr>
                                          <m:t>tan</m:t>
                                        </m:r>
                                      </m:fName>
                                      <m:e>
                                        <m:r>
                                          <a:rPr lang="en-US" sz="2400" i="1" dirty="0" smtClean="0">
                                            <a:solidFill>
                                              <a:srgbClr val="FF0000"/>
                                            </a:solidFill>
                                            <a:latin typeface="Cambria Math" panose="02040503050406030204" pitchFamily="18" charset="0"/>
                                          </a:rPr>
                                          <m:t>𝛿</m:t>
                                        </m:r>
                                      </m:e>
                                    </m:func>
                                  </m:num>
                                  <m:den>
                                    <m:r>
                                      <a:rPr lang="en-US" sz="2400" i="1" dirty="0">
                                        <a:latin typeface="Cambria Math" panose="02040503050406030204" pitchFamily="18" charset="0"/>
                                      </a:rPr>
                                      <m:t>𝐿</m:t>
                                    </m:r>
                                  </m:den>
                                </m:f>
                              </m:e>
                            </m:mr>
                          </m:m>
                        </m:e>
                      </m:d>
                    </m:oMath>
                  </m:oMathPara>
                </a14:m>
                <a:endParaRPr lang="en-SE" sz="2400" dirty="0"/>
              </a:p>
            </p:txBody>
          </p:sp>
        </mc:Choice>
        <mc:Fallback xmlns="">
          <p:sp>
            <p:nvSpPr>
              <p:cNvPr id="16" name="Rectangle 15">
                <a:extLst>
                  <a:ext uri="{FF2B5EF4-FFF2-40B4-BE49-F238E27FC236}">
                    <a16:creationId xmlns:a16="http://schemas.microsoft.com/office/drawing/2014/main" id="{F6FE8932-5173-91DF-2028-988B3BDEF4B1}"/>
                  </a:ext>
                </a:extLst>
              </p:cNvPr>
              <p:cNvSpPr>
                <a:spLocks noRot="1" noChangeAspect="1" noMove="1" noResize="1" noEditPoints="1" noAdjustHandles="1" noChangeArrowheads="1" noChangeShapeType="1" noTextEdit="1"/>
              </p:cNvSpPr>
              <p:nvPr/>
            </p:nvSpPr>
            <p:spPr>
              <a:xfrm>
                <a:off x="8609768" y="4346609"/>
                <a:ext cx="2343932" cy="1464119"/>
              </a:xfrm>
              <a:prstGeom prst="rect">
                <a:avLst/>
              </a:prstGeom>
              <a:blipFill>
                <a:blip r:embed="rId8"/>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226566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6E46-EACA-22C3-F8FB-078F41CDDD65}"/>
              </a:ext>
            </a:extLst>
          </p:cNvPr>
          <p:cNvSpPr>
            <a:spLocks noGrp="1"/>
          </p:cNvSpPr>
          <p:nvPr>
            <p:ph type="title"/>
          </p:nvPr>
        </p:nvSpPr>
        <p:spPr/>
        <p:txBody>
          <a:bodyPr>
            <a:normAutofit/>
          </a:bodyPr>
          <a:lstStyle/>
          <a:p>
            <a:r>
              <a:rPr lang="en-US" sz="4800" dirty="0"/>
              <a:t>State Update in </a:t>
            </a:r>
            <a:r>
              <a:rPr lang="en-US" sz="4800"/>
              <a:t>Python Code</a:t>
            </a:r>
            <a:endParaRPr lang="en-SE" dirty="0"/>
          </a:p>
        </p:txBody>
      </p:sp>
      <p:sp>
        <p:nvSpPr>
          <p:cNvPr id="4" name="Slide Number Placeholder 3">
            <a:extLst>
              <a:ext uri="{FF2B5EF4-FFF2-40B4-BE49-F238E27FC236}">
                <a16:creationId xmlns:a16="http://schemas.microsoft.com/office/drawing/2014/main" id="{A3BBB996-797C-2517-ED90-C8766FD35912}"/>
              </a:ext>
            </a:extLst>
          </p:cNvPr>
          <p:cNvSpPr>
            <a:spLocks noGrp="1"/>
          </p:cNvSpPr>
          <p:nvPr>
            <p:ph type="sldNum" sz="quarter" idx="12"/>
          </p:nvPr>
        </p:nvSpPr>
        <p:spPr/>
        <p:txBody>
          <a:bodyPr/>
          <a:lstStyle/>
          <a:p>
            <a:fld id="{1F57BF9A-7B35-9447-9112-EAE7E91B4E99}" type="slidenum">
              <a:rPr lang="en-US" smtClean="0"/>
              <a:t>29</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EB4249C-FC0A-21A0-C005-F573EB342F99}"/>
                  </a:ext>
                </a:extLst>
              </p:cNvPr>
              <p:cNvSpPr txBox="1">
                <a:spLocks/>
              </p:cNvSpPr>
              <p:nvPr/>
            </p:nvSpPr>
            <p:spPr>
              <a:xfrm>
                <a:off x="295564" y="1188761"/>
                <a:ext cx="5800436" cy="4851821"/>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apply noise</a:t>
                </a:r>
              </a:p>
              <a:p>
                <a:r>
                  <a:rPr lang="en-US" dirty="0"/>
                  <a:t>        steering2 = </a:t>
                </a:r>
                <a:r>
                  <a:rPr lang="en-US" dirty="0" err="1"/>
                  <a:t>random.gauss</a:t>
                </a:r>
                <a:r>
                  <a:rPr lang="en-US" dirty="0"/>
                  <a:t>(steering, </a:t>
                </a:r>
                <a:r>
                  <a:rPr lang="en-US" dirty="0" err="1"/>
                  <a:t>self.steering_noise</a:t>
                </a:r>
                <a:r>
                  <a:rPr lang="en-US" dirty="0"/>
                  <a:t>)</a:t>
                </a:r>
              </a:p>
              <a:p>
                <a:r>
                  <a:rPr lang="en-US" dirty="0"/>
                  <a:t>        distance2 = </a:t>
                </a:r>
                <a:r>
                  <a:rPr lang="en-US" dirty="0" err="1"/>
                  <a:t>random.gauss</a:t>
                </a:r>
                <a:r>
                  <a:rPr lang="en-US" dirty="0"/>
                  <a:t>(distance, </a:t>
                </a:r>
                <a:r>
                  <a:rPr lang="en-US" dirty="0" err="1"/>
                  <a:t>self.distance_noise</a:t>
                </a:r>
                <a:r>
                  <a:rPr lang="en-US" dirty="0"/>
                  <a:t>)</a:t>
                </a:r>
              </a:p>
              <a:p>
                <a:r>
                  <a:rPr lang="en-US" dirty="0"/>
                  <a:t># apply steering drift</a:t>
                </a:r>
              </a:p>
              <a:p>
                <a:r>
                  <a:rPr lang="en-US" dirty="0"/>
                  <a:t>        steering2 += </a:t>
                </a:r>
                <a:r>
                  <a:rPr lang="en-US" dirty="0" err="1"/>
                  <a:t>self.steering_drift</a:t>
                </a:r>
                <a:endParaRPr lang="en-US" dirty="0"/>
              </a:p>
              <a:p>
                <a:r>
                  <a:rPr lang="en-US" dirty="0"/>
                  <a:t># noise and drift are all set to 0, so steering2 is steering angle </a:t>
                </a:r>
                <a14:m>
                  <m:oMath xmlns:m="http://schemas.openxmlformats.org/officeDocument/2006/math">
                    <m:r>
                      <a:rPr lang="en-US" i="1" smtClean="0">
                        <a:latin typeface="Cambria Math" panose="02040503050406030204" pitchFamily="18" charset="0"/>
                      </a:rPr>
                      <m:t>𝛿</m:t>
                    </m:r>
                  </m:oMath>
                </a14:m>
                <a:r>
                  <a:rPr lang="en-US" dirty="0"/>
                  <a:t>, distance2 is distance traveled per time step </a:t>
                </a:r>
                <a14:m>
                  <m:oMath xmlns:m="http://schemas.openxmlformats.org/officeDocument/2006/math">
                    <m:r>
                      <a:rPr lang="en-US" i="1" smtClean="0">
                        <a:latin typeface="Cambria Math" panose="02040503050406030204" pitchFamily="18" charset="0"/>
                      </a:rPr>
                      <m:t>𝑣𝑑𝑡</m:t>
                    </m:r>
                  </m:oMath>
                </a14:m>
                <a:endParaRPr lang="en-US" dirty="0"/>
              </a:p>
              <a:p>
                <a:r>
                  <a:rPr lang="en-US" dirty="0"/>
                  <a:t># Execute motion</a:t>
                </a:r>
              </a:p>
              <a:p>
                <a:r>
                  <a:rPr lang="en-US" dirty="0"/>
                  <a:t>turn = </a:t>
                </a:r>
                <a:r>
                  <a:rPr lang="en-US" dirty="0" err="1"/>
                  <a:t>np.tan</a:t>
                </a:r>
                <a:r>
                  <a:rPr lang="en-US" dirty="0"/>
                  <a:t>(steering2) * distance2 / </a:t>
                </a:r>
                <a:r>
                  <a:rPr lang="en-US" dirty="0" err="1"/>
                  <a:t>self.length</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smtClean="0">
                        <a:latin typeface="Cambria Math" panose="02040503050406030204" pitchFamily="18" charset="0"/>
                      </a:rPr>
                      <m:t>𝑑𝑡</m:t>
                    </m:r>
                    <m:r>
                      <a:rPr lang="en-US" i="1" dirty="0">
                        <a:latin typeface="Cambria Math" panose="02040503050406030204" pitchFamily="18" charset="0"/>
                      </a:rPr>
                      <m:t>=</m:t>
                    </m:r>
                    <m:f>
                      <m:fPr>
                        <m:ctrlPr>
                          <a:rPr lang="en-US" i="1" dirty="0">
                            <a:latin typeface="Cambria Math" panose="02040503050406030204" pitchFamily="18" charset="0"/>
                          </a:rPr>
                        </m:ctrlPr>
                      </m:fPr>
                      <m:num>
                        <m:func>
                          <m:funcPr>
                            <m:ctrlPr>
                              <a:rPr lang="en-US" i="1" dirty="0">
                                <a:latin typeface="Cambria Math" panose="02040503050406030204" pitchFamily="18" charset="0"/>
                              </a:rPr>
                            </m:ctrlPr>
                          </m:funcPr>
                          <m:fName>
                            <m:r>
                              <a:rPr lang="en-US" i="1" dirty="0">
                                <a:latin typeface="Cambria Math" panose="02040503050406030204" pitchFamily="18" charset="0"/>
                              </a:rPr>
                              <m:t>𝑣</m:t>
                            </m:r>
                            <m:r>
                              <m:rPr>
                                <m:sty m:val="p"/>
                              </m:rPr>
                              <a:rPr lang="en-US" dirty="0" smtClean="0">
                                <a:latin typeface="Cambria Math" panose="02040503050406030204" pitchFamily="18" charset="0"/>
                              </a:rPr>
                              <m:t>dt</m:t>
                            </m:r>
                            <m:r>
                              <a:rPr lang="en-US" dirty="0" smtClean="0">
                                <a:latin typeface="Cambria Math" panose="02040503050406030204" pitchFamily="18" charset="0"/>
                              </a:rPr>
                              <m:t> </m:t>
                            </m:r>
                            <m:r>
                              <m:rPr>
                                <m:sty m:val="p"/>
                              </m:rPr>
                              <a:rPr lang="en-US">
                                <a:latin typeface="Cambria Math" panose="02040503050406030204" pitchFamily="18" charset="0"/>
                              </a:rPr>
                              <m:t>tan</m:t>
                            </m:r>
                          </m:fName>
                          <m:e>
                            <m:r>
                              <a:rPr lang="en-US" i="1">
                                <a:latin typeface="Cambria Math" panose="02040503050406030204" pitchFamily="18" charset="0"/>
                              </a:rPr>
                              <m:t>𝛿</m:t>
                            </m:r>
                          </m:e>
                        </m:func>
                      </m:num>
                      <m:den>
                        <m:r>
                          <a:rPr lang="en-US" i="1">
                            <a:latin typeface="Cambria Math" panose="02040503050406030204" pitchFamily="18" charset="0"/>
                          </a:rPr>
                          <m:t>𝐿</m:t>
                        </m:r>
                      </m:den>
                    </m:f>
                  </m:oMath>
                </a14:m>
                <a:r>
                  <a:rPr lang="en-US" dirty="0"/>
                  <a:t>)</a:t>
                </a:r>
              </a:p>
              <a:p>
                <a:r>
                  <a:rPr lang="en-US" b="1" dirty="0"/>
                  <a:t>if abs(turn) &lt; tolerance: </a:t>
                </a:r>
                <a:r>
                  <a:rPr lang="en-US" dirty="0"/>
                  <a:t>(with small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𝜃</m:t>
                        </m:r>
                      </m:e>
                    </m:acc>
                    <m:r>
                      <a:rPr lang="en-US" i="1" dirty="0" smtClean="0">
                        <a:latin typeface="Cambria Math" panose="02040503050406030204" pitchFamily="18" charset="0"/>
                      </a:rPr>
                      <m:t>𝑑𝑡</m:t>
                    </m:r>
                  </m:oMath>
                </a14:m>
                <a:r>
                  <a:rPr lang="en-US" dirty="0"/>
                  <a:t>)</a:t>
                </a:r>
              </a:p>
              <a:p>
                <a:r>
                  <a:rPr lang="en-US" dirty="0"/>
                  <a:t># approximate by straight line motion</a:t>
                </a:r>
              </a:p>
              <a:p>
                <a:r>
                  <a:rPr lang="en-US" dirty="0" err="1"/>
                  <a:t>self.x</a:t>
                </a:r>
                <a:r>
                  <a:rPr lang="en-US" dirty="0"/>
                  <a:t> += distance2 * </a:t>
                </a:r>
                <a:r>
                  <a:rPr lang="en-US" dirty="0" err="1"/>
                  <a:t>np.cos</a:t>
                </a:r>
                <a:r>
                  <a:rPr lang="en-US" dirty="0"/>
                  <a:t>(</a:t>
                </a:r>
                <a:r>
                  <a:rPr lang="en-US" dirty="0" err="1"/>
                  <a:t>self.orientation</a:t>
                </a:r>
                <a:r>
                  <a:rPr lang="en-US" dirty="0"/>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dirty="0">
                        <a:latin typeface="Cambria Math" panose="02040503050406030204" pitchFamily="18" charset="0"/>
                      </a:rPr>
                      <m:t>𝑣𝑑𝑡</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𝜃</m:t>
                        </m:r>
                      </m:e>
                    </m:func>
                  </m:oMath>
                </a14:m>
                <a:r>
                  <a:rPr lang="en-US" dirty="0"/>
                  <a:t>)</a:t>
                </a:r>
              </a:p>
              <a:p>
                <a:r>
                  <a:rPr lang="en-US" dirty="0" err="1"/>
                  <a:t>self.y</a:t>
                </a:r>
                <a:r>
                  <a:rPr lang="en-US" dirty="0"/>
                  <a:t> += distance2 * </a:t>
                </a:r>
                <a:r>
                  <a:rPr lang="en-US" dirty="0" err="1"/>
                  <a:t>np.sin</a:t>
                </a:r>
                <a:r>
                  <a:rPr lang="en-US" dirty="0"/>
                  <a:t>(</a:t>
                </a:r>
                <a:r>
                  <a:rPr lang="en-US" dirty="0" err="1"/>
                  <a:t>self.orientation</a:t>
                </a:r>
                <a:r>
                  <a:rPr lang="en-US" dirty="0"/>
                  <a:t>)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dirty="0">
                        <a:latin typeface="Cambria Math" panose="02040503050406030204" pitchFamily="18" charset="0"/>
                      </a:rPr>
                      <m:t>𝑣𝑑𝑡</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oMath>
                </a14:m>
                <a:r>
                  <a:rPr lang="en-US" dirty="0"/>
                  <a:t>)</a:t>
                </a:r>
              </a:p>
              <a:p>
                <a:r>
                  <a:rPr lang="en-US" dirty="0" err="1"/>
                  <a:t>self.orientation</a:t>
                </a:r>
                <a:r>
                  <a:rPr lang="en-US" dirty="0"/>
                  <a:t> = (</a:t>
                </a:r>
                <a:r>
                  <a:rPr lang="en-US" dirty="0" err="1"/>
                  <a:t>self.orientation</a:t>
                </a:r>
                <a:r>
                  <a:rPr lang="en-US" dirty="0"/>
                  <a:t> + turn) % (2.0 * </a:t>
                </a:r>
                <a:r>
                  <a:rPr lang="en-US" dirty="0" err="1"/>
                  <a:t>np.pi</a:t>
                </a:r>
                <a:r>
                  <a:rPr lang="en-US" dirty="0"/>
                  <a: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smtClean="0">
                        <a:latin typeface="Cambria Math" panose="02040503050406030204" pitchFamily="18" charset="0"/>
                      </a:rPr>
                      <m:t>𝑑𝑡</m:t>
                    </m:r>
                  </m:oMath>
                </a14:m>
                <a:r>
                  <a:rPr lang="en-US" dirty="0"/>
                  <a:t>)%(</a:t>
                </a:r>
                <a14:m>
                  <m:oMath xmlns:m="http://schemas.openxmlformats.org/officeDocument/2006/math">
                    <m:r>
                      <a:rPr lang="en-US" i="1">
                        <a:latin typeface="Cambria Math" panose="02040503050406030204" pitchFamily="18" charset="0"/>
                      </a:rPr>
                      <m:t>2</m:t>
                    </m:r>
                    <m:r>
                      <a:rPr lang="en-US" i="1">
                        <a:latin typeface="Cambria Math" panose="02040503050406030204" pitchFamily="18" charset="0"/>
                      </a:rPr>
                      <m:t>𝜋</m:t>
                    </m:r>
                  </m:oMath>
                </a14:m>
                <a:r>
                  <a:rPr lang="en-US" dirty="0"/>
                  <a:t>)) </a:t>
                </a:r>
              </a:p>
              <a:p>
                <a:endParaRPr lang="en-SE" dirty="0"/>
              </a:p>
            </p:txBody>
          </p:sp>
        </mc:Choice>
        <mc:Fallback xmlns="">
          <p:sp>
            <p:nvSpPr>
              <p:cNvPr id="5" name="Content Placeholder 2">
                <a:extLst>
                  <a:ext uri="{FF2B5EF4-FFF2-40B4-BE49-F238E27FC236}">
                    <a16:creationId xmlns:a16="http://schemas.microsoft.com/office/drawing/2014/main" id="{6EB4249C-FC0A-21A0-C005-F573EB342F99}"/>
                  </a:ext>
                </a:extLst>
              </p:cNvPr>
              <p:cNvSpPr txBox="1">
                <a:spLocks noRot="1" noChangeAspect="1" noMove="1" noResize="1" noEditPoints="1" noAdjustHandles="1" noChangeArrowheads="1" noChangeShapeType="1" noTextEdit="1"/>
              </p:cNvSpPr>
              <p:nvPr/>
            </p:nvSpPr>
            <p:spPr>
              <a:xfrm>
                <a:off x="295564" y="1188761"/>
                <a:ext cx="5800436" cy="4851821"/>
              </a:xfrm>
              <a:prstGeom prst="rect">
                <a:avLst/>
              </a:prstGeom>
              <a:blipFill>
                <a:blip r:embed="rId2"/>
                <a:stretch>
                  <a:fillRect l="-315" t="-138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3172A5B7-AE20-FB10-0853-199E545300F2}"/>
                  </a:ext>
                </a:extLst>
              </p:cNvPr>
              <p:cNvSpPr txBox="1">
                <a:spLocks/>
              </p:cNvSpPr>
              <p:nvPr/>
            </p:nvSpPr>
            <p:spPr bwMode="auto">
              <a:xfrm>
                <a:off x="6179200" y="1188761"/>
                <a:ext cx="6003284" cy="36045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47500" lnSpcReduction="20000"/>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b="1" kern="0" dirty="0"/>
                  <a:t>else: </a:t>
                </a:r>
                <a:r>
                  <a:rPr lang="en-US" dirty="0"/>
                  <a:t>(with large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dirty="0">
                        <a:latin typeface="Cambria Math" panose="02040503050406030204" pitchFamily="18" charset="0"/>
                      </a:rPr>
                      <m:t>𝑑𝑡</m:t>
                    </m:r>
                  </m:oMath>
                </a14:m>
                <a:r>
                  <a:rPr lang="en-US" dirty="0"/>
                  <a:t>)</a:t>
                </a:r>
                <a:endParaRPr lang="en-US" b="1" kern="0" dirty="0"/>
              </a:p>
              <a:p>
                <a:r>
                  <a:rPr lang="en-US" kern="0" dirty="0"/>
                  <a:t># Circular motion around ICR</a:t>
                </a:r>
              </a:p>
              <a:p>
                <a:r>
                  <a:rPr lang="en-US" kern="0" dirty="0"/>
                  <a:t>radius = distance2 / turn (</a:t>
                </a:r>
                <a14:m>
                  <m:oMath xmlns:m="http://schemas.openxmlformats.org/officeDocument/2006/math">
                    <m:r>
                      <a:rPr lang="en-US" i="1" kern="0">
                        <a:latin typeface="Cambria Math" panose="02040503050406030204" pitchFamily="18" charset="0"/>
                      </a:rPr>
                      <m:t>𝑅</m:t>
                    </m:r>
                    <m:r>
                      <a:rPr lang="en-US" i="1" kern="0">
                        <a:latin typeface="Cambria Math" panose="02040503050406030204" pitchFamily="18" charset="0"/>
                      </a:rPr>
                      <m:t>=</m:t>
                    </m:r>
                    <m:f>
                      <m:fPr>
                        <m:ctrlPr>
                          <a:rPr lang="en-US" i="1" kern="0">
                            <a:latin typeface="Cambria Math" panose="02040503050406030204" pitchFamily="18" charset="0"/>
                          </a:rPr>
                        </m:ctrlPr>
                      </m:fPr>
                      <m:num>
                        <m:r>
                          <a:rPr lang="en-US" i="1" kern="0">
                            <a:latin typeface="Cambria Math" panose="02040503050406030204" pitchFamily="18" charset="0"/>
                          </a:rPr>
                          <m:t>𝑣</m:t>
                        </m:r>
                      </m:num>
                      <m:den>
                        <m:acc>
                          <m:accPr>
                            <m:chr m:val="̇"/>
                            <m:ctrlPr>
                              <a:rPr lang="en-US" i="1">
                                <a:latin typeface="Cambria Math" panose="02040503050406030204" pitchFamily="18" charset="0"/>
                              </a:rPr>
                            </m:ctrlPr>
                          </m:accPr>
                          <m:e>
                            <m:r>
                              <a:rPr lang="en-US" i="1">
                                <a:latin typeface="Cambria Math" panose="02040503050406030204" pitchFamily="18" charset="0"/>
                              </a:rPr>
                              <m:t>𝜃</m:t>
                            </m:r>
                          </m:e>
                        </m:acc>
                      </m:den>
                    </m:f>
                  </m:oMath>
                </a14:m>
                <a:r>
                  <a:rPr lang="en-US" kern="0" dirty="0"/>
                  <a:t>; can also use </a:t>
                </a:r>
                <a14:m>
                  <m:oMath xmlns:m="http://schemas.openxmlformats.org/officeDocument/2006/math">
                    <m:r>
                      <a:rPr lang="en-US" i="1" kern="0">
                        <a:latin typeface="Cambria Math" panose="02040503050406030204" pitchFamily="18" charset="0"/>
                      </a:rPr>
                      <m:t>𝑅</m:t>
                    </m:r>
                    <m:r>
                      <a:rPr lang="en-US" i="1" kern="0">
                        <a:latin typeface="Cambria Math" panose="02040503050406030204" pitchFamily="18" charset="0"/>
                      </a:rPr>
                      <m:t>=</m:t>
                    </m:r>
                    <m:f>
                      <m:fPr>
                        <m:ctrlPr>
                          <a:rPr lang="en-US" b="0" i="1" kern="0" smtClean="0">
                            <a:latin typeface="Cambria Math" panose="02040503050406030204" pitchFamily="18" charset="0"/>
                          </a:rPr>
                        </m:ctrlPr>
                      </m:fPr>
                      <m:num>
                        <m:r>
                          <a:rPr lang="en-US" b="0" i="1" kern="0" smtClean="0">
                            <a:latin typeface="Cambria Math" panose="02040503050406030204" pitchFamily="18" charset="0"/>
                          </a:rPr>
                          <m:t>𝐿</m:t>
                        </m:r>
                      </m:num>
                      <m:den>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tan</m:t>
                            </m:r>
                          </m:fName>
                          <m:e>
                            <m:r>
                              <a:rPr lang="en-US" b="0" i="1" smtClean="0">
                                <a:latin typeface="Cambria Math" panose="02040503050406030204" pitchFamily="18" charset="0"/>
                              </a:rPr>
                              <m:t>𝛿</m:t>
                            </m:r>
                          </m:e>
                        </m:func>
                      </m:den>
                    </m:f>
                  </m:oMath>
                </a14:m>
                <a:r>
                  <a:rPr lang="en-US" kern="0" dirty="0"/>
                  <a:t>)</a:t>
                </a:r>
              </a:p>
              <a:p>
                <a:r>
                  <a:rPr lang="en-US" kern="0" dirty="0"/>
                  <a:t># compute ICR’s coordinates (cx, cy)</a:t>
                </a:r>
              </a:p>
              <a:p>
                <a:r>
                  <a:rPr lang="en-US" kern="0" dirty="0"/>
                  <a:t>cx = </a:t>
                </a:r>
                <a:r>
                  <a:rPr lang="en-US" kern="0" dirty="0" err="1"/>
                  <a:t>self.x</a:t>
                </a:r>
                <a:r>
                  <a:rPr lang="en-US" kern="0" dirty="0"/>
                  <a:t> - (</a:t>
                </a:r>
                <a:r>
                  <a:rPr lang="en-US" kern="0" dirty="0" err="1"/>
                  <a:t>np.sin</a:t>
                </a:r>
                <a:r>
                  <a:rPr lang="en-US" kern="0" dirty="0"/>
                  <a:t>(</a:t>
                </a:r>
                <a:r>
                  <a:rPr lang="en-US" kern="0" dirty="0" err="1"/>
                  <a:t>self.orientation</a:t>
                </a:r>
                <a:r>
                  <a:rPr lang="en-US" kern="0" dirty="0"/>
                  <a:t>) * radius) (</a:t>
                </a:r>
                <a14:m>
                  <m:oMath xmlns:m="http://schemas.openxmlformats.org/officeDocument/2006/math">
                    <m:r>
                      <m:rPr>
                        <m:sty m:val="p"/>
                      </m:rPr>
                      <a:rPr lang="en-US" kern="0">
                        <a:latin typeface="Cambria Math" panose="02040503050406030204" pitchFamily="18" charset="0"/>
                      </a:rPr>
                      <m:t>c</m:t>
                    </m:r>
                    <m:r>
                      <a:rPr lang="en-US" i="1" kern="0">
                        <a:latin typeface="Cambria Math" panose="02040503050406030204" pitchFamily="18" charset="0"/>
                      </a:rPr>
                      <m:t>𝑥</m:t>
                    </m:r>
                    <m:r>
                      <a:rPr lang="en-US" i="1" kern="0">
                        <a:latin typeface="Cambria Math" panose="02040503050406030204" pitchFamily="18" charset="0"/>
                      </a:rPr>
                      <m:t>=</m:t>
                    </m:r>
                    <m:r>
                      <a:rPr lang="en-US" i="1" kern="0">
                        <a:latin typeface="Cambria Math" panose="02040503050406030204" pitchFamily="18" charset="0"/>
                      </a:rPr>
                      <m:t>𝑥</m:t>
                    </m:r>
                    <m:r>
                      <a:rPr lang="en-US" i="1" kern="0">
                        <a:latin typeface="Cambria Math" panose="02040503050406030204" pitchFamily="18" charset="0"/>
                      </a:rPr>
                      <m:t>−</m:t>
                    </m:r>
                    <m:r>
                      <a:rPr lang="en-US" i="1" kern="0">
                        <a:latin typeface="Cambria Math" panose="02040503050406030204" pitchFamily="18" charset="0"/>
                      </a:rPr>
                      <m:t>𝑅</m:t>
                    </m:r>
                    <m:func>
                      <m:funcPr>
                        <m:ctrlPr>
                          <a:rPr lang="en-US" kern="0">
                            <a:latin typeface="Cambria Math" panose="02040503050406030204" pitchFamily="18" charset="0"/>
                          </a:rPr>
                        </m:ctrlPr>
                      </m:funcPr>
                      <m:fName>
                        <m:r>
                          <m:rPr>
                            <m:sty m:val="p"/>
                          </m:rPr>
                          <a:rPr lang="en-US" kern="0">
                            <a:latin typeface="Cambria Math" panose="02040503050406030204" pitchFamily="18" charset="0"/>
                          </a:rPr>
                          <m:t>sin</m:t>
                        </m:r>
                      </m:fName>
                      <m:e>
                        <m:r>
                          <a:rPr lang="en-US" i="1" kern="0">
                            <a:latin typeface="Cambria Math" panose="02040503050406030204" pitchFamily="18" charset="0"/>
                          </a:rPr>
                          <m:t>𝜃</m:t>
                        </m:r>
                      </m:e>
                    </m:func>
                  </m:oMath>
                </a14:m>
                <a:r>
                  <a:rPr lang="en-US" kern="0" dirty="0"/>
                  <a:t>) </a:t>
                </a:r>
              </a:p>
              <a:p>
                <a:r>
                  <a:rPr lang="en-US" kern="0" dirty="0"/>
                  <a:t>cy = </a:t>
                </a:r>
                <a:r>
                  <a:rPr lang="en-US" kern="0" dirty="0" err="1"/>
                  <a:t>self.y</a:t>
                </a:r>
                <a:r>
                  <a:rPr lang="en-US" kern="0" dirty="0"/>
                  <a:t> + (</a:t>
                </a:r>
                <a:r>
                  <a:rPr lang="en-US" kern="0" dirty="0" err="1"/>
                  <a:t>np.cos</a:t>
                </a:r>
                <a:r>
                  <a:rPr lang="en-US" kern="0" dirty="0"/>
                  <a:t>(</a:t>
                </a:r>
                <a:r>
                  <a:rPr lang="en-US" kern="0" dirty="0" err="1"/>
                  <a:t>self.orientation</a:t>
                </a:r>
                <a:r>
                  <a:rPr lang="en-US" kern="0" dirty="0"/>
                  <a:t>) * radius) (</a:t>
                </a:r>
                <a14:m>
                  <m:oMath xmlns:m="http://schemas.openxmlformats.org/officeDocument/2006/math">
                    <m:r>
                      <m:rPr>
                        <m:sty m:val="p"/>
                      </m:rPr>
                      <a:rPr lang="en-US" kern="0">
                        <a:latin typeface="Cambria Math" panose="02040503050406030204" pitchFamily="18" charset="0"/>
                      </a:rPr>
                      <m:t>c</m:t>
                    </m:r>
                    <m:r>
                      <a:rPr lang="en-US" i="1" kern="0">
                        <a:latin typeface="Cambria Math" panose="02040503050406030204" pitchFamily="18" charset="0"/>
                      </a:rPr>
                      <m:t>𝑦</m:t>
                    </m:r>
                    <m:r>
                      <a:rPr lang="en-US" i="1" kern="0">
                        <a:latin typeface="Cambria Math" panose="02040503050406030204" pitchFamily="18" charset="0"/>
                      </a:rPr>
                      <m:t>=</m:t>
                    </m:r>
                    <m:r>
                      <a:rPr lang="en-US" i="1" kern="0">
                        <a:latin typeface="Cambria Math" panose="02040503050406030204" pitchFamily="18" charset="0"/>
                      </a:rPr>
                      <m:t>𝑦</m:t>
                    </m:r>
                    <m:r>
                      <a:rPr lang="en-US" i="1" kern="0">
                        <a:latin typeface="Cambria Math" panose="02040503050406030204" pitchFamily="18" charset="0"/>
                      </a:rPr>
                      <m:t>+</m:t>
                    </m:r>
                    <m:r>
                      <a:rPr lang="en-US" i="1" kern="0">
                        <a:latin typeface="Cambria Math" panose="02040503050406030204" pitchFamily="18" charset="0"/>
                      </a:rPr>
                      <m:t>𝑅</m:t>
                    </m:r>
                    <m:func>
                      <m:funcPr>
                        <m:ctrlPr>
                          <a:rPr lang="en-US" kern="0">
                            <a:latin typeface="Cambria Math" panose="02040503050406030204" pitchFamily="18" charset="0"/>
                          </a:rPr>
                        </m:ctrlPr>
                      </m:funcPr>
                      <m:fName>
                        <m:r>
                          <m:rPr>
                            <m:sty m:val="p"/>
                          </m:rPr>
                          <a:rPr lang="en-US" kern="0">
                            <a:latin typeface="Cambria Math" panose="02040503050406030204" pitchFamily="18" charset="0"/>
                          </a:rPr>
                          <m:t>cos</m:t>
                        </m:r>
                      </m:fName>
                      <m:e>
                        <m:r>
                          <a:rPr lang="en-US" i="1" kern="0">
                            <a:latin typeface="Cambria Math" panose="02040503050406030204" pitchFamily="18" charset="0"/>
                          </a:rPr>
                          <m:t>𝜃</m:t>
                        </m:r>
                      </m:e>
                    </m:func>
                  </m:oMath>
                </a14:m>
                <a:r>
                  <a:rPr lang="en-US" kern="0" dirty="0"/>
                  <a:t>)</a:t>
                </a:r>
              </a:p>
              <a:p>
                <a:r>
                  <a:rPr lang="en-US" kern="0" dirty="0" err="1"/>
                  <a:t>self.orientation</a:t>
                </a:r>
                <a:r>
                  <a:rPr lang="en-US" kern="0" dirty="0"/>
                  <a:t> = (</a:t>
                </a:r>
                <a:r>
                  <a:rPr lang="en-US" kern="0" dirty="0" err="1"/>
                  <a:t>self.orientation</a:t>
                </a:r>
                <a:r>
                  <a:rPr lang="en-US" kern="0" dirty="0"/>
                  <a:t> + turn) % (2.0 * </a:t>
                </a:r>
                <a:r>
                  <a:rPr lang="en-US" kern="0" dirty="0" err="1"/>
                  <a:t>np.pi</a:t>
                </a:r>
                <a:r>
                  <a:rPr lang="en-US" kern="0" dirty="0"/>
                  <a: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m:rPr>
                        <m:nor/>
                      </m:rPr>
                      <a:rPr lang="en-US" i="0" dirty="0"/>
                      <m:t>)%(</m:t>
                    </m:r>
                    <m:r>
                      <a:rPr lang="en-US" i="1">
                        <a:latin typeface="Cambria Math" panose="02040503050406030204" pitchFamily="18" charset="0"/>
                      </a:rPr>
                      <m:t>2</m:t>
                    </m:r>
                    <m:r>
                      <a:rPr lang="en-US" i="1">
                        <a:latin typeface="Cambria Math" panose="02040503050406030204" pitchFamily="18" charset="0"/>
                      </a:rPr>
                      <m:t>𝜋</m:t>
                    </m:r>
                    <m:r>
                      <m:rPr>
                        <m:nor/>
                      </m:rPr>
                      <a:rPr lang="en-US" i="0" dirty="0"/>
                      <m:t>)</m:t>
                    </m:r>
                  </m:oMath>
                </a14:m>
                <a:r>
                  <a:rPr lang="en-US" kern="0" dirty="0"/>
                  <a:t>)</a:t>
                </a:r>
              </a:p>
              <a:p>
                <a:r>
                  <a:rPr lang="en-US" kern="0" dirty="0"/>
                  <a:t># compute vehicle’s x, y coordinate after rotation around ICR</a:t>
                </a:r>
              </a:p>
              <a:p>
                <a:r>
                  <a:rPr lang="en-US" kern="0" dirty="0" err="1"/>
                  <a:t>self.x</a:t>
                </a:r>
                <a:r>
                  <a:rPr lang="en-US" kern="0" dirty="0"/>
                  <a:t> = cx + (</a:t>
                </a:r>
                <a:r>
                  <a:rPr lang="en-US" kern="0" dirty="0" err="1"/>
                  <a:t>np.sin</a:t>
                </a:r>
                <a:r>
                  <a:rPr lang="en-US" kern="0" dirty="0"/>
                  <a:t>(</a:t>
                </a:r>
                <a:r>
                  <a:rPr lang="en-US" kern="0" dirty="0" err="1"/>
                  <a:t>self.orientation</a:t>
                </a:r>
                <a:r>
                  <a:rPr lang="en-US" kern="0" dirty="0"/>
                  <a:t>) * radius) (</a:t>
                </a:r>
                <a14:m>
                  <m:oMath xmlns:m="http://schemas.openxmlformats.org/officeDocument/2006/math">
                    <m:r>
                      <a:rPr lang="en-US" i="1" kern="0">
                        <a:latin typeface="Cambria Math" panose="02040503050406030204" pitchFamily="18" charset="0"/>
                      </a:rPr>
                      <m:t>𝑥</m:t>
                    </m:r>
                    <m:r>
                      <a:rPr lang="en-US" i="1" kern="0">
                        <a:latin typeface="Cambria Math" panose="02040503050406030204" pitchFamily="18" charset="0"/>
                      </a:rPr>
                      <m:t>=</m:t>
                    </m:r>
                    <m:r>
                      <a:rPr lang="en-US" i="1" kern="0">
                        <a:latin typeface="Cambria Math" panose="02040503050406030204" pitchFamily="18" charset="0"/>
                      </a:rPr>
                      <m:t>𝑐𝑥</m:t>
                    </m:r>
                    <m:r>
                      <a:rPr lang="en-US" i="1" kern="0">
                        <a:latin typeface="Cambria Math" panose="02040503050406030204" pitchFamily="18" charset="0"/>
                      </a:rPr>
                      <m:t>+</m:t>
                    </m:r>
                    <m:r>
                      <a:rPr lang="en-US" i="1" kern="0">
                        <a:latin typeface="Cambria Math" panose="02040503050406030204" pitchFamily="18" charset="0"/>
                      </a:rPr>
                      <m:t>𝑅</m:t>
                    </m:r>
                    <m:func>
                      <m:funcPr>
                        <m:ctrlPr>
                          <a:rPr lang="en-US" kern="0">
                            <a:latin typeface="Cambria Math" panose="02040503050406030204" pitchFamily="18" charset="0"/>
                          </a:rPr>
                        </m:ctrlPr>
                      </m:funcPr>
                      <m:fName>
                        <m:r>
                          <m:rPr>
                            <m:sty m:val="p"/>
                          </m:rPr>
                          <a:rPr lang="en-US" kern="0">
                            <a:latin typeface="Cambria Math" panose="02040503050406030204" pitchFamily="18" charset="0"/>
                          </a:rPr>
                          <m:t>sin</m:t>
                        </m:r>
                      </m:fName>
                      <m:e>
                        <m:r>
                          <a:rPr lang="en-US" i="1" kern="0">
                            <a:latin typeface="Cambria Math" panose="02040503050406030204" pitchFamily="18" charset="0"/>
                          </a:rPr>
                          <m:t>𝜃</m:t>
                        </m:r>
                      </m:e>
                    </m:func>
                  </m:oMath>
                </a14:m>
                <a:r>
                  <a:rPr lang="en-US" kern="0" dirty="0"/>
                  <a:t>)</a:t>
                </a:r>
              </a:p>
              <a:p>
                <a:r>
                  <a:rPr lang="en-US" kern="0" dirty="0" err="1"/>
                  <a:t>self.y</a:t>
                </a:r>
                <a:r>
                  <a:rPr lang="en-US" kern="0" dirty="0"/>
                  <a:t> = cy - (</a:t>
                </a:r>
                <a:r>
                  <a:rPr lang="en-US" kern="0" dirty="0" err="1"/>
                  <a:t>np.cos</a:t>
                </a:r>
                <a:r>
                  <a:rPr lang="en-US" kern="0" dirty="0"/>
                  <a:t>(</a:t>
                </a:r>
                <a:r>
                  <a:rPr lang="en-US" kern="0" dirty="0" err="1"/>
                  <a:t>self.orientation</a:t>
                </a:r>
                <a:r>
                  <a:rPr lang="en-US" kern="0" dirty="0"/>
                  <a:t>) * radius) (</a:t>
                </a:r>
                <a14:m>
                  <m:oMath xmlns:m="http://schemas.openxmlformats.org/officeDocument/2006/math">
                    <m:r>
                      <a:rPr lang="en-US" i="1" kern="0">
                        <a:latin typeface="Cambria Math" panose="02040503050406030204" pitchFamily="18" charset="0"/>
                      </a:rPr>
                      <m:t>𝑦</m:t>
                    </m:r>
                    <m:r>
                      <a:rPr lang="en-US" i="1" kern="0">
                        <a:latin typeface="Cambria Math" panose="02040503050406030204" pitchFamily="18" charset="0"/>
                      </a:rPr>
                      <m:t>=</m:t>
                    </m:r>
                    <m:r>
                      <a:rPr lang="en-US" i="1" kern="0">
                        <a:latin typeface="Cambria Math" panose="02040503050406030204" pitchFamily="18" charset="0"/>
                      </a:rPr>
                      <m:t>𝑐𝑦</m:t>
                    </m:r>
                    <m:r>
                      <a:rPr lang="en-US" i="1" kern="0">
                        <a:latin typeface="Cambria Math" panose="02040503050406030204" pitchFamily="18" charset="0"/>
                      </a:rPr>
                      <m:t>−</m:t>
                    </m:r>
                    <m:r>
                      <a:rPr lang="en-US" i="1" kern="0">
                        <a:latin typeface="Cambria Math" panose="02040503050406030204" pitchFamily="18" charset="0"/>
                      </a:rPr>
                      <m:t>𝑅</m:t>
                    </m:r>
                    <m:func>
                      <m:funcPr>
                        <m:ctrlPr>
                          <a:rPr lang="en-US" kern="0">
                            <a:latin typeface="Cambria Math" panose="02040503050406030204" pitchFamily="18" charset="0"/>
                          </a:rPr>
                        </m:ctrlPr>
                      </m:funcPr>
                      <m:fName>
                        <m:r>
                          <m:rPr>
                            <m:sty m:val="p"/>
                          </m:rPr>
                          <a:rPr lang="en-US" kern="0">
                            <a:latin typeface="Cambria Math" panose="02040503050406030204" pitchFamily="18" charset="0"/>
                          </a:rPr>
                          <m:t>cos</m:t>
                        </m:r>
                      </m:fName>
                      <m:e>
                        <m:r>
                          <a:rPr lang="en-US" i="1" kern="0">
                            <a:latin typeface="Cambria Math" panose="02040503050406030204" pitchFamily="18" charset="0"/>
                          </a:rPr>
                          <m:t>𝜃</m:t>
                        </m:r>
                      </m:e>
                    </m:func>
                  </m:oMath>
                </a14:m>
                <a:r>
                  <a:rPr lang="en-US" kern="0" dirty="0"/>
                  <a:t>)</a:t>
                </a:r>
                <a:endParaRPr lang="en-SE" kern="0" dirty="0"/>
              </a:p>
            </p:txBody>
          </p:sp>
        </mc:Choice>
        <mc:Fallback xmlns="">
          <p:sp>
            <p:nvSpPr>
              <p:cNvPr id="6" name="Content Placeholder 2">
                <a:extLst>
                  <a:ext uri="{FF2B5EF4-FFF2-40B4-BE49-F238E27FC236}">
                    <a16:creationId xmlns:a16="http://schemas.microsoft.com/office/drawing/2014/main" id="{3172A5B7-AE20-FB10-0853-199E545300F2}"/>
                  </a:ext>
                </a:extLst>
              </p:cNvPr>
              <p:cNvSpPr txBox="1">
                <a:spLocks noRot="1" noChangeAspect="1" noMove="1" noResize="1" noEditPoints="1" noAdjustHandles="1" noChangeArrowheads="1" noChangeShapeType="1" noTextEdit="1"/>
              </p:cNvSpPr>
              <p:nvPr/>
            </p:nvSpPr>
            <p:spPr bwMode="auto">
              <a:xfrm>
                <a:off x="6179200" y="1188761"/>
                <a:ext cx="6003284" cy="3604520"/>
              </a:xfrm>
              <a:prstGeom prst="rect">
                <a:avLst/>
              </a:prstGeom>
              <a:blipFill>
                <a:blip r:embed="rId3"/>
                <a:stretch>
                  <a:fillRect l="-508" t="-1354"/>
                </a:stretch>
              </a:blipFill>
              <a:ln w="9525">
                <a:noFill/>
                <a:miter lim="800000"/>
                <a:headEnd/>
                <a:tailEnd/>
              </a:ln>
            </p:spPr>
            <p:txBody>
              <a:bodyPr/>
              <a:lstStyle/>
              <a:p>
                <a:r>
                  <a:rPr lang="en-SE">
                    <a:noFill/>
                  </a:rPr>
                  <a:t> </a:t>
                </a:r>
              </a:p>
            </p:txBody>
          </p:sp>
        </mc:Fallback>
      </mc:AlternateContent>
      <p:grpSp>
        <p:nvGrpSpPr>
          <p:cNvPr id="7" name="Group 6">
            <a:extLst>
              <a:ext uri="{FF2B5EF4-FFF2-40B4-BE49-F238E27FC236}">
                <a16:creationId xmlns:a16="http://schemas.microsoft.com/office/drawing/2014/main" id="{10CAAB00-F3CA-B77D-CD6B-DAEE3B6B98F9}"/>
              </a:ext>
            </a:extLst>
          </p:cNvPr>
          <p:cNvGrpSpPr/>
          <p:nvPr/>
        </p:nvGrpSpPr>
        <p:grpSpPr>
          <a:xfrm>
            <a:off x="6962225" y="4090366"/>
            <a:ext cx="4276194" cy="2408864"/>
            <a:chOff x="3779912" y="3938215"/>
            <a:chExt cx="5225088" cy="2909352"/>
          </a:xfrm>
        </p:grpSpPr>
        <p:pic>
          <p:nvPicPr>
            <p:cNvPr id="8" name="Picture 7">
              <a:extLst>
                <a:ext uri="{FF2B5EF4-FFF2-40B4-BE49-F238E27FC236}">
                  <a16:creationId xmlns:a16="http://schemas.microsoft.com/office/drawing/2014/main" id="{90189A28-3F14-876D-3E2A-1ADBF7248F20}"/>
                </a:ext>
              </a:extLst>
            </p:cNvPr>
            <p:cNvPicPr>
              <a:picLocks noChangeAspect="1"/>
            </p:cNvPicPr>
            <p:nvPr/>
          </p:nvPicPr>
          <p:blipFill>
            <a:blip r:embed="rId4"/>
            <a:stretch>
              <a:fillRect/>
            </a:stretch>
          </p:blipFill>
          <p:spPr>
            <a:xfrm>
              <a:off x="4583418" y="4037746"/>
              <a:ext cx="4421582" cy="261223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BCB638-700C-E3A1-1CD5-D645FA37BE24}"/>
                    </a:ext>
                  </a:extLst>
                </p:cNvPr>
                <p:cNvSpPr txBox="1"/>
                <p:nvPr/>
              </p:nvSpPr>
              <p:spPr>
                <a:xfrm>
                  <a:off x="4943459" y="6465317"/>
                  <a:ext cx="812679" cy="382250"/>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m:t>
                        </m:r>
                      </m:oMath>
                    </m:oMathPara>
                  </a14:m>
                  <a:endParaRPr lang="en-SE" sz="1400" dirty="0"/>
                </a:p>
              </p:txBody>
            </p:sp>
          </mc:Choice>
          <mc:Fallback xmlns="">
            <p:sp>
              <p:nvSpPr>
                <p:cNvPr id="7" name="TextBox 6">
                  <a:extLst>
                    <a:ext uri="{FF2B5EF4-FFF2-40B4-BE49-F238E27FC236}">
                      <a16:creationId xmlns:a16="http://schemas.microsoft.com/office/drawing/2014/main" id="{3E5A2BBC-50B5-4248-A140-9ACB58883450}"/>
                    </a:ext>
                  </a:extLst>
                </p:cNvPr>
                <p:cNvSpPr txBox="1">
                  <a:spLocks noRot="1" noChangeAspect="1" noMove="1" noResize="1" noEditPoints="1" noAdjustHandles="1" noChangeArrowheads="1" noChangeShapeType="1" noTextEdit="1"/>
                </p:cNvSpPr>
                <p:nvPr/>
              </p:nvSpPr>
              <p:spPr>
                <a:xfrm>
                  <a:off x="4943459" y="6465317"/>
                  <a:ext cx="812679" cy="382250"/>
                </a:xfrm>
                <a:prstGeom prst="rect">
                  <a:avLst/>
                </a:prstGeom>
                <a:blipFill>
                  <a:blip r:embed="rId5"/>
                  <a:stretch>
                    <a:fillRect b="-5769"/>
                  </a:stretch>
                </a:blipFill>
              </p:spPr>
              <p:txBody>
                <a:bodyPr/>
                <a:lstStyle/>
                <a:p>
                  <a:r>
                    <a:rPr lang="en-SE">
                      <a:noFill/>
                    </a:rPr>
                    <a:t> </a:t>
                  </a:r>
                </a:p>
              </p:txBody>
            </p:sp>
          </mc:Fallback>
        </mc:AlternateContent>
        <p:cxnSp>
          <p:nvCxnSpPr>
            <p:cNvPr id="10" name="Straight Connector 9">
              <a:extLst>
                <a:ext uri="{FF2B5EF4-FFF2-40B4-BE49-F238E27FC236}">
                  <a16:creationId xmlns:a16="http://schemas.microsoft.com/office/drawing/2014/main" id="{B0511927-C65D-0935-A40F-3AECC775EA59}"/>
                </a:ext>
              </a:extLst>
            </p:cNvPr>
            <p:cNvCxnSpPr>
              <a:cxnSpLocks/>
            </p:cNvCxnSpPr>
            <p:nvPr/>
          </p:nvCxnSpPr>
          <p:spPr bwMode="auto">
            <a:xfrm>
              <a:off x="4655426" y="4290413"/>
              <a:ext cx="0" cy="2174904"/>
            </a:xfrm>
            <a:prstGeom prst="line">
              <a:avLst/>
            </a:prstGeom>
            <a:noFill/>
            <a:ln w="6350"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AD0E6683-0511-9908-EE8F-E07DD613CA46}"/>
                </a:ext>
              </a:extLst>
            </p:cNvPr>
            <p:cNvCxnSpPr>
              <a:cxnSpLocks/>
            </p:cNvCxnSpPr>
            <p:nvPr/>
          </p:nvCxnSpPr>
          <p:spPr bwMode="auto">
            <a:xfrm flipH="1">
              <a:off x="4644876" y="6450783"/>
              <a:ext cx="576064" cy="814"/>
            </a:xfrm>
            <a:prstGeom prst="line">
              <a:avLst/>
            </a:prstGeom>
            <a:noFill/>
            <a:ln w="635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029ECD0-BD56-0EB3-1104-1ABCB29F6FC1}"/>
                    </a:ext>
                  </a:extLst>
                </p:cNvPr>
                <p:cNvSpPr txBox="1"/>
                <p:nvPr/>
              </p:nvSpPr>
              <p:spPr>
                <a:xfrm>
                  <a:off x="4554217" y="4548346"/>
                  <a:ext cx="423023" cy="382250"/>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𝜃</m:t>
                        </m:r>
                      </m:oMath>
                    </m:oMathPara>
                  </a14:m>
                  <a:endParaRPr lang="en-SE" sz="1400" dirty="0"/>
                </a:p>
              </p:txBody>
            </p:sp>
          </mc:Choice>
          <mc:Fallback xmlns="">
            <p:sp>
              <p:nvSpPr>
                <p:cNvPr id="14" name="TextBox 13">
                  <a:extLst>
                    <a:ext uri="{FF2B5EF4-FFF2-40B4-BE49-F238E27FC236}">
                      <a16:creationId xmlns:a16="http://schemas.microsoft.com/office/drawing/2014/main" id="{1D0A7B88-F7FD-4781-B256-94614DB53B22}"/>
                    </a:ext>
                  </a:extLst>
                </p:cNvPr>
                <p:cNvSpPr txBox="1">
                  <a:spLocks noRot="1" noChangeAspect="1" noMove="1" noResize="1" noEditPoints="1" noAdjustHandles="1" noChangeArrowheads="1" noChangeShapeType="1" noTextEdit="1"/>
                </p:cNvSpPr>
                <p:nvPr/>
              </p:nvSpPr>
              <p:spPr>
                <a:xfrm>
                  <a:off x="4554217" y="4548346"/>
                  <a:ext cx="423023" cy="382250"/>
                </a:xfrm>
                <a:prstGeom prst="rect">
                  <a:avLst/>
                </a:prstGeom>
                <a:blipFill>
                  <a:blip r:embed="rId6"/>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D522CCF-F0FD-62CC-5889-63244E9CE8E8}"/>
                    </a:ext>
                  </a:extLst>
                </p:cNvPr>
                <p:cNvSpPr txBox="1"/>
                <p:nvPr/>
              </p:nvSpPr>
              <p:spPr>
                <a:xfrm>
                  <a:off x="4554217" y="6149698"/>
                  <a:ext cx="1095223" cy="382250"/>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m:t>
                        </m:r>
                        <m:r>
                          <a:rPr lang="en-US" sz="1400" b="0" i="1" smtClean="0">
                            <a:latin typeface="Cambria Math" panose="02040503050406030204" pitchFamily="18" charset="0"/>
                          </a:rPr>
                          <m:t>𝑅</m:t>
                        </m:r>
                        <m:func>
                          <m:funcPr>
                            <m:ctrlPr>
                              <a:rPr lang="en-US" sz="1400" b="0" i="0" smtClean="0">
                                <a:latin typeface="Cambria Math" panose="02040503050406030204" pitchFamily="18" charset="0"/>
                              </a:rPr>
                            </m:ctrlPr>
                          </m:funcPr>
                          <m:fName>
                            <m:r>
                              <m:rPr>
                                <m:sty m:val="p"/>
                              </m:rPr>
                              <a:rPr lang="en-US" sz="1400" b="0" i="0" smtClean="0">
                                <a:latin typeface="Cambria Math" panose="02040503050406030204" pitchFamily="18" charset="0"/>
                              </a:rPr>
                              <m:t>sin</m:t>
                            </m:r>
                          </m:fName>
                          <m:e>
                            <m:r>
                              <a:rPr lang="en-US" sz="1400" i="1">
                                <a:latin typeface="Cambria Math" panose="02040503050406030204" pitchFamily="18" charset="0"/>
                              </a:rPr>
                              <m:t>𝜃</m:t>
                            </m:r>
                          </m:e>
                        </m:func>
                      </m:oMath>
                    </m:oMathPara>
                  </a14:m>
                  <a:endParaRPr lang="en-SE" sz="1400" dirty="0"/>
                </a:p>
              </p:txBody>
            </p:sp>
          </mc:Choice>
          <mc:Fallback xmlns="">
            <p:sp>
              <p:nvSpPr>
                <p:cNvPr id="15" name="TextBox 14">
                  <a:extLst>
                    <a:ext uri="{FF2B5EF4-FFF2-40B4-BE49-F238E27FC236}">
                      <a16:creationId xmlns:a16="http://schemas.microsoft.com/office/drawing/2014/main" id="{930931B8-BB27-4798-9CDA-14E44724C71C}"/>
                    </a:ext>
                  </a:extLst>
                </p:cNvPr>
                <p:cNvSpPr txBox="1">
                  <a:spLocks noRot="1" noChangeAspect="1" noMove="1" noResize="1" noEditPoints="1" noAdjustHandles="1" noChangeArrowheads="1" noChangeShapeType="1" noTextEdit="1"/>
                </p:cNvSpPr>
                <p:nvPr/>
              </p:nvSpPr>
              <p:spPr>
                <a:xfrm>
                  <a:off x="4554217" y="6149698"/>
                  <a:ext cx="1095223" cy="382250"/>
                </a:xfrm>
                <a:prstGeom prst="rect">
                  <a:avLst/>
                </a:prstGeom>
                <a:blipFill>
                  <a:blip r:embed="rId7"/>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54A2F9E-7AEB-FFAE-7606-EB43C8BE52DC}"/>
                    </a:ext>
                  </a:extLst>
                </p:cNvPr>
                <p:cNvSpPr txBox="1"/>
                <p:nvPr/>
              </p:nvSpPr>
              <p:spPr>
                <a:xfrm>
                  <a:off x="3808179" y="5252713"/>
                  <a:ext cx="955863" cy="382250"/>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𝑅</m:t>
                        </m:r>
                        <m:func>
                          <m:funcPr>
                            <m:ctrlPr>
                              <a:rPr lang="en-US" sz="1400" b="0" i="0" smtClean="0">
                                <a:latin typeface="Cambria Math" panose="02040503050406030204" pitchFamily="18" charset="0"/>
                              </a:rPr>
                            </m:ctrlPr>
                          </m:funcPr>
                          <m:fName>
                            <m:r>
                              <m:rPr>
                                <m:sty m:val="p"/>
                              </m:rPr>
                              <a:rPr lang="en-US" sz="1400" b="0" i="0" smtClean="0">
                                <a:latin typeface="Cambria Math" panose="02040503050406030204" pitchFamily="18" charset="0"/>
                              </a:rPr>
                              <m:t>cos</m:t>
                            </m:r>
                          </m:fName>
                          <m:e>
                            <m:r>
                              <a:rPr lang="en-US" sz="1400" i="1">
                                <a:latin typeface="Cambria Math" panose="02040503050406030204" pitchFamily="18" charset="0"/>
                              </a:rPr>
                              <m:t>𝜃</m:t>
                            </m:r>
                          </m:e>
                        </m:func>
                      </m:oMath>
                    </m:oMathPara>
                  </a14:m>
                  <a:endParaRPr lang="en-SE" sz="1400" dirty="0"/>
                </a:p>
              </p:txBody>
            </p:sp>
          </mc:Choice>
          <mc:Fallback xmlns="">
            <p:sp>
              <p:nvSpPr>
                <p:cNvPr id="16" name="TextBox 15">
                  <a:extLst>
                    <a:ext uri="{FF2B5EF4-FFF2-40B4-BE49-F238E27FC236}">
                      <a16:creationId xmlns:a16="http://schemas.microsoft.com/office/drawing/2014/main" id="{51776E40-63CC-44D6-9BC2-D067711D4BAB}"/>
                    </a:ext>
                  </a:extLst>
                </p:cNvPr>
                <p:cNvSpPr txBox="1">
                  <a:spLocks noRot="1" noChangeAspect="1" noMove="1" noResize="1" noEditPoints="1" noAdjustHandles="1" noChangeArrowheads="1" noChangeShapeType="1" noTextEdit="1"/>
                </p:cNvSpPr>
                <p:nvPr/>
              </p:nvSpPr>
              <p:spPr>
                <a:xfrm>
                  <a:off x="3808179" y="5252713"/>
                  <a:ext cx="955863" cy="382250"/>
                </a:xfrm>
                <a:prstGeom prst="rect">
                  <a:avLst/>
                </a:prstGeom>
                <a:blipFill>
                  <a:blip r:embed="rId8"/>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9B48B74-979C-D7E7-4DE1-00A96C334E6D}"/>
                    </a:ext>
                  </a:extLst>
                </p:cNvPr>
                <p:cNvSpPr txBox="1"/>
                <p:nvPr/>
              </p:nvSpPr>
              <p:spPr>
                <a:xfrm>
                  <a:off x="3779912" y="3938215"/>
                  <a:ext cx="1019731" cy="382250"/>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m:t>
                        </m:r>
                        <m:r>
                          <a:rPr lang="en-US" sz="1400" b="0" i="1" smtClean="0">
                            <a:latin typeface="Cambria Math" panose="02040503050406030204" pitchFamily="18" charset="0"/>
                          </a:rPr>
                          <m:t>𝑐𝑥</m:t>
                        </m:r>
                        <m:r>
                          <a:rPr lang="en-US" sz="1400" b="0" i="1" smtClean="0">
                            <a:latin typeface="Cambria Math" panose="02040503050406030204" pitchFamily="18" charset="0"/>
                          </a:rPr>
                          <m:t>,</m:t>
                        </m:r>
                        <m:r>
                          <a:rPr lang="en-US" sz="1400" b="0" i="1" smtClean="0">
                            <a:latin typeface="Cambria Math" panose="02040503050406030204" pitchFamily="18" charset="0"/>
                          </a:rPr>
                          <m:t>𝑐𝑦</m:t>
                        </m:r>
                        <m:r>
                          <a:rPr lang="en-US" sz="1400" b="0" i="1" smtClean="0">
                            <a:latin typeface="Cambria Math" panose="02040503050406030204" pitchFamily="18" charset="0"/>
                          </a:rPr>
                          <m:t>)</m:t>
                        </m:r>
                      </m:oMath>
                    </m:oMathPara>
                  </a14:m>
                  <a:endParaRPr lang="en-SE" sz="1400" dirty="0"/>
                </a:p>
              </p:txBody>
            </p:sp>
          </mc:Choice>
          <mc:Fallback xmlns="">
            <p:sp>
              <p:nvSpPr>
                <p:cNvPr id="19" name="TextBox 18">
                  <a:extLst>
                    <a:ext uri="{FF2B5EF4-FFF2-40B4-BE49-F238E27FC236}">
                      <a16:creationId xmlns:a16="http://schemas.microsoft.com/office/drawing/2014/main" id="{870324C3-4316-43C6-80F6-A307AE6CD109}"/>
                    </a:ext>
                  </a:extLst>
                </p:cNvPr>
                <p:cNvSpPr txBox="1">
                  <a:spLocks noRot="1" noChangeAspect="1" noMove="1" noResize="1" noEditPoints="1" noAdjustHandles="1" noChangeArrowheads="1" noChangeShapeType="1" noTextEdit="1"/>
                </p:cNvSpPr>
                <p:nvPr/>
              </p:nvSpPr>
              <p:spPr>
                <a:xfrm>
                  <a:off x="3779912" y="3938215"/>
                  <a:ext cx="1019731" cy="382250"/>
                </a:xfrm>
                <a:prstGeom prst="rect">
                  <a:avLst/>
                </a:prstGeom>
                <a:blipFill>
                  <a:blip r:embed="rId9"/>
                  <a:stretch>
                    <a:fillRect b="-5769"/>
                  </a:stretch>
                </a:blipFill>
              </p:spPr>
              <p:txBody>
                <a:bodyPr/>
                <a:lstStyle/>
                <a:p>
                  <a:r>
                    <a:rPr lang="en-SE">
                      <a:noFill/>
                    </a:rPr>
                    <a:t> </a:t>
                  </a:r>
                </a:p>
              </p:txBody>
            </p:sp>
          </mc:Fallback>
        </mc:AlternateContent>
      </p:gr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64DCFBB-AB12-A5FA-8C0A-C6DFD9396FDD}"/>
                  </a:ext>
                </a:extLst>
              </p:cNvPr>
              <p:cNvSpPr/>
              <p:nvPr/>
            </p:nvSpPr>
            <p:spPr>
              <a:xfrm>
                <a:off x="1644597" y="5956428"/>
                <a:ext cx="4861762" cy="738664"/>
              </a:xfrm>
              <a:prstGeom prst="rect">
                <a:avLst/>
              </a:prstGeom>
              <a:ln w="9525"/>
            </p:spPr>
            <p:style>
              <a:lnRef idx="2">
                <a:schemeClr val="dk1"/>
              </a:lnRef>
              <a:fillRef idx="1">
                <a:schemeClr val="lt1"/>
              </a:fillRef>
              <a:effectRef idx="0">
                <a:schemeClr val="dk1"/>
              </a:effectRef>
              <a:fontRef idx="minor">
                <a:schemeClr val="dk1"/>
              </a:fontRef>
            </p:style>
            <p:txBody>
              <a:bodyPr wrap="square">
                <a:spAutoFit/>
              </a:bodyPr>
              <a:lstStyle/>
              <a:p>
                <a14:m>
                  <m:oMath xmlns:m="http://schemas.openxmlformats.org/officeDocument/2006/math">
                    <m:r>
                      <a:rPr lang="en-US" sz="1400" b="0" i="0" smtClean="0">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2</m:t>
                    </m:r>
                    <m:r>
                      <a:rPr lang="en-US" sz="1400" i="1">
                        <a:latin typeface="Cambria Math" panose="02040503050406030204" pitchFamily="18" charset="0"/>
                      </a:rPr>
                      <m:t>𝜋</m:t>
                    </m:r>
                    <m:r>
                      <a:rPr lang="en-US" sz="1400" b="0" i="1" smtClean="0">
                        <a:latin typeface="Cambria Math" panose="02040503050406030204" pitchFamily="18" charset="0"/>
                      </a:rPr>
                      <m:t>)</m:t>
                    </m:r>
                  </m:oMath>
                </a14:m>
                <a:r>
                  <a:rPr lang="en-US" sz="1400" dirty="0"/>
                  <a:t> (modulo </a:t>
                </a:r>
                <a14:m>
                  <m:oMath xmlns:m="http://schemas.openxmlformats.org/officeDocument/2006/math">
                    <m:r>
                      <a:rPr lang="en-US" sz="1400" b="0" i="1" smtClean="0">
                        <a:latin typeface="Cambria Math" panose="02040503050406030204" pitchFamily="18" charset="0"/>
                      </a:rPr>
                      <m:t>2</m:t>
                    </m:r>
                    <m:r>
                      <a:rPr lang="en-US" sz="1400" b="0" i="1" smtClean="0">
                        <a:latin typeface="Cambria Math" panose="02040503050406030204" pitchFamily="18" charset="0"/>
                      </a:rPr>
                      <m:t>𝜋</m:t>
                    </m:r>
                  </m:oMath>
                </a14:m>
                <a:r>
                  <a:rPr lang="en-US" sz="1400" dirty="0"/>
                  <a:t>) keeps angles to be within </a:t>
                </a:r>
                <a14:m>
                  <m:oMath xmlns:m="http://schemas.openxmlformats.org/officeDocument/2006/math">
                    <m:r>
                      <a:rPr lang="en-US" sz="1400" i="1">
                        <a:latin typeface="Cambria Math" panose="02040503050406030204" pitchFamily="18" charset="0"/>
                      </a:rPr>
                      <m:t>2</m:t>
                    </m:r>
                    <m:r>
                      <a:rPr lang="en-US" sz="1400" i="1">
                        <a:latin typeface="Cambria Math" panose="02040503050406030204" pitchFamily="18" charset="0"/>
                      </a:rPr>
                      <m:t>𝜋</m:t>
                    </m:r>
                  </m:oMath>
                </a14:m>
                <a:r>
                  <a:rPr lang="en-US" sz="1400" dirty="0"/>
                  <a:t>; It can be omitted </a:t>
                </a:r>
                <a:r>
                  <a:rPr lang="en-US" sz="1400"/>
                  <a:t>since it does </a:t>
                </a:r>
                <a:r>
                  <a:rPr lang="en-US" sz="1400" dirty="0"/>
                  <a:t>not affect results of </a:t>
                </a:r>
                <a14:m>
                  <m:oMath xmlns:m="http://schemas.openxmlformats.org/officeDocument/2006/math">
                    <m:r>
                      <m:rPr>
                        <m:sty m:val="p"/>
                      </m:rPr>
                      <a:rPr lang="en-US" sz="1400">
                        <a:latin typeface="Cambria Math" panose="02040503050406030204" pitchFamily="18" charset="0"/>
                      </a:rPr>
                      <m:t>cos</m:t>
                    </m:r>
                    <m:r>
                      <a:rPr lang="en-US" sz="1400" b="0" i="0" smtClean="0">
                        <a:latin typeface="Cambria Math" panose="02040503050406030204" pitchFamily="18" charset="0"/>
                      </a:rPr>
                      <m:t>,</m:t>
                    </m:r>
                    <m:r>
                      <m:rPr>
                        <m:sty m:val="p"/>
                      </m:rPr>
                      <a:rPr lang="en-US" sz="1400" b="0" i="0" smtClean="0">
                        <a:latin typeface="Cambria Math" panose="02040503050406030204" pitchFamily="18" charset="0"/>
                      </a:rPr>
                      <m:t>sin</m:t>
                    </m:r>
                  </m:oMath>
                </a14:m>
                <a:r>
                  <a:rPr lang="en-US" sz="1400" dirty="0"/>
                  <a:t> functions (assuming no numeric overflow).</a:t>
                </a:r>
                <a:endParaRPr lang="en-SE" sz="1400" dirty="0"/>
              </a:p>
            </p:txBody>
          </p:sp>
        </mc:Choice>
        <mc:Fallback xmlns="">
          <p:sp>
            <p:nvSpPr>
              <p:cNvPr id="16" name="Rectangle 15">
                <a:extLst>
                  <a:ext uri="{FF2B5EF4-FFF2-40B4-BE49-F238E27FC236}">
                    <a16:creationId xmlns:a16="http://schemas.microsoft.com/office/drawing/2014/main" id="{F64DCFBB-AB12-A5FA-8C0A-C6DFD9396FDD}"/>
                  </a:ext>
                </a:extLst>
              </p:cNvPr>
              <p:cNvSpPr>
                <a:spLocks noRot="1" noChangeAspect="1" noMove="1" noResize="1" noEditPoints="1" noAdjustHandles="1" noChangeArrowheads="1" noChangeShapeType="1" noTextEdit="1"/>
              </p:cNvSpPr>
              <p:nvPr/>
            </p:nvSpPr>
            <p:spPr>
              <a:xfrm>
                <a:off x="1644597" y="5956428"/>
                <a:ext cx="4861762" cy="738664"/>
              </a:xfrm>
              <a:prstGeom prst="rect">
                <a:avLst/>
              </a:prstGeom>
              <a:blipFill>
                <a:blip r:embed="rId10"/>
                <a:stretch>
                  <a:fillRect l="-250" t="-813" b="-7317"/>
                </a:stretch>
              </a:blipFill>
              <a:ln w="9525"/>
            </p:spPr>
            <p:txBody>
              <a:bodyPr/>
              <a:lstStyle/>
              <a:p>
                <a:r>
                  <a:rPr lang="en-SE">
                    <a:noFill/>
                  </a:rPr>
                  <a:t> </a:t>
                </a:r>
              </a:p>
            </p:txBody>
          </p:sp>
        </mc:Fallback>
      </mc:AlternateContent>
    </p:spTree>
    <p:extLst>
      <p:ext uri="{BB962C8B-B14F-4D97-AF65-F5344CB8AC3E}">
        <p14:creationId xmlns:p14="http://schemas.microsoft.com/office/powerpoint/2010/main" val="2545023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CD26-1FE7-6C08-EE1F-189D0E5A8569}"/>
              </a:ext>
            </a:extLst>
          </p:cNvPr>
          <p:cNvSpPr>
            <a:spLocks noGrp="1"/>
          </p:cNvSpPr>
          <p:nvPr>
            <p:ph type="title"/>
          </p:nvPr>
        </p:nvSpPr>
        <p:spPr/>
        <p:txBody>
          <a:bodyPr/>
          <a:lstStyle/>
          <a:p>
            <a:r>
              <a:rPr lang="en-US" dirty="0"/>
              <a:t>State Update Equation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D365F7-857C-CF14-7B89-4F81631423E5}"/>
                  </a:ext>
                </a:extLst>
              </p:cNvPr>
              <p:cNvSpPr>
                <a:spLocks noGrp="1"/>
              </p:cNvSpPr>
              <p:nvPr>
                <p:ph idx="1"/>
              </p:nvPr>
            </p:nvSpPr>
            <p:spPr/>
            <p:txBody>
              <a:bodyPr>
                <a:normAutofit lnSpcReduction="10000"/>
              </a:bodyPr>
              <a:lstStyle/>
              <a:p>
                <a:r>
                  <a:rPr lang="en-US" dirty="0"/>
                  <a:t>Circular motion around ICR (accurate):</a:t>
                </a:r>
                <a:endParaRPr lang="en-US" i="1" dirty="0">
                  <a:latin typeface="Cambria Math" panose="02040503050406030204" pitchFamily="18" charset="0"/>
                </a:endParaRPr>
              </a:p>
              <a:p>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e>
                          </m:mr>
                          <m:mr>
                            <m:e>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e>
                              </m:d>
                            </m:e>
                          </m:mr>
                          <m:mr>
                            <m:e>
                              <m:r>
                                <a:rPr lang="en-US" b="0" i="1" smtClean="0">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𝑅</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r>
                                <a:rPr lang="en-US" i="1">
                                  <a:latin typeface="Cambria Math" panose="02040503050406030204" pitchFamily="18" charset="0"/>
                                </a:rPr>
                                <m:t>+</m:t>
                              </m:r>
                              <m:r>
                                <a:rPr lang="en-US" i="1">
                                  <a:latin typeface="Cambria Math" panose="02040503050406030204" pitchFamily="18" charset="0"/>
                                </a:rPr>
                                <m:t>𝑅</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a:rPr lang="en-US" i="1">
                                  <a:latin typeface="Cambria Math" panose="02040503050406030204" pitchFamily="18" charset="0"/>
                                </a:rPr>
                                <m:t>)</m:t>
                              </m:r>
                            </m:e>
                          </m:mr>
                          <m:mr>
                            <m:e>
                              <m:r>
                                <a:rPr lang="en-US" b="0" i="1" smtClean="0">
                                  <a:latin typeface="Cambria Math" panose="02040503050406030204" pitchFamily="18" charset="0"/>
                                </a:rPr>
                                <m:t>𝑦</m:t>
                              </m:r>
                              <m:d>
                                <m:dPr>
                                  <m:ctrlPr>
                                    <a:rPr lang="en-US" i="1" smtClean="0">
                                      <a:latin typeface="Cambria Math" panose="02040503050406030204" pitchFamily="18" charset="0"/>
                                    </a:rPr>
                                  </m:ctrlPr>
                                </m:dPr>
                                <m:e>
                                  <m:r>
                                    <a:rPr lang="en-US" i="1" smtClean="0">
                                      <a:latin typeface="Cambria Math" panose="02040503050406030204" pitchFamily="18" charset="0"/>
                                    </a:rPr>
                                    <m:t>𝑡</m:t>
                                  </m:r>
                                </m:e>
                              </m:d>
                              <m:r>
                                <a:rPr lang="en-US" b="0" i="1" smtClean="0">
                                  <a:latin typeface="Cambria Math" panose="02040503050406030204" pitchFamily="18" charset="0"/>
                                </a:rPr>
                                <m:t>+</m:t>
                              </m:r>
                              <m:r>
                                <a:rPr lang="en-US" i="1" smtClean="0">
                                  <a:latin typeface="Cambria Math" panose="02040503050406030204" pitchFamily="18" charset="0"/>
                                </a:rPr>
                                <m:t>𝑅</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𝜃</m:t>
                                  </m:r>
                                </m:e>
                              </m:func>
                              <m:r>
                                <a:rPr lang="en-US" b="0" i="1" smtClean="0">
                                  <a:latin typeface="Cambria Math" panose="02040503050406030204" pitchFamily="18" charset="0"/>
                                </a:rPr>
                                <m:t>−</m:t>
                              </m:r>
                              <m:r>
                                <a:rPr lang="en-US" i="1">
                                  <a:latin typeface="Cambria Math" panose="02040503050406030204" pitchFamily="18" charset="0"/>
                                </a:rPr>
                                <m:t>𝑅</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a:rPr lang="en-US" i="1">
                                  <a:latin typeface="Cambria Math" panose="02040503050406030204" pitchFamily="18" charset="0"/>
                                </a:rPr>
                                <m:t>)</m:t>
                              </m:r>
                            </m:e>
                          </m:mr>
                          <m:mr>
                            <m:e>
                              <m:r>
                                <a:rPr lang="en-US" i="1">
                                  <a:latin typeface="Cambria Math" panose="02040503050406030204" pitchFamily="18" charset="0"/>
                                </a:rPr>
                                <m:t>𝜃</m:t>
                              </m:r>
                              <m:r>
                                <a:rPr lang="en-US" i="1">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i="1">
                                  <a:latin typeface="Cambria Math" panose="02040503050406030204" pitchFamily="18" charset="0"/>
                                </a:rPr>
                                <m:t>𝑑𝑡</m:t>
                              </m:r>
                            </m:e>
                          </m:mr>
                        </m:m>
                      </m:e>
                    </m:d>
                  </m:oMath>
                </a14:m>
                <a:endParaRPr lang="en-US"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𝐿</m:t>
                        </m:r>
                      </m:num>
                      <m:den>
                        <m:func>
                          <m:funcPr>
                            <m:ctrlPr>
                              <a:rPr lang="en-US">
                                <a:latin typeface="Cambria Math" panose="02040503050406030204" pitchFamily="18" charset="0"/>
                              </a:rPr>
                            </m:ctrlPr>
                          </m:funcPr>
                          <m:fName>
                            <m:r>
                              <m:rPr>
                                <m:sty m:val="p"/>
                              </m:rPr>
                              <a:rPr lang="en-US">
                                <a:latin typeface="Cambria Math" panose="02040503050406030204" pitchFamily="18" charset="0"/>
                              </a:rPr>
                              <m:t>tan</m:t>
                            </m:r>
                          </m:fName>
                          <m:e>
                            <m:r>
                              <a:rPr lang="en-US" i="1">
                                <a:latin typeface="Cambria Math" panose="02040503050406030204" pitchFamily="18" charset="0"/>
                              </a:rPr>
                              <m:t>𝛿</m:t>
                            </m:r>
                          </m:e>
                        </m:func>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𝑣</m:t>
                        </m:r>
                      </m:num>
                      <m:den>
                        <m:acc>
                          <m:accPr>
                            <m:chr m:val="̇"/>
                            <m:ctrlPr>
                              <a:rPr lang="en-US" i="1">
                                <a:latin typeface="Cambria Math" panose="02040503050406030204" pitchFamily="18" charset="0"/>
                              </a:rPr>
                            </m:ctrlPr>
                          </m:accPr>
                          <m:e>
                            <m:r>
                              <a:rPr lang="en-US" i="1">
                                <a:latin typeface="Cambria Math" panose="02040503050406030204" pitchFamily="18" charset="0"/>
                              </a:rPr>
                              <m:t>𝜃</m:t>
                            </m:r>
                          </m:e>
                        </m:acc>
                      </m:den>
                    </m:f>
                  </m:oMath>
                </a14:m>
                <a:endParaRPr lang="en-US" dirty="0"/>
              </a:p>
              <a:p>
                <a:r>
                  <a:rPr lang="en-US" dirty="0"/>
                  <a:t>Straight-line motion for small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oMath>
                </a14:m>
                <a:r>
                  <a:rPr lang="en-US" dirty="0"/>
                  <a:t> (approximate):</a:t>
                </a:r>
                <a:endParaRPr lang="en-US" i="1" dirty="0">
                  <a:latin typeface="Cambria Math" panose="02040503050406030204" pitchFamily="18" charset="0"/>
                </a:endParaRPr>
              </a:p>
              <a:p>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e>
                          </m:mr>
                          <m:mr>
                            <m:e>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e>
                              </m:d>
                            </m:e>
                          </m:mr>
                          <m:m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e>
                          </m:mr>
                        </m:m>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𝑣𝑑𝑡</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𝜃</m:t>
                                  </m:r>
                                </m:e>
                              </m:func>
                            </m:e>
                          </m:mr>
                          <m:mr>
                            <m:e>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0" i="1" smtClean="0">
                                  <a:latin typeface="Cambria Math" panose="02040503050406030204" pitchFamily="18" charset="0"/>
                                </a:rPr>
                                <m:t>𝑣𝑑𝑡</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i="1">
                                      <a:latin typeface="Cambria Math" panose="02040503050406030204" pitchFamily="18" charset="0"/>
                                    </a:rPr>
                                    <m:t>𝜃</m:t>
                                  </m:r>
                                </m:e>
                              </m:func>
                            </m:e>
                          </m:mr>
                          <m:mr>
                            <m:e>
                              <m:r>
                                <a:rPr lang="en-US" i="1">
                                  <a:latin typeface="Cambria Math" panose="02040503050406030204" pitchFamily="18" charset="0"/>
                                </a:rPr>
                                <m:t>𝜃</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e>
                          </m:mr>
                        </m:m>
                      </m:e>
                    </m:d>
                  </m:oMath>
                </a14:m>
                <a:endParaRPr lang="en-US" dirty="0"/>
              </a:p>
              <a:p>
                <a:pPr lvl="1"/>
                <a14:m>
                  <m:oMath xmlns:m="http://schemas.openxmlformats.org/officeDocument/2006/math">
                    <m:r>
                      <a:rPr lang="en-US" i="1">
                        <a:latin typeface="Cambria Math" panose="02040503050406030204" pitchFamily="18" charset="0"/>
                      </a:rPr>
                      <m:t>𝛿</m:t>
                    </m:r>
                    <m:r>
                      <a:rPr lang="en-US" b="0" i="1" smtClean="0">
                        <a:latin typeface="Cambria Math" panose="02040503050406030204" pitchFamily="18" charset="0"/>
                      </a:rPr>
                      <m:t>→0,</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𝑑𝑡</m:t>
                    </m:r>
                    <m:r>
                      <a:rPr lang="en-US" i="1">
                        <a:latin typeface="Cambria Math" panose="02040503050406030204" pitchFamily="18" charset="0"/>
                      </a:rPr>
                      <m:t>→</m:t>
                    </m:r>
                    <m:r>
                      <a:rPr lang="en-US" b="0" i="1" smtClean="0">
                        <a:latin typeface="Cambria Math" panose="02040503050406030204" pitchFamily="18" charset="0"/>
                      </a:rPr>
                      <m:t>0</m:t>
                    </m:r>
                  </m:oMath>
                </a14:m>
                <a:endParaRPr lang="en-US" dirty="0"/>
              </a:p>
            </p:txBody>
          </p:sp>
        </mc:Choice>
        <mc:Fallback xmlns="">
          <p:sp>
            <p:nvSpPr>
              <p:cNvPr id="3" name="Content Placeholder 2">
                <a:extLst>
                  <a:ext uri="{FF2B5EF4-FFF2-40B4-BE49-F238E27FC236}">
                    <a16:creationId xmlns:a16="http://schemas.microsoft.com/office/drawing/2014/main" id="{86D365F7-857C-CF14-7B89-4F81631423E5}"/>
                  </a:ext>
                </a:extLst>
              </p:cNvPr>
              <p:cNvSpPr>
                <a:spLocks noGrp="1" noRot="1" noChangeAspect="1" noMove="1" noResize="1" noEditPoints="1" noAdjustHandles="1" noChangeArrowheads="1" noChangeShapeType="1" noTextEdit="1"/>
              </p:cNvSpPr>
              <p:nvPr>
                <p:ph idx="1"/>
              </p:nvPr>
            </p:nvSpPr>
            <p:spPr>
              <a:blipFill>
                <a:blip r:embed="rId2"/>
                <a:stretch>
                  <a:fillRect l="-1281" t="-31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ABB9D8C-6784-5F96-BF85-40936548F4B8}"/>
              </a:ext>
            </a:extLst>
          </p:cNvPr>
          <p:cNvSpPr>
            <a:spLocks noGrp="1"/>
          </p:cNvSpPr>
          <p:nvPr>
            <p:ph type="sldNum" sz="quarter" idx="12"/>
          </p:nvPr>
        </p:nvSpPr>
        <p:spPr/>
        <p:txBody>
          <a:bodyPr/>
          <a:lstStyle/>
          <a:p>
            <a:fld id="{1F57BF9A-7B35-9447-9112-EAE7E91B4E99}" type="slidenum">
              <a:rPr lang="en-US" smtClean="0"/>
              <a:t>30</a:t>
            </a:fld>
            <a:endParaRPr lang="en-US"/>
          </a:p>
        </p:txBody>
      </p:sp>
    </p:spTree>
    <p:extLst>
      <p:ext uri="{BB962C8B-B14F-4D97-AF65-F5344CB8AC3E}">
        <p14:creationId xmlns:p14="http://schemas.microsoft.com/office/powerpoint/2010/main" val="976032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20C23-977C-5F31-06A5-600C79B770E9}"/>
              </a:ext>
            </a:extLst>
          </p:cNvPr>
          <p:cNvSpPr>
            <a:spLocks noGrp="1"/>
          </p:cNvSpPr>
          <p:nvPr>
            <p:ph type="title"/>
          </p:nvPr>
        </p:nvSpPr>
        <p:spPr/>
        <p:txBody>
          <a:bodyPr/>
          <a:lstStyle/>
          <a:p>
            <a:r>
              <a:rPr lang="en-US" dirty="0"/>
              <a:t>Straight Line vs. Circular Motion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D6D3DC-E51E-B27D-4391-523BD3ECFB01}"/>
                  </a:ext>
                </a:extLst>
              </p:cNvPr>
              <p:cNvSpPr>
                <a:spLocks noGrp="1"/>
              </p:cNvSpPr>
              <p:nvPr>
                <p:ph idx="1"/>
              </p:nvPr>
            </p:nvSpPr>
            <p:spPr>
              <a:xfrm>
                <a:off x="622737" y="1237592"/>
                <a:ext cx="10949153" cy="5261637"/>
              </a:xfrm>
            </p:spPr>
            <p:txBody>
              <a:bodyPr>
                <a:normAutofit fontScale="62500" lnSpcReduction="20000"/>
              </a:bodyPr>
              <a:lstStyle/>
              <a:p>
                <a:r>
                  <a:rPr lang="en-US" sz="3300" dirty="0"/>
                  <a:t>Straight line motion (with </a:t>
                </a:r>
                <a:r>
                  <a:rPr lang="en-US" dirty="0"/>
                  <a:t>steering angle </a:t>
                </a:r>
                <a14:m>
                  <m:oMath xmlns:m="http://schemas.openxmlformats.org/officeDocument/2006/math">
                    <m:r>
                      <a:rPr lang="en-US" i="1">
                        <a:latin typeface="Cambria Math" panose="02040503050406030204" pitchFamily="18" charset="0"/>
                      </a:rPr>
                      <m:t>𝛿</m:t>
                    </m:r>
                    <m:r>
                      <a:rPr lang="en-US" b="0" i="1" smtClean="0">
                        <a:latin typeface="Cambria Math" panose="02040503050406030204" pitchFamily="18" charset="0"/>
                      </a:rPr>
                      <m:t>=0</m:t>
                    </m:r>
                  </m:oMath>
                </a14:m>
                <a:r>
                  <a:rPr lang="en-US" dirty="0"/>
                  <a:t>) is a special case of circular motion with radius </a:t>
                </a:r>
                <a14:m>
                  <m:oMath xmlns:m="http://schemas.openxmlformats.org/officeDocument/2006/math">
                    <m:r>
                      <a:rPr lang="en-US" i="1">
                        <a:latin typeface="Cambria Math" panose="02040503050406030204" pitchFamily="18" charset="0"/>
                      </a:rPr>
                      <m:t>∞</m:t>
                    </m:r>
                  </m:oMath>
                </a14:m>
                <a:r>
                  <a:rPr lang="en-US" sz="3300" dirty="0"/>
                  <a:t>. </a:t>
                </a:r>
              </a:p>
              <a:p>
                <a:pPr lvl="1"/>
                <a14:m>
                  <m:oMath xmlns:m="http://schemas.openxmlformats.org/officeDocument/2006/math">
                    <m:r>
                      <a:rPr lang="en-US" sz="3200">
                        <a:latin typeface="Cambria Math" panose="02040503050406030204" pitchFamily="18" charset="0"/>
                      </a:rPr>
                      <m:t>𝛿</m:t>
                    </m:r>
                    <m:r>
                      <a:rPr lang="en-US" sz="3200" i="1">
                        <a:latin typeface="Cambria Math" panose="02040503050406030204" pitchFamily="18" charset="0"/>
                      </a:rPr>
                      <m:t>→0⇒</m:t>
                    </m:r>
                    <m:r>
                      <a:rPr lang="en-US" sz="3200" b="0" i="1" smtClean="0">
                        <a:latin typeface="Cambria Math" panose="02040503050406030204" pitchFamily="18" charset="0"/>
                      </a:rPr>
                      <m:t>𝑅</m:t>
                    </m:r>
                    <m:r>
                      <a:rPr lang="en-US" sz="3200" i="1" dirty="0">
                        <a:latin typeface="Cambria Math" panose="02040503050406030204" pitchFamily="18" charset="0"/>
                      </a:rPr>
                      <m:t>=</m:t>
                    </m:r>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𝐿</m:t>
                        </m:r>
                      </m:num>
                      <m:den>
                        <m:func>
                          <m:funcPr>
                            <m:ctrlPr>
                              <a:rPr lang="en-US" sz="3200" dirty="0">
                                <a:latin typeface="Cambria Math" panose="02040503050406030204" pitchFamily="18" charset="0"/>
                              </a:rPr>
                            </m:ctrlPr>
                          </m:funcPr>
                          <m:fName>
                            <m:r>
                              <m:rPr>
                                <m:sty m:val="p"/>
                              </m:rPr>
                              <a:rPr lang="en-US" sz="3200" dirty="0">
                                <a:latin typeface="Cambria Math" panose="02040503050406030204" pitchFamily="18" charset="0"/>
                              </a:rPr>
                              <m:t>tan</m:t>
                            </m:r>
                          </m:fName>
                          <m:e>
                            <m:r>
                              <a:rPr lang="en-US" sz="3200" i="1" dirty="0">
                                <a:latin typeface="Cambria Math" panose="02040503050406030204" pitchFamily="18" charset="0"/>
                              </a:rPr>
                              <m:t>𝛿</m:t>
                            </m:r>
                          </m:e>
                        </m:func>
                      </m:den>
                    </m:f>
                    <m:r>
                      <a:rPr lang="en-US" sz="3200" i="1">
                        <a:latin typeface="Cambria Math" panose="02040503050406030204" pitchFamily="18" charset="0"/>
                      </a:rPr>
                      <m:t>→∞</m:t>
                    </m:r>
                    <m:r>
                      <a:rPr lang="en-US" sz="3200" b="0" i="1" smtClean="0">
                        <a:latin typeface="Cambria Math" panose="02040503050406030204" pitchFamily="18" charset="0"/>
                      </a:rPr>
                      <m:t>,</m:t>
                    </m:r>
                    <m:acc>
                      <m:accPr>
                        <m:chr m:val="̇"/>
                        <m:ctrlPr>
                          <a:rPr lang="en-US" sz="3200" i="1">
                            <a:latin typeface="Cambria Math" panose="02040503050406030204" pitchFamily="18" charset="0"/>
                          </a:rPr>
                        </m:ctrlPr>
                      </m:accPr>
                      <m:e>
                        <m:r>
                          <a:rPr lang="en-US" sz="3200" i="1">
                            <a:latin typeface="Cambria Math" panose="02040503050406030204" pitchFamily="18" charset="0"/>
                          </a:rPr>
                          <m:t>𝜃</m:t>
                        </m:r>
                      </m:e>
                    </m:acc>
                    <m:r>
                      <a:rPr lang="en-US" sz="3200" i="1" dirty="0">
                        <a:latin typeface="Cambria Math" panose="02040503050406030204" pitchFamily="18" charset="0"/>
                      </a:rPr>
                      <m:t>=</m:t>
                    </m:r>
                    <m:f>
                      <m:fPr>
                        <m:ctrlPr>
                          <a:rPr lang="en-US" sz="3200" i="1" dirty="0">
                            <a:latin typeface="Cambria Math" panose="02040503050406030204" pitchFamily="18" charset="0"/>
                          </a:rPr>
                        </m:ctrlPr>
                      </m:fPr>
                      <m:num>
                        <m:r>
                          <a:rPr lang="en-US" sz="3200" i="1" dirty="0">
                            <a:latin typeface="Cambria Math" panose="02040503050406030204" pitchFamily="18" charset="0"/>
                          </a:rPr>
                          <m:t>𝑣</m:t>
                        </m:r>
                      </m:num>
                      <m:den>
                        <m:r>
                          <a:rPr lang="en-US" sz="3200" i="1" dirty="0">
                            <a:latin typeface="Cambria Math" panose="02040503050406030204" pitchFamily="18" charset="0"/>
                          </a:rPr>
                          <m:t>𝑅</m:t>
                        </m:r>
                      </m:den>
                    </m:f>
                    <m:r>
                      <a:rPr lang="en-US" i="1">
                        <a:latin typeface="Cambria Math" panose="02040503050406030204" pitchFamily="18" charset="0"/>
                      </a:rPr>
                      <m:t>→0</m:t>
                    </m:r>
                  </m:oMath>
                </a14:m>
                <a:r>
                  <a:rPr lang="en-US" sz="2900" dirty="0"/>
                  <a:t> (small steering angle </a:t>
                </a:r>
                <a14:m>
                  <m:oMath xmlns:m="http://schemas.openxmlformats.org/officeDocument/2006/math">
                    <m:r>
                      <a:rPr lang="en-US">
                        <a:latin typeface="Cambria Math" panose="02040503050406030204" pitchFamily="18" charset="0"/>
                      </a:rPr>
                      <m:t>𝛿</m:t>
                    </m:r>
                  </m:oMath>
                </a14:m>
                <a:r>
                  <a:rPr lang="en-US" sz="2900" dirty="0"/>
                  <a:t> leads to slow angular velocity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r>
                  <a:rPr lang="en-US" sz="2900" dirty="0"/>
                  <a:t>.)</a:t>
                </a:r>
              </a:p>
              <a:p>
                <a:pPr lvl="1"/>
                <a:r>
                  <a:rPr lang="en-US" sz="3200" dirty="0"/>
                  <a:t>We use this special case to improve computational efficiency for small </a:t>
                </a:r>
                <a14:m>
                  <m:oMath xmlns:m="http://schemas.openxmlformats.org/officeDocument/2006/math">
                    <m:r>
                      <a:rPr lang="en-US" sz="3200">
                        <a:latin typeface="Cambria Math" panose="02040503050406030204" pitchFamily="18" charset="0"/>
                      </a:rPr>
                      <m:t>𝛿</m:t>
                    </m:r>
                    <m:r>
                      <a:rPr lang="en-US" sz="3200" b="0" i="0" smtClean="0">
                        <a:latin typeface="Cambria Math" panose="02040503050406030204" pitchFamily="18" charset="0"/>
                      </a:rPr>
                      <m:t>,</m:t>
                    </m:r>
                    <m:acc>
                      <m:accPr>
                        <m:chr m:val="̇"/>
                        <m:ctrlPr>
                          <a:rPr lang="en-US" sz="3200" i="1">
                            <a:latin typeface="Cambria Math" panose="02040503050406030204" pitchFamily="18" charset="0"/>
                          </a:rPr>
                        </m:ctrlPr>
                      </m:accPr>
                      <m:e>
                        <m:r>
                          <a:rPr lang="en-US" sz="3200" i="1">
                            <a:latin typeface="Cambria Math" panose="02040503050406030204" pitchFamily="18" charset="0"/>
                          </a:rPr>
                          <m:t>𝜃</m:t>
                        </m:r>
                      </m:e>
                    </m:acc>
                  </m:oMath>
                </a14:m>
                <a:r>
                  <a:rPr lang="en-US" sz="3200" dirty="0"/>
                  <a:t>, and avoid division by 0. </a:t>
                </a:r>
                <a:endParaRPr lang="en-US" sz="2900" dirty="0"/>
              </a:p>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𝑑𝑡</m:t>
                    </m:r>
                    <m:r>
                      <a:rPr lang="en-US" b="0" i="1" smtClean="0">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i="1">
                        <a:latin typeface="Cambria Math" panose="02040503050406030204" pitchFamily="18" charset="0"/>
                      </a:rPr>
                      <m:t>𝑅</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r>
                      <a:rPr lang="en-US" i="1">
                        <a:latin typeface="Cambria Math" panose="02040503050406030204" pitchFamily="18" charset="0"/>
                      </a:rPr>
                      <m:t>+</m:t>
                    </m:r>
                    <m:r>
                      <a:rPr lang="en-US" i="1">
                        <a:latin typeface="Cambria Math" panose="02040503050406030204" pitchFamily="18" charset="0"/>
                      </a:rPr>
                      <m:t>𝑅</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𝑑𝑡</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𝑅</m:t>
                    </m:r>
                    <m:r>
                      <a:rPr lang="en-US" i="1">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𝑑𝑡</m:t>
                    </m:r>
                    <m:r>
                      <a:rPr lang="en-US" i="1">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𝑣</m:t>
                        </m:r>
                      </m:num>
                      <m:den>
                        <m:acc>
                          <m:accPr>
                            <m:chr m:val="̇"/>
                            <m:ctrlPr>
                              <a:rPr lang="en-US" i="1" dirty="0">
                                <a:latin typeface="Cambria Math" panose="02040503050406030204" pitchFamily="18" charset="0"/>
                              </a:rPr>
                            </m:ctrlPr>
                          </m:accPr>
                          <m:e>
                            <m:r>
                              <a:rPr lang="en-US" i="1" dirty="0">
                                <a:latin typeface="Cambria Math" panose="02040503050406030204" pitchFamily="18" charset="0"/>
                              </a:rPr>
                              <m:t>𝜃</m:t>
                            </m:r>
                          </m:e>
                        </m:acc>
                      </m:den>
                    </m:f>
                    <m:r>
                      <a:rPr lang="en-US" i="1">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𝑑𝑡</m:t>
                    </m:r>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𝑣𝑑𝑡</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𝜃</m:t>
                        </m:r>
                      </m:e>
                    </m:func>
                  </m:oMath>
                </a14:m>
                <a:endParaRPr lang="en-US" i="1" dirty="0">
                  <a:latin typeface="Cambria Math" panose="02040503050406030204" pitchFamily="18" charset="0"/>
                </a:endParaRPr>
              </a:p>
              <a:p>
                <a:pPr lvl="1"/>
                <a14:m>
                  <m:oMath xmlns:m="http://schemas.openxmlformats.org/officeDocument/2006/math">
                    <m:func>
                      <m:funcPr>
                        <m:ctrlPr>
                          <a:rPr lang="en-US" sz="3300">
                            <a:latin typeface="Cambria Math" panose="02040503050406030204" pitchFamily="18" charset="0"/>
                          </a:rPr>
                        </m:ctrlPr>
                      </m:funcPr>
                      <m:fName>
                        <m:r>
                          <m:rPr>
                            <m:sty m:val="p"/>
                          </m:rPr>
                          <a:rPr lang="en-US" sz="3300">
                            <a:latin typeface="Cambria Math" panose="02040503050406030204" pitchFamily="18" charset="0"/>
                          </a:rPr>
                          <m:t>sin</m:t>
                        </m:r>
                      </m:fName>
                      <m:e>
                        <m:r>
                          <a:rPr lang="en-US" sz="3300">
                            <a:latin typeface="Cambria Math" panose="02040503050406030204" pitchFamily="18" charset="0"/>
                          </a:rPr>
                          <m:t>(</m:t>
                        </m:r>
                        <m:r>
                          <a:rPr lang="en-US" sz="3300">
                            <a:latin typeface="Cambria Math" panose="02040503050406030204" pitchFamily="18" charset="0"/>
                          </a:rPr>
                          <m:t>𝜃</m:t>
                        </m:r>
                      </m:e>
                    </m:func>
                    <m:r>
                      <a:rPr lang="en-US" sz="3300">
                        <a:latin typeface="Cambria Math" panose="02040503050406030204" pitchFamily="18" charset="0"/>
                      </a:rPr>
                      <m:t>+</m:t>
                    </m:r>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b="0" i="1" smtClean="0">
                        <a:latin typeface="Cambria Math" panose="02040503050406030204" pitchFamily="18" charset="0"/>
                      </a:rPr>
                      <m:t>𝑑𝑡</m:t>
                    </m:r>
                    <m:r>
                      <a:rPr lang="en-US" sz="3300">
                        <a:latin typeface="Cambria Math" panose="02040503050406030204" pitchFamily="18" charset="0"/>
                      </a:rPr>
                      <m:t>)−</m:t>
                    </m:r>
                    <m:func>
                      <m:funcPr>
                        <m:ctrlPr>
                          <a:rPr lang="en-US" sz="3300">
                            <a:latin typeface="Cambria Math" panose="02040503050406030204" pitchFamily="18" charset="0"/>
                          </a:rPr>
                        </m:ctrlPr>
                      </m:funcPr>
                      <m:fName>
                        <m:r>
                          <m:rPr>
                            <m:sty m:val="p"/>
                          </m:rPr>
                          <a:rPr lang="en-US" sz="3300">
                            <a:latin typeface="Cambria Math" panose="02040503050406030204" pitchFamily="18" charset="0"/>
                          </a:rPr>
                          <m:t>sin</m:t>
                        </m:r>
                      </m:fName>
                      <m:e>
                        <m:r>
                          <a:rPr lang="en-US" sz="3300">
                            <a:latin typeface="Cambria Math" panose="02040503050406030204" pitchFamily="18" charset="0"/>
                          </a:rPr>
                          <m:t>𝜃</m:t>
                        </m:r>
                      </m:e>
                    </m:func>
                    <m:r>
                      <a:rPr lang="en-US" sz="3300" b="0" i="1" smtClean="0">
                        <a:latin typeface="Cambria Math" panose="02040503050406030204" pitchFamily="18" charset="0"/>
                      </a:rPr>
                      <m:t>≈</m:t>
                    </m:r>
                    <m:f>
                      <m:fPr>
                        <m:ctrlPr>
                          <a:rPr lang="en-US" sz="3300" i="1">
                            <a:latin typeface="Cambria Math" panose="02040503050406030204" pitchFamily="18" charset="0"/>
                          </a:rPr>
                        </m:ctrlPr>
                      </m:fPr>
                      <m:num>
                        <m:r>
                          <a:rPr lang="en-US" sz="3300" i="1">
                            <a:latin typeface="Cambria Math" panose="02040503050406030204" pitchFamily="18" charset="0"/>
                          </a:rPr>
                          <m:t>𝑑</m:t>
                        </m:r>
                      </m:num>
                      <m:den>
                        <m:r>
                          <a:rPr lang="en-US" sz="3300" i="1">
                            <a:latin typeface="Cambria Math" panose="02040503050406030204" pitchFamily="18" charset="0"/>
                          </a:rPr>
                          <m:t>𝑑𝑡</m:t>
                        </m:r>
                      </m:den>
                    </m:f>
                    <m:func>
                      <m:funcPr>
                        <m:ctrlPr>
                          <a:rPr lang="en-US" sz="3300">
                            <a:latin typeface="Cambria Math" panose="02040503050406030204" pitchFamily="18" charset="0"/>
                          </a:rPr>
                        </m:ctrlPr>
                      </m:funcPr>
                      <m:fName>
                        <m:r>
                          <m:rPr>
                            <m:sty m:val="p"/>
                          </m:rPr>
                          <a:rPr lang="en-US" sz="3300">
                            <a:latin typeface="Cambria Math" panose="02040503050406030204" pitchFamily="18" charset="0"/>
                          </a:rPr>
                          <m:t>sin</m:t>
                        </m:r>
                      </m:fName>
                      <m:e>
                        <m:r>
                          <a:rPr lang="en-US" sz="3300">
                            <a:latin typeface="Cambria Math" panose="02040503050406030204" pitchFamily="18" charset="0"/>
                          </a:rPr>
                          <m:t>𝜃</m:t>
                        </m:r>
                      </m:e>
                    </m:func>
                    <m:r>
                      <a:rPr lang="en-US" sz="3300" i="1">
                        <a:latin typeface="Cambria Math" panose="02040503050406030204" pitchFamily="18" charset="0"/>
                      </a:rPr>
                      <m:t>∗</m:t>
                    </m:r>
                    <m:acc>
                      <m:accPr>
                        <m:chr m:val="̇"/>
                        <m:ctrlPr>
                          <a:rPr lang="en-US" sz="3300" i="1">
                            <a:latin typeface="Cambria Math" panose="02040503050406030204" pitchFamily="18" charset="0"/>
                          </a:rPr>
                        </m:ctrlPr>
                      </m:accPr>
                      <m:e>
                        <m:r>
                          <a:rPr lang="en-US" sz="3300" i="1">
                            <a:latin typeface="Cambria Math" panose="02040503050406030204" pitchFamily="18" charset="0"/>
                          </a:rPr>
                          <m:t>𝜃</m:t>
                        </m:r>
                      </m:e>
                    </m:acc>
                    <m:r>
                      <a:rPr lang="en-US" sz="3300" b="0" i="1" smtClean="0">
                        <a:latin typeface="Cambria Math" panose="02040503050406030204" pitchFamily="18" charset="0"/>
                      </a:rPr>
                      <m:t>𝑑𝑡</m:t>
                    </m:r>
                    <m:r>
                      <a:rPr lang="en-US" sz="3300" i="1">
                        <a:latin typeface="Cambria Math" panose="02040503050406030204" pitchFamily="18" charset="0"/>
                      </a:rPr>
                      <m:t>=</m:t>
                    </m:r>
                    <m:func>
                      <m:funcPr>
                        <m:ctrlPr>
                          <a:rPr lang="en-US" sz="3300">
                            <a:latin typeface="Cambria Math" panose="02040503050406030204" pitchFamily="18" charset="0"/>
                          </a:rPr>
                        </m:ctrlPr>
                      </m:funcPr>
                      <m:fName>
                        <m:r>
                          <m:rPr>
                            <m:sty m:val="p"/>
                          </m:rPr>
                          <a:rPr lang="en-US" sz="3300">
                            <a:latin typeface="Cambria Math" panose="02040503050406030204" pitchFamily="18" charset="0"/>
                          </a:rPr>
                          <m:t>cos</m:t>
                        </m:r>
                      </m:fName>
                      <m:e>
                        <m:r>
                          <a:rPr lang="en-US" sz="3300">
                            <a:latin typeface="Cambria Math" panose="02040503050406030204" pitchFamily="18" charset="0"/>
                          </a:rPr>
                          <m:t>𝜃</m:t>
                        </m:r>
                      </m:e>
                    </m:func>
                    <m:r>
                      <a:rPr lang="en-US" sz="3300">
                        <a:latin typeface="Cambria Math" panose="02040503050406030204" pitchFamily="18" charset="0"/>
                      </a:rPr>
                      <m:t>∗</m:t>
                    </m:r>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b="0" i="1" smtClean="0">
                        <a:latin typeface="Cambria Math" panose="02040503050406030204" pitchFamily="18" charset="0"/>
                      </a:rPr>
                      <m:t>𝑑𝑡</m:t>
                    </m:r>
                  </m:oMath>
                </a14:m>
                <a:r>
                  <a:rPr lang="en-US" sz="3300" dirty="0"/>
                  <a:t>, for small </a:t>
                </a:r>
                <a14:m>
                  <m:oMath xmlns:m="http://schemas.openxmlformats.org/officeDocument/2006/math">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i="1">
                        <a:latin typeface="Cambria Math" panose="02040503050406030204" pitchFamily="18" charset="0"/>
                      </a:rPr>
                      <m:t>𝑑𝑡</m:t>
                    </m:r>
                  </m:oMath>
                </a14:m>
                <a:r>
                  <a:rPr lang="en-US" sz="3300" dirty="0"/>
                  <a:t>.</a:t>
                </a:r>
              </a:p>
              <a:p>
                <a14:m>
                  <m:oMath xmlns:m="http://schemas.openxmlformats.org/officeDocument/2006/math">
                    <m:r>
                      <a:rPr lang="en-US" b="0" i="1" smtClean="0">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e>
                    </m:d>
                    <m:r>
                      <a:rPr lang="en-US" i="1">
                        <a:latin typeface="Cambria Math" panose="02040503050406030204" pitchFamily="18" charset="0"/>
                      </a:rPr>
                      <m:t>=</m:t>
                    </m:r>
                    <m:r>
                      <a:rPr lang="en-US" b="0" i="1" smtClean="0">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𝑅</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𝜃</m:t>
                        </m:r>
                      </m:e>
                    </m:func>
                    <m:r>
                      <a:rPr lang="en-US" b="0" i="1" smtClean="0">
                        <a:latin typeface="Cambria Math" panose="02040503050406030204" pitchFamily="18" charset="0"/>
                      </a:rPr>
                      <m:t>−</m:t>
                    </m:r>
                    <m:r>
                      <a:rPr lang="en-US" i="1">
                        <a:latin typeface="Cambria Math" panose="02040503050406030204" pitchFamily="18" charset="0"/>
                      </a:rPr>
                      <m:t>𝑅</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a:rPr lang="en-US" i="1">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i="1">
                        <a:latin typeface="Cambria Math" panose="02040503050406030204" pitchFamily="18" charset="0"/>
                      </a:rPr>
                      <m:t>𝑅</m:t>
                    </m:r>
                    <m:r>
                      <a:rPr lang="en-US" i="1">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a:rPr lang="en-US" i="1">
                        <a:latin typeface="Cambria Math" panose="02040503050406030204" pitchFamily="18" charset="0"/>
                      </a:rPr>
                      <m:t>)−</m:t>
                    </m:r>
                    <m:r>
                      <m:rPr>
                        <m:sty m:val="p"/>
                      </m:rPr>
                      <a:rPr lang="en-US" b="0" i="0" smtClean="0">
                        <a:latin typeface="Cambria Math" panose="02040503050406030204" pitchFamily="18" charset="0"/>
                      </a:rPr>
                      <m:t>cos</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𝑣</m:t>
                        </m:r>
                      </m:num>
                      <m:den>
                        <m:acc>
                          <m:accPr>
                            <m:chr m:val="̇"/>
                            <m:ctrlPr>
                              <a:rPr lang="en-US" i="1" dirty="0">
                                <a:latin typeface="Cambria Math" panose="02040503050406030204" pitchFamily="18" charset="0"/>
                              </a:rPr>
                            </m:ctrlPr>
                          </m:accPr>
                          <m:e>
                            <m:r>
                              <a:rPr lang="en-US" i="1" dirty="0">
                                <a:latin typeface="Cambria Math" panose="02040503050406030204" pitchFamily="18" charset="0"/>
                              </a:rPr>
                              <m:t>𝜃</m:t>
                            </m:r>
                          </m:e>
                        </m:acc>
                      </m:den>
                    </m:f>
                    <m:r>
                      <a:rPr lang="en-US" i="1">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i="1">
                            <a:latin typeface="Cambria Math" panose="02040503050406030204" pitchFamily="18" charset="0"/>
                          </a:rPr>
                          <m:t>𝜃</m:t>
                        </m:r>
                      </m:e>
                    </m:fun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𝑑𝑡</m:t>
                    </m:r>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𝑣𝑑𝑡</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i="1">
                            <a:latin typeface="Cambria Math" panose="02040503050406030204" pitchFamily="18" charset="0"/>
                          </a:rPr>
                          <m:t>𝜃</m:t>
                        </m:r>
                      </m:e>
                    </m:func>
                  </m:oMath>
                </a14:m>
                <a:endParaRPr lang="en-US" i="1" dirty="0">
                  <a:latin typeface="Cambria Math" panose="02040503050406030204" pitchFamily="18" charset="0"/>
                </a:endParaRPr>
              </a:p>
              <a:p>
                <a:pPr lvl="1"/>
                <a14:m>
                  <m:oMath xmlns:m="http://schemas.openxmlformats.org/officeDocument/2006/math">
                    <m:func>
                      <m:funcPr>
                        <m:ctrlPr>
                          <a:rPr lang="en-US" sz="3300" b="0" i="0" smtClean="0">
                            <a:latin typeface="Cambria Math" panose="02040503050406030204" pitchFamily="18" charset="0"/>
                          </a:rPr>
                        </m:ctrlPr>
                      </m:funcPr>
                      <m:fName>
                        <m:r>
                          <m:rPr>
                            <m:sty m:val="p"/>
                          </m:rPr>
                          <a:rPr lang="en-US" sz="3300" b="0" i="0" smtClean="0">
                            <a:latin typeface="Cambria Math" panose="02040503050406030204" pitchFamily="18" charset="0"/>
                          </a:rPr>
                          <m:t>cos</m:t>
                        </m:r>
                      </m:fName>
                      <m:e>
                        <m:r>
                          <a:rPr lang="en-US" sz="3300">
                            <a:latin typeface="Cambria Math" panose="02040503050406030204" pitchFamily="18" charset="0"/>
                          </a:rPr>
                          <m:t>(</m:t>
                        </m:r>
                        <m:r>
                          <a:rPr lang="en-US" sz="3300">
                            <a:latin typeface="Cambria Math" panose="02040503050406030204" pitchFamily="18" charset="0"/>
                          </a:rPr>
                          <m:t>𝜃</m:t>
                        </m:r>
                      </m:e>
                    </m:func>
                    <m:r>
                      <a:rPr lang="en-US" sz="3300">
                        <a:latin typeface="Cambria Math" panose="02040503050406030204" pitchFamily="18" charset="0"/>
                      </a:rPr>
                      <m:t>+</m:t>
                    </m:r>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i="1">
                        <a:latin typeface="Cambria Math" panose="02040503050406030204" pitchFamily="18" charset="0"/>
                      </a:rPr>
                      <m:t>𝑑𝑡</m:t>
                    </m:r>
                    <m:r>
                      <a:rPr lang="en-US" sz="3300">
                        <a:latin typeface="Cambria Math" panose="02040503050406030204" pitchFamily="18" charset="0"/>
                      </a:rPr>
                      <m:t>)−</m:t>
                    </m:r>
                    <m:func>
                      <m:funcPr>
                        <m:ctrlPr>
                          <a:rPr lang="en-US" sz="3300" b="0" i="0" smtClean="0">
                            <a:latin typeface="Cambria Math" panose="02040503050406030204" pitchFamily="18" charset="0"/>
                          </a:rPr>
                        </m:ctrlPr>
                      </m:funcPr>
                      <m:fName>
                        <m:r>
                          <m:rPr>
                            <m:sty m:val="p"/>
                          </m:rPr>
                          <a:rPr lang="en-US" sz="3300" b="0" i="0" smtClean="0">
                            <a:latin typeface="Cambria Math" panose="02040503050406030204" pitchFamily="18" charset="0"/>
                          </a:rPr>
                          <m:t>cos</m:t>
                        </m:r>
                      </m:fName>
                      <m:e>
                        <m:r>
                          <a:rPr lang="en-US" sz="3300">
                            <a:latin typeface="Cambria Math" panose="02040503050406030204" pitchFamily="18" charset="0"/>
                          </a:rPr>
                          <m:t>𝜃</m:t>
                        </m:r>
                      </m:e>
                    </m:func>
                    <m:r>
                      <a:rPr lang="en-US" sz="3300" i="1">
                        <a:latin typeface="Cambria Math" panose="02040503050406030204" pitchFamily="18" charset="0"/>
                      </a:rPr>
                      <m:t>≈</m:t>
                    </m:r>
                    <m:f>
                      <m:fPr>
                        <m:ctrlPr>
                          <a:rPr lang="en-US" sz="3300" i="1">
                            <a:latin typeface="Cambria Math" panose="02040503050406030204" pitchFamily="18" charset="0"/>
                          </a:rPr>
                        </m:ctrlPr>
                      </m:fPr>
                      <m:num>
                        <m:r>
                          <a:rPr lang="en-US" sz="3300" i="1">
                            <a:latin typeface="Cambria Math" panose="02040503050406030204" pitchFamily="18" charset="0"/>
                          </a:rPr>
                          <m:t>𝑑</m:t>
                        </m:r>
                      </m:num>
                      <m:den>
                        <m:r>
                          <a:rPr lang="en-US" sz="3300" i="1">
                            <a:latin typeface="Cambria Math" panose="02040503050406030204" pitchFamily="18" charset="0"/>
                          </a:rPr>
                          <m:t>𝑑𝑡</m:t>
                        </m:r>
                      </m:den>
                    </m:f>
                    <m:func>
                      <m:funcPr>
                        <m:ctrlPr>
                          <a:rPr lang="en-US" sz="3300" b="0" i="0" smtClean="0">
                            <a:latin typeface="Cambria Math" panose="02040503050406030204" pitchFamily="18" charset="0"/>
                          </a:rPr>
                        </m:ctrlPr>
                      </m:funcPr>
                      <m:fName>
                        <m:r>
                          <m:rPr>
                            <m:sty m:val="p"/>
                          </m:rPr>
                          <a:rPr lang="en-US" sz="3300" b="0" i="0" smtClean="0">
                            <a:latin typeface="Cambria Math" panose="02040503050406030204" pitchFamily="18" charset="0"/>
                          </a:rPr>
                          <m:t>cos</m:t>
                        </m:r>
                      </m:fName>
                      <m:e>
                        <m:r>
                          <a:rPr lang="en-US" sz="3300">
                            <a:latin typeface="Cambria Math" panose="02040503050406030204" pitchFamily="18" charset="0"/>
                          </a:rPr>
                          <m:t>𝜃</m:t>
                        </m:r>
                      </m:e>
                    </m:func>
                    <m:r>
                      <a:rPr lang="en-US" sz="3300" i="1">
                        <a:latin typeface="Cambria Math" panose="02040503050406030204" pitchFamily="18" charset="0"/>
                      </a:rPr>
                      <m:t>∗</m:t>
                    </m:r>
                    <m:acc>
                      <m:accPr>
                        <m:chr m:val="̇"/>
                        <m:ctrlPr>
                          <a:rPr lang="en-US" sz="3300" i="1">
                            <a:latin typeface="Cambria Math" panose="02040503050406030204" pitchFamily="18" charset="0"/>
                          </a:rPr>
                        </m:ctrlPr>
                      </m:accPr>
                      <m:e>
                        <m:r>
                          <a:rPr lang="en-US" sz="3300" i="1">
                            <a:latin typeface="Cambria Math" panose="02040503050406030204" pitchFamily="18" charset="0"/>
                          </a:rPr>
                          <m:t>𝜃</m:t>
                        </m:r>
                      </m:e>
                    </m:acc>
                    <m:r>
                      <a:rPr lang="en-US" sz="3300" i="1">
                        <a:latin typeface="Cambria Math" panose="02040503050406030204" pitchFamily="18" charset="0"/>
                      </a:rPr>
                      <m:t>𝑑𝑡</m:t>
                    </m:r>
                    <m:r>
                      <a:rPr lang="en-US" sz="3300" i="1">
                        <a:latin typeface="Cambria Math" panose="02040503050406030204" pitchFamily="18" charset="0"/>
                      </a:rPr>
                      <m:t>=−</m:t>
                    </m:r>
                    <m:func>
                      <m:funcPr>
                        <m:ctrlPr>
                          <a:rPr lang="en-US" sz="3300" b="0" i="0" smtClean="0">
                            <a:latin typeface="Cambria Math" panose="02040503050406030204" pitchFamily="18" charset="0"/>
                          </a:rPr>
                        </m:ctrlPr>
                      </m:funcPr>
                      <m:fName>
                        <m:r>
                          <m:rPr>
                            <m:sty m:val="p"/>
                          </m:rPr>
                          <a:rPr lang="en-US" sz="3300" b="0" i="0" smtClean="0">
                            <a:latin typeface="Cambria Math" panose="02040503050406030204" pitchFamily="18" charset="0"/>
                          </a:rPr>
                          <m:t>sin</m:t>
                        </m:r>
                      </m:fName>
                      <m:e>
                        <m:r>
                          <a:rPr lang="en-US" sz="3300">
                            <a:latin typeface="Cambria Math" panose="02040503050406030204" pitchFamily="18" charset="0"/>
                          </a:rPr>
                          <m:t>𝜃</m:t>
                        </m:r>
                      </m:e>
                    </m:func>
                    <m:r>
                      <a:rPr lang="en-US" sz="3300">
                        <a:latin typeface="Cambria Math" panose="02040503050406030204" pitchFamily="18" charset="0"/>
                      </a:rPr>
                      <m:t>∗</m:t>
                    </m:r>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i="1">
                        <a:latin typeface="Cambria Math" panose="02040503050406030204" pitchFamily="18" charset="0"/>
                      </a:rPr>
                      <m:t>𝑑𝑡</m:t>
                    </m:r>
                  </m:oMath>
                </a14:m>
                <a:r>
                  <a:rPr lang="en-US" sz="3300" dirty="0"/>
                  <a:t>, for small </a:t>
                </a:r>
                <a14:m>
                  <m:oMath xmlns:m="http://schemas.openxmlformats.org/officeDocument/2006/math">
                    <m:acc>
                      <m:accPr>
                        <m:chr m:val="̇"/>
                        <m:ctrlPr>
                          <a:rPr lang="en-US" sz="3300">
                            <a:latin typeface="Cambria Math" panose="02040503050406030204" pitchFamily="18" charset="0"/>
                          </a:rPr>
                        </m:ctrlPr>
                      </m:accPr>
                      <m:e>
                        <m:r>
                          <a:rPr lang="en-US" sz="3300">
                            <a:latin typeface="Cambria Math" panose="02040503050406030204" pitchFamily="18" charset="0"/>
                          </a:rPr>
                          <m:t>𝜃</m:t>
                        </m:r>
                      </m:e>
                    </m:acc>
                    <m:r>
                      <a:rPr lang="en-US" sz="3300" i="1">
                        <a:latin typeface="Cambria Math" panose="02040503050406030204" pitchFamily="18" charset="0"/>
                      </a:rPr>
                      <m:t>𝑑𝑡</m:t>
                    </m:r>
                  </m:oMath>
                </a14:m>
                <a:r>
                  <a:rPr lang="en-US" sz="3300" dirty="0"/>
                  <a:t>.</a:t>
                </a:r>
              </a:p>
              <a:p>
                <a:r>
                  <a:rPr lang="en-US" dirty="0"/>
                  <a:t>Four special cases </a:t>
                </a:r>
                <a:r>
                  <a:rPr lang="en-US" altLang="zh-CN" dirty="0"/>
                  <a:t>of </a:t>
                </a:r>
                <a:r>
                  <a:rPr lang="en-US" dirty="0"/>
                  <a:t>straight line motion:</a:t>
                </a:r>
              </a:p>
              <a:p>
                <a:pPr lvl="1"/>
                <a14:m>
                  <m:oMath xmlns:m="http://schemas.openxmlformats.org/officeDocument/2006/math">
                    <m:r>
                      <a:rPr lang="en-US" sz="3300" i="1">
                        <a:latin typeface="Cambria Math" panose="02040503050406030204" pitchFamily="18" charset="0"/>
                      </a:rPr>
                      <m:t>𝜃</m:t>
                    </m:r>
                    <m:r>
                      <a:rPr lang="en-US" sz="3300" i="1">
                        <a:latin typeface="Cambria Math" panose="02040503050406030204" pitchFamily="18" charset="0"/>
                      </a:rPr>
                      <m:t>=0⇒</m:t>
                    </m:r>
                    <m:sSup>
                      <m:sSupPr>
                        <m:ctrlPr>
                          <a:rPr lang="en-US" sz="3300" i="1">
                            <a:latin typeface="Cambria Math" panose="02040503050406030204" pitchFamily="18" charset="0"/>
                          </a:rPr>
                        </m:ctrlPr>
                      </m:sSupPr>
                      <m:e>
                        <m:r>
                          <a:rPr lang="en-US" sz="3300" i="1">
                            <a:latin typeface="Cambria Math" panose="02040503050406030204" pitchFamily="18" charset="0"/>
                          </a:rPr>
                          <m:t>𝑥</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𝑥</m:t>
                    </m:r>
                    <m:r>
                      <a:rPr lang="en-US" sz="3300" i="1">
                        <a:latin typeface="Cambria Math" panose="02040503050406030204" pitchFamily="18" charset="0"/>
                      </a:rPr>
                      <m:t>+</m:t>
                    </m:r>
                    <m:r>
                      <a:rPr lang="en-US" sz="3300" i="1">
                        <a:latin typeface="Cambria Math" panose="02040503050406030204" pitchFamily="18" charset="0"/>
                      </a:rPr>
                      <m:t>𝑣𝑑𝑡</m:t>
                    </m:r>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𝑦</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𝑦</m:t>
                    </m:r>
                  </m:oMath>
                </a14:m>
                <a:r>
                  <a:rPr lang="en-US" sz="3300" dirty="0"/>
                  <a:t> (east)</a:t>
                </a:r>
              </a:p>
              <a:p>
                <a:pPr lvl="1"/>
                <a14:m>
                  <m:oMath xmlns:m="http://schemas.openxmlformats.org/officeDocument/2006/math">
                    <m:r>
                      <a:rPr lang="en-US" sz="3300" i="1">
                        <a:latin typeface="Cambria Math" panose="02040503050406030204" pitchFamily="18" charset="0"/>
                      </a:rPr>
                      <m:t>𝜃</m:t>
                    </m:r>
                    <m:r>
                      <a:rPr lang="en-US" sz="3300" i="1">
                        <a:latin typeface="Cambria Math" panose="02040503050406030204" pitchFamily="18" charset="0"/>
                      </a:rPr>
                      <m:t>=</m:t>
                    </m:r>
                    <m:r>
                      <a:rPr lang="en-US" sz="3300" b="0" i="1" smtClean="0">
                        <a:latin typeface="Cambria Math" panose="02040503050406030204" pitchFamily="18" charset="0"/>
                      </a:rPr>
                      <m:t>𝜋</m:t>
                    </m:r>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𝑥</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𝑥</m:t>
                    </m:r>
                    <m:r>
                      <a:rPr lang="en-US" sz="3300" b="0" i="1" smtClean="0">
                        <a:latin typeface="Cambria Math" panose="02040503050406030204" pitchFamily="18" charset="0"/>
                      </a:rPr>
                      <m:t>−</m:t>
                    </m:r>
                    <m:r>
                      <a:rPr lang="en-US" sz="3300" i="1">
                        <a:latin typeface="Cambria Math" panose="02040503050406030204" pitchFamily="18" charset="0"/>
                      </a:rPr>
                      <m:t>𝑣𝑑𝑡</m:t>
                    </m:r>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𝑦</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𝑦</m:t>
                    </m:r>
                  </m:oMath>
                </a14:m>
                <a:r>
                  <a:rPr lang="en-US" sz="3300" dirty="0"/>
                  <a:t> (west)</a:t>
                </a:r>
              </a:p>
              <a:p>
                <a:pPr lvl="1"/>
                <a14:m>
                  <m:oMath xmlns:m="http://schemas.openxmlformats.org/officeDocument/2006/math">
                    <m:r>
                      <a:rPr lang="en-US" sz="3300" i="1">
                        <a:latin typeface="Cambria Math" panose="02040503050406030204" pitchFamily="18" charset="0"/>
                      </a:rPr>
                      <m:t>𝜃</m:t>
                    </m:r>
                    <m:r>
                      <a:rPr lang="en-US" sz="3300" i="1">
                        <a:latin typeface="Cambria Math" panose="02040503050406030204" pitchFamily="18" charset="0"/>
                      </a:rPr>
                      <m:t>=</m:t>
                    </m:r>
                    <m:f>
                      <m:fPr>
                        <m:ctrlPr>
                          <a:rPr lang="en-US" sz="3300" i="1">
                            <a:latin typeface="Cambria Math" panose="02040503050406030204" pitchFamily="18" charset="0"/>
                          </a:rPr>
                        </m:ctrlPr>
                      </m:fPr>
                      <m:num>
                        <m:r>
                          <a:rPr lang="en-US" sz="3300" i="1">
                            <a:latin typeface="Cambria Math" panose="02040503050406030204" pitchFamily="18" charset="0"/>
                          </a:rPr>
                          <m:t>𝜋</m:t>
                        </m:r>
                      </m:num>
                      <m:den>
                        <m:r>
                          <a:rPr lang="en-US" sz="3300" i="1">
                            <a:latin typeface="Cambria Math" panose="02040503050406030204" pitchFamily="18" charset="0"/>
                          </a:rPr>
                          <m:t>2</m:t>
                        </m:r>
                      </m:den>
                    </m:f>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𝑥</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𝑥</m:t>
                    </m:r>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𝑦</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𝑦</m:t>
                    </m:r>
                    <m:r>
                      <a:rPr lang="en-US" sz="3300" i="1">
                        <a:latin typeface="Cambria Math" panose="02040503050406030204" pitchFamily="18" charset="0"/>
                      </a:rPr>
                      <m:t>+</m:t>
                    </m:r>
                    <m:r>
                      <a:rPr lang="en-US" sz="3300" i="1">
                        <a:latin typeface="Cambria Math" panose="02040503050406030204" pitchFamily="18" charset="0"/>
                      </a:rPr>
                      <m:t>𝑣𝑑𝑡</m:t>
                    </m:r>
                  </m:oMath>
                </a14:m>
                <a:r>
                  <a:rPr lang="en-US" sz="3300" dirty="0"/>
                  <a:t> (north)</a:t>
                </a:r>
              </a:p>
              <a:p>
                <a:pPr lvl="1"/>
                <a14:m>
                  <m:oMath xmlns:m="http://schemas.openxmlformats.org/officeDocument/2006/math">
                    <m:r>
                      <a:rPr lang="en-US" sz="3300" i="1">
                        <a:latin typeface="Cambria Math" panose="02040503050406030204" pitchFamily="18" charset="0"/>
                      </a:rPr>
                      <m:t>𝜃</m:t>
                    </m:r>
                    <m:r>
                      <a:rPr lang="en-US" sz="3300" i="1">
                        <a:latin typeface="Cambria Math" panose="02040503050406030204" pitchFamily="18" charset="0"/>
                      </a:rPr>
                      <m:t>=</m:t>
                    </m:r>
                    <m:f>
                      <m:fPr>
                        <m:ctrlPr>
                          <a:rPr lang="en-US" sz="3300" b="0" i="1" smtClean="0">
                            <a:latin typeface="Cambria Math" panose="02040503050406030204" pitchFamily="18" charset="0"/>
                          </a:rPr>
                        </m:ctrlPr>
                      </m:fPr>
                      <m:num>
                        <m:r>
                          <a:rPr lang="en-US" sz="3300" b="0" i="1" smtClean="0">
                            <a:latin typeface="Cambria Math" panose="02040503050406030204" pitchFamily="18" charset="0"/>
                          </a:rPr>
                          <m:t>3</m:t>
                        </m:r>
                        <m:r>
                          <a:rPr lang="en-US" sz="3300" i="1">
                            <a:latin typeface="Cambria Math" panose="02040503050406030204" pitchFamily="18" charset="0"/>
                          </a:rPr>
                          <m:t>𝜋</m:t>
                        </m:r>
                      </m:num>
                      <m:den>
                        <m:r>
                          <a:rPr lang="en-US" sz="3300" i="1">
                            <a:latin typeface="Cambria Math" panose="02040503050406030204" pitchFamily="18" charset="0"/>
                          </a:rPr>
                          <m:t>2</m:t>
                        </m:r>
                      </m:den>
                    </m:f>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𝑥</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𝑥</m:t>
                    </m:r>
                    <m:r>
                      <a:rPr lang="en-US" sz="3300" i="1">
                        <a:latin typeface="Cambria Math" panose="02040503050406030204" pitchFamily="18" charset="0"/>
                      </a:rPr>
                      <m:t>,</m:t>
                    </m:r>
                    <m:sSup>
                      <m:sSupPr>
                        <m:ctrlPr>
                          <a:rPr lang="en-US" sz="3300" i="1">
                            <a:latin typeface="Cambria Math" panose="02040503050406030204" pitchFamily="18" charset="0"/>
                          </a:rPr>
                        </m:ctrlPr>
                      </m:sSupPr>
                      <m:e>
                        <m:r>
                          <a:rPr lang="en-US" sz="3300" i="1">
                            <a:latin typeface="Cambria Math" panose="02040503050406030204" pitchFamily="18" charset="0"/>
                          </a:rPr>
                          <m:t>𝑦</m:t>
                        </m:r>
                      </m:e>
                      <m:sup>
                        <m:r>
                          <a:rPr lang="en-US" sz="3300" i="1">
                            <a:latin typeface="Cambria Math" panose="02040503050406030204" pitchFamily="18" charset="0"/>
                          </a:rPr>
                          <m:t>′</m:t>
                        </m:r>
                      </m:sup>
                    </m:sSup>
                    <m:r>
                      <a:rPr lang="en-US" sz="3300" i="1">
                        <a:latin typeface="Cambria Math" panose="02040503050406030204" pitchFamily="18" charset="0"/>
                      </a:rPr>
                      <m:t>=</m:t>
                    </m:r>
                    <m:r>
                      <a:rPr lang="en-US" sz="3300" i="1">
                        <a:latin typeface="Cambria Math" panose="02040503050406030204" pitchFamily="18" charset="0"/>
                      </a:rPr>
                      <m:t>𝑦</m:t>
                    </m:r>
                    <m:r>
                      <a:rPr lang="en-US" sz="3300" b="0" i="1" smtClean="0">
                        <a:latin typeface="Cambria Math" panose="02040503050406030204" pitchFamily="18" charset="0"/>
                      </a:rPr>
                      <m:t>−</m:t>
                    </m:r>
                    <m:r>
                      <a:rPr lang="en-US" sz="3300" i="1">
                        <a:latin typeface="Cambria Math" panose="02040503050406030204" pitchFamily="18" charset="0"/>
                      </a:rPr>
                      <m:t>𝑣𝑑𝑡</m:t>
                    </m:r>
                  </m:oMath>
                </a14:m>
                <a:r>
                  <a:rPr lang="en-US" sz="3300" dirty="0"/>
                  <a:t> (south)</a:t>
                </a:r>
              </a:p>
            </p:txBody>
          </p:sp>
        </mc:Choice>
        <mc:Fallback xmlns="">
          <p:sp>
            <p:nvSpPr>
              <p:cNvPr id="3" name="Content Placeholder 2">
                <a:extLst>
                  <a:ext uri="{FF2B5EF4-FFF2-40B4-BE49-F238E27FC236}">
                    <a16:creationId xmlns:a16="http://schemas.microsoft.com/office/drawing/2014/main" id="{17D6D3DC-E51E-B27D-4391-523BD3ECFB01}"/>
                  </a:ext>
                </a:extLst>
              </p:cNvPr>
              <p:cNvSpPr>
                <a:spLocks noGrp="1" noRot="1" noChangeAspect="1" noMove="1" noResize="1" noEditPoints="1" noAdjustHandles="1" noChangeArrowheads="1" noChangeShapeType="1" noTextEdit="1"/>
              </p:cNvSpPr>
              <p:nvPr>
                <p:ph idx="1"/>
              </p:nvPr>
            </p:nvSpPr>
            <p:spPr>
              <a:xfrm>
                <a:off x="622737" y="1237592"/>
                <a:ext cx="10949153" cy="5261637"/>
              </a:xfrm>
              <a:blipFill>
                <a:blip r:embed="rId2"/>
                <a:stretch>
                  <a:fillRect l="-557" t="-2202" b="-11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7416BB9-4FFC-6BAC-5901-CB46AC6AC2BF}"/>
              </a:ext>
            </a:extLst>
          </p:cNvPr>
          <p:cNvSpPr>
            <a:spLocks noGrp="1"/>
          </p:cNvSpPr>
          <p:nvPr>
            <p:ph type="sldNum" sz="quarter" idx="12"/>
          </p:nvPr>
        </p:nvSpPr>
        <p:spPr/>
        <p:txBody>
          <a:bodyPr/>
          <a:lstStyle/>
          <a:p>
            <a:fld id="{1F57BF9A-7B35-9447-9112-EAE7E91B4E99}" type="slidenum">
              <a:rPr lang="en-US" smtClean="0"/>
              <a:t>31</a:t>
            </a:fld>
            <a:endParaRPr lang="en-US"/>
          </a:p>
        </p:txBody>
      </p:sp>
    </p:spTree>
    <p:extLst>
      <p:ext uri="{BB962C8B-B14F-4D97-AF65-F5344CB8AC3E}">
        <p14:creationId xmlns:p14="http://schemas.microsoft.com/office/powerpoint/2010/main" val="1151763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0360-F639-E82B-A45D-B7E987721163}"/>
              </a:ext>
            </a:extLst>
          </p:cNvPr>
          <p:cNvSpPr>
            <a:spLocks noGrp="1"/>
          </p:cNvSpPr>
          <p:nvPr>
            <p:ph type="title"/>
          </p:nvPr>
        </p:nvSpPr>
        <p:spPr/>
        <p:txBody>
          <a:bodyPr/>
          <a:lstStyle/>
          <a:p>
            <a:r>
              <a:rPr lang="en-US" sz="4800" dirty="0"/>
              <a:t>PID Control Lab Setup</a:t>
            </a:r>
            <a:endParaRPr lang="en-SE" dirty="0"/>
          </a:p>
        </p:txBody>
      </p:sp>
      <p:sp>
        <p:nvSpPr>
          <p:cNvPr id="3" name="Content Placeholder 2">
            <a:extLst>
              <a:ext uri="{FF2B5EF4-FFF2-40B4-BE49-F238E27FC236}">
                <a16:creationId xmlns:a16="http://schemas.microsoft.com/office/drawing/2014/main" id="{AE1DA34B-B0F0-6FC0-28FF-C6A236A62197}"/>
              </a:ext>
            </a:extLst>
          </p:cNvPr>
          <p:cNvSpPr>
            <a:spLocks noGrp="1"/>
          </p:cNvSpPr>
          <p:nvPr>
            <p:ph idx="1"/>
          </p:nvPr>
        </p:nvSpPr>
        <p:spPr/>
        <p:txBody>
          <a:bodyPr/>
          <a:lstStyle/>
          <a:p>
            <a:r>
              <a:rPr lang="en-US" dirty="0"/>
              <a:t>Based on Udacity course Lesson AI for Robotics, Lesson 15: PID Control</a:t>
            </a:r>
          </a:p>
          <a:p>
            <a:r>
              <a:rPr lang="en-US" dirty="0"/>
              <a:t>Lateral control of a car to run along a race track (either straight line or circular) with fixed speed.</a:t>
            </a:r>
          </a:p>
          <a:p>
            <a:endParaRPr lang="en-SE" dirty="0"/>
          </a:p>
        </p:txBody>
      </p:sp>
      <p:sp>
        <p:nvSpPr>
          <p:cNvPr id="4" name="Slide Number Placeholder 3">
            <a:extLst>
              <a:ext uri="{FF2B5EF4-FFF2-40B4-BE49-F238E27FC236}">
                <a16:creationId xmlns:a16="http://schemas.microsoft.com/office/drawing/2014/main" id="{709B656D-6CEF-2F89-7D8F-E6D448762623}"/>
              </a:ext>
            </a:extLst>
          </p:cNvPr>
          <p:cNvSpPr>
            <a:spLocks noGrp="1"/>
          </p:cNvSpPr>
          <p:nvPr>
            <p:ph type="sldNum" sz="quarter" idx="12"/>
          </p:nvPr>
        </p:nvSpPr>
        <p:spPr/>
        <p:txBody>
          <a:bodyPr/>
          <a:lstStyle/>
          <a:p>
            <a:fld id="{1F57BF9A-7B35-9447-9112-EAE7E91B4E99}" type="slidenum">
              <a:rPr lang="en-US" smtClean="0"/>
              <a:t>32</a:t>
            </a:fld>
            <a:endParaRPr lang="en-US"/>
          </a:p>
        </p:txBody>
      </p:sp>
    </p:spTree>
    <p:extLst>
      <p:ext uri="{BB962C8B-B14F-4D97-AF65-F5344CB8AC3E}">
        <p14:creationId xmlns:p14="http://schemas.microsoft.com/office/powerpoint/2010/main" val="3979026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705C-2259-3C4A-C696-D432793B2EF3}"/>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5D2EECD8-7090-2514-955D-C0BEAE30D231}"/>
              </a:ext>
            </a:extLst>
          </p:cNvPr>
          <p:cNvSpPr>
            <a:spLocks noGrp="1"/>
          </p:cNvSpPr>
          <p:nvPr>
            <p:ph idx="1"/>
          </p:nvPr>
        </p:nvSpPr>
        <p:spPr/>
        <p:txBody>
          <a:bodyPr/>
          <a:lstStyle/>
          <a:p>
            <a:r>
              <a:rPr lang="en-US" dirty="0"/>
              <a:t>PID Control</a:t>
            </a:r>
          </a:p>
          <a:p>
            <a:r>
              <a:rPr lang="en-US" dirty="0"/>
              <a:t>LQR (Linear Quadratic Regulator)</a:t>
            </a:r>
          </a:p>
          <a:p>
            <a:r>
              <a:rPr lang="en-US" dirty="0"/>
              <a:t>MPC Control</a:t>
            </a:r>
          </a:p>
          <a:p>
            <a:r>
              <a:rPr lang="en-US" dirty="0"/>
              <a:t>Kinematic bicycle model</a:t>
            </a:r>
          </a:p>
          <a:p>
            <a:r>
              <a:rPr lang="en-US" dirty="0"/>
              <a:t>Geometric path tracking: Pure Pursuit &amp; Stanley</a:t>
            </a:r>
          </a:p>
          <a:p>
            <a:r>
              <a:rPr lang="en-US" dirty="0">
                <a:solidFill>
                  <a:srgbClr val="FF0000"/>
                </a:solidFill>
              </a:rPr>
              <a:t>Twiddle() for PID control tuning</a:t>
            </a:r>
          </a:p>
        </p:txBody>
      </p:sp>
      <p:sp>
        <p:nvSpPr>
          <p:cNvPr id="4" name="Slide Number Placeholder 3">
            <a:extLst>
              <a:ext uri="{FF2B5EF4-FFF2-40B4-BE49-F238E27FC236}">
                <a16:creationId xmlns:a16="http://schemas.microsoft.com/office/drawing/2014/main" id="{56AD6761-DD61-152F-9A9D-1CE1C3D22506}"/>
              </a:ext>
            </a:extLst>
          </p:cNvPr>
          <p:cNvSpPr>
            <a:spLocks noGrp="1"/>
          </p:cNvSpPr>
          <p:nvPr>
            <p:ph type="sldNum" sz="quarter" idx="12"/>
          </p:nvPr>
        </p:nvSpPr>
        <p:spPr/>
        <p:txBody>
          <a:bodyPr/>
          <a:lstStyle/>
          <a:p>
            <a:fld id="{1F57BF9A-7B35-9447-9112-EAE7E91B4E99}" type="slidenum">
              <a:rPr lang="en-US" smtClean="0"/>
              <a:t>33</a:t>
            </a:fld>
            <a:endParaRPr lang="en-US"/>
          </a:p>
        </p:txBody>
      </p:sp>
    </p:spTree>
    <p:extLst>
      <p:ext uri="{BB962C8B-B14F-4D97-AF65-F5344CB8AC3E}">
        <p14:creationId xmlns:p14="http://schemas.microsoft.com/office/powerpoint/2010/main" val="3071656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00EF7-A6FB-E7C1-7CA6-0E1A89DFEA52}"/>
              </a:ext>
            </a:extLst>
          </p:cNvPr>
          <p:cNvSpPr>
            <a:spLocks noGrp="1"/>
          </p:cNvSpPr>
          <p:nvPr>
            <p:ph type="title"/>
          </p:nvPr>
        </p:nvSpPr>
        <p:spPr/>
        <p:txBody>
          <a:bodyPr/>
          <a:lstStyle/>
          <a:p>
            <a:r>
              <a:rPr lang="en-US" dirty="0"/>
              <a:t>Udacity: Racetrack Control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28366B-A8BE-C775-1DFB-6601B1721865}"/>
                  </a:ext>
                </a:extLst>
              </p:cNvPr>
              <p:cNvSpPr>
                <a:spLocks noGrp="1"/>
              </p:cNvSpPr>
              <p:nvPr>
                <p:ph idx="1"/>
              </p:nvPr>
            </p:nvSpPr>
            <p:spPr>
              <a:xfrm>
                <a:off x="622738" y="1237592"/>
                <a:ext cx="5587133" cy="5261638"/>
              </a:xfrm>
            </p:spPr>
            <p:txBody>
              <a:bodyPr>
                <a:normAutofit fontScale="92500" lnSpcReduction="20000"/>
              </a:bodyPr>
              <a:lstStyle/>
              <a:p>
                <a:r>
                  <a:rPr lang="en-US" dirty="0"/>
                  <a:t>Lesson 16: Problem Set 5, 4. Quiz: Racetrack control.</a:t>
                </a:r>
              </a:p>
              <a:p>
                <a:r>
                  <a:rPr lang="en-US" dirty="0"/>
                  <a:t>Cross-track error (</a:t>
                </a:r>
                <a:r>
                  <a:rPr lang="en-US" dirty="0" err="1"/>
                  <a:t>cte</a:t>
                </a:r>
                <a:r>
                  <a:rPr lang="en-US" dirty="0"/>
                  <a:t>): lateral distance (of rear wheel) to desired trajectory, defined as:</a:t>
                </a:r>
              </a:p>
              <a:p>
                <a:pPr lvl="1"/>
                <a:r>
                  <a:rPr lang="en-US" dirty="0"/>
                  <a:t>if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𝑟𝑎𝑑𝑖𝑢𝑠</m:t>
                    </m:r>
                    <m:r>
                      <a:rPr lang="en-US" i="1">
                        <a:latin typeface="Cambria Math" panose="02040503050406030204" pitchFamily="18" charset="0"/>
                      </a:rPr>
                      <m:t>, 3∗</m:t>
                    </m:r>
                    <m:r>
                      <a:rPr lang="en-US" i="1">
                        <a:latin typeface="Cambria Math" panose="02040503050406030204" pitchFamily="18" charset="0"/>
                      </a:rPr>
                      <m:t>𝑟𝑎𝑑𝑖𝑢𝑠</m:t>
                    </m:r>
                    <m:r>
                      <a:rPr lang="en-US" i="1">
                        <a:latin typeface="Cambria Math" panose="02040503050406030204" pitchFamily="18" charset="0"/>
                      </a:rPr>
                      <m:t>]</m:t>
                    </m:r>
                  </m:oMath>
                </a14:m>
                <a:r>
                  <a:rPr lang="en-US" dirty="0"/>
                  <a:t>: deviation from the straight horizontal track (with the implicit assumption that the car will not deviate from the track for more than </a:t>
                </a:r>
                <a14:m>
                  <m:oMath xmlns:m="http://schemas.openxmlformats.org/officeDocument/2006/math">
                    <m:r>
                      <a:rPr lang="en-US" i="1">
                        <a:latin typeface="Cambria Math" panose="02040503050406030204" pitchFamily="18" charset="0"/>
                      </a:rPr>
                      <m:t>𝑟𝑎𝑑𝑖𝑢𝑠</m:t>
                    </m:r>
                  </m:oMath>
                </a14:m>
                <a:r>
                  <a:rPr lang="en-US" dirty="0"/>
                  <a:t>.)</a:t>
                </a:r>
              </a:p>
              <a:p>
                <a:pPr lvl="1"/>
                <a:r>
                  <a:rPr lang="en-US" dirty="0"/>
                  <a:t>Otherwise: deviation from each semi-circle track.</a:t>
                </a:r>
              </a:p>
              <a:p>
                <a:r>
                  <a:rPr lang="en-US" dirty="0"/>
                  <a:t>For clockwise traversal, </a:t>
                </a:r>
                <a:r>
                  <a:rPr lang="en-US" dirty="0" err="1"/>
                  <a:t>cte</a:t>
                </a:r>
                <a:r>
                  <a:rPr lang="en-US" dirty="0"/>
                  <a:t>&gt;0 if car is outside of the track region; </a:t>
                </a:r>
                <a:r>
                  <a:rPr lang="en-US" dirty="0" err="1"/>
                  <a:t>cte</a:t>
                </a:r>
                <a:r>
                  <a:rPr lang="en-US" dirty="0"/>
                  <a:t>&lt;0 if inside.</a:t>
                </a:r>
              </a:p>
              <a:p>
                <a:endParaRPr lang="en-SE" dirty="0"/>
              </a:p>
            </p:txBody>
          </p:sp>
        </mc:Choice>
        <mc:Fallback xmlns="">
          <p:sp>
            <p:nvSpPr>
              <p:cNvPr id="3" name="Content Placeholder 2">
                <a:extLst>
                  <a:ext uri="{FF2B5EF4-FFF2-40B4-BE49-F238E27FC236}">
                    <a16:creationId xmlns:a16="http://schemas.microsoft.com/office/drawing/2014/main" id="{5F28366B-A8BE-C775-1DFB-6601B1721865}"/>
                  </a:ext>
                </a:extLst>
              </p:cNvPr>
              <p:cNvSpPr>
                <a:spLocks noGrp="1" noRot="1" noChangeAspect="1" noMove="1" noResize="1" noEditPoints="1" noAdjustHandles="1" noChangeArrowheads="1" noChangeShapeType="1" noTextEdit="1"/>
              </p:cNvSpPr>
              <p:nvPr>
                <p:ph idx="1"/>
              </p:nvPr>
            </p:nvSpPr>
            <p:spPr>
              <a:xfrm>
                <a:off x="622738" y="1237592"/>
                <a:ext cx="5587133" cy="5261638"/>
              </a:xfrm>
              <a:blipFill>
                <a:blip r:embed="rId2"/>
                <a:stretch>
                  <a:fillRect l="-2181" t="-3708" r="-2181" b="-382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A2E4F70E-54E6-3B1B-E069-75740D832722}"/>
              </a:ext>
            </a:extLst>
          </p:cNvPr>
          <p:cNvSpPr>
            <a:spLocks noGrp="1"/>
          </p:cNvSpPr>
          <p:nvPr>
            <p:ph type="sldNum" sz="quarter" idx="12"/>
          </p:nvPr>
        </p:nvSpPr>
        <p:spPr/>
        <p:txBody>
          <a:bodyPr/>
          <a:lstStyle/>
          <a:p>
            <a:fld id="{1F57BF9A-7B35-9447-9112-EAE7E91B4E99}" type="slidenum">
              <a:rPr lang="en-US" smtClean="0"/>
              <a:t>34</a:t>
            </a:fld>
            <a:endParaRPr lang="en-US"/>
          </a:p>
        </p:txBody>
      </p:sp>
      <p:pic>
        <p:nvPicPr>
          <p:cNvPr id="7" name="Picture 2">
            <a:extLst>
              <a:ext uri="{FF2B5EF4-FFF2-40B4-BE49-F238E27FC236}">
                <a16:creationId xmlns:a16="http://schemas.microsoft.com/office/drawing/2014/main" id="{40697D28-358E-63D9-4D41-90DF541918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8510" t="14087" r="23970" b="18233"/>
          <a:stretch>
            <a:fillRect/>
          </a:stretch>
        </p:blipFill>
        <p:spPr bwMode="auto">
          <a:xfrm>
            <a:off x="6794979" y="2027920"/>
            <a:ext cx="5288609" cy="357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17EE9622-3DB7-6262-6C01-2246FD3DA65B}"/>
              </a:ext>
            </a:extLst>
          </p:cNvPr>
          <p:cNvCxnSpPr>
            <a:cxnSpLocks/>
          </p:cNvCxnSpPr>
          <p:nvPr/>
        </p:nvCxnSpPr>
        <p:spPr bwMode="auto">
          <a:xfrm>
            <a:off x="9308410" y="2327502"/>
            <a:ext cx="0" cy="360040"/>
          </a:xfrm>
          <a:prstGeom prst="line">
            <a:avLst/>
          </a:prstGeom>
          <a:noFill/>
          <a:ln w="12700" cap="flat" cmpd="sng" algn="ctr">
            <a:solidFill>
              <a:schemeClr val="tx1"/>
            </a:solidFill>
            <a:prstDash val="solid"/>
            <a:round/>
            <a:headEnd type="none" w="med" len="med"/>
            <a:tailEnd type="none" w="med" len="med"/>
          </a:ln>
          <a:effectLst/>
        </p:spPr>
      </p:cxnSp>
      <p:sp>
        <p:nvSpPr>
          <p:cNvPr id="9" name="Oval 8">
            <a:extLst>
              <a:ext uri="{FF2B5EF4-FFF2-40B4-BE49-F238E27FC236}">
                <a16:creationId xmlns:a16="http://schemas.microsoft.com/office/drawing/2014/main" id="{12591120-EB08-1A73-36E9-5085E6904765}"/>
              </a:ext>
            </a:extLst>
          </p:cNvPr>
          <p:cNvSpPr/>
          <p:nvPr/>
        </p:nvSpPr>
        <p:spPr bwMode="auto">
          <a:xfrm flipV="1">
            <a:off x="9228450" y="2164901"/>
            <a:ext cx="159920" cy="159920"/>
          </a:xfrm>
          <a:prstGeom prst="ellipse">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Oval 9">
            <a:extLst>
              <a:ext uri="{FF2B5EF4-FFF2-40B4-BE49-F238E27FC236}">
                <a16:creationId xmlns:a16="http://schemas.microsoft.com/office/drawing/2014/main" id="{47993EAF-E5CA-2110-DECB-0EC45D902DC8}"/>
              </a:ext>
            </a:extLst>
          </p:cNvPr>
          <p:cNvSpPr/>
          <p:nvPr/>
        </p:nvSpPr>
        <p:spPr bwMode="auto">
          <a:xfrm flipV="1">
            <a:off x="7270962" y="2406917"/>
            <a:ext cx="159920" cy="159920"/>
          </a:xfrm>
          <a:prstGeom prst="ellipse">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cxnSp>
        <p:nvCxnSpPr>
          <p:cNvPr id="11" name="Straight Connector 10">
            <a:extLst>
              <a:ext uri="{FF2B5EF4-FFF2-40B4-BE49-F238E27FC236}">
                <a16:creationId xmlns:a16="http://schemas.microsoft.com/office/drawing/2014/main" id="{A41D1038-9A33-B01E-323D-CE689D5EAEB9}"/>
              </a:ext>
            </a:extLst>
          </p:cNvPr>
          <p:cNvCxnSpPr>
            <a:cxnSpLocks/>
          </p:cNvCxnSpPr>
          <p:nvPr/>
        </p:nvCxnSpPr>
        <p:spPr bwMode="auto">
          <a:xfrm>
            <a:off x="7394255" y="2543417"/>
            <a:ext cx="261135" cy="341074"/>
          </a:xfrm>
          <a:prstGeom prst="line">
            <a:avLst/>
          </a:prstGeom>
          <a:noFill/>
          <a:ln w="12700" cap="flat" cmpd="sng" algn="ctr">
            <a:solidFill>
              <a:schemeClr val="tx1"/>
            </a:solidFill>
            <a:prstDash val="solid"/>
            <a:round/>
            <a:headEnd type="none" w="med" len="med"/>
            <a:tailEnd type="none" w="med" len="med"/>
          </a:ln>
          <a:effectLst/>
        </p:spPr>
      </p:cxnSp>
      <p:sp>
        <p:nvSpPr>
          <p:cNvPr id="12" name="Rectangle 11">
            <a:extLst>
              <a:ext uri="{FF2B5EF4-FFF2-40B4-BE49-F238E27FC236}">
                <a16:creationId xmlns:a16="http://schemas.microsoft.com/office/drawing/2014/main" id="{6EDCC422-A634-BF86-8683-E8071819D96E}"/>
              </a:ext>
            </a:extLst>
          </p:cNvPr>
          <p:cNvSpPr/>
          <p:nvPr/>
        </p:nvSpPr>
        <p:spPr>
          <a:xfrm>
            <a:off x="9256251" y="2302211"/>
            <a:ext cx="755335" cy="369332"/>
          </a:xfrm>
          <a:prstGeom prst="rect">
            <a:avLst/>
          </a:prstGeom>
        </p:spPr>
        <p:txBody>
          <a:bodyPr wrap="none">
            <a:spAutoFit/>
          </a:bodyPr>
          <a:lstStyle/>
          <a:p>
            <a:r>
              <a:rPr lang="en-US" dirty="0" err="1"/>
              <a:t>cte</a:t>
            </a:r>
            <a:r>
              <a:rPr lang="en-US" dirty="0"/>
              <a:t>&gt;0</a:t>
            </a:r>
            <a:endParaRPr lang="en-SE" dirty="0"/>
          </a:p>
        </p:txBody>
      </p:sp>
      <p:cxnSp>
        <p:nvCxnSpPr>
          <p:cNvPr id="13" name="Straight Connector 12">
            <a:extLst>
              <a:ext uri="{FF2B5EF4-FFF2-40B4-BE49-F238E27FC236}">
                <a16:creationId xmlns:a16="http://schemas.microsoft.com/office/drawing/2014/main" id="{0C47A151-2D94-B315-31AF-4D7238A3AC9C}"/>
              </a:ext>
            </a:extLst>
          </p:cNvPr>
          <p:cNvCxnSpPr>
            <a:cxnSpLocks/>
          </p:cNvCxnSpPr>
          <p:nvPr/>
        </p:nvCxnSpPr>
        <p:spPr bwMode="auto">
          <a:xfrm>
            <a:off x="7651085" y="2884491"/>
            <a:ext cx="641063" cy="855139"/>
          </a:xfrm>
          <a:prstGeom prst="line">
            <a:avLst/>
          </a:prstGeom>
          <a:noFill/>
          <a:ln w="12700" cap="flat" cmpd="sng" algn="ctr">
            <a:solidFill>
              <a:schemeClr val="tx1"/>
            </a:solidFill>
            <a:prstDash val="dash"/>
            <a:round/>
            <a:headEnd type="none" w="med" len="med"/>
            <a:tailEnd type="none" w="med" len="med"/>
          </a:ln>
          <a:effectLst/>
        </p:spPr>
      </p:cxnSp>
      <p:sp>
        <p:nvSpPr>
          <p:cNvPr id="14" name="Rectangle 13">
            <a:extLst>
              <a:ext uri="{FF2B5EF4-FFF2-40B4-BE49-F238E27FC236}">
                <a16:creationId xmlns:a16="http://schemas.microsoft.com/office/drawing/2014/main" id="{1299A9EE-58C8-0204-855B-454BF6404489}"/>
              </a:ext>
            </a:extLst>
          </p:cNvPr>
          <p:cNvSpPr/>
          <p:nvPr/>
        </p:nvSpPr>
        <p:spPr>
          <a:xfrm>
            <a:off x="7399692" y="2417766"/>
            <a:ext cx="755335" cy="369332"/>
          </a:xfrm>
          <a:prstGeom prst="rect">
            <a:avLst/>
          </a:prstGeom>
        </p:spPr>
        <p:txBody>
          <a:bodyPr wrap="none">
            <a:spAutoFit/>
          </a:bodyPr>
          <a:lstStyle/>
          <a:p>
            <a:r>
              <a:rPr lang="en-US" dirty="0" err="1"/>
              <a:t>cte</a:t>
            </a:r>
            <a:r>
              <a:rPr lang="en-US" dirty="0"/>
              <a:t>&gt;0</a:t>
            </a:r>
            <a:endParaRPr lang="en-SE" dirty="0"/>
          </a:p>
        </p:txBody>
      </p:sp>
      <p:cxnSp>
        <p:nvCxnSpPr>
          <p:cNvPr id="15" name="Straight Connector 14">
            <a:extLst>
              <a:ext uri="{FF2B5EF4-FFF2-40B4-BE49-F238E27FC236}">
                <a16:creationId xmlns:a16="http://schemas.microsoft.com/office/drawing/2014/main" id="{8041D524-0C20-1CA7-103F-40F0D1E78FC6}"/>
              </a:ext>
            </a:extLst>
          </p:cNvPr>
          <p:cNvCxnSpPr>
            <a:cxnSpLocks/>
          </p:cNvCxnSpPr>
          <p:nvPr/>
        </p:nvCxnSpPr>
        <p:spPr bwMode="auto">
          <a:xfrm>
            <a:off x="9383260" y="4456354"/>
            <a:ext cx="0" cy="360040"/>
          </a:xfrm>
          <a:prstGeom prst="line">
            <a:avLst/>
          </a:prstGeom>
          <a:noFill/>
          <a:ln w="12700" cap="flat" cmpd="sng" algn="ctr">
            <a:solidFill>
              <a:schemeClr val="tx1"/>
            </a:solidFill>
            <a:prstDash val="solid"/>
            <a:round/>
            <a:headEnd type="none" w="med" len="med"/>
            <a:tailEnd type="none" w="med" len="med"/>
          </a:ln>
          <a:effectLst/>
        </p:spPr>
      </p:cxnSp>
      <p:sp>
        <p:nvSpPr>
          <p:cNvPr id="16" name="Oval 15">
            <a:extLst>
              <a:ext uri="{FF2B5EF4-FFF2-40B4-BE49-F238E27FC236}">
                <a16:creationId xmlns:a16="http://schemas.microsoft.com/office/drawing/2014/main" id="{BC8C289D-E238-367E-57CD-DFF90F5F7BCC}"/>
              </a:ext>
            </a:extLst>
          </p:cNvPr>
          <p:cNvSpPr/>
          <p:nvPr/>
        </p:nvSpPr>
        <p:spPr bwMode="auto">
          <a:xfrm flipV="1">
            <a:off x="9303300" y="4293753"/>
            <a:ext cx="159920" cy="159920"/>
          </a:xfrm>
          <a:prstGeom prst="ellipse">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7" name="Rectangle 16">
            <a:extLst>
              <a:ext uri="{FF2B5EF4-FFF2-40B4-BE49-F238E27FC236}">
                <a16:creationId xmlns:a16="http://schemas.microsoft.com/office/drawing/2014/main" id="{EDB214CD-4D8F-084F-C380-A429604C90A2}"/>
              </a:ext>
            </a:extLst>
          </p:cNvPr>
          <p:cNvSpPr/>
          <p:nvPr/>
        </p:nvSpPr>
        <p:spPr>
          <a:xfrm>
            <a:off x="9331101" y="4431063"/>
            <a:ext cx="755335" cy="369332"/>
          </a:xfrm>
          <a:prstGeom prst="rect">
            <a:avLst/>
          </a:prstGeom>
        </p:spPr>
        <p:txBody>
          <a:bodyPr wrap="none">
            <a:spAutoFit/>
          </a:bodyPr>
          <a:lstStyle/>
          <a:p>
            <a:r>
              <a:rPr lang="en-US" dirty="0" err="1"/>
              <a:t>cte</a:t>
            </a:r>
            <a:r>
              <a:rPr lang="en-US" dirty="0"/>
              <a:t>&lt;0</a:t>
            </a:r>
            <a:endParaRPr lang="en-SE" dirty="0"/>
          </a:p>
        </p:txBody>
      </p:sp>
      <p:sp>
        <p:nvSpPr>
          <p:cNvPr id="18" name="Oval 17">
            <a:extLst>
              <a:ext uri="{FF2B5EF4-FFF2-40B4-BE49-F238E27FC236}">
                <a16:creationId xmlns:a16="http://schemas.microsoft.com/office/drawing/2014/main" id="{151F7C7D-3EBF-5991-8980-8E055F3B6630}"/>
              </a:ext>
            </a:extLst>
          </p:cNvPr>
          <p:cNvSpPr/>
          <p:nvPr/>
        </p:nvSpPr>
        <p:spPr bwMode="auto">
          <a:xfrm flipV="1">
            <a:off x="7712534" y="4109087"/>
            <a:ext cx="159920" cy="159920"/>
          </a:xfrm>
          <a:prstGeom prst="ellipse">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9" name="Rectangle 18">
            <a:extLst>
              <a:ext uri="{FF2B5EF4-FFF2-40B4-BE49-F238E27FC236}">
                <a16:creationId xmlns:a16="http://schemas.microsoft.com/office/drawing/2014/main" id="{5E64A75D-5D67-2311-88CB-2CED018A42B0}"/>
              </a:ext>
            </a:extLst>
          </p:cNvPr>
          <p:cNvSpPr/>
          <p:nvPr/>
        </p:nvSpPr>
        <p:spPr>
          <a:xfrm>
            <a:off x="7514675" y="4226537"/>
            <a:ext cx="755335" cy="369332"/>
          </a:xfrm>
          <a:prstGeom prst="rect">
            <a:avLst/>
          </a:prstGeom>
        </p:spPr>
        <p:txBody>
          <a:bodyPr wrap="none">
            <a:spAutoFit/>
          </a:bodyPr>
          <a:lstStyle/>
          <a:p>
            <a:r>
              <a:rPr lang="en-US" dirty="0" err="1"/>
              <a:t>cte</a:t>
            </a:r>
            <a:r>
              <a:rPr lang="en-US" dirty="0"/>
              <a:t>&lt;0</a:t>
            </a:r>
            <a:endParaRPr lang="en-SE" dirty="0"/>
          </a:p>
        </p:txBody>
      </p:sp>
      <p:cxnSp>
        <p:nvCxnSpPr>
          <p:cNvPr id="20" name="Straight Connector 19">
            <a:extLst>
              <a:ext uri="{FF2B5EF4-FFF2-40B4-BE49-F238E27FC236}">
                <a16:creationId xmlns:a16="http://schemas.microsoft.com/office/drawing/2014/main" id="{1F98F20D-8D39-210E-EF0F-D1AB40761056}"/>
              </a:ext>
            </a:extLst>
          </p:cNvPr>
          <p:cNvCxnSpPr>
            <a:cxnSpLocks/>
          </p:cNvCxnSpPr>
          <p:nvPr/>
        </p:nvCxnSpPr>
        <p:spPr bwMode="auto">
          <a:xfrm flipH="1">
            <a:off x="7514675" y="4246397"/>
            <a:ext cx="223663" cy="207276"/>
          </a:xfrm>
          <a:prstGeom prst="line">
            <a:avLst/>
          </a:prstGeom>
          <a:noFill/>
          <a:ln w="12700" cap="flat" cmpd="sng" algn="ctr">
            <a:solidFill>
              <a:schemeClr val="tx1"/>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90873FE9-CDBB-D8E4-75C7-1BADC85FD12C}"/>
              </a:ext>
            </a:extLst>
          </p:cNvPr>
          <p:cNvCxnSpPr>
            <a:cxnSpLocks/>
            <a:stCxn id="18" idx="5"/>
          </p:cNvCxnSpPr>
          <p:nvPr/>
        </p:nvCxnSpPr>
        <p:spPr bwMode="auto">
          <a:xfrm flipV="1">
            <a:off x="7849034" y="3738633"/>
            <a:ext cx="474035" cy="393874"/>
          </a:xfrm>
          <a:prstGeom prst="line">
            <a:avLst/>
          </a:prstGeom>
          <a:noFill/>
          <a:ln w="12700" cap="flat" cmpd="sng" algn="ctr">
            <a:solidFill>
              <a:schemeClr val="tx1"/>
            </a:solidFill>
            <a:prstDash val="dash"/>
            <a:round/>
            <a:headEnd type="none" w="med" len="med"/>
            <a:tailEnd type="none" w="med" len="med"/>
          </a:ln>
          <a:effectLst/>
        </p:spPr>
      </p:cxnSp>
      <p:sp>
        <p:nvSpPr>
          <p:cNvPr id="22" name="Oval 21">
            <a:extLst>
              <a:ext uri="{FF2B5EF4-FFF2-40B4-BE49-F238E27FC236}">
                <a16:creationId xmlns:a16="http://schemas.microsoft.com/office/drawing/2014/main" id="{B34FCE94-ED5A-18C3-B1C2-57BB5E97211B}"/>
              </a:ext>
            </a:extLst>
          </p:cNvPr>
          <p:cNvSpPr/>
          <p:nvPr/>
        </p:nvSpPr>
        <p:spPr bwMode="auto">
          <a:xfrm flipV="1">
            <a:off x="7143072" y="3655969"/>
            <a:ext cx="159920" cy="159920"/>
          </a:xfrm>
          <a:prstGeom prst="ellipse">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cxnSp>
        <p:nvCxnSpPr>
          <p:cNvPr id="23" name="Straight Connector 22">
            <a:extLst>
              <a:ext uri="{FF2B5EF4-FFF2-40B4-BE49-F238E27FC236}">
                <a16:creationId xmlns:a16="http://schemas.microsoft.com/office/drawing/2014/main" id="{7D5E8DBD-B5C0-71B4-9BD3-F18803BBB8F9}"/>
              </a:ext>
            </a:extLst>
          </p:cNvPr>
          <p:cNvCxnSpPr>
            <a:cxnSpLocks/>
          </p:cNvCxnSpPr>
          <p:nvPr/>
        </p:nvCxnSpPr>
        <p:spPr bwMode="auto">
          <a:xfrm>
            <a:off x="7234048" y="3312060"/>
            <a:ext cx="0" cy="360040"/>
          </a:xfrm>
          <a:prstGeom prst="line">
            <a:avLst/>
          </a:prstGeom>
          <a:noFill/>
          <a:ln w="12700" cap="flat" cmpd="sng" algn="ctr">
            <a:solidFill>
              <a:schemeClr val="tx1"/>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2D204B54-E436-0494-9DB6-EA496B7002A9}"/>
              </a:ext>
            </a:extLst>
          </p:cNvPr>
          <p:cNvSpPr txBox="1"/>
          <p:nvPr/>
        </p:nvSpPr>
        <p:spPr>
          <a:xfrm>
            <a:off x="6074665" y="3709577"/>
            <a:ext cx="1212191" cy="369332"/>
          </a:xfrm>
          <a:prstGeom prst="rect">
            <a:avLst/>
          </a:prstGeom>
          <a:noFill/>
        </p:spPr>
        <p:txBody>
          <a:bodyPr wrap="none" rtlCol="0">
            <a:spAutoFit/>
          </a:bodyPr>
          <a:lstStyle/>
          <a:p>
            <a:r>
              <a:rPr lang="en-US" dirty="0"/>
              <a:t>Initial pose</a:t>
            </a:r>
            <a:endParaRPr lang="en-SE" dirty="0"/>
          </a:p>
        </p:txBody>
      </p:sp>
      <p:cxnSp>
        <p:nvCxnSpPr>
          <p:cNvPr id="25" name="Straight Arrow Connector 24">
            <a:extLst>
              <a:ext uri="{FF2B5EF4-FFF2-40B4-BE49-F238E27FC236}">
                <a16:creationId xmlns:a16="http://schemas.microsoft.com/office/drawing/2014/main" id="{69765AA1-8C50-21C4-A3DD-FF02C7BEA4F4}"/>
              </a:ext>
            </a:extLst>
          </p:cNvPr>
          <p:cNvCxnSpPr/>
          <p:nvPr/>
        </p:nvCxnSpPr>
        <p:spPr bwMode="auto">
          <a:xfrm>
            <a:off x="8634620" y="2748000"/>
            <a:ext cx="1296144" cy="0"/>
          </a:xfrm>
          <a:prstGeom prst="straightConnector1">
            <a:avLst/>
          </a:prstGeom>
          <a:noFill/>
          <a:ln w="254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F1D5B2A9-81C8-A11E-EBA5-1FCF77B5BA97}"/>
              </a:ext>
            </a:extLst>
          </p:cNvPr>
          <p:cNvCxnSpPr>
            <a:cxnSpLocks/>
          </p:cNvCxnSpPr>
          <p:nvPr/>
        </p:nvCxnSpPr>
        <p:spPr bwMode="auto">
          <a:xfrm>
            <a:off x="11596486" y="3024920"/>
            <a:ext cx="0" cy="1201617"/>
          </a:xfrm>
          <a:prstGeom prst="straightConnector1">
            <a:avLst/>
          </a:prstGeom>
          <a:noFill/>
          <a:ln w="25400" cap="flat" cmpd="sng" algn="ctr">
            <a:solidFill>
              <a:srgbClr val="FF0000"/>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E8A3B2B3-355C-8009-3703-8765D665C817}"/>
              </a:ext>
            </a:extLst>
          </p:cNvPr>
          <p:cNvCxnSpPr/>
          <p:nvPr/>
        </p:nvCxnSpPr>
        <p:spPr bwMode="auto">
          <a:xfrm>
            <a:off x="8683029" y="4919128"/>
            <a:ext cx="1296144" cy="0"/>
          </a:xfrm>
          <a:prstGeom prst="straightConnector1">
            <a:avLst/>
          </a:prstGeom>
          <a:noFill/>
          <a:ln w="25400" cap="flat" cmpd="sng" algn="ctr">
            <a:solidFill>
              <a:srgbClr val="FF0000"/>
            </a:solidFill>
            <a:prstDash val="solid"/>
            <a:round/>
            <a:headEnd type="triangle" w="med" len="med"/>
            <a:tailEnd type="none" w="med" len="med"/>
          </a:ln>
          <a:effectLst/>
        </p:spPr>
      </p:cxnSp>
    </p:spTree>
    <p:extLst>
      <p:ext uri="{BB962C8B-B14F-4D97-AF65-F5344CB8AC3E}">
        <p14:creationId xmlns:p14="http://schemas.microsoft.com/office/powerpoint/2010/main" val="625247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46BD9-A415-6B34-7C81-1B9E01F72485}"/>
              </a:ext>
            </a:extLst>
          </p:cNvPr>
          <p:cNvSpPr>
            <a:spLocks noGrp="1"/>
          </p:cNvSpPr>
          <p:nvPr>
            <p:ph type="title"/>
          </p:nvPr>
        </p:nvSpPr>
        <p:spPr/>
        <p:txBody>
          <a:bodyPr/>
          <a:lstStyle/>
          <a:p>
            <a:r>
              <a:rPr lang="en-US" dirty="0"/>
              <a:t>run()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3C6140-3635-33F3-960D-BB16822F0432}"/>
                  </a:ext>
                </a:extLst>
              </p:cNvPr>
              <p:cNvSpPr>
                <a:spLocks noGrp="1"/>
              </p:cNvSpPr>
              <p:nvPr>
                <p:ph idx="1"/>
              </p:nvPr>
            </p:nvSpPr>
            <p:spPr>
              <a:xfrm>
                <a:off x="452582" y="1237593"/>
                <a:ext cx="5472209" cy="5329444"/>
              </a:xfrm>
            </p:spPr>
            <p:txBody>
              <a:bodyPr>
                <a:normAutofit fontScale="77500" lnSpcReduction="20000"/>
              </a:bodyPr>
              <a:lstStyle/>
              <a:p>
                <a:r>
                  <a:rPr lang="en-US" kern="0" dirty="0"/>
                  <a:t>Implements the PID controller for  with PID gains</a:t>
                </a:r>
              </a:p>
              <a:p>
                <a:pPr lvl="1"/>
                <a:r>
                  <a:rPr lang="en-US" kern="0" dirty="0"/>
                  <a:t>params[0] as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𝐾</m:t>
                        </m:r>
                      </m:e>
                      <m:sub>
                        <m:r>
                          <a:rPr lang="en-US" i="1" kern="0">
                            <a:latin typeface="Cambria Math" panose="02040503050406030204" pitchFamily="18" charset="0"/>
                          </a:rPr>
                          <m:t>𝑝</m:t>
                        </m:r>
                      </m:sub>
                    </m:sSub>
                  </m:oMath>
                </a14:m>
                <a:r>
                  <a:rPr lang="en-US" kern="0" dirty="0"/>
                  <a:t>; params[1] as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𝐾</m:t>
                        </m:r>
                      </m:e>
                      <m:sub>
                        <m:r>
                          <a:rPr lang="en-US" i="1" kern="0">
                            <a:latin typeface="Cambria Math" panose="02040503050406030204" pitchFamily="18" charset="0"/>
                          </a:rPr>
                          <m:t>𝑑</m:t>
                        </m:r>
                      </m:sub>
                    </m:sSub>
                  </m:oMath>
                </a14:m>
                <a:r>
                  <a:rPr lang="en-US" kern="0" dirty="0"/>
                  <a:t>; params[2] as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𝐾</m:t>
                        </m:r>
                      </m:e>
                      <m:sub>
                        <m:r>
                          <a:rPr lang="en-US" i="1" kern="0">
                            <a:latin typeface="Cambria Math" panose="02040503050406030204" pitchFamily="18" charset="0"/>
                          </a:rPr>
                          <m:t>𝑖</m:t>
                        </m:r>
                      </m:sub>
                    </m:sSub>
                  </m:oMath>
                </a14:m>
                <a:r>
                  <a:rPr lang="en-US" kern="0" dirty="0"/>
                  <a:t>. </a:t>
                </a:r>
              </a:p>
              <a:p>
                <a:pPr lvl="1"/>
                <a:r>
                  <a:rPr lang="en-US" kern="0" dirty="0"/>
                  <a:t>Returns actual trajectory as arrays of </a:t>
                </a:r>
                <a:r>
                  <a:rPr lang="en-US" kern="0" dirty="0" err="1"/>
                  <a:t>x_trajectory</a:t>
                </a:r>
                <a:r>
                  <a:rPr lang="en-US" kern="0" dirty="0"/>
                  <a:t>[], </a:t>
                </a:r>
                <a:r>
                  <a:rPr lang="en-US" kern="0" dirty="0" err="1"/>
                  <a:t>y_trajectory</a:t>
                </a:r>
                <a:r>
                  <a:rPr lang="en-US" kern="0" dirty="0"/>
                  <a:t>[]; and average error, defined as mean of squared </a:t>
                </a:r>
                <a:r>
                  <a:rPr lang="en-US" kern="0" dirty="0" err="1"/>
                  <a:t>cte</a:t>
                </a:r>
                <a:endParaRPr lang="en-US" kern="0" dirty="0"/>
              </a:p>
              <a:p>
                <a:r>
                  <a:rPr lang="en-US" kern="0" dirty="0"/>
                  <a:t>For clockwise travel direction:</a:t>
                </a:r>
              </a:p>
              <a:p>
                <a:pPr lvl="1"/>
                <a:r>
                  <a:rPr lang="en-US" kern="0" dirty="0"/>
                  <a:t>If </a:t>
                </a:r>
                <a:r>
                  <a:rPr lang="en-US" kern="0" dirty="0" err="1"/>
                  <a:t>cte</a:t>
                </a:r>
                <a:r>
                  <a:rPr lang="en-US" kern="0" dirty="0"/>
                  <a:t>&gt;0, car is outside of track region; steering angle </a:t>
                </a:r>
                <a14:m>
                  <m:oMath xmlns:m="http://schemas.openxmlformats.org/officeDocument/2006/math">
                    <m:r>
                      <a:rPr lang="en-US" i="1" kern="0">
                        <a:latin typeface="Cambria Math" panose="02040503050406030204" pitchFamily="18" charset="0"/>
                      </a:rPr>
                      <m:t>𝛿</m:t>
                    </m:r>
                  </m:oMath>
                </a14:m>
                <a:r>
                  <a:rPr lang="en-US" kern="0" dirty="0"/>
                  <a:t> should decrease (turn right according to the </a:t>
                </a:r>
                <a:r>
                  <a:rPr lang="en-US" dirty="0"/>
                  <a:t>counter-clockwise convention)</a:t>
                </a:r>
                <a:endParaRPr lang="en-US" kern="0" dirty="0"/>
              </a:p>
              <a:p>
                <a:pPr lvl="1"/>
                <a:r>
                  <a:rPr lang="en-US" kern="0" dirty="0"/>
                  <a:t>If </a:t>
                </a:r>
                <a:r>
                  <a:rPr lang="en-US" kern="0" dirty="0" err="1"/>
                  <a:t>cte</a:t>
                </a:r>
                <a:r>
                  <a:rPr lang="en-US" kern="0" dirty="0"/>
                  <a:t>&lt;0, car is inside of track region; steering angle </a:t>
                </a:r>
                <a14:m>
                  <m:oMath xmlns:m="http://schemas.openxmlformats.org/officeDocument/2006/math">
                    <m:r>
                      <a:rPr lang="en-US" i="1" kern="0">
                        <a:latin typeface="Cambria Math" panose="02040503050406030204" pitchFamily="18" charset="0"/>
                      </a:rPr>
                      <m:t>𝛿</m:t>
                    </m:r>
                  </m:oMath>
                </a14:m>
                <a:r>
                  <a:rPr lang="en-US" kern="0" dirty="0"/>
                  <a:t> should increase (turn left)</a:t>
                </a:r>
              </a:p>
              <a:p>
                <a:pPr lvl="1"/>
                <a:r>
                  <a:rPr lang="en-US" kern="0" dirty="0"/>
                  <a:t>Based on the above,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𝐾</m:t>
                        </m:r>
                      </m:e>
                      <m:sub>
                        <m:r>
                          <a:rPr lang="en-US" i="1" kern="0">
                            <a:latin typeface="Cambria Math" panose="02040503050406030204" pitchFamily="18" charset="0"/>
                          </a:rPr>
                          <m:t>𝑝</m:t>
                        </m:r>
                      </m:sub>
                    </m:sSub>
                  </m:oMath>
                </a14:m>
                <a:r>
                  <a:rPr lang="en-US" kern="0" dirty="0"/>
                  <a:t> should be positive (this can be a sanity check for your final solution)</a:t>
                </a:r>
              </a:p>
            </p:txBody>
          </p:sp>
        </mc:Choice>
        <mc:Fallback xmlns="">
          <p:sp>
            <p:nvSpPr>
              <p:cNvPr id="3" name="Content Placeholder 2">
                <a:extLst>
                  <a:ext uri="{FF2B5EF4-FFF2-40B4-BE49-F238E27FC236}">
                    <a16:creationId xmlns:a16="http://schemas.microsoft.com/office/drawing/2014/main" id="{593C6140-3635-33F3-960D-BB16822F0432}"/>
                  </a:ext>
                </a:extLst>
              </p:cNvPr>
              <p:cNvSpPr>
                <a:spLocks noGrp="1" noRot="1" noChangeAspect="1" noMove="1" noResize="1" noEditPoints="1" noAdjustHandles="1" noChangeArrowheads="1" noChangeShapeType="1" noTextEdit="1"/>
              </p:cNvSpPr>
              <p:nvPr>
                <p:ph idx="1"/>
              </p:nvPr>
            </p:nvSpPr>
            <p:spPr>
              <a:xfrm>
                <a:off x="452582" y="1237593"/>
                <a:ext cx="5472209" cy="5329444"/>
              </a:xfrm>
              <a:blipFill>
                <a:blip r:embed="rId3"/>
                <a:stretch>
                  <a:fillRect l="-1559" t="-2632" r="-311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B1BFF51-D8D5-B340-0CA1-A3ED39A5800B}"/>
              </a:ext>
            </a:extLst>
          </p:cNvPr>
          <p:cNvSpPr>
            <a:spLocks noGrp="1"/>
          </p:cNvSpPr>
          <p:nvPr>
            <p:ph type="sldNum" sz="quarter" idx="12"/>
          </p:nvPr>
        </p:nvSpPr>
        <p:spPr/>
        <p:txBody>
          <a:bodyPr/>
          <a:lstStyle/>
          <a:p>
            <a:fld id="{1F57BF9A-7B35-9447-9112-EAE7E91B4E99}" type="slidenum">
              <a:rPr lang="en-US" smtClean="0"/>
              <a:t>35</a:t>
            </a:fld>
            <a:endParaRPr lang="en-US"/>
          </a:p>
        </p:txBody>
      </p:sp>
      <p:pic>
        <p:nvPicPr>
          <p:cNvPr id="5" name="Picture 4">
            <a:extLst>
              <a:ext uri="{FF2B5EF4-FFF2-40B4-BE49-F238E27FC236}">
                <a16:creationId xmlns:a16="http://schemas.microsoft.com/office/drawing/2014/main" id="{4AA822B8-954A-EBEE-C18B-3F5F435F2C68}"/>
              </a:ext>
            </a:extLst>
          </p:cNvPr>
          <p:cNvPicPr>
            <a:picLocks noChangeAspect="1"/>
          </p:cNvPicPr>
          <p:nvPr/>
        </p:nvPicPr>
        <p:blipFill>
          <a:blip r:embed="rId4"/>
          <a:stretch>
            <a:fillRect/>
          </a:stretch>
        </p:blipFill>
        <p:spPr>
          <a:xfrm>
            <a:off x="5870101" y="1881493"/>
            <a:ext cx="5472209" cy="3868793"/>
          </a:xfrm>
          <a:prstGeom prst="rect">
            <a:avLst/>
          </a:prstGeom>
        </p:spPr>
      </p:pic>
      <p:cxnSp>
        <p:nvCxnSpPr>
          <p:cNvPr id="6" name="Straight Connector 5">
            <a:extLst>
              <a:ext uri="{FF2B5EF4-FFF2-40B4-BE49-F238E27FC236}">
                <a16:creationId xmlns:a16="http://schemas.microsoft.com/office/drawing/2014/main" id="{78AD05D1-7189-B770-DFBB-3A846EED813B}"/>
              </a:ext>
            </a:extLst>
          </p:cNvPr>
          <p:cNvCxnSpPr>
            <a:cxnSpLocks/>
          </p:cNvCxnSpPr>
          <p:nvPr/>
        </p:nvCxnSpPr>
        <p:spPr bwMode="auto">
          <a:xfrm>
            <a:off x="6502521" y="4521215"/>
            <a:ext cx="4839789" cy="0"/>
          </a:xfrm>
          <a:prstGeom prst="line">
            <a:avLst/>
          </a:prstGeom>
          <a:noFill/>
          <a:ln w="25400" cap="flat" cmpd="sng" algn="ctr">
            <a:solidFill>
              <a:srgbClr val="FF0000"/>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EAC32282-9679-90A6-BBAD-A77E0F2E3965}"/>
              </a:ext>
            </a:extLst>
          </p:cNvPr>
          <p:cNvCxnSpPr>
            <a:cxnSpLocks/>
          </p:cNvCxnSpPr>
          <p:nvPr/>
        </p:nvCxnSpPr>
        <p:spPr bwMode="auto">
          <a:xfrm>
            <a:off x="6446165" y="3688290"/>
            <a:ext cx="936104" cy="0"/>
          </a:xfrm>
          <a:prstGeom prst="line">
            <a:avLst/>
          </a:prstGeom>
          <a:noFill/>
          <a:ln w="25400" cap="flat" cmpd="sng" algn="ctr">
            <a:solidFill>
              <a:srgbClr val="FF0000"/>
            </a:solidFill>
            <a:prstDash val="solid"/>
            <a:round/>
            <a:headEnd type="none" w="med" len="med"/>
            <a:tailEnd type="none" w="med" len="med"/>
          </a:ln>
          <a:effectLst/>
        </p:spPr>
      </p:cxnSp>
      <p:sp>
        <p:nvSpPr>
          <p:cNvPr id="8" name="Rectangle 7">
            <a:extLst>
              <a:ext uri="{FF2B5EF4-FFF2-40B4-BE49-F238E27FC236}">
                <a16:creationId xmlns:a16="http://schemas.microsoft.com/office/drawing/2014/main" id="{B7FB27E0-BECD-AADE-4A87-2824DAB01B08}"/>
              </a:ext>
            </a:extLst>
          </p:cNvPr>
          <p:cNvSpPr/>
          <p:nvPr/>
        </p:nvSpPr>
        <p:spPr>
          <a:xfrm>
            <a:off x="7508628" y="3460462"/>
            <a:ext cx="4646425" cy="276999"/>
          </a:xfrm>
          <a:prstGeom prst="rect">
            <a:avLst/>
          </a:prstGeom>
          <a:ln>
            <a:solidFill>
              <a:schemeClr val="tx1"/>
            </a:solidFill>
          </a:ln>
        </p:spPr>
        <p:txBody>
          <a:bodyPr wrap="square">
            <a:spAutoFit/>
          </a:bodyPr>
          <a:lstStyle/>
          <a:p>
            <a:r>
              <a:rPr lang="en-US" sz="1200" dirty="0"/>
              <a:t>This is for straight line track; need to call </a:t>
            </a:r>
            <a:r>
              <a:rPr lang="en-US" sz="1200" dirty="0" err="1"/>
              <a:t>myrobot.cte</a:t>
            </a:r>
            <a:r>
              <a:rPr lang="en-US" sz="1200" dirty="0"/>
              <a:t>() for circular track.</a:t>
            </a:r>
          </a:p>
        </p:txBody>
      </p:sp>
      <p:sp>
        <p:nvSpPr>
          <p:cNvPr id="9" name="Rectangle 8">
            <a:extLst>
              <a:ext uri="{FF2B5EF4-FFF2-40B4-BE49-F238E27FC236}">
                <a16:creationId xmlns:a16="http://schemas.microsoft.com/office/drawing/2014/main" id="{92859B68-AF9E-2865-2673-EEA1BA4150D0}"/>
              </a:ext>
            </a:extLst>
          </p:cNvPr>
          <p:cNvSpPr/>
          <p:nvPr/>
        </p:nvSpPr>
        <p:spPr>
          <a:xfrm>
            <a:off x="10930917" y="4571974"/>
            <a:ext cx="1224136" cy="276999"/>
          </a:xfrm>
          <a:prstGeom prst="rect">
            <a:avLst/>
          </a:prstGeom>
          <a:ln>
            <a:solidFill>
              <a:schemeClr val="tx1"/>
            </a:solidFill>
          </a:ln>
        </p:spPr>
        <p:txBody>
          <a:bodyPr wrap="square">
            <a:spAutoFit/>
          </a:bodyPr>
          <a:lstStyle/>
          <a:p>
            <a:r>
              <a:rPr lang="en-US" sz="1200" dirty="0"/>
              <a:t>PID control law</a:t>
            </a:r>
          </a:p>
        </p:txBody>
      </p:sp>
    </p:spTree>
    <p:extLst>
      <p:ext uri="{BB962C8B-B14F-4D97-AF65-F5344CB8AC3E}">
        <p14:creationId xmlns:p14="http://schemas.microsoft.com/office/powerpoint/2010/main" val="233873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0D94266-AF2E-883D-5771-961651366C8F}"/>
                  </a:ext>
                </a:extLst>
              </p:cNvPr>
              <p:cNvSpPr>
                <a:spLocks noGrp="1"/>
              </p:cNvSpPr>
              <p:nvPr>
                <p:ph type="title"/>
              </p:nvPr>
            </p:nvSpPr>
            <p:spPr/>
            <p:txBody>
              <a:bodyPr/>
              <a:lstStyle/>
              <a:p>
                <a:r>
                  <a:rPr lang="en-US" dirty="0"/>
                  <a:t>For General </a:t>
                </a:r>
                <a14:m>
                  <m:oMath xmlns:m="http://schemas.openxmlformats.org/officeDocument/2006/math">
                    <m:r>
                      <a:rPr lang="en-US" b="0" i="1" smtClean="0">
                        <a:latin typeface="Cambria Math" panose="02040503050406030204" pitchFamily="18" charset="0"/>
                      </a:rPr>
                      <m:t>𝑑𝑡</m:t>
                    </m:r>
                  </m:oMath>
                </a14:m>
                <a:endParaRPr lang="en-SE" dirty="0"/>
              </a:p>
            </p:txBody>
          </p:sp>
        </mc:Choice>
        <mc:Fallback xmlns="">
          <p:sp>
            <p:nvSpPr>
              <p:cNvPr id="2" name="Title 1">
                <a:extLst>
                  <a:ext uri="{FF2B5EF4-FFF2-40B4-BE49-F238E27FC236}">
                    <a16:creationId xmlns:a16="http://schemas.microsoft.com/office/drawing/2014/main" id="{D0D94266-AF2E-883D-5771-961651366C8F}"/>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DCF28E-6A0C-7BCC-61B6-D195BCE1CC95}"/>
                  </a:ext>
                </a:extLst>
              </p:cNvPr>
              <p:cNvSpPr>
                <a:spLocks noGrp="1"/>
              </p:cNvSpPr>
              <p:nvPr>
                <p:ph idx="1"/>
              </p:nvPr>
            </p:nvSpPr>
            <p:spPr/>
            <p:txBody>
              <a:bodyPr/>
              <a:lstStyle/>
              <a:p>
                <a:r>
                  <a:rPr lang="en-US" dirty="0">
                    <a:solidFill>
                      <a:schemeClr val="tx1"/>
                    </a:solidFill>
                  </a:rPr>
                  <a:t>The Python code assumes controller time step size </a:t>
                </a:r>
                <a14:m>
                  <m:oMath xmlns:m="http://schemas.openxmlformats.org/officeDocument/2006/math">
                    <m:r>
                      <a:rPr lang="en-US" i="1">
                        <a:solidFill>
                          <a:schemeClr val="tx1"/>
                        </a:solidFill>
                        <a:latin typeface="Cambria Math" panose="02040503050406030204" pitchFamily="18" charset="0"/>
                      </a:rPr>
                      <m:t>𝑑𝑡</m:t>
                    </m:r>
                    <m:r>
                      <a:rPr lang="en-US" i="1">
                        <a:solidFill>
                          <a:schemeClr val="tx1"/>
                        </a:solidFill>
                        <a:latin typeface="Cambria Math" panose="02040503050406030204" pitchFamily="18" charset="0"/>
                      </a:rPr>
                      <m:t>=1</m:t>
                    </m:r>
                  </m:oMath>
                </a14:m>
                <a:r>
                  <a:rPr lang="en-US" dirty="0">
                    <a:solidFill>
                      <a:schemeClr val="tx1"/>
                    </a:solidFill>
                  </a:rPr>
                  <a:t>. </a:t>
                </a:r>
              </a:p>
              <a:p>
                <a:pPr lvl="1"/>
                <a:r>
                  <a:rPr lang="en-US" dirty="0"/>
                  <a:t>Also, </a:t>
                </a:r>
                <a14:m>
                  <m:oMath xmlns:m="http://schemas.openxmlformats.org/officeDocument/2006/math">
                    <m:r>
                      <a:rPr lang="en-US" i="1" dirty="0">
                        <a:latin typeface="Cambria Math" panose="02040503050406030204" pitchFamily="18" charset="0"/>
                      </a:rPr>
                      <m:t>𝑣</m:t>
                    </m:r>
                  </m:oMath>
                </a14:m>
                <a:r>
                  <a:rPr lang="en-US" dirty="0"/>
                  <a:t> is constant. </a:t>
                </a:r>
                <a14:m>
                  <m:oMath xmlns:m="http://schemas.openxmlformats.org/officeDocument/2006/math">
                    <m:r>
                      <a:rPr lang="en-US" i="1">
                        <a:latin typeface="Cambria Math" panose="02040503050406030204" pitchFamily="18" charset="0"/>
                      </a:rPr>
                      <m:t>𝛿</m:t>
                    </m:r>
                  </m:oMath>
                </a14:m>
                <a:r>
                  <a:rPr lang="en-US" dirty="0"/>
                  <a:t>’s range is unconstrained (steering wheel can be turned to arbitrary angle).</a:t>
                </a:r>
              </a:p>
              <a:p>
                <a:r>
                  <a:rPr lang="en-US" dirty="0"/>
                  <a:t>For general </a:t>
                </a:r>
                <a14:m>
                  <m:oMath xmlns:m="http://schemas.openxmlformats.org/officeDocument/2006/math">
                    <m:r>
                      <a:rPr lang="en-US" i="1">
                        <a:latin typeface="Cambria Math" panose="02040503050406030204" pitchFamily="18" charset="0"/>
                      </a:rPr>
                      <m:t>𝑑𝑡</m:t>
                    </m:r>
                  </m:oMath>
                </a14:m>
                <a:r>
                  <a:rPr lang="en-US" dirty="0">
                    <a:solidFill>
                      <a:schemeClr val="tx1"/>
                    </a:solidFill>
                  </a:rPr>
                  <a:t>, th</a:t>
                </a:r>
                <a:r>
                  <a:rPr lang="en-US" dirty="0"/>
                  <a:t>e following needs to be modified:</a:t>
                </a:r>
                <a:endParaRPr lang="en-US" dirty="0">
                  <a:solidFill>
                    <a:schemeClr val="tx1"/>
                  </a:solidFill>
                </a:endParaRPr>
              </a:p>
              <a:p>
                <a:pPr lvl="1"/>
                <a:r>
                  <a:rPr lang="en-US" dirty="0"/>
                  <a:t>Call </a:t>
                </a:r>
                <a:r>
                  <a:rPr lang="en-US" dirty="0" err="1"/>
                  <a:t>myrobot.move</a:t>
                </a:r>
                <a:r>
                  <a:rPr lang="en-US" dirty="0"/>
                  <a:t>(steer, speed*dt), to match its definition move(self, steering, distance,…)</a:t>
                </a:r>
              </a:p>
              <a:p>
                <a:pPr lvl="1"/>
                <a:r>
                  <a:rPr lang="en-US" dirty="0">
                    <a:solidFill>
                      <a:schemeClr val="tx1"/>
                    </a:solidFill>
                  </a:rPr>
                  <a:t>In the PID control law:</a:t>
                </a:r>
              </a:p>
              <a:p>
                <a:pPr lvl="2">
                  <a:buFont typeface="Arial" panose="020B0604020202020204" pitchFamily="34" charset="0"/>
                  <a:buChar char="•"/>
                </a:pPr>
                <a:r>
                  <a:rPr lang="en-US" altLang="zh-CN" dirty="0"/>
                  <a:t>Differential of error</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𝑑𝑖𝑓𝑓𝑐𝑡𝑒</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𝑐𝑡𝑒</m:t>
                        </m:r>
                        <m:r>
                          <a:rPr lang="en-US" i="1">
                            <a:latin typeface="Cambria Math" panose="02040503050406030204" pitchFamily="18" charset="0"/>
                          </a:rPr>
                          <m:t>−</m:t>
                        </m:r>
                        <m:r>
                          <a:rPr lang="en-US" i="1">
                            <a:latin typeface="Cambria Math" panose="02040503050406030204" pitchFamily="18" charset="0"/>
                          </a:rPr>
                          <m:t>𝑝𝑟𝑒𝑣𝑐𝑡𝑒</m:t>
                        </m:r>
                      </m:num>
                      <m:den>
                        <m:r>
                          <a:rPr lang="en-US" i="1">
                            <a:latin typeface="Cambria Math" panose="02040503050406030204" pitchFamily="18" charset="0"/>
                          </a:rPr>
                          <m:t>𝑑𝑡</m:t>
                        </m:r>
                      </m:den>
                    </m:f>
                  </m:oMath>
                </a14:m>
                <a:endParaRPr lang="en-US" b="0" i="1" dirty="0">
                  <a:latin typeface="Cambria Math" panose="02040503050406030204" pitchFamily="18" charset="0"/>
                </a:endParaRPr>
              </a:p>
              <a:p>
                <a:pPr lvl="2">
                  <a:buFont typeface="Arial" panose="020B0604020202020204" pitchFamily="34" charset="0"/>
                  <a:buChar char="•"/>
                </a:pPr>
                <a:r>
                  <a:rPr lang="en-US" altLang="zh-CN" dirty="0"/>
                  <a:t>Integral of error</a:t>
                </a:r>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𝑖𝑛𝑡𝑐𝑡𝑒</m:t>
                    </m:r>
                    <m:r>
                      <a:rPr lang="en-US" i="1">
                        <a:latin typeface="Cambria Math" panose="02040503050406030204" pitchFamily="18" charset="0"/>
                      </a:rPr>
                      <m:t>+=</m:t>
                    </m:r>
                    <m:r>
                      <a:rPr lang="en-US" i="1">
                        <a:latin typeface="Cambria Math" panose="02040503050406030204" pitchFamily="18" charset="0"/>
                      </a:rPr>
                      <m:t>𝑐𝑡𝑒</m:t>
                    </m:r>
                    <m:r>
                      <a:rPr lang="en-US" i="1">
                        <a:latin typeface="Cambria Math" panose="02040503050406030204" pitchFamily="18" charset="0"/>
                      </a:rPr>
                      <m:t>∗</m:t>
                    </m:r>
                    <m:r>
                      <a:rPr lang="en-US" i="1">
                        <a:latin typeface="Cambria Math" panose="02040503050406030204" pitchFamily="18" charset="0"/>
                      </a:rPr>
                      <m:t>𝑑𝑡</m:t>
                    </m:r>
                  </m:oMath>
                </a14:m>
                <a:endParaRPr lang="en-US"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9DCF28E-6A0C-7BCC-61B6-D195BCE1CC95}"/>
                  </a:ext>
                </a:extLst>
              </p:cNvPr>
              <p:cNvSpPr>
                <a:spLocks noGrp="1" noRot="1" noChangeAspect="1" noMove="1" noResize="1" noEditPoints="1" noAdjustHandles="1" noChangeArrowheads="1" noChangeShapeType="1" noTextEdit="1"/>
              </p:cNvSpPr>
              <p:nvPr>
                <p:ph idx="1"/>
              </p:nvPr>
            </p:nvSpPr>
            <p:spPr>
              <a:blipFill>
                <a:blip r:embed="rId3"/>
                <a:stretch>
                  <a:fillRect l="-1281" t="-2347" r="-11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CDB655F-09A9-233A-CE8C-D5D449159DB6}"/>
              </a:ext>
            </a:extLst>
          </p:cNvPr>
          <p:cNvSpPr>
            <a:spLocks noGrp="1"/>
          </p:cNvSpPr>
          <p:nvPr>
            <p:ph type="sldNum" sz="quarter" idx="12"/>
          </p:nvPr>
        </p:nvSpPr>
        <p:spPr/>
        <p:txBody>
          <a:bodyPr/>
          <a:lstStyle/>
          <a:p>
            <a:fld id="{1F57BF9A-7B35-9447-9112-EAE7E91B4E99}" type="slidenum">
              <a:rPr lang="en-US" smtClean="0"/>
              <a:t>36</a:t>
            </a:fld>
            <a:endParaRPr lang="en-US"/>
          </a:p>
        </p:txBody>
      </p:sp>
    </p:spTree>
    <p:extLst>
      <p:ext uri="{BB962C8B-B14F-4D97-AF65-F5344CB8AC3E}">
        <p14:creationId xmlns:p14="http://schemas.microsoft.com/office/powerpoint/2010/main" val="3617973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7EDE-1494-1ABE-8F7F-8B1CDE412B8B}"/>
              </a:ext>
            </a:extLst>
          </p:cNvPr>
          <p:cNvSpPr>
            <a:spLocks noGrp="1"/>
          </p:cNvSpPr>
          <p:nvPr>
            <p:ph type="title"/>
          </p:nvPr>
        </p:nvSpPr>
        <p:spPr/>
        <p:txBody>
          <a:bodyPr/>
          <a:lstStyle/>
          <a:p>
            <a:r>
              <a:rPr lang="en-US" dirty="0"/>
              <a:t>twiddle()</a:t>
            </a:r>
            <a:endParaRPr lang="en-SE" dirty="0"/>
          </a:p>
        </p:txBody>
      </p:sp>
      <p:sp>
        <p:nvSpPr>
          <p:cNvPr id="3" name="Content Placeholder 2">
            <a:extLst>
              <a:ext uri="{FF2B5EF4-FFF2-40B4-BE49-F238E27FC236}">
                <a16:creationId xmlns:a16="http://schemas.microsoft.com/office/drawing/2014/main" id="{FF2C862E-9F70-17BB-23FC-86D36630C85B}"/>
              </a:ext>
            </a:extLst>
          </p:cNvPr>
          <p:cNvSpPr>
            <a:spLocks noGrp="1"/>
          </p:cNvSpPr>
          <p:nvPr>
            <p:ph idx="1"/>
          </p:nvPr>
        </p:nvSpPr>
        <p:spPr>
          <a:xfrm>
            <a:off x="622738" y="1237593"/>
            <a:ext cx="5514524" cy="1006537"/>
          </a:xfrm>
        </p:spPr>
        <p:txBody>
          <a:bodyPr>
            <a:normAutofit fontScale="77500" lnSpcReduction="20000"/>
          </a:bodyPr>
          <a:lstStyle/>
          <a:p>
            <a:r>
              <a:rPr lang="en-US" dirty="0"/>
              <a:t>twiddle: “twist, move, or fiddle with (something), typically in a purposeless or nervous way” –Encyclopedia.</a:t>
            </a:r>
            <a:endParaRPr lang="en-SE" dirty="0"/>
          </a:p>
        </p:txBody>
      </p:sp>
      <p:sp>
        <p:nvSpPr>
          <p:cNvPr id="4" name="Slide Number Placeholder 3">
            <a:extLst>
              <a:ext uri="{FF2B5EF4-FFF2-40B4-BE49-F238E27FC236}">
                <a16:creationId xmlns:a16="http://schemas.microsoft.com/office/drawing/2014/main" id="{387E9F0A-F334-FB15-5E18-ADC36D4F1710}"/>
              </a:ext>
            </a:extLst>
          </p:cNvPr>
          <p:cNvSpPr>
            <a:spLocks noGrp="1"/>
          </p:cNvSpPr>
          <p:nvPr>
            <p:ph type="sldNum" sz="quarter" idx="12"/>
          </p:nvPr>
        </p:nvSpPr>
        <p:spPr/>
        <p:txBody>
          <a:bodyPr/>
          <a:lstStyle/>
          <a:p>
            <a:fld id="{1F57BF9A-7B35-9447-9112-EAE7E91B4E99}" type="slidenum">
              <a:rPr lang="en-US" smtClean="0"/>
              <a:t>37</a:t>
            </a:fld>
            <a:endParaRPr lang="en-US"/>
          </a:p>
        </p:txBody>
      </p:sp>
      <p:pic>
        <p:nvPicPr>
          <p:cNvPr id="5" name="Picture 4">
            <a:extLst>
              <a:ext uri="{FF2B5EF4-FFF2-40B4-BE49-F238E27FC236}">
                <a16:creationId xmlns:a16="http://schemas.microsoft.com/office/drawing/2014/main" id="{588B000C-4BF7-DC4D-F8DF-843BACB4E9BF}"/>
              </a:ext>
            </a:extLst>
          </p:cNvPr>
          <p:cNvPicPr>
            <a:picLocks noChangeAspect="1"/>
          </p:cNvPicPr>
          <p:nvPr/>
        </p:nvPicPr>
        <p:blipFill>
          <a:blip r:embed="rId2"/>
          <a:stretch>
            <a:fillRect/>
          </a:stretch>
        </p:blipFill>
        <p:spPr>
          <a:xfrm>
            <a:off x="6096000" y="137319"/>
            <a:ext cx="4933823" cy="6583362"/>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2B0F2FD-C3AF-C46F-9EF6-CBF008C770D9}"/>
                  </a:ext>
                </a:extLst>
              </p:cNvPr>
              <p:cNvSpPr/>
              <p:nvPr/>
            </p:nvSpPr>
            <p:spPr bwMode="auto">
              <a:xfrm>
                <a:off x="940674" y="3253998"/>
                <a:ext cx="5118038" cy="718393"/>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Update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to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r>
                      <a:rPr lang="en-US" sz="1400">
                        <a:latin typeface="Cambria Math" panose="02040503050406030204" pitchFamily="18" charset="0"/>
                      </a:rPr>
                      <m:t>+</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and run(). If error decreases, then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was updated in the right direction. Keep the update </a:t>
                </a:r>
                <a14:m>
                  <m:oMath xmlns:m="http://schemas.openxmlformats.org/officeDocument/2006/math">
                    <m:r>
                      <a:rPr lang="en-US" sz="1400">
                        <a:latin typeface="Cambria Math" panose="02040503050406030204" pitchFamily="18" charset="0"/>
                      </a:rPr>
                      <m:t>+</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to get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r>
                      <a:rPr lang="en-US" sz="1400">
                        <a:latin typeface="Cambria Math" panose="02040503050406030204" pitchFamily="18" charset="0"/>
                      </a:rPr>
                      <m:t>+</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and increase step size to </a:t>
                </a:r>
                <a14:m>
                  <m:oMath xmlns:m="http://schemas.openxmlformats.org/officeDocument/2006/math">
                    <m:r>
                      <a:rPr lang="en-US" sz="1400">
                        <a:latin typeface="Cambria Math" panose="02040503050406030204" pitchFamily="18" charset="0"/>
                      </a:rPr>
                      <m:t>1.1∗</m:t>
                    </m:r>
                    <m:r>
                      <a:rPr lang="en-US" sz="1400">
                        <a:latin typeface="Cambria Math" panose="02040503050406030204" pitchFamily="18" charset="0"/>
                      </a:rPr>
                      <m:t>𝑑𝑝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a:t>
                </a:r>
                <a:endParaRPr lang="en-SE" sz="1400" dirty="0"/>
              </a:p>
            </p:txBody>
          </p:sp>
        </mc:Choice>
        <mc:Fallback xmlns="">
          <p:sp>
            <p:nvSpPr>
              <p:cNvPr id="6" name="Rectangle 5">
                <a:extLst>
                  <a:ext uri="{FF2B5EF4-FFF2-40B4-BE49-F238E27FC236}">
                    <a16:creationId xmlns:a16="http://schemas.microsoft.com/office/drawing/2014/main" id="{52B0F2FD-C3AF-C46F-9EF6-CBF008C770D9}"/>
                  </a:ext>
                </a:extLst>
              </p:cNvPr>
              <p:cNvSpPr>
                <a:spLocks noRot="1" noChangeAspect="1" noMove="1" noResize="1" noEditPoints="1" noAdjustHandles="1" noChangeArrowheads="1" noChangeShapeType="1" noTextEdit="1"/>
              </p:cNvSpPr>
              <p:nvPr/>
            </p:nvSpPr>
            <p:spPr bwMode="auto">
              <a:xfrm>
                <a:off x="940674" y="3253998"/>
                <a:ext cx="5118038" cy="718393"/>
              </a:xfrm>
              <a:prstGeom prst="rect">
                <a:avLst/>
              </a:prstGeom>
              <a:blipFill>
                <a:blip r:embed="rId3"/>
                <a:stretch>
                  <a:fillRect l="-238" t="-833" b="-9167"/>
                </a:stretch>
              </a:blipFill>
              <a:ln w="127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7D90C34-24CE-0F39-4F31-2D091A5100A6}"/>
                  </a:ext>
                </a:extLst>
              </p:cNvPr>
              <p:cNvSpPr/>
              <p:nvPr/>
            </p:nvSpPr>
            <p:spPr bwMode="auto">
              <a:xfrm>
                <a:off x="942109" y="4064971"/>
                <a:ext cx="5111103" cy="718393"/>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If error increases, then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was updated in the wrong direction. Update in the opposite direction by </a:t>
                </a:r>
                <a14:m>
                  <m:oMath xmlns:m="http://schemas.openxmlformats.org/officeDocument/2006/math">
                    <m:r>
                      <a:rPr lang="en-US" sz="1400">
                        <a:latin typeface="Cambria Math" panose="02040503050406030204" pitchFamily="18" charset="0"/>
                      </a:rPr>
                      <m:t>−2∗</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to get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r>
                      <a:rPr lang="en-US" sz="1400" b="0" i="0" smtClean="0">
                        <a:latin typeface="Cambria Math" panose="02040503050406030204" pitchFamily="18" charset="0"/>
                      </a:rPr>
                      <m:t>−</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Run again.</a:t>
                </a:r>
                <a:endParaRPr lang="en-SE" sz="1400" dirty="0"/>
              </a:p>
            </p:txBody>
          </p:sp>
        </mc:Choice>
        <mc:Fallback xmlns="">
          <p:sp>
            <p:nvSpPr>
              <p:cNvPr id="7" name="Rectangle 6">
                <a:extLst>
                  <a:ext uri="{FF2B5EF4-FFF2-40B4-BE49-F238E27FC236}">
                    <a16:creationId xmlns:a16="http://schemas.microsoft.com/office/drawing/2014/main" id="{47D90C34-24CE-0F39-4F31-2D091A5100A6}"/>
                  </a:ext>
                </a:extLst>
              </p:cNvPr>
              <p:cNvSpPr>
                <a:spLocks noRot="1" noChangeAspect="1" noMove="1" noResize="1" noEditPoints="1" noAdjustHandles="1" noChangeArrowheads="1" noChangeShapeType="1" noTextEdit="1"/>
              </p:cNvSpPr>
              <p:nvPr/>
            </p:nvSpPr>
            <p:spPr bwMode="auto">
              <a:xfrm>
                <a:off x="942109" y="4064971"/>
                <a:ext cx="5111103" cy="718393"/>
              </a:xfrm>
              <a:prstGeom prst="rect">
                <a:avLst/>
              </a:prstGeom>
              <a:blipFill>
                <a:blip r:embed="rId4"/>
                <a:stretch>
                  <a:fillRect l="-238" t="-833" b="-9167"/>
                </a:stretch>
              </a:blipFill>
              <a:ln w="127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C4537E7-5968-62EA-78FD-33E020BDDD54}"/>
                  </a:ext>
                </a:extLst>
              </p:cNvPr>
              <p:cNvSpPr/>
              <p:nvPr/>
            </p:nvSpPr>
            <p:spPr bwMode="auto">
              <a:xfrm>
                <a:off x="940673" y="5177957"/>
                <a:ext cx="5118038" cy="493166"/>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If error decreases, then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was updated in the right direction. Keep the current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r>
                      <a:rPr lang="en-US" sz="1400">
                        <a:latin typeface="Cambria Math" panose="02040503050406030204" pitchFamily="18" charset="0"/>
                      </a:rPr>
                      <m:t>−</m:t>
                    </m:r>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and increase step size to </a:t>
                </a:r>
                <a14:m>
                  <m:oMath xmlns:m="http://schemas.openxmlformats.org/officeDocument/2006/math">
                    <m:r>
                      <a:rPr lang="en-US" sz="1400">
                        <a:latin typeface="Cambria Math" panose="02040503050406030204" pitchFamily="18" charset="0"/>
                      </a:rPr>
                      <m:t>1.1∗</m:t>
                    </m:r>
                    <m:r>
                      <a:rPr lang="en-US" sz="1400">
                        <a:latin typeface="Cambria Math" panose="02040503050406030204" pitchFamily="18" charset="0"/>
                      </a:rPr>
                      <m:t>𝑑𝑝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a:t>
                </a:r>
                <a:endParaRPr lang="en-SE" sz="1400" dirty="0"/>
              </a:p>
            </p:txBody>
          </p:sp>
        </mc:Choice>
        <mc:Fallback xmlns="">
          <p:sp>
            <p:nvSpPr>
              <p:cNvPr id="8" name="Rectangle 7">
                <a:extLst>
                  <a:ext uri="{FF2B5EF4-FFF2-40B4-BE49-F238E27FC236}">
                    <a16:creationId xmlns:a16="http://schemas.microsoft.com/office/drawing/2014/main" id="{9C4537E7-5968-62EA-78FD-33E020BDDD54}"/>
                  </a:ext>
                </a:extLst>
              </p:cNvPr>
              <p:cNvSpPr>
                <a:spLocks noRot="1" noChangeAspect="1" noMove="1" noResize="1" noEditPoints="1" noAdjustHandles="1" noChangeArrowheads="1" noChangeShapeType="1" noTextEdit="1"/>
              </p:cNvSpPr>
              <p:nvPr/>
            </p:nvSpPr>
            <p:spPr bwMode="auto">
              <a:xfrm>
                <a:off x="940673" y="5177957"/>
                <a:ext cx="5118038" cy="493166"/>
              </a:xfrm>
              <a:prstGeom prst="rect">
                <a:avLst/>
              </a:prstGeom>
              <a:blipFill>
                <a:blip r:embed="rId5"/>
                <a:stretch>
                  <a:fillRect l="-238" b="-16867"/>
                </a:stretch>
              </a:blipFill>
              <a:ln w="127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D6E9048-FE33-9765-4508-79A604CFD0D5}"/>
                  </a:ext>
                </a:extLst>
              </p:cNvPr>
              <p:cNvSpPr/>
              <p:nvPr/>
            </p:nvSpPr>
            <p:spPr bwMode="auto">
              <a:xfrm>
                <a:off x="935175" y="5801427"/>
                <a:ext cx="5118038" cy="697804"/>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If error increases, then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was updated in the wrong direction. Update in the opposite direction by +</a:t>
                </a:r>
                <a14:m>
                  <m:oMath xmlns:m="http://schemas.openxmlformats.org/officeDocument/2006/math">
                    <m:r>
                      <a:rPr lang="en-US" sz="1400">
                        <a:latin typeface="Cambria Math" panose="02040503050406030204" pitchFamily="18" charset="0"/>
                      </a:rPr>
                      <m:t>𝑑𝑝</m:t>
                    </m:r>
                    <m:r>
                      <a:rPr lang="en-US" sz="1400">
                        <a:latin typeface="Cambria Math" panose="02040503050406030204" pitchFamily="18" charset="0"/>
                      </a:rPr>
                      <m:t>[</m:t>
                    </m:r>
                    <m:r>
                      <a:rPr lang="en-US" sz="1400">
                        <a:latin typeface="Cambria Math" panose="02040503050406030204" pitchFamily="18" charset="0"/>
                      </a:rPr>
                      <m:t>𝑖</m:t>
                    </m:r>
                    <m:r>
                      <a:rPr lang="en-US" sz="1400">
                        <a:latin typeface="Cambria Math" panose="02040503050406030204" pitchFamily="18" charset="0"/>
                      </a:rPr>
                      <m:t>]</m:t>
                    </m:r>
                  </m:oMath>
                </a14:m>
                <a:r>
                  <a:rPr lang="en-US" sz="1400" dirty="0"/>
                  <a:t> to get back the original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 Reduce step size to </a:t>
                </a:r>
                <a14:m>
                  <m:oMath xmlns:m="http://schemas.openxmlformats.org/officeDocument/2006/math">
                    <m:r>
                      <a:rPr lang="en-US" sz="1400">
                        <a:latin typeface="Cambria Math" panose="02040503050406030204" pitchFamily="18" charset="0"/>
                      </a:rPr>
                      <m:t>.9∗</m:t>
                    </m:r>
                    <m:r>
                      <a:rPr lang="en-US" sz="1400">
                        <a:latin typeface="Cambria Math" panose="02040503050406030204" pitchFamily="18" charset="0"/>
                      </a:rPr>
                      <m:t>𝑑𝑝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a:t>
                </a:r>
                <a:endParaRPr lang="en-SE" sz="1400" dirty="0"/>
              </a:p>
            </p:txBody>
          </p:sp>
        </mc:Choice>
        <mc:Fallback xmlns="">
          <p:sp>
            <p:nvSpPr>
              <p:cNvPr id="9" name="Rectangle 8">
                <a:extLst>
                  <a:ext uri="{FF2B5EF4-FFF2-40B4-BE49-F238E27FC236}">
                    <a16:creationId xmlns:a16="http://schemas.microsoft.com/office/drawing/2014/main" id="{3D6E9048-FE33-9765-4508-79A604CFD0D5}"/>
                  </a:ext>
                </a:extLst>
              </p:cNvPr>
              <p:cNvSpPr>
                <a:spLocks noRot="1" noChangeAspect="1" noMove="1" noResize="1" noEditPoints="1" noAdjustHandles="1" noChangeArrowheads="1" noChangeShapeType="1" noTextEdit="1"/>
              </p:cNvSpPr>
              <p:nvPr/>
            </p:nvSpPr>
            <p:spPr bwMode="auto">
              <a:xfrm>
                <a:off x="935175" y="5801427"/>
                <a:ext cx="5118038" cy="697804"/>
              </a:xfrm>
              <a:prstGeom prst="rect">
                <a:avLst/>
              </a:prstGeom>
              <a:blipFill>
                <a:blip r:embed="rId6"/>
                <a:stretch>
                  <a:fillRect l="-238" t="-862" b="-12931"/>
                </a:stretch>
              </a:blipFill>
              <a:ln w="127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sp>
        <p:nvSpPr>
          <p:cNvPr id="10" name="Arrow: Right 9">
            <a:extLst>
              <a:ext uri="{FF2B5EF4-FFF2-40B4-BE49-F238E27FC236}">
                <a16:creationId xmlns:a16="http://schemas.microsoft.com/office/drawing/2014/main" id="{2157297D-2DA0-DE46-0B85-879DD49773DD}"/>
              </a:ext>
            </a:extLst>
          </p:cNvPr>
          <p:cNvSpPr/>
          <p:nvPr/>
        </p:nvSpPr>
        <p:spPr bwMode="auto">
          <a:xfrm>
            <a:off x="6106998" y="6038330"/>
            <a:ext cx="854929" cy="21602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1" name="Arrow: Right 10">
            <a:extLst>
              <a:ext uri="{FF2B5EF4-FFF2-40B4-BE49-F238E27FC236}">
                <a16:creationId xmlns:a16="http://schemas.microsoft.com/office/drawing/2014/main" id="{E4DC2845-3EE0-66C1-896F-39488C3BA599}"/>
              </a:ext>
            </a:extLst>
          </p:cNvPr>
          <p:cNvSpPr/>
          <p:nvPr/>
        </p:nvSpPr>
        <p:spPr bwMode="auto">
          <a:xfrm>
            <a:off x="6088972" y="5329362"/>
            <a:ext cx="854929" cy="21602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2" name="Arrow: Right 11">
            <a:extLst>
              <a:ext uri="{FF2B5EF4-FFF2-40B4-BE49-F238E27FC236}">
                <a16:creationId xmlns:a16="http://schemas.microsoft.com/office/drawing/2014/main" id="{0698F30E-4B0D-2424-C33D-7F19B470E346}"/>
              </a:ext>
            </a:extLst>
          </p:cNvPr>
          <p:cNvSpPr/>
          <p:nvPr/>
        </p:nvSpPr>
        <p:spPr bwMode="auto">
          <a:xfrm>
            <a:off x="6096000" y="4321250"/>
            <a:ext cx="854929" cy="21602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3" name="Arrow: Right 12">
            <a:extLst>
              <a:ext uri="{FF2B5EF4-FFF2-40B4-BE49-F238E27FC236}">
                <a16:creationId xmlns:a16="http://schemas.microsoft.com/office/drawing/2014/main" id="{24727602-2858-AD96-2850-BB92BFBCF605}"/>
              </a:ext>
            </a:extLst>
          </p:cNvPr>
          <p:cNvSpPr/>
          <p:nvPr/>
        </p:nvSpPr>
        <p:spPr bwMode="auto">
          <a:xfrm>
            <a:off x="6106999" y="3745186"/>
            <a:ext cx="854929" cy="21602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AC4B21D-C0C2-4EFD-28BD-D7B4E356C2CB}"/>
                  </a:ext>
                </a:extLst>
              </p:cNvPr>
              <p:cNvSpPr/>
              <p:nvPr/>
            </p:nvSpPr>
            <p:spPr bwMode="auto">
              <a:xfrm>
                <a:off x="970935" y="2305026"/>
                <a:ext cx="5118038" cy="299532"/>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Adjust each </a:t>
                </a:r>
                <a14:m>
                  <m:oMath xmlns:m="http://schemas.openxmlformats.org/officeDocument/2006/math">
                    <m:r>
                      <a:rPr lang="en-US" sz="1400">
                        <a:latin typeface="Cambria Math" panose="02040503050406030204" pitchFamily="18" charset="0"/>
                      </a:rPr>
                      <m:t>𝑝</m:t>
                    </m:r>
                    <m:d>
                      <m:dPr>
                        <m:begChr m:val="["/>
                        <m:endChr m:val="]"/>
                        <m:ctrlPr>
                          <a:rPr lang="en-US" sz="1400">
                            <a:latin typeface="Cambria Math" panose="02040503050406030204" pitchFamily="18" charset="0"/>
                          </a:rPr>
                        </m:ctrlPr>
                      </m:dPr>
                      <m:e>
                        <m:r>
                          <a:rPr lang="en-US" sz="1400">
                            <a:latin typeface="Cambria Math" panose="02040503050406030204" pitchFamily="18" charset="0"/>
                          </a:rPr>
                          <m:t>𝑖</m:t>
                        </m:r>
                      </m:e>
                    </m:d>
                  </m:oMath>
                </a14:m>
                <a:r>
                  <a:rPr lang="en-US" sz="1400" dirty="0"/>
                  <a:t> in turn.</a:t>
                </a:r>
                <a:endParaRPr lang="en-SE" sz="1400" dirty="0"/>
              </a:p>
            </p:txBody>
          </p:sp>
        </mc:Choice>
        <mc:Fallback xmlns="">
          <p:sp>
            <p:nvSpPr>
              <p:cNvPr id="14" name="Rectangle 13">
                <a:extLst>
                  <a:ext uri="{FF2B5EF4-FFF2-40B4-BE49-F238E27FC236}">
                    <a16:creationId xmlns:a16="http://schemas.microsoft.com/office/drawing/2014/main" id="{1AC4B21D-C0C2-4EFD-28BD-D7B4E356C2CB}"/>
                  </a:ext>
                </a:extLst>
              </p:cNvPr>
              <p:cNvSpPr>
                <a:spLocks noRot="1" noChangeAspect="1" noMove="1" noResize="1" noEditPoints="1" noAdjustHandles="1" noChangeArrowheads="1" noChangeShapeType="1" noTextEdit="1"/>
              </p:cNvSpPr>
              <p:nvPr/>
            </p:nvSpPr>
            <p:spPr bwMode="auto">
              <a:xfrm>
                <a:off x="970935" y="2305026"/>
                <a:ext cx="5118038" cy="299532"/>
              </a:xfrm>
              <a:prstGeom prst="rect">
                <a:avLst/>
              </a:prstGeom>
              <a:blipFill>
                <a:blip r:embed="rId7"/>
                <a:stretch>
                  <a:fillRect l="-238" t="-1961" b="-21569"/>
                </a:stretch>
              </a:blipFill>
              <a:ln w="127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sp>
        <p:nvSpPr>
          <p:cNvPr id="15" name="Arrow: Right 14">
            <a:extLst>
              <a:ext uri="{FF2B5EF4-FFF2-40B4-BE49-F238E27FC236}">
                <a16:creationId xmlns:a16="http://schemas.microsoft.com/office/drawing/2014/main" id="{FA16F3A9-240C-E81C-2730-776D27FF140E}"/>
              </a:ext>
            </a:extLst>
          </p:cNvPr>
          <p:cNvSpPr/>
          <p:nvPr/>
        </p:nvSpPr>
        <p:spPr bwMode="auto">
          <a:xfrm>
            <a:off x="6137261" y="2395782"/>
            <a:ext cx="503490" cy="21602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671364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7DC6-5201-64EE-9861-13FA05BF4F06}"/>
              </a:ext>
            </a:extLst>
          </p:cNvPr>
          <p:cNvSpPr>
            <a:spLocks noGrp="1"/>
          </p:cNvSpPr>
          <p:nvPr>
            <p:ph type="title"/>
          </p:nvPr>
        </p:nvSpPr>
        <p:spPr/>
        <p:txBody>
          <a:bodyPr/>
          <a:lstStyle/>
          <a:p>
            <a:r>
              <a:rPr lang="en-US" dirty="0"/>
              <a:t>Changing to P Control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5A2A84-37D3-389A-1060-1F04A2D7FA28}"/>
                  </a:ext>
                </a:extLst>
              </p:cNvPr>
              <p:cNvSpPr>
                <a:spLocks noGrp="1"/>
              </p:cNvSpPr>
              <p:nvPr>
                <p:ph idx="1"/>
              </p:nvPr>
            </p:nvSpPr>
            <p:spPr>
              <a:xfrm>
                <a:off x="622737" y="1237593"/>
                <a:ext cx="10949153" cy="2697098"/>
              </a:xfrm>
            </p:spPr>
            <p:txBody>
              <a:bodyPr>
                <a:normAutofit fontScale="85000" lnSpcReduction="10000"/>
              </a:bodyPr>
              <a:lstStyle/>
              <a:p>
                <a:r>
                  <a:rPr lang="en-US" dirty="0"/>
                  <a:t>Setting </a:t>
                </a:r>
                <a14:m>
                  <m:oMath xmlns:m="http://schemas.openxmlformats.org/officeDocument/2006/math">
                    <m:r>
                      <a:rPr lang="en-US" i="1">
                        <a:latin typeface="Cambria Math" panose="02040503050406030204" pitchFamily="18" charset="0"/>
                      </a:rPr>
                      <m:t>𝑑𝑝𝑎𝑟𝑎𝑚𝑠</m:t>
                    </m:r>
                    <m:d>
                      <m:dPr>
                        <m:begChr m:val="["/>
                        <m:endChr m:val="]"/>
                        <m:ctrlPr>
                          <a:rPr lang="en-US" i="1">
                            <a:latin typeface="Cambria Math" panose="02040503050406030204" pitchFamily="18" charset="0"/>
                          </a:rPr>
                        </m:ctrlPr>
                      </m:dPr>
                      <m:e>
                        <m:r>
                          <a:rPr lang="en-US" i="1">
                            <a:latin typeface="Cambria Math" panose="02040503050406030204" pitchFamily="18" charset="0"/>
                          </a:rPr>
                          <m:t>1</m:t>
                        </m:r>
                      </m:e>
                    </m:d>
                    <m:r>
                      <a:rPr lang="en-US" i="1">
                        <a:latin typeface="Cambria Math" panose="02040503050406030204" pitchFamily="18" charset="0"/>
                      </a:rPr>
                      <m:t>=</m:t>
                    </m:r>
                    <m:r>
                      <a:rPr lang="en-US" i="1">
                        <a:latin typeface="Cambria Math" panose="02040503050406030204" pitchFamily="18" charset="0"/>
                      </a:rPr>
                      <m:t>𝑑𝑝𝑎𝑟𝑎𝑚𝑠</m:t>
                    </m:r>
                    <m:d>
                      <m:dPr>
                        <m:begChr m:val="["/>
                        <m:endChr m:val="]"/>
                        <m:ctrlPr>
                          <a:rPr lang="en-US" i="1">
                            <a:latin typeface="Cambria Math" panose="02040503050406030204" pitchFamily="18" charset="0"/>
                          </a:rPr>
                        </m:ctrlPr>
                      </m:dPr>
                      <m:e>
                        <m:r>
                          <a:rPr lang="en-US" i="1">
                            <a:latin typeface="Cambria Math" panose="02040503050406030204" pitchFamily="18" charset="0"/>
                          </a:rPr>
                          <m:t>2</m:t>
                        </m:r>
                      </m:e>
                    </m:d>
                    <m:r>
                      <a:rPr lang="en-US" i="1">
                        <a:latin typeface="Cambria Math" panose="02040503050406030204" pitchFamily="18" charset="0"/>
                      </a:rPr>
                      <m:t>=0</m:t>
                    </m:r>
                  </m:oMath>
                </a14:m>
                <a:r>
                  <a:rPr lang="en-US" dirty="0"/>
                  <a:t> turns it into a P controller, since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oMath>
                </a14:m>
                <a:r>
                  <a:rPr lang="en-US" dirty="0"/>
                  <a:t> are initialized to 0 and never changed.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is adjusted in twiddle()</a:t>
                </a:r>
              </a:p>
              <a:p>
                <a:r>
                  <a:rPr lang="en-US" dirty="0"/>
                  <a:t>twiddle() is a local optimization algorithm, so perf is dependent on parameter initialization. Here the params (PID gains) are initialized to 0 for simplicity.</a:t>
                </a:r>
              </a:p>
              <a:p>
                <a:pPr lvl="1"/>
                <a:r>
                  <a:rPr lang="en-US" dirty="0">
                    <a:hlinkClick r:id="rId2"/>
                  </a:rPr>
                  <a:t>https://classroom.udacity.com/courses/cs373/lessons/91f48b5b-a063-41f9-ace6-5fb9e7508941/concepts/b740218e-b0eb-40dc-80af-343912305293</a:t>
                </a:r>
                <a:r>
                  <a:rPr lang="en-US" dirty="0"/>
                  <a:t> </a:t>
                </a:r>
              </a:p>
              <a:p>
                <a:endParaRPr lang="en-SE" dirty="0"/>
              </a:p>
            </p:txBody>
          </p:sp>
        </mc:Choice>
        <mc:Fallback xmlns="">
          <p:sp>
            <p:nvSpPr>
              <p:cNvPr id="3" name="Content Placeholder 2">
                <a:extLst>
                  <a:ext uri="{FF2B5EF4-FFF2-40B4-BE49-F238E27FC236}">
                    <a16:creationId xmlns:a16="http://schemas.microsoft.com/office/drawing/2014/main" id="{135A2A84-37D3-389A-1060-1F04A2D7FA28}"/>
                  </a:ext>
                </a:extLst>
              </p:cNvPr>
              <p:cNvSpPr>
                <a:spLocks noGrp="1" noRot="1" noChangeAspect="1" noMove="1" noResize="1" noEditPoints="1" noAdjustHandles="1" noChangeArrowheads="1" noChangeShapeType="1" noTextEdit="1"/>
              </p:cNvSpPr>
              <p:nvPr>
                <p:ph idx="1"/>
              </p:nvPr>
            </p:nvSpPr>
            <p:spPr>
              <a:xfrm>
                <a:off x="622737" y="1237593"/>
                <a:ext cx="10949153" cy="2697098"/>
              </a:xfrm>
              <a:blipFill>
                <a:blip r:embed="rId3"/>
                <a:stretch>
                  <a:fillRect l="-947" t="-4751" r="-55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EDCEF38-55E5-044E-BA9C-DAF9FDD018D2}"/>
              </a:ext>
            </a:extLst>
          </p:cNvPr>
          <p:cNvSpPr>
            <a:spLocks noGrp="1"/>
          </p:cNvSpPr>
          <p:nvPr>
            <p:ph type="sldNum" sz="quarter" idx="12"/>
          </p:nvPr>
        </p:nvSpPr>
        <p:spPr/>
        <p:txBody>
          <a:bodyPr/>
          <a:lstStyle/>
          <a:p>
            <a:fld id="{1F57BF9A-7B35-9447-9112-EAE7E91B4E99}" type="slidenum">
              <a:rPr lang="en-US" smtClean="0"/>
              <a:t>38</a:t>
            </a:fld>
            <a:endParaRPr lang="en-US"/>
          </a:p>
        </p:txBody>
      </p:sp>
      <p:pic>
        <p:nvPicPr>
          <p:cNvPr id="5" name="Picture 4">
            <a:extLst>
              <a:ext uri="{FF2B5EF4-FFF2-40B4-BE49-F238E27FC236}">
                <a16:creationId xmlns:a16="http://schemas.microsoft.com/office/drawing/2014/main" id="{3349B3D8-BFE7-426E-1C9A-A698D16B36CF}"/>
              </a:ext>
            </a:extLst>
          </p:cNvPr>
          <p:cNvPicPr>
            <a:picLocks noChangeAspect="1"/>
          </p:cNvPicPr>
          <p:nvPr/>
        </p:nvPicPr>
        <p:blipFill>
          <a:blip r:embed="rId4"/>
          <a:stretch>
            <a:fillRect/>
          </a:stretch>
        </p:blipFill>
        <p:spPr>
          <a:xfrm>
            <a:off x="3331523" y="3636668"/>
            <a:ext cx="5528953" cy="3221332"/>
          </a:xfrm>
          <a:prstGeom prst="rect">
            <a:avLst/>
          </a:prstGeom>
        </p:spPr>
      </p:pic>
    </p:spTree>
    <p:extLst>
      <p:ext uri="{BB962C8B-B14F-4D97-AF65-F5344CB8AC3E}">
        <p14:creationId xmlns:p14="http://schemas.microsoft.com/office/powerpoint/2010/main" val="2290712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AD4C8-5F5C-6652-E801-A37D35245250}"/>
              </a:ext>
            </a:extLst>
          </p:cNvPr>
          <p:cNvSpPr>
            <a:spLocks noGrp="1"/>
          </p:cNvSpPr>
          <p:nvPr>
            <p:ph type="title"/>
          </p:nvPr>
        </p:nvSpPr>
        <p:spPr/>
        <p:txBody>
          <a:bodyPr/>
          <a:lstStyle/>
          <a:p>
            <a:r>
              <a:rPr lang="en-US" dirty="0"/>
              <a:t>twiddle() </a:t>
            </a:r>
            <a:r>
              <a:rPr lang="en-US" altLang="zh-CN" dirty="0"/>
              <a:t>vs. Pole Placement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63BE1C-CA15-48D3-46F1-0F38B2C8A647}"/>
                  </a:ext>
                </a:extLst>
              </p:cNvPr>
              <p:cNvSpPr>
                <a:spLocks noGrp="1"/>
              </p:cNvSpPr>
              <p:nvPr>
                <p:ph idx="1"/>
              </p:nvPr>
            </p:nvSpPr>
            <p:spPr/>
            <p:txBody>
              <a:bodyPr>
                <a:normAutofit fontScale="92500"/>
              </a:bodyPr>
              <a:lstStyle/>
              <a:p>
                <a:r>
                  <a:rPr lang="en-US" dirty="0"/>
                  <a:t>twiddle() is a model-free approach to tuning PID controller by coordinate descent (a gradient-free local search). It adjusts each PID gain parameter systematically, gradually decreasing or increasing step of adjustment </a:t>
                </a:r>
                <a14:m>
                  <m:oMath xmlns:m="http://schemas.openxmlformats.org/officeDocument/2006/math">
                    <m:r>
                      <a:rPr lang="en-US" b="0" i="1" smtClean="0">
                        <a:latin typeface="Cambria Math" panose="02040503050406030204" pitchFamily="18" charset="0"/>
                      </a:rPr>
                      <m:t>𝑑𝑝</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oMath>
                </a14:m>
                <a:r>
                  <a:rPr lang="en-US" dirty="0"/>
                  <a:t> (the step size, not a gradient) until convergence to a local minimum of </a:t>
                </a:r>
                <a:r>
                  <a:rPr lang="en-US" dirty="0" err="1"/>
                  <a:t>best_err</a:t>
                </a:r>
                <a:r>
                  <a:rPr lang="en-US" dirty="0"/>
                  <a:t>.</a:t>
                </a:r>
              </a:p>
              <a:p>
                <a:r>
                  <a:rPr lang="en-US" altLang="zh-CN" dirty="0"/>
                  <a:t>P</a:t>
                </a:r>
                <a:r>
                  <a:rPr lang="en-US" dirty="0"/>
                  <a:t>ole placement for PID controller design is model-based, but requires a linear model</a:t>
                </a:r>
              </a:p>
              <a:p>
                <a:pPr lvl="1"/>
                <a14:m>
                  <m:oMath xmlns:m="http://schemas.openxmlformats.org/officeDocument/2006/math">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𝑥</m:t>
                                  </m:r>
                                </m:e>
                              </m:mr>
                              <m:m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mr>
                            </m:m>
                          </m:e>
                        </m:acc>
                      </m:e>
                    </m:d>
                    <m:r>
                      <a:rPr lang="en-US" i="1">
                        <a:latin typeface="Cambria Math" panose="02040503050406030204" pitchFamily="18" charset="0"/>
                      </a:rPr>
                      <m:t>=</m:t>
                    </m:r>
                    <m:r>
                      <a:rPr lang="en-US" i="1" smtClean="0">
                        <a:solidFill>
                          <a:schemeClr val="tx1"/>
                        </a:solidFill>
                        <a:latin typeface="Cambria Math" panose="02040503050406030204" pitchFamily="18" charset="0"/>
                      </a:rPr>
                      <m:t>𝑣</m:t>
                    </m:r>
                    <m:d>
                      <m:dPr>
                        <m:begChr m:val="["/>
                        <m:endChr m:val="]"/>
                        <m:ctrlPr>
                          <a:rPr lang="en-US" i="1">
                            <a:solidFill>
                              <a:schemeClr val="tx1"/>
                            </a:solidFill>
                            <a:latin typeface="Cambria Math" panose="02040503050406030204" pitchFamily="18" charset="0"/>
                          </a:rPr>
                        </m:ctrlPr>
                      </m:dPr>
                      <m:e>
                        <m:m>
                          <m:mPr>
                            <m:mcs>
                              <m:mc>
                                <m:mcPr>
                                  <m:count m:val="1"/>
                                  <m:mcJc m:val="center"/>
                                </m:mcPr>
                              </m:mc>
                            </m:mcs>
                            <m:ctrlPr>
                              <a:rPr lang="en-US" i="1">
                                <a:solidFill>
                                  <a:schemeClr val="tx1"/>
                                </a:solidFill>
                                <a:latin typeface="Cambria Math" panose="02040503050406030204" pitchFamily="18" charset="0"/>
                              </a:rPr>
                            </m:ctrlPr>
                          </m:mPr>
                          <m:mr>
                            <m:e>
                              <m:func>
                                <m:funcPr>
                                  <m:ctrlPr>
                                    <a:rPr lang="en-US">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cos</m:t>
                                  </m:r>
                                </m:fName>
                                <m:e>
                                  <m:r>
                                    <a:rPr lang="en-US" i="1">
                                      <a:solidFill>
                                        <a:schemeClr val="tx1"/>
                                      </a:solidFill>
                                      <a:latin typeface="Cambria Math" panose="02040503050406030204" pitchFamily="18" charset="0"/>
                                    </a:rPr>
                                    <m:t>𝜃</m:t>
                                  </m:r>
                                </m:e>
                              </m:func>
                            </m:e>
                          </m:mr>
                          <m:mr>
                            <m:e>
                              <m:func>
                                <m:funcPr>
                                  <m:ctrlPr>
                                    <a:rPr lang="en-US">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sin</m:t>
                                  </m:r>
                                </m:fName>
                                <m:e>
                                  <m:r>
                                    <a:rPr lang="en-US" i="1">
                                      <a:solidFill>
                                        <a:schemeClr val="tx1"/>
                                      </a:solidFill>
                                      <a:latin typeface="Cambria Math" panose="02040503050406030204" pitchFamily="18" charset="0"/>
                                    </a:rPr>
                                    <m:t>𝜃</m:t>
                                  </m:r>
                                </m:e>
                              </m:func>
                            </m:e>
                          </m:mr>
                          <m:mr>
                            <m:e>
                              <m:f>
                                <m:fPr>
                                  <m:ctrlPr>
                                    <a:rPr lang="en-US" i="1" dirty="0">
                                      <a:solidFill>
                                        <a:schemeClr val="tx1"/>
                                      </a:solidFill>
                                      <a:latin typeface="Cambria Math" panose="02040503050406030204" pitchFamily="18" charset="0"/>
                                    </a:rPr>
                                  </m:ctrlPr>
                                </m:fPr>
                                <m:num>
                                  <m:func>
                                    <m:funcPr>
                                      <m:ctrlPr>
                                        <a:rPr lang="en-US" dirty="0">
                                          <a:solidFill>
                                            <a:schemeClr val="tx1"/>
                                          </a:solidFill>
                                          <a:latin typeface="Cambria Math" panose="02040503050406030204" pitchFamily="18" charset="0"/>
                                        </a:rPr>
                                      </m:ctrlPr>
                                    </m:funcPr>
                                    <m:fName>
                                      <m:r>
                                        <m:rPr>
                                          <m:sty m:val="p"/>
                                        </m:rPr>
                                        <a:rPr lang="en-US" dirty="0">
                                          <a:solidFill>
                                            <a:schemeClr val="tx1"/>
                                          </a:solidFill>
                                          <a:latin typeface="Cambria Math" panose="02040503050406030204" pitchFamily="18" charset="0"/>
                                        </a:rPr>
                                        <m:t>tan</m:t>
                                      </m:r>
                                    </m:fName>
                                    <m:e>
                                      <m:r>
                                        <a:rPr lang="en-US" i="1" dirty="0">
                                          <a:solidFill>
                                            <a:schemeClr val="tx1"/>
                                          </a:solidFill>
                                          <a:latin typeface="Cambria Math" panose="02040503050406030204" pitchFamily="18" charset="0"/>
                                        </a:rPr>
                                        <m:t>𝛿</m:t>
                                      </m:r>
                                    </m:e>
                                  </m:func>
                                </m:num>
                                <m:den>
                                  <m:r>
                                    <a:rPr lang="en-US" i="1" dirty="0">
                                      <a:solidFill>
                                        <a:schemeClr val="tx1"/>
                                      </a:solidFill>
                                      <a:latin typeface="Cambria Math" panose="02040503050406030204" pitchFamily="18" charset="0"/>
                                    </a:rPr>
                                    <m:t>𝐿</m:t>
                                  </m:r>
                                </m:den>
                              </m:f>
                            </m:e>
                          </m:mr>
                        </m:m>
                      </m:e>
                    </m:d>
                    <m:r>
                      <a:rPr lang="en-US" b="0" i="1" dirty="0"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a:rPr lang="en-US" altLang="zh-CN" b="0" i="1" smtClean="0">
                                  <a:latin typeface="Cambria Math" panose="02040503050406030204" pitchFamily="18" charset="0"/>
                                </a:rPr>
                                <m:t>𝑣</m:t>
                              </m:r>
                            </m:e>
                          </m:mr>
                          <m:mr>
                            <m:e>
                              <m:r>
                                <a:rPr lang="en-US" b="0" i="1" smtClean="0">
                                  <a:latin typeface="Cambria Math" panose="02040503050406030204" pitchFamily="18" charset="0"/>
                                </a:rPr>
                                <m:t>𝑣</m:t>
                              </m:r>
                              <m:r>
                                <a:rPr lang="en-US" i="1">
                                  <a:latin typeface="Cambria Math" panose="02040503050406030204" pitchFamily="18" charset="0"/>
                                </a:rPr>
                                <m:t>𝜃</m:t>
                              </m:r>
                            </m:e>
                          </m:mr>
                          <m:mr>
                            <m:e>
                              <m:r>
                                <a:rPr lang="en-US" b="0" i="1" dirty="0" smtClean="0">
                                  <a:latin typeface="Cambria Math" panose="02040503050406030204" pitchFamily="18" charset="0"/>
                                </a:rPr>
                                <m:t>𝑢</m:t>
                              </m:r>
                            </m:e>
                          </m:mr>
                        </m:m>
                      </m:e>
                    </m:d>
                  </m:oMath>
                </a14:m>
                <a:endParaRPr lang="en-US" dirty="0"/>
              </a:p>
              <a:p>
                <a:pPr lvl="1"/>
                <a:r>
                  <a:rPr lang="en-US" dirty="0"/>
                  <a:t>With simplifying assumptions:</a:t>
                </a:r>
              </a:p>
              <a:p>
                <a:pPr lvl="2"/>
                <a14:m>
                  <m:oMath xmlns:m="http://schemas.openxmlformats.org/officeDocument/2006/math">
                    <m:r>
                      <a:rPr lang="en-US" b="0" i="1" smtClean="0">
                        <a:latin typeface="Cambria Math" panose="02040503050406030204" pitchFamily="18" charset="0"/>
                      </a:rPr>
                      <m:t>𝜃</m:t>
                    </m:r>
                  </m:oMath>
                </a14:m>
                <a:r>
                  <a:rPr lang="en-US" dirty="0"/>
                  <a:t> is small</a:t>
                </a:r>
              </a:p>
              <a:p>
                <a:pPr lvl="2"/>
                <a:r>
                  <a:rPr lang="en-US" dirty="0"/>
                  <a:t>Simplified kinematic model: </a:t>
                </a:r>
                <a14:m>
                  <m:oMath xmlns:m="http://schemas.openxmlformats.org/officeDocument/2006/math">
                    <m:r>
                      <a:rPr lang="en-US" i="1" dirty="0">
                        <a:latin typeface="Cambria Math" panose="02040503050406030204" pitchFamily="18" charset="0"/>
                      </a:rPr>
                      <m:t>𝑢</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𝜃</m:t>
                        </m:r>
                      </m:e>
                    </m:acc>
                  </m:oMath>
                </a14:m>
                <a:r>
                  <a:rPr lang="en-US" dirty="0"/>
                  <a:t> as control input instead of </a:t>
                </a:r>
                <a14:m>
                  <m:oMath xmlns:m="http://schemas.openxmlformats.org/officeDocument/2006/math">
                    <m:r>
                      <a:rPr lang="en-US" i="1" dirty="0" smtClean="0">
                        <a:solidFill>
                          <a:schemeClr val="tx1"/>
                        </a:solidFill>
                        <a:latin typeface="Cambria Math" panose="02040503050406030204" pitchFamily="18" charset="0"/>
                      </a:rPr>
                      <m:t>𝛿</m:t>
                    </m:r>
                  </m:oMath>
                </a14:m>
                <a:endParaRPr lang="en-SE" dirty="0"/>
              </a:p>
            </p:txBody>
          </p:sp>
        </mc:Choice>
        <mc:Fallback xmlns="">
          <p:sp>
            <p:nvSpPr>
              <p:cNvPr id="3" name="Content Placeholder 2">
                <a:extLst>
                  <a:ext uri="{FF2B5EF4-FFF2-40B4-BE49-F238E27FC236}">
                    <a16:creationId xmlns:a16="http://schemas.microsoft.com/office/drawing/2014/main" id="{EC63BE1C-CA15-48D3-46F1-0F38B2C8A647}"/>
                  </a:ext>
                </a:extLst>
              </p:cNvPr>
              <p:cNvSpPr>
                <a:spLocks noGrp="1" noRot="1" noChangeAspect="1" noMove="1" noResize="1" noEditPoints="1" noAdjustHandles="1" noChangeArrowheads="1" noChangeShapeType="1" noTextEdit="1"/>
              </p:cNvSpPr>
              <p:nvPr>
                <p:ph idx="1"/>
              </p:nvPr>
            </p:nvSpPr>
            <p:spPr>
              <a:blipFill>
                <a:blip r:embed="rId2"/>
                <a:stretch>
                  <a:fillRect l="-1114" t="-2347" r="-1002" b="-4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A9EB1BD-9AD8-3E01-AFB0-CD1499A7C47D}"/>
              </a:ext>
            </a:extLst>
          </p:cNvPr>
          <p:cNvSpPr>
            <a:spLocks noGrp="1"/>
          </p:cNvSpPr>
          <p:nvPr>
            <p:ph type="sldNum" sz="quarter" idx="12"/>
          </p:nvPr>
        </p:nvSpPr>
        <p:spPr/>
        <p:txBody>
          <a:bodyPr/>
          <a:lstStyle/>
          <a:p>
            <a:fld id="{1F57BF9A-7B35-9447-9112-EAE7E91B4E99}" type="slidenum">
              <a:rPr lang="en-US" smtClean="0"/>
              <a:t>39</a:t>
            </a:fld>
            <a:endParaRPr lang="en-US"/>
          </a:p>
        </p:txBody>
      </p:sp>
    </p:spTree>
    <p:extLst>
      <p:ext uri="{BB962C8B-B14F-4D97-AF65-F5344CB8AC3E}">
        <p14:creationId xmlns:p14="http://schemas.microsoft.com/office/powerpoint/2010/main" val="1888225884"/>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Outline</a:t>
            </a:r>
          </a:p>
        </p:txBody>
      </p:sp>
      <p:sp>
        <p:nvSpPr>
          <p:cNvPr id="3" name="Content Placeholder 2"/>
          <p:cNvSpPr>
            <a:spLocks noGrp="1"/>
          </p:cNvSpPr>
          <p:nvPr>
            <p:ph idx="1"/>
          </p:nvPr>
        </p:nvSpPr>
        <p:spPr/>
        <p:txBody>
          <a:bodyPr/>
          <a:lstStyle/>
          <a:p>
            <a:r>
              <a:rPr lang="en-US" dirty="0"/>
              <a:t>PID Control</a:t>
            </a:r>
          </a:p>
          <a:p>
            <a:r>
              <a:rPr lang="en-US" dirty="0">
                <a:solidFill>
                  <a:srgbClr val="FF0000"/>
                </a:solidFill>
              </a:rPr>
              <a:t>LQR (Linear Quadratic Regulator)</a:t>
            </a:r>
          </a:p>
          <a:p>
            <a:r>
              <a:rPr lang="en-US" dirty="0"/>
              <a:t>MPC Control</a:t>
            </a:r>
          </a:p>
          <a:p>
            <a:r>
              <a:rPr lang="en-US" dirty="0"/>
              <a:t>Kinematic bicycle model</a:t>
            </a:r>
          </a:p>
          <a:p>
            <a:r>
              <a:rPr lang="en-US" dirty="0"/>
              <a:t>Geometric path tracking: Pure Pursuit &amp; Stanley</a:t>
            </a:r>
          </a:p>
          <a:p>
            <a:r>
              <a:rPr lang="en-US" dirty="0"/>
              <a:t>Twiddle() for PID control tuning</a:t>
            </a:r>
          </a:p>
        </p:txBody>
      </p:sp>
      <p:sp>
        <p:nvSpPr>
          <p:cNvPr id="4"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Outline</a:t>
            </a:r>
          </a:p>
        </p:txBody>
      </p:sp>
      <p:sp>
        <p:nvSpPr>
          <p:cNvPr id="3" name="Content Placeholder 2"/>
          <p:cNvSpPr>
            <a:spLocks noGrp="1"/>
          </p:cNvSpPr>
          <p:nvPr>
            <p:ph idx="1"/>
          </p:nvPr>
        </p:nvSpPr>
        <p:spPr/>
        <p:txBody>
          <a:bodyPr/>
          <a:lstStyle/>
          <a:p>
            <a:r>
              <a:rPr lang="en-US" dirty="0"/>
              <a:t>PID Control</a:t>
            </a:r>
          </a:p>
          <a:p>
            <a:r>
              <a:rPr lang="en-US" dirty="0"/>
              <a:t>LQR (Linear Quadratic Regulator)</a:t>
            </a:r>
          </a:p>
          <a:p>
            <a:r>
              <a:rPr lang="en-US" dirty="0"/>
              <a:t>MPC Control</a:t>
            </a:r>
          </a:p>
          <a:p>
            <a:r>
              <a:rPr lang="en-US" dirty="0"/>
              <a:t>Kinematic bicycle model</a:t>
            </a:r>
          </a:p>
          <a:p>
            <a:r>
              <a:rPr lang="en-US" dirty="0">
                <a:solidFill>
                  <a:srgbClr val="FF0000"/>
                </a:solidFill>
              </a:rPr>
              <a:t>Geometric path tracking: Pure Pursuit &amp; Stanley</a:t>
            </a:r>
          </a:p>
          <a:p>
            <a:r>
              <a:rPr lang="en-US" dirty="0"/>
              <a:t>Twiddle() for PID control tuning</a:t>
            </a:r>
          </a:p>
        </p:txBody>
      </p:sp>
      <p:sp>
        <p:nvSpPr>
          <p:cNvPr id="4"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LQR: Linear Quadratic Regulator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903720" cy="5257800"/>
              </a:xfrm>
            </p:spPr>
            <p:txBody>
              <a:bodyPr>
                <a:normAutofit/>
              </a:bodyPr>
              <a:lstStyle/>
              <a:p>
                <a:pPr/>
                <a:r>
                  <a:rPr lang="en-US" dirty="0" sz="2000"/>
                  <a:t xml:space="preserve">Linear plant (discrete time):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x</m:t>
                        </m:r>
                      </m:e>
                      <m:sub>
                        <m:r>
                          <a:rPr lang="en-US" i="1" sz="2000">
                            <a:latin typeface="Cambria Math" panose="02040503050406030204" pitchFamily="18" charset="0"/>
                          </a:rPr>
                          <m:t>k</m:t>
                        </m:r>
                        <m:r>
                          <m:rPr>
                            <m:sty m:val="p"/>
                          </m:rPr>
                          <a:rPr lang="en-US" i="0" sz="2000">
                            <a:latin typeface="Cambria Math" panose="02040503050406030204" pitchFamily="18" charset="0"/>
                          </a:rPr>
                          <m:t>+</m:t>
                        </m:r>
                        <m:r>
                          <a:rPr lang="en-US" i="1" sz="2000">
                            <a:latin typeface="Cambria Math" panose="02040503050406030204" pitchFamily="18" charset="0"/>
                          </a:rPr>
                          <m:t>1</m:t>
                        </m:r>
                      </m:sub>
                    </m:sSub>
                    <m:r>
                      <m:rPr>
                        <m:sty m:val="p"/>
                      </m:rPr>
                      <a:rPr lang="en-US" i="0" sz="2000">
                        <a:latin typeface="Cambria Math" panose="02040503050406030204" pitchFamily="18" charset="0"/>
                      </a:rPr>
                      <m:t>=</m:t>
                    </m:r>
                    <m:r>
                      <a:rPr lang="en-US" i="1" sz="2000">
                        <a:latin typeface="Cambria Math" panose="02040503050406030204" pitchFamily="18" charset="0"/>
                      </a:rPr>
                      <m:t>A</m:t>
                    </m:r>
                    <m:sSub>
                      <m:e>
                        <m:r>
                          <a:rPr lang="en-US" i="1" sz="2000">
                            <a:latin typeface="Cambria Math" panose="02040503050406030204" pitchFamily="18" charset="0"/>
                          </a:rPr>
                          <m:t>x</m:t>
                        </m:r>
                      </m:e>
                      <m:sub>
                        <m:r>
                          <a:rPr lang="en-US" i="1" sz="2000">
                            <a:latin typeface="Cambria Math" panose="02040503050406030204" pitchFamily="18" charset="0"/>
                          </a:rPr>
                          <m:t>k</m:t>
                        </m:r>
                      </m:sub>
                    </m:sSub>
                    <m:r>
                      <m:rPr>
                        <m:sty m:val="p"/>
                      </m:rPr>
                      <a:rPr lang="en-US" i="0" sz="2000">
                        <a:latin typeface="Cambria Math" panose="02040503050406030204" pitchFamily="18" charset="0"/>
                      </a:rPr>
                      <m:t>+</m:t>
                    </m:r>
                    <m:r>
                      <a:rPr lang="en-US" i="1" sz="2000">
                        <a:latin typeface="Cambria Math" panose="02040503050406030204" pitchFamily="18" charset="0"/>
                      </a:rPr>
                      <m:t>B</m:t>
                    </m:r>
                    <m:sSub>
                      <m:e>
                        <m:r>
                          <a:rPr lang="en-US" i="1" sz="2000">
                            <a:latin typeface="Cambria Math" panose="02040503050406030204" pitchFamily="18" charset="0"/>
                          </a:rPr>
                          <m:t>u</m:t>
                        </m:r>
                      </m:e>
                      <m:sub>
                        <m:r>
                          <a:rPr lang="en-US" i="1" sz="2000">
                            <a:latin typeface="Cambria Math" panose="02040503050406030204" pitchFamily="18" charset="0"/>
                          </a:rPr>
                          <m:t>k</m:t>
                        </m:r>
                      </m:sub>
                    </m:sSub>
                  </m:oMath>
                </a14:m>
              </a:p>
              <a:p>
                <a:pPr/>
                <a:r>
                  <a:rPr lang="en-US" dirty="0" sz="2000"/>
                  <a:t>Drive the state to zero at minimum cost:</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J</m:t>
                    </m:r>
                    <m:r>
                      <m:rPr>
                        <m:sty m:val="p"/>
                      </m:rPr>
                      <a:rPr lang="en-US" i="0" sz="1800">
                        <a:latin typeface="Cambria Math" panose="02040503050406030204" pitchFamily="18" charset="0"/>
                      </a:rPr>
                      <m:t>=</m:t>
                    </m:r>
                    <m:nary>
                      <m:naryPr>
                        <m:chr m:val="∑"/>
                        <m:limLoc m:val="undOvr"/>
                        <m:subHide m:val="off"/>
                        <m:supHide m:val="off"/>
                      </m:naryPr>
                      <m:sub>
                        <m:r>
                          <a:rPr lang="en-US" i="1" sz="1800">
                            <a:latin typeface="Cambria Math" panose="02040503050406030204" pitchFamily="18" charset="0"/>
                          </a:rPr>
                          <m:t>k</m:t>
                        </m:r>
                        <m:r>
                          <m:rPr>
                            <m:sty m:val="p"/>
                          </m:rPr>
                          <a:rPr lang="en-US" i="0" sz="1800">
                            <a:latin typeface="Cambria Math" panose="02040503050406030204" pitchFamily="18" charset="0"/>
                          </a:rPr>
                          <m:t>=</m:t>
                        </m:r>
                        <m:r>
                          <a:rPr lang="en-US" i="1" sz="1800">
                            <a:latin typeface="Cambria Math" panose="02040503050406030204" pitchFamily="18" charset="0"/>
                          </a:rPr>
                          <m:t>0</m:t>
                        </m:r>
                      </m:sub>
                      <m:sup>
                        <m:r>
                          <m:rPr>
                            <m:sty m:val="p"/>
                          </m:rPr>
                          <a:rPr lang="en-US" i="0" sz="1800">
                            <a:latin typeface="Cambria Math" panose="02040503050406030204" pitchFamily="18" charset="0"/>
                          </a:rPr>
                          <m:t>∞</m:t>
                        </m:r>
                      </m:sup>
                      <m:e>
                        <m:d>
                          <m:dPr>
                            <m:begChr m:val="("/>
                            <m:endChr m:val=")"/>
                            <m:sepChr m:val=""/>
                            <m:grow/>
                          </m:dPr>
                          <m:e>
                            <m:sSubSup>
                              <m:e>
                                <m:r>
                                  <a:rPr lang="en-US" i="1" sz="1800">
                                    <a:latin typeface="Cambria Math" panose="02040503050406030204" pitchFamily="18" charset="0"/>
                                  </a:rPr>
                                  <m:t>x</m:t>
                                </m:r>
                              </m:e>
                              <m:sub>
                                <m:r>
                                  <a:rPr lang="en-US" i="1" sz="1800">
                                    <a:latin typeface="Cambria Math" panose="02040503050406030204" pitchFamily="18" charset="0"/>
                                  </a:rPr>
                                  <m:t>k</m:t>
                                </m:r>
                              </m:sub>
                              <m:sup>
                                <m:r>
                                  <m:rPr>
                                    <m:sty m:val="p"/>
                                  </m:rPr>
                                  <a:rPr lang="en-US" i="0" sz="1800">
                                    <a:latin typeface="Cambria Math" panose="02040503050406030204" pitchFamily="18" charset="0"/>
                                  </a:rPr>
                                  <m:t>⊤</m:t>
                                </m:r>
                              </m:sup>
                            </m:sSubSup>
                            <m:r>
                              <a:rPr lang="en-US" i="1" sz="1800">
                                <a:latin typeface="Cambria Math" panose="02040503050406030204" pitchFamily="18" charset="0"/>
                              </a:rPr>
                              <m:t>Q</m:t>
                            </m:r>
                            <m:sSub>
                              <m:e>
                                <m:r>
                                  <a:rPr lang="en-US" i="1" sz="1800">
                                    <a:latin typeface="Cambria Math" panose="02040503050406030204" pitchFamily="18" charset="0"/>
                                  </a:rPr>
                                  <m:t>x</m:t>
                                </m:r>
                              </m:e>
                              <m:sub>
                                <m:r>
                                  <a:rPr lang="en-US" i="1" sz="1800">
                                    <a:latin typeface="Cambria Math" panose="02040503050406030204" pitchFamily="18" charset="0"/>
                                  </a:rPr>
                                  <m:t>k</m:t>
                                </m:r>
                              </m:sub>
                            </m:sSub>
                            <m:r>
                              <m:rPr>
                                <m:sty m:val="p"/>
                              </m:rPr>
                              <a:rPr lang="en-US" i="0" sz="1800">
                                <a:latin typeface="Cambria Math" panose="02040503050406030204" pitchFamily="18" charset="0"/>
                              </a:rPr>
                              <m:t>+</m:t>
                            </m:r>
                            <m:sSubSup>
                              <m:e>
                                <m:r>
                                  <a:rPr lang="en-US" i="1" sz="1800">
                                    <a:latin typeface="Cambria Math" panose="02040503050406030204" pitchFamily="18" charset="0"/>
                                  </a:rPr>
                                  <m:t>u</m:t>
                                </m:r>
                              </m:e>
                              <m:sub>
                                <m:r>
                                  <a:rPr lang="en-US" i="1" sz="1800">
                                    <a:latin typeface="Cambria Math" panose="02040503050406030204" pitchFamily="18" charset="0"/>
                                  </a:rPr>
                                  <m:t>k</m:t>
                                </m:r>
                              </m:sub>
                              <m:sup>
                                <m:r>
                                  <m:rPr>
                                    <m:sty m:val="p"/>
                                  </m:rPr>
                                  <a:rPr lang="en-US" i="0" sz="1800">
                                    <a:latin typeface="Cambria Math" panose="02040503050406030204" pitchFamily="18" charset="0"/>
                                  </a:rPr>
                                  <m:t>⊤</m:t>
                                </m:r>
                              </m:sup>
                            </m:sSubSup>
                            <m:r>
                              <a:rPr lang="en-US" i="1" sz="1800">
                                <a:latin typeface="Cambria Math" panose="02040503050406030204" pitchFamily="18" charset="0"/>
                              </a:rPr>
                              <m:t>R</m:t>
                            </m:r>
                            <m:sSub>
                              <m:e>
                                <m:r>
                                  <a:rPr lang="en-US" i="1" sz="1800">
                                    <a:latin typeface="Cambria Math" panose="02040503050406030204" pitchFamily="18" charset="0"/>
                                  </a:rPr>
                                  <m:t>u</m:t>
                                </m:r>
                              </m:e>
                              <m:sub>
                                <m:r>
                                  <a:rPr lang="en-US" i="1" sz="1800">
                                    <a:latin typeface="Cambria Math" panose="02040503050406030204" pitchFamily="18" charset="0"/>
                                  </a:rPr>
                                  <m:t>k</m:t>
                                </m:r>
                              </m:sub>
                            </m:sSub>
                          </m:e>
                        </m:d>
                      </m:e>
                    </m:nary>
                  </m:oMath>
                </a14:m>
              </a:p>
              <a:p>
                <a:pPr lvl="1"/>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Q</m:t>
                    </m:r>
                    <m:r>
                      <m:rPr>
                        <m:sty m:val="p"/>
                      </m:rPr>
                      <a:rPr lang="en-US" i="0" sz="1800">
                        <a:latin typeface="Cambria Math" panose="02040503050406030204" pitchFamily="18" charset="0"/>
                      </a:rPr>
                      <m:t>≽</m:t>
                    </m:r>
                    <m:r>
                      <a:rPr lang="en-US" i="1" sz="1800">
                        <a:latin typeface="Cambria Math" panose="02040503050406030204" pitchFamily="18" charset="0"/>
                      </a:rPr>
                      <m:t>0</m:t>
                    </m:r>
                  </m:oMath>
                </a14:m>
                <a:r>
                  <a:rPr lang="en-US" dirty="0" sz="1800"/>
                  <a:t xml:space="preserve"> penalizes state error;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R</m:t>
                    </m:r>
                    <m:r>
                      <m:rPr>
                        <m:sty m:val="p"/>
                      </m:rPr>
                      <a:rPr lang="en-US" i="0" sz="1800">
                        <a:latin typeface="Cambria Math" panose="02040503050406030204" pitchFamily="18" charset="0"/>
                      </a:rPr>
                      <m:t>≻</m:t>
                    </m:r>
                    <m:r>
                      <a:rPr lang="en-US" i="1" sz="1800">
                        <a:latin typeface="Cambria Math" panose="02040503050406030204" pitchFamily="18" charset="0"/>
                      </a:rPr>
                      <m:t>0</m:t>
                    </m:r>
                  </m:oMath>
                </a14:m>
                <a:r>
                  <a:rPr lang="en-US" dirty="0" sz="1800"/>
                  <a:t xml:space="preserve"> penalizes control effort (steering)</a:t>
                </a:r>
              </a:p>
              <a:p>
                <a:pPr/>
                <a:r>
                  <a:rPr lang="en-US" dirty="0" sz="2000"/>
                  <a:t xml:space="preserve">Optimal control is a linear state feedback: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u</m:t>
                        </m:r>
                      </m:e>
                      <m:sub>
                        <m:r>
                          <a:rPr lang="en-US" i="1" sz="2000">
                            <a:latin typeface="Cambria Math" panose="02040503050406030204" pitchFamily="18" charset="0"/>
                          </a:rPr>
                          <m:t>k</m:t>
                        </m:r>
                      </m:sub>
                    </m:sSub>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
                      <a:rPr lang="en-US" i="1" sz="2000">
                        <a:latin typeface="Cambria Math" panose="02040503050406030204" pitchFamily="18" charset="0"/>
                      </a:rPr>
                      <m:t>K</m:t>
                    </m:r>
                    <m:sSub>
                      <m:e>
                        <m:r>
                          <a:rPr lang="en-US" i="1" sz="2000">
                            <a:latin typeface="Cambria Math" panose="02040503050406030204" pitchFamily="18" charset="0"/>
                          </a:rPr>
                          <m:t>x</m:t>
                        </m:r>
                      </m:e>
                      <m:sub>
                        <m:r>
                          <a:rPr lang="en-US" i="1" sz="2000">
                            <a:latin typeface="Cambria Math" panose="02040503050406030204" pitchFamily="18" charset="0"/>
                          </a:rPr>
                          <m:t>k</m:t>
                        </m:r>
                      </m:sub>
                    </m:sSub>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K</m:t>
                    </m:r>
                    <m:r>
                      <m:rPr>
                        <m:sty m:val="p"/>
                      </m:rPr>
                      <a:rPr lang="en-US" i="0" sz="2000">
                        <a:latin typeface="Cambria Math" panose="02040503050406030204" pitchFamily="18" charset="0"/>
                      </a:rPr>
                      <m:t>=</m:t>
                    </m:r>
                    <m:sSup>
                      <m:e>
                        <m:d>
                          <m:dPr>
                            <m:begChr m:val="("/>
                            <m:endChr m:val=")"/>
                            <m:sepChr m:val=""/>
                            <m:grow/>
                          </m:dPr>
                          <m:e>
                            <m:r>
                              <a:rPr lang="en-US" i="1" sz="2000">
                                <a:latin typeface="Cambria Math" panose="02040503050406030204" pitchFamily="18" charset="0"/>
                              </a:rPr>
                              <m:t>R</m:t>
                            </m:r>
                            <m:r>
                              <m:rPr>
                                <m:sty m:val="p"/>
                              </m:rPr>
                              <a:rPr lang="en-US" i="0" sz="2000">
                                <a:latin typeface="Cambria Math" panose="02040503050406030204" pitchFamily="18" charset="0"/>
                              </a:rPr>
                              <m:t>+</m:t>
                            </m:r>
                            <m:sSup>
                              <m:e>
                                <m:r>
                                  <a:rPr lang="en-US" i="1" sz="2000">
                                    <a:latin typeface="Cambria Math" panose="02040503050406030204" pitchFamily="18" charset="0"/>
                                  </a:rPr>
                                  <m:t>B</m:t>
                                </m:r>
                              </m:e>
                              <m:sup>
                                <m:r>
                                  <m:rPr>
                                    <m:sty m:val="p"/>
                                  </m:rPr>
                                  <a:rPr lang="en-US" i="0" sz="2000">
                                    <a:latin typeface="Cambria Math" panose="02040503050406030204" pitchFamily="18" charset="0"/>
                                  </a:rPr>
                                  <m:t>⊤</m:t>
                                </m:r>
                              </m:sup>
                            </m:sSup>
                            <m:r>
                              <a:rPr lang="en-US" i="1" sz="2000">
                                <a:latin typeface="Cambria Math" panose="02040503050406030204" pitchFamily="18" charset="0"/>
                              </a:rPr>
                              <m:t>P</m:t>
                            </m:r>
                            <m:r>
                              <a:rPr lang="en-US" i="1" sz="2000">
                                <a:latin typeface="Cambria Math" panose="02040503050406030204" pitchFamily="18" charset="0"/>
                              </a:rPr>
                              <m:t>B</m:t>
                            </m:r>
                          </m:e>
                        </m:d>
                      </m:e>
                      <m:sup>
                        <m:r>
                          <m:rPr>
                            <m:sty m:val="p"/>
                          </m:rPr>
                          <a:rPr lang="en-US" i="0" sz="2000">
                            <a:latin typeface="Cambria Math" panose="02040503050406030204" pitchFamily="18" charset="0"/>
                          </a:rPr>
                          <m:t>−</m:t>
                        </m:r>
                        <m:r>
                          <a:rPr lang="en-US" i="1" sz="2000">
                            <a:latin typeface="Cambria Math" panose="02040503050406030204" pitchFamily="18" charset="0"/>
                          </a:rPr>
                          <m:t>1</m:t>
                        </m:r>
                      </m:sup>
                    </m:sSup>
                    <m:sSup>
                      <m:e>
                        <m:r>
                          <a:rPr lang="en-US" i="1" sz="2000">
                            <a:latin typeface="Cambria Math" panose="02040503050406030204" pitchFamily="18" charset="0"/>
                          </a:rPr>
                          <m:t>B</m:t>
                        </m:r>
                      </m:e>
                      <m:sup>
                        <m:r>
                          <m:rPr>
                            <m:sty m:val="p"/>
                          </m:rPr>
                          <a:rPr lang="en-US" i="0" sz="2000">
                            <a:latin typeface="Cambria Math" panose="02040503050406030204" pitchFamily="18" charset="0"/>
                          </a:rPr>
                          <m:t>⊤</m:t>
                        </m:r>
                      </m:sup>
                    </m:sSup>
                    <m:r>
                      <a:rPr lang="en-US" i="1" sz="2000">
                        <a:latin typeface="Cambria Math" panose="02040503050406030204" pitchFamily="18" charset="0"/>
                      </a:rPr>
                      <m:t>P</m:t>
                    </m:r>
                    <m:r>
                      <a:rPr lang="en-US" i="1" sz="2000">
                        <a:latin typeface="Cambria Math" panose="02040503050406030204" pitchFamily="18" charset="0"/>
                      </a:rPr>
                      <m:t>A</m:t>
                    </m:r>
                  </m:oMath>
                </a14:m>
              </a:p>
              <a:p>
                <a:pPr lvl="1"/>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P</m:t>
                    </m:r>
                  </m:oMath>
                </a14:m>
                <a:r>
                  <a:rPr lang="en-US" dirty="0" sz="1800"/>
                  <a:t xml:space="preserve"> solves the discrete algebraic Riccati equation (DARE):</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600">
                        <a:latin typeface="Cambria Math" panose="02040503050406030204" pitchFamily="18" charset="0"/>
                      </a:rPr>
                      <m:t>P</m:t>
                    </m:r>
                    <m:r>
                      <m:rPr>
                        <m:sty m:val="p"/>
                      </m:rPr>
                      <a:rPr lang="en-US" i="0" sz="1600">
                        <a:latin typeface="Cambria Math" panose="02040503050406030204" pitchFamily="18" charset="0"/>
                      </a:rPr>
                      <m:t>=</m:t>
                    </m:r>
                    <m:r>
                      <a:rPr lang="en-US" i="1" sz="1600">
                        <a:latin typeface="Cambria Math" panose="02040503050406030204" pitchFamily="18" charset="0"/>
                      </a:rPr>
                      <m:t>Q</m:t>
                    </m:r>
                    <m:r>
                      <m:rPr>
                        <m:sty m:val="p"/>
                      </m:rPr>
                      <a:rPr lang="en-US" i="0" sz="1600">
                        <a:latin typeface="Cambria Math" panose="02040503050406030204" pitchFamily="18" charset="0"/>
                      </a:rPr>
                      <m:t>+</m:t>
                    </m:r>
                    <m:sSup>
                      <m:e>
                        <m:r>
                          <a:rPr lang="en-US" i="1" sz="1600">
                            <a:latin typeface="Cambria Math" panose="02040503050406030204" pitchFamily="18" charset="0"/>
                          </a:rPr>
                          <m:t>A</m:t>
                        </m:r>
                      </m:e>
                      <m:sup>
                        <m:r>
                          <m:rPr>
                            <m:sty m:val="p"/>
                          </m:rPr>
                          <a:rPr lang="en-US" i="0" sz="1600">
                            <a:latin typeface="Cambria Math" panose="02040503050406030204" pitchFamily="18" charset="0"/>
                          </a:rPr>
                          <m:t>⊤</m:t>
                        </m:r>
                      </m:sup>
                    </m:sSup>
                    <m:r>
                      <a:rPr lang="en-US" i="1" sz="1600">
                        <a:latin typeface="Cambria Math" panose="02040503050406030204" pitchFamily="18" charset="0"/>
                      </a:rPr>
                      <m:t>P</m:t>
                    </m:r>
                    <m:r>
                      <a:rPr lang="en-US" i="1" sz="1600">
                        <a:latin typeface="Cambria Math" panose="02040503050406030204" pitchFamily="18" charset="0"/>
                      </a:rPr>
                      <m:t>A</m:t>
                    </m:r>
                    <m:r>
                      <m:rPr>
                        <m:sty m:val="p"/>
                      </m:rPr>
                      <a:rPr lang="en-US" i="0" sz="1600">
                        <a:latin typeface="Cambria Math" panose="02040503050406030204" pitchFamily="18" charset="0"/>
                      </a:rPr>
                      <m:t>−</m:t>
                    </m:r>
                    <m:sSup>
                      <m:e>
                        <m:r>
                          <a:rPr lang="en-US" i="1" sz="1600">
                            <a:latin typeface="Cambria Math" panose="02040503050406030204" pitchFamily="18" charset="0"/>
                          </a:rPr>
                          <m:t>A</m:t>
                        </m:r>
                      </m:e>
                      <m:sup>
                        <m:r>
                          <m:rPr>
                            <m:sty m:val="p"/>
                          </m:rPr>
                          <a:rPr lang="en-US" i="0" sz="1600">
                            <a:latin typeface="Cambria Math" panose="02040503050406030204" pitchFamily="18" charset="0"/>
                          </a:rPr>
                          <m:t>⊤</m:t>
                        </m:r>
                      </m:sup>
                    </m:sSup>
                    <m:r>
                      <a:rPr lang="en-US" i="1" sz="1600">
                        <a:latin typeface="Cambria Math" panose="02040503050406030204" pitchFamily="18" charset="0"/>
                      </a:rPr>
                      <m:t>P</m:t>
                    </m:r>
                    <m:r>
                      <a:rPr lang="en-US" i="1" sz="1600">
                        <a:latin typeface="Cambria Math" panose="02040503050406030204" pitchFamily="18" charset="0"/>
                      </a:rPr>
                      <m:t>B</m:t>
                    </m:r>
                    <m:r>
                      <a:rPr lang="en-US" i="1" sz="1600">
                        <a:latin typeface="Cambria Math" panose="02040503050406030204" pitchFamily="18" charset="0"/>
                      </a:rPr>
                      <m:t> </m:t>
                    </m:r>
                    <m:sSup>
                      <m:e>
                        <m:d>
                          <m:dPr>
                            <m:begChr m:val="("/>
                            <m:endChr m:val=")"/>
                            <m:sepChr m:val=""/>
                            <m:grow/>
                          </m:dPr>
                          <m:e>
                            <m:r>
                              <a:rPr lang="en-US" i="1" sz="1600">
                                <a:latin typeface="Cambria Math" panose="02040503050406030204" pitchFamily="18" charset="0"/>
                              </a:rPr>
                              <m:t>R</m:t>
                            </m:r>
                            <m:r>
                              <m:rPr>
                                <m:sty m:val="p"/>
                              </m:rPr>
                              <a:rPr lang="en-US" i="0" sz="1600">
                                <a:latin typeface="Cambria Math" panose="02040503050406030204" pitchFamily="18" charset="0"/>
                              </a:rPr>
                              <m:t>+</m:t>
                            </m:r>
                            <m:sSup>
                              <m:e>
                                <m:r>
                                  <a:rPr lang="en-US" i="1" sz="1600">
                                    <a:latin typeface="Cambria Math" panose="02040503050406030204" pitchFamily="18" charset="0"/>
                                  </a:rPr>
                                  <m:t>B</m:t>
                                </m:r>
                              </m:e>
                              <m:sup>
                                <m:r>
                                  <m:rPr>
                                    <m:sty m:val="p"/>
                                  </m:rPr>
                                  <a:rPr lang="en-US" i="0" sz="1600">
                                    <a:latin typeface="Cambria Math" panose="02040503050406030204" pitchFamily="18" charset="0"/>
                                  </a:rPr>
                                  <m:t>⊤</m:t>
                                </m:r>
                              </m:sup>
                            </m:sSup>
                            <m:r>
                              <a:rPr lang="en-US" i="1" sz="1600">
                                <a:latin typeface="Cambria Math" panose="02040503050406030204" pitchFamily="18" charset="0"/>
                              </a:rPr>
                              <m:t>P</m:t>
                            </m:r>
                            <m:r>
                              <a:rPr lang="en-US" i="1" sz="1600">
                                <a:latin typeface="Cambria Math" panose="02040503050406030204" pitchFamily="18" charset="0"/>
                              </a:rPr>
                              <m:t>B</m:t>
                            </m:r>
                          </m:e>
                        </m:d>
                      </m:e>
                      <m:sup>
                        <m:r>
                          <m:rPr>
                            <m:sty m:val="p"/>
                          </m:rPr>
                          <a:rPr lang="en-US" i="0" sz="1600">
                            <a:latin typeface="Cambria Math" panose="02040503050406030204" pitchFamily="18" charset="0"/>
                          </a:rPr>
                          <m:t>−</m:t>
                        </m:r>
                        <m:r>
                          <a:rPr lang="en-US" i="1" sz="1600">
                            <a:latin typeface="Cambria Math" panose="02040503050406030204" pitchFamily="18" charset="0"/>
                          </a:rPr>
                          <m:t>1</m:t>
                        </m:r>
                      </m:sup>
                    </m:sSup>
                    <m:sSup>
                      <m:e>
                        <m:r>
                          <a:rPr lang="en-US" i="1" sz="1600">
                            <a:latin typeface="Cambria Math" panose="02040503050406030204" pitchFamily="18" charset="0"/>
                          </a:rPr>
                          <m:t>B</m:t>
                        </m:r>
                      </m:e>
                      <m:sup>
                        <m:r>
                          <m:rPr>
                            <m:sty m:val="p"/>
                          </m:rPr>
                          <a:rPr lang="en-US" i="0" sz="1600">
                            <a:latin typeface="Cambria Math" panose="02040503050406030204" pitchFamily="18" charset="0"/>
                          </a:rPr>
                          <m:t>⊤</m:t>
                        </m:r>
                      </m:sup>
                    </m:sSup>
                    <m:r>
                      <a:rPr lang="en-US" i="1" sz="1600">
                        <a:latin typeface="Cambria Math" panose="02040503050406030204" pitchFamily="18" charset="0"/>
                      </a:rPr>
                      <m:t>P</m:t>
                    </m:r>
                    <m:r>
                      <a:rPr lang="en-US" i="1" sz="1600">
                        <a:latin typeface="Cambria Math" panose="02040503050406030204" pitchFamily="18" charset="0"/>
                      </a:rPr>
                      <m:t>A</m:t>
                    </m:r>
                  </m:oMath>
                </a14:m>
              </a:p>
              <a:p>
                <a:pPr/>
                <a:r>
                  <a:rPr lang="en-US" dirty="0" sz="2000"/>
                  <a:t xml:space="preserve">Continuous time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acc>
                      <m:accPr>
                        <m:chr m:val="̇"/>
                      </m:accPr>
                      <m:e>
                        <m:r>
                          <a:rPr lang="en-US" i="1" sz="2000">
                            <a:latin typeface="Cambria Math" panose="02040503050406030204" pitchFamily="18" charset="0"/>
                          </a:rPr>
                          <m:t>x</m:t>
                        </m:r>
                      </m:e>
                    </m:acc>
                    <m:r>
                      <m:rPr>
                        <m:sty m:val="p"/>
                      </m:rPr>
                      <a:rPr lang="en-US" i="0" sz="2000">
                        <a:latin typeface="Cambria Math" panose="02040503050406030204" pitchFamily="18" charset="0"/>
                      </a:rPr>
                      <m:t>=</m:t>
                    </m:r>
                    <m:r>
                      <a:rPr lang="en-US" i="1" sz="2000">
                        <a:latin typeface="Cambria Math" panose="02040503050406030204" pitchFamily="18" charset="0"/>
                      </a:rPr>
                      <m:t>A</m:t>
                    </m:r>
                    <m:r>
                      <a:rPr lang="en-US" i="1" sz="2000">
                        <a:latin typeface="Cambria Math" panose="02040503050406030204" pitchFamily="18" charset="0"/>
                      </a:rPr>
                      <m:t>x</m:t>
                    </m:r>
                    <m:r>
                      <m:rPr>
                        <m:sty m:val="p"/>
                      </m:rPr>
                      <a:rPr lang="en-US" i="0" sz="2000">
                        <a:latin typeface="Cambria Math" panose="02040503050406030204" pitchFamily="18" charset="0"/>
                      </a:rPr>
                      <m:t>+</m:t>
                    </m:r>
                    <m:r>
                      <a:rPr lang="en-US" i="1" sz="2000">
                        <a:latin typeface="Cambria Math" panose="02040503050406030204" pitchFamily="18" charset="0"/>
                      </a:rPr>
                      <m:t>B</m:t>
                    </m:r>
                    <m:r>
                      <a:rPr lang="en-US" i="1" sz="2000">
                        <a:latin typeface="Cambria Math" panose="02040503050406030204" pitchFamily="18" charset="0"/>
                      </a:rPr>
                      <m:t>u</m:t>
                    </m:r>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K</m:t>
                    </m:r>
                    <m:r>
                      <m:rPr>
                        <m:sty m:val="p"/>
                      </m:rPr>
                      <a:rPr lang="en-US" i="0" sz="2000">
                        <a:latin typeface="Cambria Math" panose="02040503050406030204" pitchFamily="18" charset="0"/>
                      </a:rPr>
                      <m:t>=</m:t>
                    </m:r>
                    <m:sSup>
                      <m:e>
                        <m:r>
                          <a:rPr lang="en-US" i="1" sz="2000">
                            <a:latin typeface="Cambria Math" panose="02040503050406030204" pitchFamily="18" charset="0"/>
                          </a:rPr>
                          <m:t>R</m:t>
                        </m:r>
                      </m:e>
                      <m:sup>
                        <m:r>
                          <m:rPr>
                            <m:sty m:val="p"/>
                          </m:rPr>
                          <a:rPr lang="en-US" i="0" sz="2000">
                            <a:latin typeface="Cambria Math" panose="02040503050406030204" pitchFamily="18" charset="0"/>
                          </a:rPr>
                          <m:t>−</m:t>
                        </m:r>
                        <m:r>
                          <a:rPr lang="en-US" i="1" sz="2000">
                            <a:latin typeface="Cambria Math" panose="02040503050406030204" pitchFamily="18" charset="0"/>
                          </a:rPr>
                          <m:t>1</m:t>
                        </m:r>
                      </m:sup>
                    </m:sSup>
                    <m:sSup>
                      <m:e>
                        <m:r>
                          <a:rPr lang="en-US" i="1" sz="2000">
                            <a:latin typeface="Cambria Math" panose="02040503050406030204" pitchFamily="18" charset="0"/>
                          </a:rPr>
                          <m:t>B</m:t>
                        </m:r>
                      </m:e>
                      <m:sup>
                        <m:r>
                          <m:rPr>
                            <m:sty m:val="p"/>
                          </m:rPr>
                          <a:rPr lang="en-US" i="0" sz="2000">
                            <a:latin typeface="Cambria Math" panose="02040503050406030204" pitchFamily="18" charset="0"/>
                          </a:rPr>
                          <m:t>⊤</m:t>
                        </m:r>
                      </m:sup>
                    </m:sSup>
                    <m:r>
                      <a:rPr lang="en-US" i="1" sz="2000">
                        <a:latin typeface="Cambria Math" panose="02040503050406030204" pitchFamily="18" charset="0"/>
                      </a:rPr>
                      <m:t>P</m:t>
                    </m:r>
                  </m:oMath>
                </a14:m>
                <a:r>
                  <a:rPr lang="en-US" dirty="0" sz="2000"/>
                  <a:t xml:space="preserve">, with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P</m:t>
                    </m:r>
                  </m:oMath>
                </a14:m>
                <a:r>
                  <a:rPr lang="en-US" dirty="0" sz="2000"/>
                  <a:t xml:space="preserve"> from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p>
                      <m:e>
                        <m:r>
                          <a:rPr lang="en-US" i="1" sz="2000">
                            <a:latin typeface="Cambria Math" panose="02040503050406030204" pitchFamily="18" charset="0"/>
                          </a:rPr>
                          <m:t>A</m:t>
                        </m:r>
                      </m:e>
                      <m:sup>
                        <m:r>
                          <m:rPr>
                            <m:sty m:val="p"/>
                          </m:rPr>
                          <a:rPr lang="en-US" i="0" sz="2000">
                            <a:latin typeface="Cambria Math" panose="02040503050406030204" pitchFamily="18" charset="0"/>
                          </a:rPr>
                          <m:t>⊤</m:t>
                        </m:r>
                      </m:sup>
                    </m:sSup>
                    <m:r>
                      <a:rPr lang="en-US" i="1" sz="2000">
                        <a:latin typeface="Cambria Math" panose="02040503050406030204" pitchFamily="18" charset="0"/>
                      </a:rPr>
                      <m:t>P</m:t>
                    </m:r>
                    <m:r>
                      <m:rPr>
                        <m:sty m:val="p"/>
                      </m:rPr>
                      <a:rPr lang="en-US" i="0" sz="2000">
                        <a:latin typeface="Cambria Math" panose="02040503050406030204" pitchFamily="18" charset="0"/>
                      </a:rPr>
                      <m:t>+</m:t>
                    </m:r>
                    <m:r>
                      <a:rPr lang="en-US" i="1" sz="2000">
                        <a:latin typeface="Cambria Math" panose="02040503050406030204" pitchFamily="18" charset="0"/>
                      </a:rPr>
                      <m:t>P</m:t>
                    </m:r>
                    <m:r>
                      <a:rPr lang="en-US" i="1" sz="2000">
                        <a:latin typeface="Cambria Math" panose="02040503050406030204" pitchFamily="18" charset="0"/>
                      </a:rPr>
                      <m:t>A</m:t>
                    </m:r>
                    <m:r>
                      <m:rPr>
                        <m:sty m:val="p"/>
                      </m:rPr>
                      <a:rPr lang="en-US" i="0" sz="2000">
                        <a:latin typeface="Cambria Math" panose="02040503050406030204" pitchFamily="18" charset="0"/>
                      </a:rPr>
                      <m:t>−</m:t>
                    </m:r>
                    <m:r>
                      <a:rPr lang="en-US" i="1" sz="2000">
                        <a:latin typeface="Cambria Math" panose="02040503050406030204" pitchFamily="18" charset="0"/>
                      </a:rPr>
                      <m:t>P</m:t>
                    </m:r>
                    <m:r>
                      <a:rPr lang="en-US" i="1" sz="2000">
                        <a:latin typeface="Cambria Math" panose="02040503050406030204" pitchFamily="18" charset="0"/>
                      </a:rPr>
                      <m:t>B</m:t>
                    </m:r>
                    <m:sSup>
                      <m:e>
                        <m:r>
                          <a:rPr lang="en-US" i="1" sz="2000">
                            <a:latin typeface="Cambria Math" panose="02040503050406030204" pitchFamily="18" charset="0"/>
                          </a:rPr>
                          <m:t>R</m:t>
                        </m:r>
                      </m:e>
                      <m:sup>
                        <m:r>
                          <m:rPr>
                            <m:sty m:val="p"/>
                          </m:rPr>
                          <a:rPr lang="en-US" i="0" sz="2000">
                            <a:latin typeface="Cambria Math" panose="02040503050406030204" pitchFamily="18" charset="0"/>
                          </a:rPr>
                          <m:t>−</m:t>
                        </m:r>
                        <m:r>
                          <a:rPr lang="en-US" i="1" sz="2000">
                            <a:latin typeface="Cambria Math" panose="02040503050406030204" pitchFamily="18" charset="0"/>
                          </a:rPr>
                          <m:t>1</m:t>
                        </m:r>
                      </m:sup>
                    </m:sSup>
                    <m:sSup>
                      <m:e>
                        <m:r>
                          <a:rPr lang="en-US" i="1" sz="2000">
                            <a:latin typeface="Cambria Math" panose="02040503050406030204" pitchFamily="18" charset="0"/>
                          </a:rPr>
                          <m:t>B</m:t>
                        </m:r>
                      </m:e>
                      <m:sup>
                        <m:r>
                          <m:rPr>
                            <m:sty m:val="p"/>
                          </m:rPr>
                          <a:rPr lang="en-US" i="0" sz="2000">
                            <a:latin typeface="Cambria Math" panose="02040503050406030204" pitchFamily="18" charset="0"/>
                          </a:rPr>
                          <m:t>⊤</m:t>
                        </m:r>
                      </m:sup>
                    </m:sSup>
                    <m:r>
                      <a:rPr lang="en-US" i="1" sz="2000">
                        <a:latin typeface="Cambria Math" panose="02040503050406030204" pitchFamily="18" charset="0"/>
                      </a:rPr>
                      <m:t>P</m:t>
                    </m:r>
                    <m:r>
                      <m:rPr>
                        <m:sty m:val="p"/>
                      </m:rPr>
                      <a:rPr lang="en-US" i="0" sz="2000">
                        <a:latin typeface="Cambria Math" panose="02040503050406030204" pitchFamily="18" charset="0"/>
                      </a:rPr>
                      <m:t>+</m:t>
                    </m:r>
                    <m:r>
                      <a:rPr lang="en-US" i="1" sz="2000">
                        <a:latin typeface="Cambria Math" panose="02040503050406030204" pitchFamily="18" charset="0"/>
                      </a:rPr>
                      <m:t>Q</m:t>
                    </m:r>
                    <m:r>
                      <m:rPr>
                        <m:sty m:val="p"/>
                      </m:rPr>
                      <a:rPr lang="en-US" i="0" sz="2000">
                        <a:latin typeface="Cambria Math" panose="02040503050406030204" pitchFamily="18" charset="0"/>
                      </a:rPr>
                      <m:t>=</m:t>
                    </m:r>
                    <m:r>
                      <a:rPr lang="en-US" i="1" sz="2000">
                        <a:latin typeface="Cambria Math" panose="02040503050406030204" pitchFamily="18" charset="0"/>
                      </a:rPr>
                      <m:t>0</m:t>
                    </m:r>
                  </m:oMath>
                </a14:m>
              </a:p>
              <a:p>
                <a:pPr/>
                <a:r>
                  <a:rPr lang="en-US" dirty="0" sz="2000"/>
                  <a:t>K is computed offline; online control is one matrix–vector product</a:t>
                </a:r>
              </a:p>
            </p:txBody>
          </p:sp>
        </mc:Choice>
        <mc:Fallback>
          <p:sp>
            <p:nvSpPr>
              <p:cNvPr id="3" name="Content Placeholder 2"/>
              <p:cNvSpPr>
                <a:spLocks noGrp="1"/>
              </p:cNvSpPr>
              <p:nvPr>
                <p:ph idx="1"/>
              </p:nvPr>
            </p:nvSpPr>
            <p:spPr>
              <a:xfrm>
                <a:off x="621792" y="1188720"/>
                <a:ext cx="6903720" cy="5257800"/>
              </a:xfrm>
            </p:spPr>
            <p:txBody>
              <a:bodyPr>
                <a:normAutofit/>
              </a:bodyPr>
              <a:lstStyle/>
              <a:p>
                <a:pPr/>
                <a:r>
                  <a:rPr lang="en-US" dirty="0" sz="2000"/>
                  <a:t xml:space="preserve">Linear plant (discrete time): </a:t>
                </a:r>
                <a:r>
                  <a:rPr lang="en-US" dirty="0" sz="2000"/>
                  <a:t>x[k+1] = A x[k] + B u[k]</a:t>
                </a:r>
              </a:p>
              <a:p>
                <a:pPr/>
                <a:r>
                  <a:rPr lang="en-US" dirty="0" sz="2000"/>
                  <a:t>Drive the state to zero at minimum cost:</a:t>
                </a:r>
              </a:p>
              <a:p>
                <a:pPr lvl="1" marL="457200" indent="0">
                  <a:buNone/>
                </a:pPr>
                <a:r>
                  <a:rPr lang="en-US" dirty="0" sz="1800"/>
                  <a:t>J = Σ ( x[k]ᵀ Q x[k] + u[k]ᵀ R u[k] )</a:t>
                </a:r>
              </a:p>
              <a:p>
                <a:pPr lvl="1"/>
                <a:r>
                  <a:rPr lang="en-US" dirty="0" sz="1800"/>
                  <a:t>Q ⪰ 0</a:t>
                </a:r>
                <a:r>
                  <a:rPr lang="en-US" dirty="0" sz="1800"/>
                  <a:t xml:space="preserve"> penalizes state error; </a:t>
                </a:r>
                <a:r>
                  <a:rPr lang="en-US" dirty="0" sz="1800"/>
                  <a:t>R ≻ 0</a:t>
                </a:r>
                <a:r>
                  <a:rPr lang="en-US" dirty="0" sz="1800"/>
                  <a:t xml:space="preserve"> penalizes control effort (steering)</a:t>
                </a:r>
              </a:p>
              <a:p>
                <a:pPr/>
                <a:r>
                  <a:rPr lang="en-US" dirty="0" sz="2000"/>
                  <a:t xml:space="preserve">Optimal control is a linear state feedback: </a:t>
                </a:r>
                <a:r>
                  <a:rPr lang="en-US" dirty="0" sz="2000"/>
                  <a:t>u[k] = −K x[k],  K = (R + BᵀPB)⁻¹ BᵀPA</a:t>
                </a:r>
              </a:p>
              <a:p>
                <a:pPr lvl="1"/>
                <a:r>
                  <a:rPr lang="en-US" dirty="0" sz="1800"/>
                  <a:t>P</a:t>
                </a:r>
                <a:r>
                  <a:rPr lang="en-US" dirty="0" sz="1800"/>
                  <a:t xml:space="preserve"> solves the discrete algebraic Riccati equation (DARE):</a:t>
                </a:r>
              </a:p>
              <a:p>
                <a:pPr lvl="1" marL="457200" indent="0">
                  <a:buNone/>
                </a:pPr>
                <a:r>
                  <a:rPr lang="en-US" dirty="0" sz="1600"/>
                  <a:t>P = Q + AᵀPA − AᵀPB (R + BᵀPB)⁻¹ BᵀPA</a:t>
                </a:r>
              </a:p>
              <a:p>
                <a:pPr/>
                <a:r>
                  <a:rPr lang="en-US" dirty="0" sz="2000"/>
                  <a:t xml:space="preserve">Continuous time </a:t>
                </a:r>
                <a:r>
                  <a:rPr lang="en-US" dirty="0" sz="2000"/>
                  <a:t>ẋ = Ax + Bu</a:t>
                </a:r>
                <a:r>
                  <a:rPr lang="en-US" dirty="0" sz="2000"/>
                  <a:t xml:space="preserve">: </a:t>
                </a:r>
                <a:r>
                  <a:rPr lang="en-US" dirty="0" sz="2000"/>
                  <a:t>K = R⁻¹BᵀP</a:t>
                </a:r>
                <a:r>
                  <a:rPr lang="en-US" dirty="0" sz="2000"/>
                  <a:t xml:space="preserve">, with </a:t>
                </a:r>
                <a:r>
                  <a:rPr lang="en-US" dirty="0" sz="2000"/>
                  <a:t>P</a:t>
                </a:r>
                <a:r>
                  <a:rPr lang="en-US" dirty="0" sz="2000"/>
                  <a:t xml:space="preserve"> from </a:t>
                </a:r>
                <a:r>
                  <a:rPr lang="en-US" dirty="0" sz="2000"/>
                  <a:t>AᵀP + PA − PBR⁻¹BᵀP + Q = 0</a:t>
                </a:r>
              </a:p>
              <a:p>
                <a:pPr/>
                <a:r>
                  <a:rPr lang="en-US" dirty="0" sz="2000"/>
                  <a:t>K is computed offline; online control is one matrix–vector product</a:t>
                </a:r>
              </a:p>
            </p:txBody>
          </p:sp>
        </mc:Fallback>
      </mc:AlternateContent>
      <p:pic>
        <p:nvPicPr>
          <p:cNvPr id="4" name="Picture 3" descr="Block diagram: plant with state feedback u = -Kx"/>
          <p:cNvPicPr>
            <a:picLocks noChangeAspect="1"/>
          </p:cNvPicPr>
          <p:nvPr/>
        </p:nvPicPr>
        <p:blipFill>
          <a:blip r:embed="rId3"/>
          <a:stretch>
            <a:fillRect/>
          </a:stretch>
        </p:blipFill>
        <p:spPr>
          <a:xfrm>
            <a:off x="7726679" y="1417320"/>
            <a:ext cx="4160520" cy="1907071"/>
          </a:xfrm>
          <a:prstGeom prst="rect">
            <a:avLst/>
          </a:prstGeom>
        </p:spPr>
      </p:pic>
      <p:sp>
        <p:nvSpPr>
          <p:cNvPr id="5" name="TextBox"/>
          <p:cNvSpPr txBox="1"/>
          <p:nvPr/>
        </p:nvSpPr>
        <p:spPr>
          <a:xfrm>
            <a:off x="7726679" y="3429000"/>
            <a:ext cx="4160520" cy="1600200"/>
          </a:xfrm>
          <a:prstGeom prst="rect">
            <a:avLst/>
          </a:prstGeom>
          <a:solidFill>
            <a:srgbClr val="F2F2F2"/>
          </a:solidFill>
        </p:spPr>
        <p:txBody>
          <a:bodyPr wrap="square" lIns="73152" tIns="73152" rIns="73152" bIns="73152" anchor="t"/>
          <a:lstStyle/>
          <a:p>
            <a:pPr marL="0" indent="0">
              <a:buNone/>
            </a:pPr>
            <a:r>
              <a:rPr lang="en-US" dirty="0" sz="1800" b="1"/>
              <a:t>Design knobs</a:t>
            </a:r>
          </a:p>
          <a:p>
            <a:pPr marL="0" indent="0">
              <a:buNone/>
            </a:pPr>
            <a:r>
              <a:rPr lang="en-US" dirty="0" sz="1600"/>
              <a:t>Q: how much each state error hurts</a:t>
            </a:r>
          </a:p>
          <a:p>
            <a:pPr marL="0" indent="0">
              <a:buNone/>
            </a:pPr>
            <a:r>
              <a:rPr lang="en-US" dirty="0" sz="1600"/>
              <a:t>R: how expensive control is</a:t>
            </a:r>
          </a:p>
          <a:p>
            <a:pPr marL="0" indent="0">
              <a:buNone/>
            </a:pPr>
            <a:r>
              <a:rPr lang="en-US" dirty="0" sz="1600"/>
              <a:t>No pole locations to choose by hand</a:t>
            </a:r>
          </a:p>
          <a:p>
            <a:pPr marL="0" indent="0">
              <a:buNone/>
            </a:pPr>
            <a:r>
              <a:rPr lang="en-US" dirty="0" sz="1300" i="1"/>
              <a:t>Tools: scipy.linalg.solve_continuous_are, python-control lqr(), MATLAB lqr()</a:t>
            </a:r>
          </a:p>
        </p:txBody>
      </p:sp>
      <p:sp>
        <p:nvSpPr>
          <p:cNvPr id="6"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LQR Example: Lateral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903720" cy="5394960"/>
              </a:xfrm>
            </p:spPr>
            <p:txBody>
              <a:bodyPr>
                <a:normAutofit/>
              </a:bodyPr>
              <a:lstStyle/>
              <a:p>
                <a:pPr/>
                <a:r>
                  <a:rPr lang="en-US" dirty="0" sz="2000"/>
                  <a:t xml:space="preserve">Lateral model (slides 11–12): state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x</m:t>
                    </m:r>
                    <m:r>
                      <m:rPr>
                        <m:sty m:val="p"/>
                      </m:rPr>
                      <a:rPr lang="en-US" i="0" sz="2000">
                        <a:latin typeface="Cambria Math" panose="02040503050406030204" pitchFamily="18" charset="0"/>
                      </a:rPr>
                      <m:t>=</m:t>
                    </m:r>
                    <m:sSup>
                      <m:e>
                        <m:d>
                          <m:dPr>
                            <m:begChr m:val="["/>
                            <m:endChr m:val="]"/>
                            <m:sepChr m:val=""/>
                            <m:grow/>
                          </m:dPr>
                          <m:e>
                            <m:r>
                              <a:rPr lang="en-US" i="1" sz="2000">
                                <a:latin typeface="Cambria Math" panose="02040503050406030204" pitchFamily="18" charset="0"/>
                              </a:rPr>
                              <m:t>d</m:t>
                            </m:r>
                            <m:r>
                              <m:rPr>
                                <m:sty m:val="p"/>
                              </m:rPr>
                              <a:rPr lang="en-US" i="0" sz="2000">
                                <a:latin typeface="Cambria Math" panose="02040503050406030204" pitchFamily="18" charset="0"/>
                              </a:rPr>
                              <m:t>,</m:t>
                            </m:r>
                            <m:r>
                              <a:rPr lang="en-US" i="1" sz="2000">
                                <a:latin typeface="Cambria Math" panose="02040503050406030204" pitchFamily="18" charset="0"/>
                              </a:rPr>
                              <m:t>θ</m:t>
                            </m:r>
                          </m:e>
                        </m:d>
                      </m:e>
                      <m:sup>
                        <m:r>
                          <m:rPr>
                            <m:sty m:val="p"/>
                          </m:rPr>
                          <a:rPr lang="en-US" i="0" sz="2000">
                            <a:latin typeface="Cambria Math" panose="02040503050406030204" pitchFamily="18" charset="0"/>
                          </a:rPr>
                          <m:t>⊤</m:t>
                        </m:r>
                      </m:sup>
                    </m:sSup>
                  </m:oMath>
                </a14:m>
                <a:r>
                  <a:rPr lang="en-US" dirty="0" sz="2000"/>
                  <a:t xml:space="preserve">, control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u</m:t>
                    </m:r>
                    <m:r>
                      <m:rPr>
                        <m:sty m:val="p"/>
                      </m:rPr>
                      <a:rPr lang="en-US" i="0" sz="2000">
                        <a:latin typeface="Cambria Math" panose="02040503050406030204" pitchFamily="18" charset="0"/>
                      </a:rPr>
                      <m:t>=</m:t>
                    </m:r>
                    <m:acc>
                      <m:accPr>
                        <m:chr m:val="̇"/>
                      </m:accPr>
                      <m:e>
                        <m:r>
                          <a:rPr lang="en-US" i="1" sz="2000">
                            <a:latin typeface="Cambria Math" panose="02040503050406030204" pitchFamily="18" charset="0"/>
                          </a:rPr>
                          <m:t>θ</m:t>
                        </m:r>
                      </m:e>
                    </m:acc>
                  </m:oMath>
                </a14:m>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acc>
                      <m:accPr>
                        <m:chr m:val="̇"/>
                      </m:accPr>
                      <m:e>
                        <m:r>
                          <a:rPr lang="en-US" i="1" sz="1800">
                            <a:latin typeface="Cambria Math" panose="02040503050406030204" pitchFamily="18" charset="0"/>
                          </a:rPr>
                          <m:t>x</m:t>
                        </m:r>
                      </m:e>
                    </m:acc>
                    <m:r>
                      <m:rPr>
                        <m:sty m:val="p"/>
                      </m:rPr>
                      <a:rPr lang="en-US" i="0" sz="1800">
                        <a:latin typeface="Cambria Math" panose="02040503050406030204" pitchFamily="18" charset="0"/>
                      </a:rPr>
                      <m:t>=</m:t>
                    </m:r>
                    <m:d>
                      <m:dPr>
                        <m:begChr m:val="["/>
                        <m:endChr m:val="]"/>
                        <m:sepChr m:val=""/>
                        <m:grow/>
                      </m:dPr>
                      <m:e>
                        <m:m>
                          <m:mPr>
                            <m:baseJc m:val="center"/>
                            <m:plcHide m:val="on"/>
                            <m:mcs>
                              <m:mc>
                                <m:mcPr>
                                  <m:mcJc m:val="center"/>
                                  <m:count m:val="1"/>
                                </m:mcPr>
                              </m:mc>
                              <m:mc>
                                <m:mcPr>
                                  <m:mcJc m:val="center"/>
                                  <m:count m:val="1"/>
                                </m:mcPr>
                              </m:mc>
                            </m:mcs>
                          </m:mPr>
                          <m:mr>
                            <m:e>
                              <m:r>
                                <a:rPr lang="en-US" i="1" sz="1800">
                                  <a:latin typeface="Cambria Math" panose="02040503050406030204" pitchFamily="18" charset="0"/>
                                </a:rPr>
                                <m:t>0</m:t>
                              </m:r>
                            </m:e>
                            <m:e>
                              <m:sSub>
                                <m:e>
                                  <m:r>
                                    <a:rPr lang="en-US" i="1" sz="1800">
                                      <a:latin typeface="Cambria Math" panose="02040503050406030204" pitchFamily="18" charset="0"/>
                                    </a:rPr>
                                    <m:t>v</m:t>
                                  </m:r>
                                </m:e>
                                <m:sub>
                                  <m:r>
                                    <a:rPr lang="en-US" i="1" sz="1800">
                                      <a:latin typeface="Cambria Math" panose="02040503050406030204" pitchFamily="18" charset="0"/>
                                    </a:rPr>
                                    <m:t>r</m:t>
                                  </m:r>
                                </m:sub>
                              </m:sSub>
                            </m:e>
                          </m:mr>
                          <m:mr>
                            <m:e>
                              <m:r>
                                <a:rPr lang="en-US" i="1" sz="1800">
                                  <a:latin typeface="Cambria Math" panose="02040503050406030204" pitchFamily="18" charset="0"/>
                                </a:rPr>
                                <m:t>0</m:t>
                              </m:r>
                            </m:e>
                            <m:e>
                              <m:r>
                                <a:rPr lang="en-US" i="1" sz="1800">
                                  <a:latin typeface="Cambria Math" panose="02040503050406030204" pitchFamily="18" charset="0"/>
                                </a:rPr>
                                <m:t>0</m:t>
                              </m:r>
                            </m:e>
                          </m:mr>
                        </m:m>
                      </m:e>
                    </m:d>
                    <m:r>
                      <a:rPr lang="en-US" i="1" sz="1800">
                        <a:latin typeface="Cambria Math" panose="02040503050406030204" pitchFamily="18" charset="0"/>
                      </a:rPr>
                      <m:t>x</m:t>
                    </m:r>
                    <m:r>
                      <m:rPr>
                        <m:sty m:val="p"/>
                      </m:rPr>
                      <a:rPr lang="en-US" i="0" sz="1800">
                        <a:latin typeface="Cambria Math" panose="02040503050406030204" pitchFamily="18" charset="0"/>
                      </a:rPr>
                      <m:t>+</m:t>
                    </m:r>
                    <m:d>
                      <m:dPr>
                        <m:begChr m:val="["/>
                        <m:endChr m:val="]"/>
                        <m:sepChr m:val=""/>
                        <m:grow/>
                      </m:dPr>
                      <m:e>
                        <m:m>
                          <m:mPr>
                            <m:baseJc m:val="center"/>
                            <m:plcHide m:val="on"/>
                            <m:mcs>
                              <m:mc>
                                <m:mcPr>
                                  <m:mcJc m:val="center"/>
                                  <m:count m:val="1"/>
                                </m:mcPr>
                              </m:mc>
                            </m:mcs>
                          </m:mPr>
                          <m:mr>
                            <m:e>
                              <m:r>
                                <a:rPr lang="en-US" i="1" sz="1800">
                                  <a:latin typeface="Cambria Math" panose="02040503050406030204" pitchFamily="18" charset="0"/>
                                </a:rPr>
                                <m:t>0</m:t>
                              </m:r>
                            </m:e>
                          </m:mr>
                          <m:mr>
                            <m:e>
                              <m:r>
                                <a:rPr lang="en-US" i="1" sz="1800">
                                  <a:latin typeface="Cambria Math" panose="02040503050406030204" pitchFamily="18" charset="0"/>
                                </a:rPr>
                                <m:t>1</m:t>
                              </m:r>
                            </m:e>
                          </m:mr>
                        </m:m>
                      </m:e>
                    </m:d>
                    <m:r>
                      <a:rPr lang="en-US" i="1" sz="1800">
                        <a:latin typeface="Cambria Math" panose="02040503050406030204" pitchFamily="18" charset="0"/>
                      </a:rPr>
                      <m:t>u</m:t>
                    </m:r>
                  </m:oMath>
                </a14:m>
              </a:p>
              <a:p>
                <a:pPr/>
                <a:r>
                  <a:rPr lang="en-US" dirty="0" sz="2000"/>
                  <a:t xml:space="preserve">Cost with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Q</m:t>
                    </m:r>
                    <m:r>
                      <m:rPr>
                        <m:sty m:val="p"/>
                      </m:rPr>
                      <a:rPr lang="en-US" i="0" sz="2000">
                        <a:latin typeface="Cambria Math" panose="02040503050406030204" pitchFamily="18" charset="0"/>
                      </a:rPr>
                      <m:t>=</m:t>
                    </m:r>
                    <m:r>
                      <m:rPr>
                        <m:sty m:val="p"/>
                      </m:rPr>
                      <a:rPr lang="en-US" i="0" sz="2000">
                        <a:latin typeface="Cambria Math" panose="02040503050406030204" pitchFamily="18" charset="0"/>
                      </a:rPr>
                      <m:t>d</m:t>
                    </m:r>
                    <m:r>
                      <m:rPr>
                        <m:sty m:val="p"/>
                      </m:rPr>
                      <a:rPr lang="en-US" i="0" sz="2000">
                        <a:latin typeface="Cambria Math" panose="02040503050406030204" pitchFamily="18" charset="0"/>
                      </a:rPr>
                      <m:t>i</m:t>
                    </m:r>
                    <m:r>
                      <m:rPr>
                        <m:sty m:val="p"/>
                      </m:rPr>
                      <a:rPr lang="en-US" i="0" sz="2000">
                        <a:latin typeface="Cambria Math" panose="02040503050406030204" pitchFamily="18" charset="0"/>
                      </a:rPr>
                      <m:t>a</m:t>
                    </m:r>
                    <m:r>
                      <m:rPr>
                        <m:sty m:val="p"/>
                      </m:rPr>
                      <a:rPr lang="en-US" i="0" sz="2000">
                        <a:latin typeface="Cambria Math" panose="02040503050406030204" pitchFamily="18" charset="0"/>
                      </a:rPr>
                      <m:t>g</m:t>
                    </m:r>
                    <m:d>
                      <m:dPr>
                        <m:begChr m:val="("/>
                        <m:endChr m:val=")"/>
                        <m:sepChr m:val=""/>
                        <m:grow/>
                      </m:dPr>
                      <m:e>
                        <m:sSub>
                          <m:e>
                            <m:r>
                              <a:rPr lang="en-US" i="1" sz="2000">
                                <a:latin typeface="Cambria Math" panose="02040503050406030204" pitchFamily="18" charset="0"/>
                              </a:rPr>
                              <m:t>q</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sSub>
                          <m:e>
                            <m:r>
                              <a:rPr lang="en-US" i="1" sz="2000">
                                <a:latin typeface="Cambria Math" panose="02040503050406030204" pitchFamily="18" charset="0"/>
                              </a:rPr>
                              <m:t>q</m:t>
                            </m:r>
                          </m:e>
                          <m:sub>
                            <m:r>
                              <a:rPr lang="en-US" i="1" sz="2000">
                                <a:latin typeface="Cambria Math" panose="02040503050406030204" pitchFamily="18" charset="0"/>
                              </a:rPr>
                              <m:t>θ</m:t>
                            </m:r>
                          </m:sub>
                        </m:sSub>
                      </m:e>
                    </m:d>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R</m:t>
                    </m:r>
                    <m:r>
                      <m:rPr>
                        <m:sty m:val="p"/>
                      </m:rPr>
                      <a:rPr lang="en-US" i="0" sz="2000">
                        <a:latin typeface="Cambria Math" panose="02040503050406030204" pitchFamily="18" charset="0"/>
                      </a:rPr>
                      <m:t>=</m:t>
                    </m:r>
                    <m:r>
                      <a:rPr lang="en-US" i="1" sz="2000">
                        <a:latin typeface="Cambria Math" panose="02040503050406030204" pitchFamily="18" charset="0"/>
                      </a:rPr>
                      <m:t>r</m:t>
                    </m:r>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J</m:t>
                    </m:r>
                    <m:r>
                      <m:rPr>
                        <m:sty m:val="p"/>
                      </m:rPr>
                      <a:rPr lang="en-US" i="0" sz="2000">
                        <a:latin typeface="Cambria Math" panose="02040503050406030204" pitchFamily="18" charset="0"/>
                      </a:rPr>
                      <m:t>=</m:t>
                    </m:r>
                    <m:nary>
                      <m:naryPr>
                        <m:chr m:val="∫"/>
                        <m:limLoc m:val="subSup"/>
                        <m:subHide m:val="off"/>
                        <m:supHide m:val="off"/>
                      </m:naryPr>
                      <m:sub>
                        <m:r>
                          <a:rPr lang="en-US" i="1" sz="2000">
                            <a:latin typeface="Cambria Math" panose="02040503050406030204" pitchFamily="18" charset="0"/>
                          </a:rPr>
                          <m:t>0</m:t>
                        </m:r>
                      </m:sub>
                      <m:sup>
                        <m:r>
                          <m:rPr>
                            <m:sty m:val="p"/>
                          </m:rPr>
                          <a:rPr lang="en-US" i="0" sz="2000">
                            <a:latin typeface="Cambria Math" panose="02040503050406030204" pitchFamily="18" charset="0"/>
                          </a:rPr>
                          <m:t>∞</m:t>
                        </m:r>
                      </m:sup>
                      <m:e>
                        <m:d>
                          <m:dPr>
                            <m:begChr m:val="("/>
                            <m:endChr m:val=")"/>
                            <m:sepChr m:val=""/>
                            <m:grow/>
                          </m:dPr>
                          <m:e>
                            <m:sSub>
                              <m:e>
                                <m:r>
                                  <a:rPr lang="en-US" i="1" sz="2000">
                                    <a:latin typeface="Cambria Math" panose="02040503050406030204" pitchFamily="18" charset="0"/>
                                  </a:rPr>
                                  <m:t>q</m:t>
                                </m:r>
                              </m:e>
                              <m:sub>
                                <m:r>
                                  <a:rPr lang="en-US" i="1" sz="2000">
                                    <a:latin typeface="Cambria Math" panose="02040503050406030204" pitchFamily="18" charset="0"/>
                                  </a:rPr>
                                  <m:t>d</m:t>
                                </m:r>
                              </m:sub>
                            </m:sSub>
                            <m:sSup>
                              <m:e>
                                <m:r>
                                  <a:rPr lang="en-US" i="1" sz="2000">
                                    <a:latin typeface="Cambria Math" panose="02040503050406030204" pitchFamily="18" charset="0"/>
                                  </a:rPr>
                                  <m:t>d</m:t>
                                </m:r>
                              </m:e>
                              <m:sup>
                                <m:r>
                                  <a:rPr lang="en-US" i="1" sz="2000">
                                    <a:latin typeface="Cambria Math" panose="02040503050406030204" pitchFamily="18" charset="0"/>
                                  </a:rPr>
                                  <m:t>2</m:t>
                                </m:r>
                              </m:sup>
                            </m:sSup>
                            <m:r>
                              <m:rPr>
                                <m:sty m:val="p"/>
                              </m:rPr>
                              <a:rPr lang="en-US" i="0" sz="2000">
                                <a:latin typeface="Cambria Math" panose="02040503050406030204" pitchFamily="18" charset="0"/>
                              </a:rPr>
                              <m:t>+</m:t>
                            </m:r>
                            <m:sSub>
                              <m:e>
                                <m:r>
                                  <a:rPr lang="en-US" i="1" sz="2000">
                                    <a:latin typeface="Cambria Math" panose="02040503050406030204" pitchFamily="18" charset="0"/>
                                  </a:rPr>
                                  <m:t>q</m:t>
                                </m:r>
                              </m:e>
                              <m:sub>
                                <m:r>
                                  <a:rPr lang="en-US" i="1" sz="2000">
                                    <a:latin typeface="Cambria Math" panose="02040503050406030204" pitchFamily="18" charset="0"/>
                                  </a:rPr>
                                  <m:t>θ</m:t>
                                </m:r>
                              </m:sub>
                            </m:sSub>
                            <m:sSup>
                              <m:e>
                                <m:r>
                                  <a:rPr lang="en-US" i="1" sz="2000">
                                    <a:latin typeface="Cambria Math" panose="02040503050406030204" pitchFamily="18" charset="0"/>
                                  </a:rPr>
                                  <m:t>θ</m:t>
                                </m:r>
                              </m:e>
                              <m:sup>
                                <m:r>
                                  <a:rPr lang="en-US" i="1" sz="2000">
                                    <a:latin typeface="Cambria Math" panose="02040503050406030204" pitchFamily="18" charset="0"/>
                                  </a:rPr>
                                  <m:t>2</m:t>
                                </m:r>
                              </m:sup>
                            </m:sSup>
                            <m:r>
                              <m:rPr>
                                <m:sty m:val="p"/>
                              </m:rPr>
                              <a:rPr lang="en-US" i="0" sz="2000">
                                <a:latin typeface="Cambria Math" panose="02040503050406030204" pitchFamily="18" charset="0"/>
                              </a:rPr>
                              <m:t>+</m:t>
                            </m:r>
                            <m:r>
                              <a:rPr lang="en-US" i="1" sz="2000">
                                <a:latin typeface="Cambria Math" panose="02040503050406030204" pitchFamily="18" charset="0"/>
                              </a:rPr>
                              <m:t>r</m:t>
                            </m:r>
                            <m:sSup>
                              <m:e>
                                <m:r>
                                  <a:rPr lang="en-US" i="1" sz="2000">
                                    <a:latin typeface="Cambria Math" panose="02040503050406030204" pitchFamily="18" charset="0"/>
                                  </a:rPr>
                                  <m:t>u</m:t>
                                </m:r>
                              </m:e>
                              <m:sup>
                                <m:r>
                                  <a:rPr lang="en-US" i="1" sz="2000">
                                    <a:latin typeface="Cambria Math" panose="02040503050406030204" pitchFamily="18" charset="0"/>
                                  </a:rPr>
                                  <m:t>2</m:t>
                                </m:r>
                              </m:sup>
                            </m:sSup>
                          </m:e>
                        </m:d>
                      </m:e>
                    </m:nary>
                    <m:r>
                      <a:rPr lang="en-US" i="1" sz="2000">
                        <a:latin typeface="Cambria Math" panose="02040503050406030204" pitchFamily="18" charset="0"/>
                      </a:rPr>
                      <m:t>d</m:t>
                    </m:r>
                    <m:r>
                      <a:rPr lang="en-US" i="1" sz="2000">
                        <a:latin typeface="Cambria Math" panose="02040503050406030204" pitchFamily="18" charset="0"/>
                      </a:rPr>
                      <m:t>t</m:t>
                    </m:r>
                  </m:oMath>
                </a14:m>
              </a:p>
              <a:p>
                <a:pPr/>
                <a:r>
                  <a:rPr lang="en-US" dirty="0" sz="2000"/>
                  <a:t xml:space="preserve">Solving the CARE gives closed-form gains for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u</m:t>
                    </m:r>
                    <m:r>
                      <m:rPr>
                        <m:sty m:val="p"/>
                      </m:rPr>
                      <a:rPr lang="en-US" i="0" sz="2000">
                        <a:latin typeface="Cambria Math" panose="02040503050406030204" pitchFamily="18" charset="0"/>
                      </a:rPr>
                      <m:t>=</m:t>
                    </m:r>
                    <m:sSub>
                      <m:e>
                        <m:r>
                          <a:rPr lang="en-US" i="1" sz="2000">
                            <a:latin typeface="Cambria Math" panose="02040503050406030204" pitchFamily="18" charset="0"/>
                          </a:rPr>
                          <m:t>K</m:t>
                        </m:r>
                      </m:e>
                      <m:sub>
                        <m:r>
                          <a:rPr lang="en-US" i="1" sz="2000">
                            <a:latin typeface="Cambria Math" panose="02040503050406030204" pitchFamily="18" charset="0"/>
                          </a:rPr>
                          <m:t>d</m:t>
                        </m:r>
                      </m:sub>
                    </m:sSub>
                    <m:r>
                      <a:rPr lang="en-US" i="1" sz="2000">
                        <a:latin typeface="Cambria Math" panose="02040503050406030204" pitchFamily="18" charset="0"/>
                      </a:rPr>
                      <m:t>d</m:t>
                    </m:r>
                    <m:r>
                      <m:rPr>
                        <m:sty m:val="p"/>
                      </m:rPr>
                      <a:rPr lang="en-US" i="0" sz="2000">
                        <a:latin typeface="Cambria Math" panose="02040503050406030204" pitchFamily="18" charset="0"/>
                      </a:rPr>
                      <m:t>+</m:t>
                    </m:r>
                    <m:sSub>
                      <m:e>
                        <m:r>
                          <a:rPr lang="en-US" i="1" sz="2000">
                            <a:latin typeface="Cambria Math" panose="02040503050406030204" pitchFamily="18" charset="0"/>
                          </a:rPr>
                          <m:t>K</m:t>
                        </m:r>
                      </m:e>
                      <m:sub>
                        <m:r>
                          <a:rPr lang="en-US" i="1" sz="2000">
                            <a:latin typeface="Cambria Math" panose="02040503050406030204" pitchFamily="18" charset="0"/>
                          </a:rPr>
                          <m:t>θ</m:t>
                        </m:r>
                      </m:sub>
                    </m:sSub>
                    <m:r>
                      <a:rPr lang="en-US" i="1" sz="2000">
                        <a:latin typeface="Cambria Math" panose="02040503050406030204" pitchFamily="18" charset="0"/>
                      </a:rPr>
                      <m:t>θ</m:t>
                    </m:r>
                  </m:oMath>
                </a14:m>
                <a:r>
                  <a:rPr lang="en-US" dirty="0" sz="2000"/>
                  <a:t>:</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1800">
                            <a:latin typeface="Cambria Math" panose="02040503050406030204" pitchFamily="18" charset="0"/>
                          </a:rPr>
                          <m:t>K</m:t>
                        </m:r>
                      </m:e>
                      <m:sub>
                        <m:r>
                          <a:rPr lang="en-US" i="1" sz="1800">
                            <a:latin typeface="Cambria Math" panose="02040503050406030204" pitchFamily="18" charset="0"/>
                          </a:rPr>
                          <m:t>d</m:t>
                        </m:r>
                      </m:sub>
                    </m:sSub>
                    <m:r>
                      <m:rPr>
                        <m:sty m:val="p"/>
                      </m:rPr>
                      <a:rPr lang="en-US" i="0" sz="1800">
                        <a:latin typeface="Cambria Math" panose="02040503050406030204" pitchFamily="18" charset="0"/>
                      </a:rPr>
                      <m:t>=</m:t>
                    </m:r>
                    <m:r>
                      <m:rPr>
                        <m:sty m:val="p"/>
                      </m:rPr>
                      <a:rPr lang="en-US" i="0" sz="1800">
                        <a:latin typeface="Cambria Math" panose="02040503050406030204" pitchFamily="18" charset="0"/>
                      </a:rPr>
                      <m:t>−</m:t>
                    </m:r>
                    <m:rad>
                      <m:radPr>
                        <m:degHide m:val="on"/>
                      </m:radPr>
                      <m:deg/>
                      <m:e>
                        <m:sSub>
                          <m:e>
                            <m:r>
                              <a:rPr lang="en-US" i="1" sz="1800">
                                <a:latin typeface="Cambria Math" panose="02040503050406030204" pitchFamily="18" charset="0"/>
                              </a:rPr>
                              <m:t>q</m:t>
                            </m:r>
                          </m:e>
                          <m:sub>
                            <m:r>
                              <a:rPr lang="en-US" i="1" sz="1800">
                                <a:latin typeface="Cambria Math" panose="02040503050406030204" pitchFamily="18" charset="0"/>
                              </a:rPr>
                              <m:t>d</m:t>
                            </m:r>
                          </m:sub>
                        </m:sSub>
                        <m:r>
                          <m:rPr>
                            <m:sty m:val="p"/>
                          </m:rPr>
                          <a:rPr lang="en-US" i="0" sz="1800">
                            <a:latin typeface="Cambria Math" panose="02040503050406030204" pitchFamily="18" charset="0"/>
                          </a:rPr>
                          <m:t>/</m:t>
                        </m:r>
                        <m:r>
                          <a:rPr lang="en-US" i="1" sz="1800">
                            <a:latin typeface="Cambria Math" panose="02040503050406030204" pitchFamily="18" charset="0"/>
                          </a:rPr>
                          <m:t>r</m:t>
                        </m:r>
                      </m:e>
                    </m:rad>
                    <m:r>
                      <m:rPr>
                        <m:sty m:val="p"/>
                      </m:rPr>
                      <a:rPr lang="en-US" i="0" sz="1800">
                        <a:latin typeface="Cambria Math" panose="02040503050406030204" pitchFamily="18" charset="0"/>
                      </a:rPr>
                      <m:t>,</m:t>
                    </m:r>
                    <m:r>
                      <a:rPr lang="en-US" i="1" sz="1800">
                        <a:latin typeface="Cambria Math" panose="02040503050406030204" pitchFamily="18" charset="0"/>
                      </a:rPr>
                      <m:t>  </m:t>
                    </m:r>
                    <m:sSub>
                      <m:e>
                        <m:r>
                          <a:rPr lang="en-US" i="1" sz="1800">
                            <a:latin typeface="Cambria Math" panose="02040503050406030204" pitchFamily="18" charset="0"/>
                          </a:rPr>
                          <m:t>K</m:t>
                        </m:r>
                      </m:e>
                      <m:sub>
                        <m:r>
                          <a:rPr lang="en-US" i="1" sz="1800">
                            <a:latin typeface="Cambria Math" panose="02040503050406030204" pitchFamily="18" charset="0"/>
                          </a:rPr>
                          <m:t>θ</m:t>
                        </m:r>
                      </m:sub>
                    </m:sSub>
                    <m:r>
                      <m:rPr>
                        <m:sty m:val="p"/>
                      </m:rPr>
                      <a:rPr lang="en-US" i="0" sz="1800">
                        <a:latin typeface="Cambria Math" panose="02040503050406030204" pitchFamily="18" charset="0"/>
                      </a:rPr>
                      <m:t>=</m:t>
                    </m:r>
                    <m:r>
                      <m:rPr>
                        <m:sty m:val="p"/>
                      </m:rPr>
                      <a:rPr lang="en-US" i="0" sz="1800">
                        <a:latin typeface="Cambria Math" panose="02040503050406030204" pitchFamily="18" charset="0"/>
                      </a:rPr>
                      <m:t>−</m:t>
                    </m:r>
                    <m:rad>
                      <m:radPr>
                        <m:degHide m:val="on"/>
                      </m:radPr>
                      <m:deg/>
                      <m:e>
                        <m:sSub>
                          <m:e>
                            <m:r>
                              <a:rPr lang="en-US" i="1" sz="1800">
                                <a:latin typeface="Cambria Math" panose="02040503050406030204" pitchFamily="18" charset="0"/>
                              </a:rPr>
                              <m:t>q</m:t>
                            </m:r>
                          </m:e>
                          <m:sub>
                            <m:r>
                              <a:rPr lang="en-US" i="1" sz="1800">
                                <a:latin typeface="Cambria Math" panose="02040503050406030204" pitchFamily="18" charset="0"/>
                              </a:rPr>
                              <m:t>θ</m:t>
                            </m:r>
                          </m:sub>
                        </m:sSub>
                        <m:r>
                          <m:rPr>
                            <m:sty m:val="p"/>
                          </m:rPr>
                          <a:rPr lang="en-US" i="0" sz="1800">
                            <a:latin typeface="Cambria Math" panose="02040503050406030204" pitchFamily="18" charset="0"/>
                          </a:rPr>
                          <m:t>/</m:t>
                        </m:r>
                        <m:r>
                          <a:rPr lang="en-US" i="1" sz="1800">
                            <a:latin typeface="Cambria Math" panose="02040503050406030204" pitchFamily="18" charset="0"/>
                          </a:rPr>
                          <m:t>r</m:t>
                        </m:r>
                        <m:r>
                          <m:rPr>
                            <m:sty m:val="p"/>
                          </m:rPr>
                          <a:rPr lang="en-US" i="0" sz="1800">
                            <a:latin typeface="Cambria Math" panose="02040503050406030204" pitchFamily="18" charset="0"/>
                          </a:rPr>
                          <m:t>+</m:t>
                        </m:r>
                        <m:r>
                          <a:rPr lang="en-US" i="1" sz="1800">
                            <a:latin typeface="Cambria Math" panose="02040503050406030204" pitchFamily="18" charset="0"/>
                          </a:rPr>
                          <m:t>2</m:t>
                        </m:r>
                        <m:sSub>
                          <m:e>
                            <m:r>
                              <a:rPr lang="en-US" i="1" sz="1800">
                                <a:latin typeface="Cambria Math" panose="02040503050406030204" pitchFamily="18" charset="0"/>
                              </a:rPr>
                              <m:t>v</m:t>
                            </m:r>
                          </m:e>
                          <m:sub>
                            <m:r>
                              <a:rPr lang="en-US" i="1" sz="1800">
                                <a:latin typeface="Cambria Math" panose="02040503050406030204" pitchFamily="18" charset="0"/>
                              </a:rPr>
                              <m:t>r</m:t>
                            </m:r>
                          </m:sub>
                        </m:sSub>
                        <m:rad>
                          <m:radPr>
                            <m:degHide m:val="on"/>
                          </m:radPr>
                          <m:deg/>
                          <m:e>
                            <m:sSub>
                              <m:e>
                                <m:r>
                                  <a:rPr lang="en-US" i="1" sz="1800">
                                    <a:latin typeface="Cambria Math" panose="02040503050406030204" pitchFamily="18" charset="0"/>
                                  </a:rPr>
                                  <m:t>q</m:t>
                                </m:r>
                              </m:e>
                              <m:sub>
                                <m:r>
                                  <a:rPr lang="en-US" i="1" sz="1800">
                                    <a:latin typeface="Cambria Math" panose="02040503050406030204" pitchFamily="18" charset="0"/>
                                  </a:rPr>
                                  <m:t>d</m:t>
                                </m:r>
                              </m:sub>
                            </m:sSub>
                            <m:r>
                              <m:rPr>
                                <m:sty m:val="p"/>
                              </m:rPr>
                              <a:rPr lang="en-US" i="0" sz="1800">
                                <a:latin typeface="Cambria Math" panose="02040503050406030204" pitchFamily="18" charset="0"/>
                              </a:rPr>
                              <m:t>/</m:t>
                            </m:r>
                            <m:r>
                              <a:rPr lang="en-US" i="1" sz="1800">
                                <a:latin typeface="Cambria Math" panose="02040503050406030204" pitchFamily="18" charset="0"/>
                              </a:rPr>
                              <m:t>r</m:t>
                            </m:r>
                          </m:e>
                        </m:rad>
                      </m:e>
                    </m:rad>
                  </m:oMath>
                </a14:m>
              </a:p>
              <a:p>
                <a:pPr/>
                <a:r>
                  <a:rPr lang="en-US" dirty="0" sz="2000"/>
                  <a:t xml:space="preserve">Same form as the P controller on slide 12; poles from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p>
                      <m:e>
                        <m:r>
                          <a:rPr lang="en-US" i="1" sz="2000">
                            <a:latin typeface="Cambria Math" panose="02040503050406030204" pitchFamily="18" charset="0"/>
                          </a:rPr>
                          <m:t>λ</m:t>
                        </m:r>
                      </m:e>
                      <m:sup>
                        <m:r>
                          <a:rPr lang="en-US" i="1" sz="2000">
                            <a:latin typeface="Cambria Math" panose="02040503050406030204" pitchFamily="18" charset="0"/>
                          </a:rPr>
                          <m:t>2</m:t>
                        </m:r>
                      </m:sup>
                    </m:sSup>
                    <m:r>
                      <m:rPr>
                        <m:sty m:val="p"/>
                      </m:rPr>
                      <a:rPr lang="en-US" i="0" sz="2000">
                        <a:latin typeface="Cambria Math" panose="02040503050406030204" pitchFamily="18" charset="0"/>
                      </a:rPr>
                      <m:t>−</m:t>
                    </m:r>
                    <m:sSub>
                      <m:e>
                        <m:r>
                          <a:rPr lang="en-US" i="1" sz="2000">
                            <a:latin typeface="Cambria Math" panose="02040503050406030204" pitchFamily="18" charset="0"/>
                          </a:rPr>
                          <m:t>K</m:t>
                        </m:r>
                      </m:e>
                      <m:sub>
                        <m:r>
                          <a:rPr lang="en-US" i="1" sz="2000">
                            <a:latin typeface="Cambria Math" panose="02040503050406030204" pitchFamily="18" charset="0"/>
                          </a:rPr>
                          <m:t>θ</m:t>
                        </m:r>
                      </m:sub>
                    </m:sSub>
                    <m:r>
                      <a:rPr lang="en-US" i="1" sz="2000">
                        <a:latin typeface="Cambria Math" panose="02040503050406030204" pitchFamily="18" charset="0"/>
                      </a:rPr>
                      <m:t>λ</m:t>
                    </m:r>
                    <m:r>
                      <m:rPr>
                        <m:sty m:val="p"/>
                      </m:rPr>
                      <a:rPr lang="en-US" i="0" sz="2000">
                        <a:latin typeface="Cambria Math" panose="02040503050406030204" pitchFamily="18" charset="0"/>
                      </a:rPr>
                      <m:t>−</m:t>
                    </m:r>
                    <m:sSub>
                      <m:e>
                        <m:r>
                          <a:rPr lang="en-US" i="1" sz="2000">
                            <a:latin typeface="Cambria Math" panose="02040503050406030204" pitchFamily="18" charset="0"/>
                          </a:rPr>
                          <m:t>v</m:t>
                        </m:r>
                      </m:e>
                      <m:sub>
                        <m:r>
                          <a:rPr lang="en-US" i="1" sz="2000">
                            <a:latin typeface="Cambria Math" panose="02040503050406030204" pitchFamily="18" charset="0"/>
                          </a:rPr>
                          <m:t>r</m:t>
                        </m:r>
                      </m:sub>
                    </m:sSub>
                    <m:sSub>
                      <m:e>
                        <m:r>
                          <a:rPr lang="en-US" i="1" sz="2000">
                            <a:latin typeface="Cambria Math" panose="02040503050406030204" pitchFamily="18" charset="0"/>
                          </a:rPr>
                          <m:t>K</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r>
                      <a:rPr lang="en-US" i="1" sz="2000">
                        <a:latin typeface="Cambria Math" panose="02040503050406030204" pitchFamily="18" charset="0"/>
                      </a:rPr>
                      <m:t>0</m:t>
                    </m:r>
                  </m:oMath>
                </a14:m>
                <a:r>
                  <a:rPr lang="en-US" dirty="0" sz="2000"/>
                  <a:t xml:space="preserve"> — gains are always negative, so always stable</a:t>
                </a:r>
              </a:p>
              <a:p>
                <a:pPr/>
                <a:r>
                  <a:rPr lang="en-US" dirty="0" sz="2000"/>
                  <a:t xml:space="preserve">Steering command from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u</m:t>
                    </m:r>
                    <m:r>
                      <m:rPr>
                        <m:sty m:val="p"/>
                      </m:rPr>
                      <a:rPr lang="en-US" i="0" sz="2000">
                        <a:latin typeface="Cambria Math" panose="02040503050406030204" pitchFamily="18" charset="0"/>
                      </a:rPr>
                      <m:t>=</m:t>
                    </m:r>
                    <m:acc>
                      <m:accPr>
                        <m:chr m:val="̇"/>
                      </m:accPr>
                      <m:e>
                        <m:r>
                          <a:rPr lang="en-US" i="1" sz="2000">
                            <a:latin typeface="Cambria Math" panose="02040503050406030204" pitchFamily="18" charset="0"/>
                          </a:rPr>
                          <m:t>θ</m:t>
                        </m:r>
                      </m:e>
                    </m:acc>
                    <m:r>
                      <m:rPr>
                        <m:sty m:val="p"/>
                      </m:rPr>
                      <a:rPr lang="en-US" i="0" sz="2000">
                        <a:latin typeface="Cambria Math" panose="02040503050406030204" pitchFamily="18" charset="0"/>
                      </a:rPr>
                      <m:t>=</m:t>
                    </m:r>
                    <m:sSub>
                      <m:e>
                        <m:r>
                          <a:rPr lang="en-US" i="1" sz="2000">
                            <a:latin typeface="Cambria Math" panose="02040503050406030204" pitchFamily="18" charset="0"/>
                          </a:rPr>
                          <m:t>v</m:t>
                        </m:r>
                      </m:e>
                      <m:sub>
                        <m:r>
                          <a:rPr lang="en-US" i="1" sz="2000">
                            <a:latin typeface="Cambria Math" panose="02040503050406030204" pitchFamily="18" charset="0"/>
                          </a:rPr>
                          <m:t>r</m:t>
                        </m:r>
                      </m:sub>
                    </m:sSub>
                    <m:r>
                      <m:rPr>
                        <m:sty m:val="p"/>
                      </m:rPr>
                      <a:rPr lang="en-US" i="0" sz="2000">
                        <a:latin typeface="Cambria Math" panose="02040503050406030204" pitchFamily="18" charset="0"/>
                      </a:rPr>
                      <m:t>tan</m:t>
                    </m:r>
                    <m:r>
                      <a:rPr lang="en-US" i="1" sz="2000">
                        <a:latin typeface="Cambria Math" panose="02040503050406030204" pitchFamily="18" charset="0"/>
                      </a:rPr>
                      <m:t>δ</m:t>
                    </m:r>
                    <m:r>
                      <m:rPr>
                        <m:sty m:val="p"/>
                      </m:rPr>
                      <a:rPr lang="en-US" i="0" sz="2000">
                        <a:latin typeface="Cambria Math" panose="02040503050406030204" pitchFamily="18" charset="0"/>
                      </a:rPr>
                      <m:t>/</m:t>
                    </m:r>
                    <m:r>
                      <a:rPr lang="en-US" i="1" sz="2000">
                        <a:latin typeface="Cambria Math" panose="02040503050406030204" pitchFamily="18" charset="0"/>
                      </a:rPr>
                      <m:t>L</m:t>
                    </m:r>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r>
                      <m:rPr>
                        <m:sty m:val="p"/>
                      </m:rPr>
                      <a:rPr lang="en-US" i="0" sz="2000">
                        <a:latin typeface="Cambria Math" panose="02040503050406030204" pitchFamily="18" charset="0"/>
                      </a:rPr>
                      <m:t>arctan</m:t>
                    </m:r>
                    <m:d>
                      <m:dPr>
                        <m:begChr m:val="("/>
                        <m:endChr m:val=")"/>
                        <m:sepChr m:val=""/>
                        <m:grow/>
                      </m:dPr>
                      <m:e>
                        <m:r>
                          <a:rPr lang="en-US" i="1" sz="2000">
                            <a:latin typeface="Cambria Math" panose="02040503050406030204" pitchFamily="18" charset="0"/>
                          </a:rPr>
                          <m:t>L</m:t>
                        </m:r>
                        <m:r>
                          <a:rPr lang="en-US" i="1" sz="2000">
                            <a:latin typeface="Cambria Math" panose="02040503050406030204" pitchFamily="18" charset="0"/>
                          </a:rPr>
                          <m:t>u</m:t>
                        </m:r>
                        <m:r>
                          <m:rPr>
                            <m:sty m:val="p"/>
                          </m:rPr>
                          <a:rPr lang="en-US" i="0" sz="2000">
                            <a:latin typeface="Cambria Math" panose="02040503050406030204" pitchFamily="18" charset="0"/>
                          </a:rPr>
                          <m:t>/</m:t>
                        </m:r>
                        <m:sSub>
                          <m:e>
                            <m:r>
                              <a:rPr lang="en-US" i="1" sz="2000">
                                <a:latin typeface="Cambria Math" panose="02040503050406030204" pitchFamily="18" charset="0"/>
                              </a:rPr>
                              <m:t>v</m:t>
                            </m:r>
                          </m:e>
                          <m:sub>
                            <m:r>
                              <a:rPr lang="en-US" i="1" sz="2000">
                                <a:latin typeface="Cambria Math" panose="02040503050406030204" pitchFamily="18" charset="0"/>
                              </a:rPr>
                              <m:t>r</m:t>
                            </m:r>
                          </m:sub>
                        </m:sSub>
                      </m:e>
                    </m:d>
                  </m:oMath>
                </a14:m>
              </a:p>
              <a:p>
                <a:pPr/>
                <a:r>
                  <a:rPr lang="en-US" dirty="0" sz="2000"/>
                  <a:t xml:space="preserve">Example: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v</m:t>
                        </m:r>
                      </m:e>
                      <m:sub>
                        <m:r>
                          <a:rPr lang="en-US" i="1" sz="2000">
                            <a:latin typeface="Cambria Math" panose="02040503050406030204" pitchFamily="18" charset="0"/>
                          </a:rPr>
                          <m:t>r</m:t>
                        </m:r>
                      </m:sub>
                    </m:sSub>
                    <m:r>
                      <m:rPr>
                        <m:sty m:val="p"/>
                      </m:rPr>
                      <a:rPr lang="en-US" i="0" sz="2000">
                        <a:latin typeface="Cambria Math" panose="02040503050406030204" pitchFamily="18" charset="0"/>
                      </a:rPr>
                      <m:t>=</m:t>
                    </m:r>
                    <m:r>
                      <a:rPr lang="en-US" i="1" sz="2000">
                        <a:latin typeface="Cambria Math" panose="02040503050406030204" pitchFamily="18" charset="0"/>
                      </a:rPr>
                      <m:t>10</m:t>
                    </m:r>
                  </m:oMath>
                </a14:m>
                <a:r>
                  <a:rPr lang="en-US" dirty="0" sz="2000"/>
                  <a:t xml:space="preserve"> m/s,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q</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sSub>
                      <m:e>
                        <m:r>
                          <a:rPr lang="en-US" i="1" sz="2000">
                            <a:latin typeface="Cambria Math" panose="02040503050406030204" pitchFamily="18" charset="0"/>
                          </a:rPr>
                          <m:t>q</m:t>
                        </m:r>
                      </m:e>
                      <m:sub>
                        <m:r>
                          <a:rPr lang="en-US" i="1" sz="2000">
                            <a:latin typeface="Cambria Math" panose="02040503050406030204" pitchFamily="18" charset="0"/>
                          </a:rPr>
                          <m:t>θ</m:t>
                        </m:r>
                      </m:sub>
                    </m:sSub>
                    <m:r>
                      <m:rPr>
                        <m:sty m:val="p"/>
                      </m:rPr>
                      <a:rPr lang="en-US" i="0" sz="2000">
                        <a:latin typeface="Cambria Math" panose="02040503050406030204" pitchFamily="18" charset="0"/>
                      </a:rPr>
                      <m:t>=</m:t>
                    </m:r>
                    <m:r>
                      <a:rPr lang="en-US" i="1" sz="2000">
                        <a:latin typeface="Cambria Math" panose="02040503050406030204" pitchFamily="18" charset="0"/>
                      </a:rPr>
                      <m:t>r</m:t>
                    </m:r>
                    <m:r>
                      <m:rPr>
                        <m:sty m:val="p"/>
                      </m:rPr>
                      <a:rPr lang="en-US" i="0" sz="2000">
                        <a:latin typeface="Cambria Math" panose="02040503050406030204" pitchFamily="18" charset="0"/>
                      </a:rPr>
                      <m:t>=</m:t>
                    </m:r>
                    <m:r>
                      <a:rPr lang="en-US" i="1" sz="2000">
                        <a:latin typeface="Cambria Math" panose="02040503050406030204" pitchFamily="18" charset="0"/>
                      </a:rPr>
                      <m:t>1</m:t>
                    </m:r>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K</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
                      <a:rPr lang="en-US" i="1" sz="2000">
                        <a:latin typeface="Cambria Math" panose="02040503050406030204" pitchFamily="18" charset="0"/>
                      </a:rPr>
                      <m:t>1</m:t>
                    </m:r>
                    <m:r>
                      <m:rPr>
                        <m:sty m:val="p"/>
                      </m:rPr>
                      <a:rPr lang="en-US" i="0" sz="2000">
                        <a:latin typeface="Cambria Math" panose="02040503050406030204" pitchFamily="18" charset="0"/>
                      </a:rPr>
                      <m:t>,</m:t>
                    </m:r>
                    <m:r>
                      <a:rPr lang="en-US" i="1" sz="2000">
                        <a:latin typeface="Cambria Math" panose="02040503050406030204" pitchFamily="18" charset="0"/>
                      </a:rPr>
                      <m:t> </m:t>
                    </m:r>
                    <m:sSub>
                      <m:e>
                        <m:r>
                          <a:rPr lang="en-US" i="1" sz="2000">
                            <a:latin typeface="Cambria Math" panose="02040503050406030204" pitchFamily="18" charset="0"/>
                          </a:rPr>
                          <m:t>K</m:t>
                        </m:r>
                      </m:e>
                      <m:sub>
                        <m:r>
                          <a:rPr lang="en-US" i="1" sz="2000">
                            <a:latin typeface="Cambria Math" panose="02040503050406030204" pitchFamily="18" charset="0"/>
                          </a:rPr>
                          <m:t>θ</m:t>
                        </m:r>
                      </m:sub>
                    </m:sSub>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ad>
                      <m:radPr>
                        <m:degHide m:val="on"/>
                      </m:radPr>
                      <m:deg/>
                      <m:e>
                        <m:r>
                          <a:rPr lang="en-US" i="1" sz="2000">
                            <a:latin typeface="Cambria Math" panose="02040503050406030204" pitchFamily="18" charset="0"/>
                          </a:rPr>
                          <m:t>21</m:t>
                        </m:r>
                      </m:e>
                    </m:rad>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
                      <a:rPr lang="en-US" i="1" sz="2000">
                        <a:latin typeface="Cambria Math" panose="02040503050406030204" pitchFamily="18" charset="0"/>
                      </a:rPr>
                      <m:t>4.58</m:t>
                    </m:r>
                  </m:oMath>
                </a14:m>
                <a:r>
                  <a:rPr lang="en-US" dirty="0" sz="2000"/>
                  <a:t xml:space="preserve">; poles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m:rPr>
                        <m:sty m:val="p"/>
                      </m:rPr>
                      <a:rPr lang="en-US" i="0" sz="2000">
                        <a:latin typeface="Cambria Math" panose="02040503050406030204" pitchFamily="18" charset="0"/>
                      </a:rPr>
                      <m:t>−</m:t>
                    </m:r>
                    <m:r>
                      <a:rPr lang="en-US" i="1" sz="2000">
                        <a:latin typeface="Cambria Math" panose="02040503050406030204" pitchFamily="18" charset="0"/>
                      </a:rPr>
                      <m:t>2.29</m:t>
                    </m:r>
                    <m:r>
                      <m:rPr>
                        <m:sty m:val="p"/>
                      </m:rPr>
                      <a:rPr lang="en-US" i="0" sz="2000">
                        <a:latin typeface="Cambria Math" panose="02040503050406030204" pitchFamily="18" charset="0"/>
                      </a:rPr>
                      <m:t>±</m:t>
                    </m:r>
                    <m:r>
                      <a:rPr lang="en-US" i="1" sz="2000">
                        <a:latin typeface="Cambria Math" panose="02040503050406030204" pitchFamily="18" charset="0"/>
                      </a:rPr>
                      <m:t>2.18</m:t>
                    </m:r>
                    <m:r>
                      <a:rPr lang="en-US" i="1" sz="2000">
                        <a:latin typeface="Cambria Math" panose="02040503050406030204" pitchFamily="18" charset="0"/>
                      </a:rPr>
                      <m:t>j</m:t>
                    </m:r>
                  </m:oMath>
                </a14:m>
              </a:p>
            </p:txBody>
          </p:sp>
        </mc:Choice>
        <mc:Fallback>
          <p:sp>
            <p:nvSpPr>
              <p:cNvPr id="3" name="Content Placeholder 2"/>
              <p:cNvSpPr>
                <a:spLocks noGrp="1"/>
              </p:cNvSpPr>
              <p:nvPr>
                <p:ph idx="1"/>
              </p:nvPr>
            </p:nvSpPr>
            <p:spPr>
              <a:xfrm>
                <a:off x="621792" y="1188720"/>
                <a:ext cx="6903720" cy="5394960"/>
              </a:xfrm>
            </p:spPr>
            <p:txBody>
              <a:bodyPr>
                <a:normAutofit/>
              </a:bodyPr>
              <a:lstStyle/>
              <a:p>
                <a:pPr/>
                <a:r>
                  <a:rPr lang="en-US" dirty="0" sz="2000"/>
                  <a:t xml:space="preserve">Lateral model (slides 11–12): state </a:t>
                </a:r>
                <a:r>
                  <a:rPr lang="en-US" dirty="0" sz="2000"/>
                  <a:t>x = [d, θ]ᵀ</a:t>
                </a:r>
                <a:r>
                  <a:rPr lang="en-US" dirty="0" sz="2000"/>
                  <a:t xml:space="preserve">, control </a:t>
                </a:r>
                <a:r>
                  <a:rPr lang="en-US" dirty="0" sz="2000"/>
                  <a:t>u = θ̇</a:t>
                </a:r>
              </a:p>
              <a:p>
                <a:pPr lvl="1" marL="457200" indent="0">
                  <a:buNone/>
                </a:pPr>
                <a:r>
                  <a:rPr lang="en-US" dirty="0" sz="1800"/>
                  <a:t>ẋ = [0 v_r; 0 0] x + [0; 1] u</a:t>
                </a:r>
              </a:p>
              <a:p>
                <a:pPr/>
                <a:r>
                  <a:rPr lang="en-US" dirty="0" sz="2000"/>
                  <a:t xml:space="preserve">Cost with </a:t>
                </a:r>
                <a:r>
                  <a:rPr lang="en-US" dirty="0" sz="2000"/>
                  <a:t>Q = diag(q_d, q_θ), R = r</a:t>
                </a:r>
                <a:r>
                  <a:rPr lang="en-US" dirty="0" sz="2000"/>
                  <a:t xml:space="preserve">: </a:t>
                </a:r>
                <a:r>
                  <a:rPr lang="en-US" dirty="0" sz="2000"/>
                  <a:t>J = ∫ (q_d d² + q_θ θ² + r u²) dt</a:t>
                </a:r>
              </a:p>
              <a:p>
                <a:pPr/>
                <a:r>
                  <a:rPr lang="en-US" dirty="0" sz="2000"/>
                  <a:t xml:space="preserve">Solving the CARE gives closed-form gains for </a:t>
                </a:r>
                <a:r>
                  <a:rPr lang="en-US" dirty="0" sz="2000"/>
                  <a:t>u = K_d d + K_θ θ</a:t>
                </a:r>
                <a:r>
                  <a:rPr lang="en-US" dirty="0" sz="2000"/>
                  <a:t>:</a:t>
                </a:r>
              </a:p>
              <a:p>
                <a:pPr lvl="1" marL="457200" indent="0">
                  <a:buNone/>
                </a:pPr>
                <a:r>
                  <a:rPr lang="en-US" dirty="0" sz="1800"/>
                  <a:t>K_d = −√(q_d/r),   K_θ = −√(q_θ/r + 2 v_r √(q_d/r))</a:t>
                </a:r>
              </a:p>
              <a:p>
                <a:pPr/>
                <a:r>
                  <a:rPr lang="en-US" dirty="0" sz="2000"/>
                  <a:t xml:space="preserve">Same form as the P controller on slide 12; poles from </a:t>
                </a:r>
                <a:r>
                  <a:rPr lang="en-US" dirty="0" sz="2000"/>
                  <a:t>λ² − K_θ λ − v_r K_d = 0</a:t>
                </a:r>
                <a:r>
                  <a:rPr lang="en-US" dirty="0" sz="2000"/>
                  <a:t xml:space="preserve"> — gains are always negative, so always stable</a:t>
                </a:r>
              </a:p>
              <a:p>
                <a:pPr/>
                <a:r>
                  <a:rPr lang="en-US" dirty="0" sz="2000"/>
                  <a:t xml:space="preserve">Steering command from </a:t>
                </a:r>
                <a:r>
                  <a:rPr lang="en-US" dirty="0" sz="2000"/>
                  <a:t>u = θ̇ = v_r tan δ / L</a:t>
                </a:r>
                <a:r>
                  <a:rPr lang="en-US" dirty="0" sz="2000"/>
                  <a:t xml:space="preserve">: </a:t>
                </a:r>
                <a:r>
                  <a:rPr lang="en-US" dirty="0" sz="2000"/>
                  <a:t>δ = arctan(L u / v_r)</a:t>
                </a:r>
              </a:p>
              <a:p>
                <a:pPr/>
                <a:r>
                  <a:rPr lang="en-US" dirty="0" sz="2000"/>
                  <a:t xml:space="preserve">Example: </a:t>
                </a:r>
                <a:r>
                  <a:rPr lang="en-US" dirty="0" sz="2000"/>
                  <a:t>v_r = 10</a:t>
                </a:r>
                <a:r>
                  <a:rPr lang="en-US" dirty="0" sz="2000"/>
                  <a:t xml:space="preserve"> m/s, </a:t>
                </a:r>
                <a:r>
                  <a:rPr lang="en-US" dirty="0" sz="2000"/>
                  <a:t>q_d = q_θ = r = 1</a:t>
                </a:r>
                <a:r>
                  <a:rPr lang="en-US" dirty="0" sz="2000"/>
                  <a:t xml:space="preserve">: </a:t>
                </a:r>
                <a:r>
                  <a:rPr lang="en-US" dirty="0" sz="2000"/>
                  <a:t>K_d = −1, K_θ = −√21 ≈ −4.58</a:t>
                </a:r>
                <a:r>
                  <a:rPr lang="en-US" dirty="0" sz="2000"/>
                  <a:t xml:space="preserve">; poles </a:t>
                </a:r>
                <a:r>
                  <a:rPr lang="en-US" dirty="0" sz="2000"/>
                  <a:t>−2.29 ± 2.18 j</a:t>
                </a:r>
              </a:p>
            </p:txBody>
          </p:sp>
        </mc:Fallback>
      </mc:AlternateContent>
      <p:pic>
        <p:nvPicPr>
          <p:cNvPr id="4" name="Picture 3" descr="LQR step responses for different q_d"/>
          <p:cNvPicPr>
            <a:picLocks noChangeAspect="1"/>
          </p:cNvPicPr>
          <p:nvPr/>
        </p:nvPicPr>
        <p:blipFill>
          <a:blip r:embed="rId3"/>
          <a:stretch>
            <a:fillRect/>
          </a:stretch>
        </p:blipFill>
        <p:spPr>
          <a:xfrm>
            <a:off x="7680960" y="1234440"/>
            <a:ext cx="4251960" cy="3566826"/>
          </a:xfrm>
          <a:prstGeom prst="rect">
            <a:avLst/>
          </a:prstGeom>
        </p:spPr>
      </p:pic>
      <p:sp>
        <p:nvSpPr>
          <p:cNvPr id="5"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LQR: Tuning and Trade-offs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720840" cy="5349240"/>
              </a:xfrm>
            </p:spPr>
            <p:txBody>
              <a:bodyPr>
                <a:normAutofit/>
              </a:bodyPr>
              <a:lstStyle/>
              <a:p>
                <a:pPr/>
                <a:r>
                  <a:rPr lang="en-US" dirty="0" sz="2000" b="1"/>
                  <a:t xml:space="preserve">Choosing </a:t>
                </a:r>
                <a:r>
                  <a:rPr lang="en-US" dirty="0" sz="2000" b="1"/>
                  <a:t>Q, R</a:t>
                </a:r>
                <a:r>
                  <a:rPr lang="en-US" dirty="0" sz="2000"/>
                  <a:t xml:space="preserve"> (Bryson’s rule):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Q</m:t>
                        </m:r>
                      </m:e>
                      <m:sub>
                        <m:r>
                          <a:rPr lang="en-US" i="1" sz="2000">
                            <a:latin typeface="Cambria Math" panose="02040503050406030204" pitchFamily="18" charset="0"/>
                          </a:rPr>
                          <m:t>i</m:t>
                        </m:r>
                        <m:r>
                          <a:rPr lang="en-US" i="1" sz="2000">
                            <a:latin typeface="Cambria Math" panose="02040503050406030204" pitchFamily="18" charset="0"/>
                          </a:rPr>
                          <m:t>i</m:t>
                        </m:r>
                      </m:sub>
                    </m:sSub>
                    <m:r>
                      <m:rPr>
                        <m:sty m:val="p"/>
                      </m:rPr>
                      <a:rPr lang="en-US" i="0" sz="2000">
                        <a:latin typeface="Cambria Math" panose="02040503050406030204" pitchFamily="18" charset="0"/>
                      </a:rPr>
                      <m:t>=</m:t>
                    </m:r>
                    <m:r>
                      <a:rPr lang="en-US" i="1" sz="2000">
                        <a:latin typeface="Cambria Math" panose="02040503050406030204" pitchFamily="18" charset="0"/>
                      </a:rPr>
                      <m:t>1</m:t>
                    </m:r>
                    <m:r>
                      <m:rPr>
                        <m:sty m:val="p"/>
                      </m:rPr>
                      <a:rPr lang="en-US" i="0" sz="2000">
                        <a:latin typeface="Cambria Math" panose="02040503050406030204" pitchFamily="18" charset="0"/>
                      </a:rPr>
                      <m:t>/</m:t>
                    </m:r>
                    <m:sSup>
                      <m:e>
                        <m:d>
                          <m:dPr>
                            <m:begChr m:val="("/>
                            <m:endChr m:val=")"/>
                            <m:sepChr m:val=""/>
                            <m:grow/>
                          </m:dPr>
                          <m:e>
                            <m:sSub>
                              <m:e>
                                <m:r>
                                  <a:rPr lang="en-US" i="1" sz="2000">
                                    <a:latin typeface="Cambria Math" panose="02040503050406030204" pitchFamily="18" charset="0"/>
                                  </a:rPr>
                                  <m:t>x</m:t>
                                </m:r>
                              </m:e>
                              <m:sub>
                                <m:r>
                                  <a:rPr lang="en-US" i="1" sz="2000">
                                    <a:latin typeface="Cambria Math" panose="02040503050406030204" pitchFamily="18" charset="0"/>
                                  </a:rPr>
                                  <m:t>i</m:t>
                                </m:r>
                                <m:r>
                                  <m:rPr>
                                    <m:sty m:val="p"/>
                                  </m:rPr>
                                  <a:rPr lang="en-US" i="0" sz="2000">
                                    <a:latin typeface="Cambria Math" panose="02040503050406030204" pitchFamily="18" charset="0"/>
                                  </a:rPr>
                                  <m:t>,</m:t>
                                </m:r>
                                <m:r>
                                  <m:rPr>
                                    <m:sty m:val="p"/>
                                  </m:rPr>
                                  <a:rPr lang="en-US" i="0" sz="2000">
                                    <a:latin typeface="Cambria Math" panose="02040503050406030204" pitchFamily="18" charset="0"/>
                                  </a:rPr>
                                  <m:t>max</m:t>
                                </m:r>
                              </m:sub>
                            </m:sSub>
                          </m:e>
                        </m:d>
                      </m:e>
                      <m:sup>
                        <m:r>
                          <a:rPr lang="en-US" i="1" sz="2000">
                            <a:latin typeface="Cambria Math" panose="02040503050406030204" pitchFamily="18" charset="0"/>
                          </a:rPr>
                          <m:t>2</m:t>
                        </m:r>
                      </m:sup>
                    </m:sSup>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R</m:t>
                        </m:r>
                      </m:e>
                      <m:sub>
                        <m:r>
                          <a:rPr lang="en-US" i="1" sz="2000">
                            <a:latin typeface="Cambria Math" panose="02040503050406030204" pitchFamily="18" charset="0"/>
                          </a:rPr>
                          <m:t>j</m:t>
                        </m:r>
                        <m:r>
                          <a:rPr lang="en-US" i="1" sz="2000">
                            <a:latin typeface="Cambria Math" panose="02040503050406030204" pitchFamily="18" charset="0"/>
                          </a:rPr>
                          <m:t>j</m:t>
                        </m:r>
                      </m:sub>
                    </m:sSub>
                    <m:r>
                      <m:rPr>
                        <m:sty m:val="p"/>
                      </m:rPr>
                      <a:rPr lang="en-US" i="0" sz="2000">
                        <a:latin typeface="Cambria Math" panose="02040503050406030204" pitchFamily="18" charset="0"/>
                      </a:rPr>
                      <m:t>=</m:t>
                    </m:r>
                    <m:r>
                      <a:rPr lang="en-US" i="1" sz="2000">
                        <a:latin typeface="Cambria Math" panose="02040503050406030204" pitchFamily="18" charset="0"/>
                      </a:rPr>
                      <m:t>1</m:t>
                    </m:r>
                    <m:r>
                      <m:rPr>
                        <m:sty m:val="p"/>
                      </m:rPr>
                      <a:rPr lang="en-US" i="0" sz="2000">
                        <a:latin typeface="Cambria Math" panose="02040503050406030204" pitchFamily="18" charset="0"/>
                      </a:rPr>
                      <m:t>/</m:t>
                    </m:r>
                    <m:sSup>
                      <m:e>
                        <m:d>
                          <m:dPr>
                            <m:begChr m:val="("/>
                            <m:endChr m:val=")"/>
                            <m:sepChr m:val=""/>
                            <m:grow/>
                          </m:dPr>
                          <m:e>
                            <m:sSub>
                              <m:e>
                                <m:r>
                                  <a:rPr lang="en-US" i="1" sz="2000">
                                    <a:latin typeface="Cambria Math" panose="02040503050406030204" pitchFamily="18" charset="0"/>
                                  </a:rPr>
                                  <m:t>u</m:t>
                                </m:r>
                              </m:e>
                              <m:sub>
                                <m:r>
                                  <a:rPr lang="en-US" i="1" sz="2000">
                                    <a:latin typeface="Cambria Math" panose="02040503050406030204" pitchFamily="18" charset="0"/>
                                  </a:rPr>
                                  <m:t>j</m:t>
                                </m:r>
                                <m:r>
                                  <m:rPr>
                                    <m:sty m:val="p"/>
                                  </m:rPr>
                                  <a:rPr lang="en-US" i="0" sz="2000">
                                    <a:latin typeface="Cambria Math" panose="02040503050406030204" pitchFamily="18" charset="0"/>
                                  </a:rPr>
                                  <m:t>,</m:t>
                                </m:r>
                                <m:r>
                                  <m:rPr>
                                    <m:sty m:val="p"/>
                                  </m:rPr>
                                  <a:rPr lang="en-US" i="0" sz="2000">
                                    <a:latin typeface="Cambria Math" panose="02040503050406030204" pitchFamily="18" charset="0"/>
                                  </a:rPr>
                                  <m:t>max</m:t>
                                </m:r>
                              </m:sub>
                            </m:sSub>
                          </m:e>
                        </m:d>
                      </m:e>
                      <m:sup>
                        <m:r>
                          <a:rPr lang="en-US" i="1" sz="2000">
                            <a:latin typeface="Cambria Math" panose="02040503050406030204" pitchFamily="18" charset="0"/>
                          </a:rPr>
                          <m:t>2</m:t>
                        </m:r>
                      </m:sup>
                    </m:sSup>
                  </m:oMath>
                </a14:m>
                <a:r>
                  <a:rPr lang="en-US" dirty="0" sz="2000"/>
                  <a:t>; then tune in simulation</a:t>
                </a:r>
              </a:p>
              <a:p>
                <a:pPr/>
                <a:r>
                  <a:rPr lang="en-US" dirty="0" sz="2000" b="1"/>
                  <a:t xml:space="preserve">vs. pole placement: </a:t>
                </a:r>
                <a:r>
                  <a:rPr lang="en-US" dirty="0" sz="2000"/>
                  <a:t xml:space="preserve">LQR picks the poles that minimize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J</m:t>
                    </m:r>
                  </m:oMath>
                </a14:m>
                <a:r>
                  <a:rPr lang="en-US" dirty="0" sz="2000"/>
                  <a:t>; stable and robust (full-state feedback: ≥ 60° phase margin)</a:t>
                </a:r>
              </a:p>
              <a:p>
                <a:pPr/>
                <a:r>
                  <a:rPr lang="en-US" dirty="0" sz="2000" b="1"/>
                  <a:t xml:space="preserve">vs. MPC: </a:t>
                </a:r>
                <a:r>
                  <a:rPr lang="en-US" dirty="0" sz="2000"/>
                  <a:t xml:space="preserve">LQR = unconstrained infinite-horizon MPC; constraints (steering angle/rate) are handled only by clipping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u</m:t>
                    </m:r>
                  </m:oMath>
                </a14:m>
              </a:p>
              <a:p>
                <a:pPr/>
                <a:r>
                  <a:rPr lang="en-US" dirty="0" sz="2000" b="1"/>
                  <a:t xml:space="preserve">In practice: </a:t>
                </a:r>
                <a:r>
                  <a:rPr lang="en-US" dirty="0" sz="2000"/>
                  <a:t xml:space="preserve">schedule gains with speed,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K</m:t>
                    </m:r>
                    <m:r>
                      <m:rPr>
                        <m:sty m:val="p"/>
                      </m:rPr>
                      <a:rPr lang="en-US" i="0" sz="2000">
                        <a:latin typeface="Cambria Math" panose="02040503050406030204" pitchFamily="18" charset="0"/>
                      </a:rPr>
                      <m:t>=</m:t>
                    </m:r>
                    <m:r>
                      <a:rPr lang="en-US" i="1" sz="2000">
                        <a:latin typeface="Cambria Math" panose="02040503050406030204" pitchFamily="18" charset="0"/>
                      </a:rPr>
                      <m:t>K</m:t>
                    </m:r>
                    <m:d>
                      <m:dPr>
                        <m:begChr m:val="("/>
                        <m:endChr m:val=")"/>
                        <m:sepChr m:val=""/>
                        <m:grow/>
                      </m:dPr>
                      <m:e>
                        <m:sSub>
                          <m:e>
                            <m:r>
                              <a:rPr lang="en-US" i="1" sz="2000">
                                <a:latin typeface="Cambria Math" panose="02040503050406030204" pitchFamily="18" charset="0"/>
                              </a:rPr>
                              <m:t>v</m:t>
                            </m:r>
                          </m:e>
                          <m:sub>
                            <m:r>
                              <a:rPr lang="en-US" i="1" sz="2000">
                                <a:latin typeface="Cambria Math" panose="02040503050406030204" pitchFamily="18" charset="0"/>
                              </a:rPr>
                              <m:t>r</m:t>
                            </m:r>
                          </m:sub>
                        </m:sSub>
                      </m:e>
                    </m:d>
                  </m:oMath>
                </a14:m>
                <a:r>
                  <a:rPr lang="en-US" dirty="0" sz="2000"/>
                  <a:t xml:space="preserve">; add curvature feedforward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u</m:t>
                        </m:r>
                      </m:e>
                      <m:sub>
                        <m:r>
                          <a:rPr lang="en-US" i="1" sz="2000">
                            <a:latin typeface="Cambria Math" panose="02040503050406030204" pitchFamily="18" charset="0"/>
                          </a:rPr>
                          <m:t>f</m:t>
                        </m:r>
                        <m:r>
                          <a:rPr lang="en-US" i="1" sz="2000">
                            <a:latin typeface="Cambria Math" panose="02040503050406030204" pitchFamily="18" charset="0"/>
                          </a:rPr>
                          <m:t>f</m:t>
                        </m:r>
                      </m:sub>
                    </m:sSub>
                    <m:r>
                      <m:rPr>
                        <m:sty m:val="p"/>
                      </m:rPr>
                      <a:rPr lang="en-US" i="0" sz="2000">
                        <a:latin typeface="Cambria Math" panose="02040503050406030204" pitchFamily="18" charset="0"/>
                      </a:rPr>
                      <m:t>=</m:t>
                    </m:r>
                    <m:sSub>
                      <m:e>
                        <m:r>
                          <a:rPr lang="en-US" i="1" sz="2000">
                            <a:latin typeface="Cambria Math" panose="02040503050406030204" pitchFamily="18" charset="0"/>
                          </a:rPr>
                          <m:t>v</m:t>
                        </m:r>
                      </m:e>
                      <m:sub>
                        <m:r>
                          <a:rPr lang="en-US" i="1" sz="2000">
                            <a:latin typeface="Cambria Math" panose="02040503050406030204" pitchFamily="18" charset="0"/>
                          </a:rPr>
                          <m:t>r</m:t>
                        </m:r>
                      </m:sub>
                    </m:sSub>
                    <m:r>
                      <a:rPr lang="en-US" i="1" sz="2000">
                        <a:latin typeface="Cambria Math" panose="02040503050406030204" pitchFamily="18" charset="0"/>
                      </a:rPr>
                      <m:t>κ</m:t>
                    </m:r>
                  </m:oMath>
                </a14:m>
              </a:p>
              <a:p>
                <a:pPr/>
                <a:r>
                  <a:rPr lang="en-US" dirty="0" sz="2000" b="1"/>
                  <a:t xml:space="preserve">Used in AD: </a:t>
                </a:r>
                <a:r>
                  <a:rPr lang="en-US" dirty="0" sz="2000"/>
                  <a:t>Apollo’s lateral controller is LQR-based, with 4 states (lateral error, its rate, heading error, its rate)</a:t>
                </a:r>
              </a:p>
            </p:txBody>
          </p:sp>
        </mc:Choice>
        <mc:Fallback>
          <p:sp>
            <p:nvSpPr>
              <p:cNvPr id="3" name="Content Placeholder 2"/>
              <p:cNvSpPr>
                <a:spLocks noGrp="1"/>
              </p:cNvSpPr>
              <p:nvPr>
                <p:ph idx="1"/>
              </p:nvPr>
            </p:nvSpPr>
            <p:spPr>
              <a:xfrm>
                <a:off x="621792" y="1188720"/>
                <a:ext cx="6720840" cy="5349240"/>
              </a:xfrm>
            </p:spPr>
            <p:txBody>
              <a:bodyPr>
                <a:normAutofit/>
              </a:bodyPr>
              <a:lstStyle/>
              <a:p>
                <a:pPr/>
                <a:r>
                  <a:rPr lang="en-US" dirty="0" sz="2000" b="1"/>
                  <a:t xml:space="preserve">Choosing </a:t>
                </a:r>
                <a:r>
                  <a:rPr lang="en-US" dirty="0" sz="2000" b="1"/>
                  <a:t>Q, R</a:t>
                </a:r>
                <a:r>
                  <a:rPr lang="en-US" dirty="0" sz="2000"/>
                  <a:t xml:space="preserve"> (Bryson’s rule): </a:t>
                </a:r>
                <a:r>
                  <a:rPr lang="en-US" dirty="0" sz="2000"/>
                  <a:t>Q_ii = 1/(x_i,max)²</a:t>
                </a:r>
                <a:r>
                  <a:rPr lang="en-US" dirty="0" sz="2000"/>
                  <a:t xml:space="preserve">, </a:t>
                </a:r>
                <a:r>
                  <a:rPr lang="en-US" dirty="0" sz="2000"/>
                  <a:t>R_jj = 1/(u_j,max)²</a:t>
                </a:r>
                <a:r>
                  <a:rPr lang="en-US" dirty="0" sz="2000"/>
                  <a:t>; then tune in simulation</a:t>
                </a:r>
              </a:p>
              <a:p>
                <a:pPr/>
                <a:r>
                  <a:rPr lang="en-US" dirty="0" sz="2000" b="1"/>
                  <a:t xml:space="preserve">vs. pole placement: </a:t>
                </a:r>
                <a:r>
                  <a:rPr lang="en-US" dirty="0" sz="2000"/>
                  <a:t xml:space="preserve">LQR picks the poles that minimize </a:t>
                </a:r>
                <a:r>
                  <a:rPr lang="en-US" dirty="0" sz="2000"/>
                  <a:t>J</a:t>
                </a:r>
                <a:r>
                  <a:rPr lang="en-US" dirty="0" sz="2000"/>
                  <a:t>; stable and robust (full-state feedback: ≥ 60° phase margin)</a:t>
                </a:r>
              </a:p>
              <a:p>
                <a:pPr/>
                <a:r>
                  <a:rPr lang="en-US" dirty="0" sz="2000" b="1"/>
                  <a:t xml:space="preserve">vs. MPC: </a:t>
                </a:r>
                <a:r>
                  <a:rPr lang="en-US" dirty="0" sz="2000"/>
                  <a:t xml:space="preserve">LQR = unconstrained infinite-horizon MPC; constraints (steering angle/rate) are handled only by clipping </a:t>
                </a:r>
                <a:r>
                  <a:rPr lang="en-US" dirty="0" sz="2000"/>
                  <a:t>u</a:t>
                </a:r>
              </a:p>
              <a:p>
                <a:pPr/>
                <a:r>
                  <a:rPr lang="en-US" dirty="0" sz="2000" b="1"/>
                  <a:t xml:space="preserve">In practice: </a:t>
                </a:r>
                <a:r>
                  <a:rPr lang="en-US" dirty="0" sz="2000"/>
                  <a:t xml:space="preserve">schedule gains with speed, </a:t>
                </a:r>
                <a:r>
                  <a:rPr lang="en-US" dirty="0" sz="2000"/>
                  <a:t>K = K(v_r)</a:t>
                </a:r>
                <a:r>
                  <a:rPr lang="en-US" dirty="0" sz="2000"/>
                  <a:t xml:space="preserve">; add curvature feedforward </a:t>
                </a:r>
                <a:r>
                  <a:rPr lang="en-US" dirty="0" sz="2000"/>
                  <a:t>u_ff = v_r κ</a:t>
                </a:r>
              </a:p>
              <a:p>
                <a:pPr/>
                <a:r>
                  <a:rPr lang="en-US" dirty="0" sz="2000" b="1"/>
                  <a:t xml:space="preserve">Used in AD: </a:t>
                </a:r>
                <a:r>
                  <a:rPr lang="en-US" dirty="0" sz="2000"/>
                  <a:t>Apollo’s lateral controller is LQR-based, with 4 states (lateral error, its rate, heading error, its rate)</a:t>
                </a:r>
              </a:p>
            </p:txBody>
          </p:sp>
        </mc:Fallback>
      </mc:AlternateContent>
      <p:graphicFrame>
        <p:nvGraphicFramePr>
          <p:cNvPr id="4" name="Table 3"/>
          <p:cNvGraphicFramePr>
            <a:graphicFrameLocks noGrp="1"/>
          </p:cNvGraphicFramePr>
          <p:nvPr/>
        </p:nvGraphicFramePr>
        <p:xfrm>
          <a:off x="7589520" y="1371600"/>
          <a:ext cx="4343400" cy="2240280"/>
        </p:xfrm>
        <a:graphic>
          <a:graphicData uri="http://schemas.openxmlformats.org/drawingml/2006/table">
            <a:tbl>
              <a:tblPr firstRow="0" bandRow="0">
                <a:tableStyleId>{5940675A-B579-460E-94D1-54222C63F5DA}</a:tableStyleId>
              </a:tblPr>
              <a:tblGrid>
                <a:gridCol w="1254760"/>
                <a:gridCol w="3088640"/>
              </a:tblGrid>
              <a:tr h="411480">
                <a:tc>
                  <a:txBody>
                    <a:bodyPr wrap="square"/>
                    <a:lstStyle/>
                    <a:p>
                      <a:r>
                        <a:rPr sz="1500" b="1">
                          <a:solidFill>
                            <a:srgbClr val="000000"/>
                          </a:solidFill>
                        </a:rPr>
                        <a:t>Change</a:t>
                      </a:r>
                    </a:p>
                  </a:txBody>
                  <a:tcPr marL="64008" marR="64008" marT="36576" marB="36576">
                    <a:solidFill>
                      <a:srgbClr val="DEEBF7"/>
                    </a:solidFill>
                  </a:tcPr>
                </a:tc>
                <a:tc>
                  <a:txBody>
                    <a:bodyPr wrap="square"/>
                    <a:lstStyle/>
                    <a:p>
                      <a:r>
                        <a:rPr sz="1500" b="1">
                          <a:solidFill>
                            <a:srgbClr val="000000"/>
                          </a:solidFill>
                        </a:rPr>
                        <a:t>Effect</a:t>
                      </a:r>
                    </a:p>
                  </a:txBody>
                  <a:tcPr marL="64008" marR="64008" marT="36576" marB="36576">
                    <a:solidFill>
                      <a:srgbClr val="DEEBF7"/>
                    </a:solidFill>
                  </a:tcPr>
                </a:tc>
              </a:tr>
              <a:tr h="914400">
                <a:tc>
                  <a:txBody>
                    <a:bodyPr wrap="square"/>
                    <a:lstStyle/>
                    <a:p>
                      <a:r>
                        <a:rPr sz="1500" b="1">
                          <a:solidFill>
                            <a:srgbClr val="000000"/>
                          </a:solidFill>
                        </a:rPr>
                        <a:t>Larger Q</a:t>
                      </a:r>
                    </a:p>
                  </a:txBody>
                  <a:tcPr marL="64008" marR="64008" marT="36576" marB="36576">
                    <a:solidFill>
                      <a:srgbClr val="FFFFFF"/>
                    </a:solidFill>
                  </a:tcPr>
                </a:tc>
                <a:tc>
                  <a:txBody>
                    <a:bodyPr wrap="square"/>
                    <a:lstStyle/>
                    <a:p>
                      <a:r>
                        <a:rPr sz="1500" b="0">
                          <a:solidFill>
                            <a:srgbClr val="000000"/>
                          </a:solidFill>
                        </a:rPr>
                        <a:t>Faster convergence; larger steering effort; more noise sensitivity</a:t>
                      </a:r>
                    </a:p>
                  </a:txBody>
                  <a:tcPr marL="64008" marR="64008" marT="36576" marB="36576">
                    <a:solidFill>
                      <a:srgbClr val="FFFFFF"/>
                    </a:solidFill>
                  </a:tcPr>
                </a:tc>
              </a:tr>
              <a:tr h="914400">
                <a:tc>
                  <a:txBody>
                    <a:bodyPr wrap="square"/>
                    <a:lstStyle/>
                    <a:p>
                      <a:r>
                        <a:rPr sz="1500" b="1">
                          <a:solidFill>
                            <a:srgbClr val="000000"/>
                          </a:solidFill>
                        </a:rPr>
                        <a:t>Larger R</a:t>
                      </a:r>
                    </a:p>
                  </a:txBody>
                  <a:tcPr marL="64008" marR="64008" marT="36576" marB="36576">
                    <a:solidFill>
                      <a:srgbClr val="FFFFFF"/>
                    </a:solidFill>
                  </a:tcPr>
                </a:tc>
                <a:tc>
                  <a:txBody>
                    <a:bodyPr wrap="square"/>
                    <a:lstStyle/>
                    <a:p>
                      <a:r>
                        <a:rPr sz="1500" b="0">
                          <a:solidFill>
                            <a:srgbClr val="000000"/>
                          </a:solidFill>
                        </a:rPr>
                        <a:t>Gentler steering; slower convergence; larger tracking error</a:t>
                      </a:r>
                    </a:p>
                  </a:txBody>
                  <a:tcPr marL="64008" marR="64008" marT="36576" marB="36576">
                    <a:solidFill>
                      <a:srgbClr val="FFFFFF"/>
                    </a:solidFill>
                  </a:tcPr>
                </a:tc>
              </a:tr>
            </a:tbl>
          </a:graphicData>
        </a:graphic>
      </p:graphicFrame>
      <p:sp>
        <p:nvSpPr>
          <p:cNvPr id="5" name="TextBox"/>
          <p:cNvSpPr txBox="1"/>
          <p:nvPr/>
        </p:nvSpPr>
        <p:spPr>
          <a:xfrm>
            <a:off x="7589520" y="3429000"/>
            <a:ext cx="4343400" cy="2057400"/>
          </a:xfrm>
          <a:prstGeom prst="rect">
            <a:avLst/>
          </a:prstGeom>
          <a:solidFill>
            <a:srgbClr val="F2F2F2"/>
          </a:solidFill>
        </p:spPr>
        <p:txBody>
          <a:bodyPr wrap="square" lIns="73152" tIns="73152" rIns="73152" bIns="73152" anchor="t"/>
          <a:lstStyle/>
          <a:p>
            <a:pPr marL="0" indent="0">
              <a:buNone/>
            </a:pPr>
            <a:r>
              <a:rPr lang="en-US" dirty="0" sz="1700" b="1"/>
              <a:t>Design recipe</a:t>
            </a:r>
          </a:p>
          <a:p>
            <a:pPr marL="0" indent="0">
              <a:buNone/>
            </a:pPr>
            <a:r>
              <a:rPr lang="en-US" dirty="0" sz="1500"/>
              <a:t>1. Linearize the model: A, B</a:t>
            </a:r>
          </a:p>
          <a:p>
            <a:pPr marL="0" indent="0">
              <a:buNone/>
            </a:pPr>
            <a:r>
              <a:rPr lang="en-US" dirty="0" sz="1500"/>
              <a:t>2. Choose Q, R (Bryson’s rule)</a:t>
            </a:r>
          </a:p>
          <a:p>
            <a:pPr marL="0" indent="0">
              <a:buNone/>
            </a:pPr>
            <a:r>
              <a:rPr lang="en-US" dirty="0" sz="1500"/>
              <a:t>3. Solve the Riccati equation → K</a:t>
            </a:r>
          </a:p>
          <a:p>
            <a:pPr marL="0" indent="0">
              <a:buNone/>
            </a:pPr>
            <a:r>
              <a:rPr lang="en-US" dirty="0" sz="1500"/>
              <a:t>4. Simulate; adjust Q, R; schedule K over speed</a:t>
            </a:r>
          </a:p>
          <a:p>
            <a:pPr marL="0" indent="0">
              <a:buNone/>
            </a:pPr>
            <a:r>
              <a:rPr lang="en-US" dirty="0" sz="1500"/>
              <a:t>5. Add feedforward; clip u to actuator limits</a:t>
            </a:r>
          </a:p>
        </p:txBody>
      </p:sp>
      <p:sp>
        <p:nvSpPr>
          <p:cNvPr id="6" name="TextBox"/>
          <p:cNvSpPr txBox="1"/>
          <p:nvPr/>
        </p:nvSpPr>
        <p:spPr>
          <a:xfrm>
            <a:off x="621792" y="6172200"/>
            <a:ext cx="7315200" cy="411480"/>
          </a:xfrm>
          <a:prstGeom prst="rect">
            <a:avLst/>
          </a:prstGeom>
          <a:noFill/>
        </p:spPr>
        <p:txBody>
          <a:bodyPr wrap="square" lIns="73152" tIns="73152" rIns="73152" bIns="73152" anchor="t"/>
          <a:lstStyle/>
          <a:p>
            <a:pPr marL="0" indent="0">
              <a:buNone/>
            </a:pPr>
            <a:r>
              <a:rPr lang="en-US" dirty="0" sz="1200" i="1"/>
              <a:t>Source: Apollo documentation, “How to Tune Control Parameters”</a:t>
            </a:r>
          </a:p>
        </p:txBody>
      </p:sp>
      <p:sp>
        <p:nvSpPr>
          <p:cNvPr id="7"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Pure Pursuit: Geometry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355080" cy="5303520"/>
              </a:xfrm>
            </p:spPr>
            <p:txBody>
              <a:bodyPr>
                <a:normAutofit/>
              </a:bodyPr>
              <a:lstStyle/>
              <a:p>
                <a:pPr/>
                <a:r>
                  <a:rPr lang="en-US" dirty="0" sz="2000"/>
                  <a:t xml:space="preserve">Geometric tracker (Coulter, CMU 1992): steer along the circular arc through a </a:t>
                </a:r>
                <a:r>
                  <a:rPr lang="en-US" dirty="0" sz="2000" b="1"/>
                  <a:t>goal point</a:t>
                </a:r>
                <a:r>
                  <a:rPr lang="en-US" dirty="0" sz="2000"/>
                  <a:t xml:space="preserve"> on the path, one </a:t>
                </a:r>
                <a:r>
                  <a:rPr lang="en-US" dirty="0" sz="2000" b="1"/>
                  <a:t>lookahead distance</a:t>
                </a:r>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L</m:t>
                        </m:r>
                      </m:e>
                      <m:sub>
                        <m:r>
                          <a:rPr lang="en-US" i="1" sz="2000">
                            <a:latin typeface="Cambria Math" panose="02040503050406030204" pitchFamily="18" charset="0"/>
                          </a:rPr>
                          <m:t>d</m:t>
                        </m:r>
                      </m:sub>
                    </m:sSub>
                  </m:oMath>
                </a14:m>
                <a:r>
                  <a:rPr lang="en-US" dirty="0" sz="2000"/>
                  <a:t xml:space="preserve"> ahead</a:t>
                </a:r>
              </a:p>
              <a:p>
                <a:pPr/>
                <a:r>
                  <a:rPr lang="en-US" dirty="0" sz="2000"/>
                  <a:t xml:space="preserve">Reference point: </a:t>
                </a:r>
                <a:r>
                  <a:rPr lang="en-US" dirty="0" sz="2000" b="1"/>
                  <a:t>rear axle</a:t>
                </a:r>
                <a:r>
                  <a:rPr lang="en-US" dirty="0" sz="2000"/>
                  <a:t xml:space="preserve">; kinematic bicycle model with wheelbase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L</m:t>
                    </m:r>
                  </m:oMath>
                </a14:m>
                <a:r>
                  <a:rPr lang="en-US" dirty="0" sz="2000"/>
                  <a:t xml:space="preserve"> (slide 28)</a:t>
                </a:r>
              </a:p>
              <a:p>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α</m:t>
                    </m:r>
                  </m:oMath>
                </a14:m>
                <a:r>
                  <a:rPr lang="en-US" dirty="0" sz="2000"/>
                  <a:t>: angle between vehicle heading and the line to the goal point</a:t>
                </a:r>
              </a:p>
              <a:p>
                <a:pPr/>
                <a:r>
                  <a:rPr lang="en-US" dirty="0" sz="2000"/>
                  <a:t xml:space="preserve">The arc is tangent to the heading at the rear axle; the chord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L</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r>
                      <a:rPr lang="en-US" i="1" sz="2000">
                        <a:latin typeface="Cambria Math" panose="02040503050406030204" pitchFamily="18" charset="0"/>
                      </a:rPr>
                      <m:t>2</m:t>
                    </m:r>
                    <m:r>
                      <a:rPr lang="en-US" i="1" sz="2000">
                        <a:latin typeface="Cambria Math" panose="02040503050406030204" pitchFamily="18" charset="0"/>
                      </a:rPr>
                      <m:t>R</m:t>
                    </m:r>
                    <m:r>
                      <m:rPr>
                        <m:sty m:val="p"/>
                      </m:rPr>
                      <a:rPr lang="en-US" i="0" sz="2000">
                        <a:latin typeface="Cambria Math" panose="02040503050406030204" pitchFamily="18" charset="0"/>
                      </a:rPr>
                      <m:t>sin</m:t>
                    </m:r>
                    <m:r>
                      <a:rPr lang="en-US" i="1" sz="2000">
                        <a:latin typeface="Cambria Math" panose="02040503050406030204" pitchFamily="18" charset="0"/>
                      </a:rPr>
                      <m:t>α</m:t>
                    </m:r>
                  </m:oMath>
                </a14:m>
                <a:r>
                  <a:rPr lang="en-US" dirty="0" sz="2000"/>
                  <a:t>, so</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R</m:t>
                    </m:r>
                    <m:r>
                      <m:rPr>
                        <m:sty m:val="p"/>
                      </m:rPr>
                      <a:rPr lang="en-US" i="0" sz="2000">
                        <a:latin typeface="Cambria Math" panose="02040503050406030204" pitchFamily="18" charset="0"/>
                      </a:rPr>
                      <m:t>=</m:t>
                    </m:r>
                    <m:f>
                      <m:fPr>
                        <m:type m:val="bar"/>
                      </m:fPr>
                      <m:num>
                        <m:sSub>
                          <m:e>
                            <m:r>
                              <a:rPr lang="en-US" i="1" sz="2000">
                                <a:latin typeface="Cambria Math" panose="02040503050406030204" pitchFamily="18" charset="0"/>
                              </a:rPr>
                              <m:t>L</m:t>
                            </m:r>
                          </m:e>
                          <m:sub>
                            <m:r>
                              <a:rPr lang="en-US" i="1" sz="2000">
                                <a:latin typeface="Cambria Math" panose="02040503050406030204" pitchFamily="18" charset="0"/>
                              </a:rPr>
                              <m:t>d</m:t>
                            </m:r>
                          </m:sub>
                        </m:sSub>
                      </m:num>
                      <m:den>
                        <m:r>
                          <a:rPr lang="en-US" i="1" sz="2000">
                            <a:latin typeface="Cambria Math" panose="02040503050406030204" pitchFamily="18" charset="0"/>
                          </a:rPr>
                          <m:t>2</m:t>
                        </m:r>
                        <m:r>
                          <m:rPr>
                            <m:sty m:val="p"/>
                          </m:rPr>
                          <a:rPr lang="en-US" i="0" sz="2000">
                            <a:latin typeface="Cambria Math" panose="02040503050406030204" pitchFamily="18" charset="0"/>
                          </a:rPr>
                          <m:t>sin</m:t>
                        </m:r>
                        <m:r>
                          <a:rPr lang="en-US" i="1" sz="2000">
                            <a:latin typeface="Cambria Math" panose="02040503050406030204" pitchFamily="18" charset="0"/>
                          </a:rPr>
                          <m:t>α</m:t>
                        </m:r>
                      </m:den>
                    </m:f>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κ</m:t>
                    </m:r>
                    <m:r>
                      <m:rPr>
                        <m:sty m:val="p"/>
                      </m:rPr>
                      <a:rPr lang="en-US" i="0" sz="2000">
                        <a:latin typeface="Cambria Math" panose="02040503050406030204" pitchFamily="18" charset="0"/>
                      </a:rPr>
                      <m:t>=</m:t>
                    </m:r>
                    <m:f>
                      <m:fPr>
                        <m:type m:val="bar"/>
                      </m:fPr>
                      <m:num>
                        <m:r>
                          <a:rPr lang="en-US" i="1" sz="2000">
                            <a:latin typeface="Cambria Math" panose="02040503050406030204" pitchFamily="18" charset="0"/>
                          </a:rPr>
                          <m:t>1</m:t>
                        </m:r>
                      </m:num>
                      <m:den>
                        <m:r>
                          <a:rPr lang="en-US" i="1" sz="2000">
                            <a:latin typeface="Cambria Math" panose="02040503050406030204" pitchFamily="18" charset="0"/>
                          </a:rPr>
                          <m:t>R</m:t>
                        </m:r>
                      </m:den>
                    </m:f>
                    <m:r>
                      <m:rPr>
                        <m:sty m:val="p"/>
                      </m:rPr>
                      <a:rPr lang="en-US" i="0" sz="2000">
                        <a:latin typeface="Cambria Math" panose="02040503050406030204" pitchFamily="18" charset="0"/>
                      </a:rPr>
                      <m:t>=</m:t>
                    </m:r>
                    <m:f>
                      <m:fPr>
                        <m:type m:val="bar"/>
                      </m:fPr>
                      <m:num>
                        <m:r>
                          <a:rPr lang="en-US" i="1" sz="2000">
                            <a:latin typeface="Cambria Math" panose="02040503050406030204" pitchFamily="18" charset="0"/>
                          </a:rPr>
                          <m:t>2</m:t>
                        </m:r>
                        <m:r>
                          <m:rPr>
                            <m:sty m:val="p"/>
                          </m:rPr>
                          <a:rPr lang="en-US" i="0" sz="2000">
                            <a:latin typeface="Cambria Math" panose="02040503050406030204" pitchFamily="18" charset="0"/>
                          </a:rPr>
                          <m:t>sin</m:t>
                        </m:r>
                        <m:r>
                          <a:rPr lang="en-US" i="1" sz="2000">
                            <a:latin typeface="Cambria Math" panose="02040503050406030204" pitchFamily="18" charset="0"/>
                          </a:rPr>
                          <m:t>α</m:t>
                        </m:r>
                      </m:num>
                      <m:den>
                        <m:sSub>
                          <m:e>
                            <m:r>
                              <a:rPr lang="en-US" i="1" sz="2000">
                                <a:latin typeface="Cambria Math" panose="02040503050406030204" pitchFamily="18" charset="0"/>
                              </a:rPr>
                              <m:t>L</m:t>
                            </m:r>
                          </m:e>
                          <m:sub>
                            <m:r>
                              <a:rPr lang="en-US" i="1" sz="2000">
                                <a:latin typeface="Cambria Math" panose="02040503050406030204" pitchFamily="18" charset="0"/>
                              </a:rPr>
                              <m:t>d</m:t>
                            </m:r>
                          </m:sub>
                        </m:sSub>
                      </m:den>
                    </m:f>
                  </m:oMath>
                </a14:m>
              </a:p>
              <a:p>
                <a:pPr/>
                <a:r>
                  <a:rPr lang="en-US" dirty="0" sz="2000"/>
                  <a:t xml:space="preserve">Steering from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m:rPr>
                        <m:sty m:val="p"/>
                      </m:rPr>
                      <a:rPr lang="en-US" i="0" sz="2000">
                        <a:latin typeface="Cambria Math" panose="02040503050406030204" pitchFamily="18" charset="0"/>
                      </a:rPr>
                      <m:t>tan</m:t>
                    </m:r>
                    <m:r>
                      <a:rPr lang="en-US" i="1" sz="2000">
                        <a:latin typeface="Cambria Math" panose="02040503050406030204" pitchFamily="18" charset="0"/>
                      </a:rPr>
                      <m:t>δ</m:t>
                    </m:r>
                    <m:r>
                      <m:rPr>
                        <m:sty m:val="p"/>
                      </m:rPr>
                      <a:rPr lang="en-US" i="0" sz="2000">
                        <a:latin typeface="Cambria Math" panose="02040503050406030204" pitchFamily="18" charset="0"/>
                      </a:rPr>
                      <m:t>=</m:t>
                    </m:r>
                    <m:r>
                      <a:rPr lang="en-US" i="1" sz="2000">
                        <a:latin typeface="Cambria Math" panose="02040503050406030204" pitchFamily="18" charset="0"/>
                      </a:rPr>
                      <m:t>L</m:t>
                    </m:r>
                    <m:r>
                      <m:rPr>
                        <m:sty m:val="p"/>
                      </m:rPr>
                      <a:rPr lang="en-US" i="0" sz="2000">
                        <a:latin typeface="Cambria Math" panose="02040503050406030204" pitchFamily="18" charset="0"/>
                      </a:rPr>
                      <m:t>/</m:t>
                    </m:r>
                    <m:r>
                      <a:rPr lang="en-US" i="1" sz="2000">
                        <a:latin typeface="Cambria Math" panose="02040503050406030204" pitchFamily="18" charset="0"/>
                      </a:rPr>
                      <m:t>R</m:t>
                    </m:r>
                  </m:oMath>
                </a14:m>
                <a:r>
                  <a:rPr lang="en-US" dirty="0" sz="2000"/>
                  <a:t xml:space="preserve"> (slide 28):</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r>
                      <m:rPr>
                        <m:sty m:val="p"/>
                      </m:rPr>
                      <a:rPr lang="en-US" i="0" sz="2000">
                        <a:latin typeface="Cambria Math" panose="02040503050406030204" pitchFamily="18" charset="0"/>
                      </a:rPr>
                      <m:t>arctan</m:t>
                    </m:r>
                    <m:d>
                      <m:dPr>
                        <m:begChr m:val="("/>
                        <m:endChr m:val=")"/>
                        <m:sepChr m:val=""/>
                        <m:grow/>
                      </m:dPr>
                      <m:e>
                        <m:f>
                          <m:fPr>
                            <m:type m:val="bar"/>
                          </m:fPr>
                          <m:num>
                            <m:r>
                              <a:rPr lang="en-US" i="1" sz="2000">
                                <a:latin typeface="Cambria Math" panose="02040503050406030204" pitchFamily="18" charset="0"/>
                              </a:rPr>
                              <m:t>2</m:t>
                            </m:r>
                            <m:r>
                              <a:rPr lang="en-US" i="1" sz="2000">
                                <a:latin typeface="Cambria Math" panose="02040503050406030204" pitchFamily="18" charset="0"/>
                              </a:rPr>
                              <m:t>L</m:t>
                            </m:r>
                            <m:r>
                              <m:rPr>
                                <m:sty m:val="p"/>
                              </m:rPr>
                              <a:rPr lang="en-US" i="0" sz="2000">
                                <a:latin typeface="Cambria Math" panose="02040503050406030204" pitchFamily="18" charset="0"/>
                              </a:rPr>
                              <m:t>sin</m:t>
                            </m:r>
                            <m:r>
                              <a:rPr lang="en-US" i="1" sz="2000">
                                <a:latin typeface="Cambria Math" panose="02040503050406030204" pitchFamily="18" charset="0"/>
                              </a:rPr>
                              <m:t>α</m:t>
                            </m:r>
                          </m:num>
                          <m:den>
                            <m:sSub>
                              <m:e>
                                <m:r>
                                  <a:rPr lang="en-US" i="1" sz="2000">
                                    <a:latin typeface="Cambria Math" panose="02040503050406030204" pitchFamily="18" charset="0"/>
                                  </a:rPr>
                                  <m:t>L</m:t>
                                </m:r>
                              </m:e>
                              <m:sub>
                                <m:r>
                                  <a:rPr lang="en-US" i="1" sz="2000">
                                    <a:latin typeface="Cambria Math" panose="02040503050406030204" pitchFamily="18" charset="0"/>
                                  </a:rPr>
                                  <m:t>d</m:t>
                                </m:r>
                              </m:sub>
                            </m:sSub>
                          </m:den>
                        </m:f>
                      </m:e>
                    </m:d>
                  </m:oMath>
                </a14:m>
              </a:p>
              <a:p>
                <a:pPr/>
                <a:r>
                  <a:rPr lang="en-US" dirty="0" sz="2000"/>
                  <a:t xml:space="preserve">Example: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L</m:t>
                    </m:r>
                    <m:r>
                      <m:rPr>
                        <m:sty m:val="p"/>
                      </m:rPr>
                      <a:rPr lang="en-US" i="0" sz="2000">
                        <a:latin typeface="Cambria Math" panose="02040503050406030204" pitchFamily="18" charset="0"/>
                      </a:rPr>
                      <m:t>=</m:t>
                    </m:r>
                    <m:r>
                      <a:rPr lang="en-US" i="1" sz="2000">
                        <a:latin typeface="Cambria Math" panose="02040503050406030204" pitchFamily="18" charset="0"/>
                      </a:rPr>
                      <m:t>2.5</m:t>
                    </m:r>
                  </m:oMath>
                </a14:m>
                <a:r>
                  <a:rPr lang="en-US" dirty="0" sz="2000"/>
                  <a:t xml:space="preserve"> 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L</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r>
                      <a:rPr lang="en-US" i="1" sz="2000">
                        <a:latin typeface="Cambria Math" panose="02040503050406030204" pitchFamily="18" charset="0"/>
                      </a:rPr>
                      <m:t>5</m:t>
                    </m:r>
                  </m:oMath>
                </a14:m>
                <a:r>
                  <a:rPr lang="en-US" dirty="0" sz="2000"/>
                  <a:t xml:space="preserve"> 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α</m:t>
                    </m:r>
                    <m:r>
                      <m:rPr>
                        <m:sty m:val="p"/>
                      </m:rPr>
                      <a:rPr lang="en-US" i="0" sz="2000">
                        <a:latin typeface="Cambria Math" panose="02040503050406030204" pitchFamily="18" charset="0"/>
                      </a:rPr>
                      <m:t>=</m:t>
                    </m:r>
                    <m:sSup>
                      <m:e>
                        <m:r>
                          <a:rPr lang="en-US" i="1" sz="2000">
                            <a:latin typeface="Cambria Math" panose="02040503050406030204" pitchFamily="18" charset="0"/>
                          </a:rPr>
                          <m:t>20</m:t>
                        </m:r>
                      </m:e>
                      <m:sup>
                        <m:r>
                          <m:rPr>
                            <m:sty m:val="p"/>
                          </m:rPr>
                          <a:rPr lang="en-US" i="0" sz="2000">
                            <a:latin typeface="Cambria Math" panose="02040503050406030204" pitchFamily="18" charset="0"/>
                          </a:rPr>
                          <m:t>∘</m:t>
                        </m:r>
                      </m:sup>
                    </m:sSup>
                  </m:oMath>
                </a14:m>
                <a:r>
                  <a:rPr lang="en-US" dirty="0" sz="2000"/>
                  <a:t xml:space="preserve">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κ</m:t>
                    </m:r>
                    <m:r>
                      <m:rPr>
                        <m:sty m:val="p"/>
                      </m:rPr>
                      <a:rPr lang="en-US" i="0" sz="2000">
                        <a:latin typeface="Cambria Math" panose="02040503050406030204" pitchFamily="18" charset="0"/>
                      </a:rPr>
                      <m:t>=</m:t>
                    </m:r>
                    <m:r>
                      <a:rPr lang="en-US" i="1" sz="2000">
                        <a:latin typeface="Cambria Math" panose="02040503050406030204" pitchFamily="18" charset="0"/>
                      </a:rPr>
                      <m:t>0.137</m:t>
                    </m:r>
                    <m:r>
                      <a:rPr lang="en-US" i="1" sz="2000">
                        <a:latin typeface="Cambria Math" panose="02040503050406030204" pitchFamily="18" charset="0"/>
                      </a:rPr>
                      <m:t> </m:t>
                    </m:r>
                    <m:sSup>
                      <m:e>
                        <m:r>
                          <m:rPr>
                            <m:sty m:val="p"/>
                          </m:rPr>
                          <a:rPr lang="en-US" i="0" sz="2000">
                            <a:latin typeface="Cambria Math" panose="02040503050406030204" pitchFamily="18" charset="0"/>
                          </a:rPr>
                          <m:t>m</m:t>
                        </m:r>
                      </m:e>
                      <m:sup>
                        <m:r>
                          <m:rPr>
                            <m:sty m:val="p"/>
                          </m:rPr>
                          <a:rPr lang="en-US" i="0" sz="2000">
                            <a:latin typeface="Cambria Math" panose="02040503050406030204" pitchFamily="18" charset="0"/>
                          </a:rPr>
                          <m:t>−</m:t>
                        </m:r>
                        <m:r>
                          <m:rPr>
                            <m:sty m:val="p"/>
                          </m:rPr>
                          <a:rPr lang="en-US" i="0" sz="2000">
                            <a:latin typeface="Cambria Math" panose="02040503050406030204" pitchFamily="18" charset="0"/>
                          </a:rPr>
                          <m:t>1</m:t>
                        </m:r>
                      </m:sup>
                    </m:sSup>
                  </m:oMath>
                </a14:m>
                <a:r>
                  <a:rPr lang="en-US" dirty="0" sz="2000"/>
                  <a:t xml:space="preserve"> (R = 7.3 m),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sSup>
                      <m:e>
                        <m:r>
                          <a:rPr lang="en-US" i="1" sz="2000">
                            <a:latin typeface="Cambria Math" panose="02040503050406030204" pitchFamily="18" charset="0"/>
                          </a:rPr>
                          <m:t>18.9</m:t>
                        </m:r>
                      </m:e>
                      <m:sup>
                        <m:r>
                          <m:rPr>
                            <m:sty m:val="p"/>
                          </m:rPr>
                          <a:rPr lang="en-US" i="0" sz="2000">
                            <a:latin typeface="Cambria Math" panose="02040503050406030204" pitchFamily="18" charset="0"/>
                          </a:rPr>
                          <m:t>∘</m:t>
                        </m:r>
                      </m:sup>
                    </m:sSup>
                  </m:oMath>
                </a14:m>
              </a:p>
            </p:txBody>
          </p:sp>
        </mc:Choice>
        <mc:Fallback>
          <p:sp>
            <p:nvSpPr>
              <p:cNvPr id="3" name="Content Placeholder 2"/>
              <p:cNvSpPr>
                <a:spLocks noGrp="1"/>
              </p:cNvSpPr>
              <p:nvPr>
                <p:ph idx="1"/>
              </p:nvPr>
            </p:nvSpPr>
            <p:spPr>
              <a:xfrm>
                <a:off x="621792" y="1188720"/>
                <a:ext cx="6355080" cy="5303520"/>
              </a:xfrm>
            </p:spPr>
            <p:txBody>
              <a:bodyPr>
                <a:normAutofit/>
              </a:bodyPr>
              <a:lstStyle/>
              <a:p>
                <a:pPr/>
                <a:r>
                  <a:rPr lang="en-US" dirty="0" sz="2000"/>
                  <a:t xml:space="preserve">Geometric tracker (Coulter, CMU 1992): steer along the circular arc through a </a:t>
                </a:r>
                <a:r>
                  <a:rPr lang="en-US" dirty="0" sz="2000" b="1"/>
                  <a:t>goal point</a:t>
                </a:r>
                <a:r>
                  <a:rPr lang="en-US" dirty="0" sz="2000"/>
                  <a:t xml:space="preserve"> on the path, one </a:t>
                </a:r>
                <a:r>
                  <a:rPr lang="en-US" dirty="0" sz="2000" b="1"/>
                  <a:t>lookahead distance</a:t>
                </a:r>
                <a:r>
                  <a:rPr lang="en-US" dirty="0" sz="2000"/>
                  <a:t xml:space="preserve"> </a:t>
                </a:r>
                <a:r>
                  <a:rPr lang="en-US" dirty="0" sz="2000"/>
                  <a:t>L_d</a:t>
                </a:r>
                <a:r>
                  <a:rPr lang="en-US" dirty="0" sz="2000"/>
                  <a:t xml:space="preserve"> ahead</a:t>
                </a:r>
              </a:p>
              <a:p>
                <a:pPr/>
                <a:r>
                  <a:rPr lang="en-US" dirty="0" sz="2000"/>
                  <a:t xml:space="preserve">Reference point: </a:t>
                </a:r>
                <a:r>
                  <a:rPr lang="en-US" dirty="0" sz="2000" b="1"/>
                  <a:t>rear axle</a:t>
                </a:r>
                <a:r>
                  <a:rPr lang="en-US" dirty="0" sz="2000"/>
                  <a:t xml:space="preserve">; kinematic bicycle model with wheelbase </a:t>
                </a:r>
                <a:r>
                  <a:rPr lang="en-US" dirty="0" sz="2000"/>
                  <a:t>L</a:t>
                </a:r>
                <a:r>
                  <a:rPr lang="en-US" dirty="0" sz="2000"/>
                  <a:t xml:space="preserve"> (slide 28)</a:t>
                </a:r>
              </a:p>
              <a:p>
                <a:pPr/>
                <a:r>
                  <a:rPr lang="en-US" dirty="0" sz="2000"/>
                  <a:t>α</a:t>
                </a:r>
                <a:r>
                  <a:rPr lang="en-US" dirty="0" sz="2000"/>
                  <a:t>: angle between vehicle heading and the line to the goal point</a:t>
                </a:r>
              </a:p>
              <a:p>
                <a:pPr/>
                <a:r>
                  <a:rPr lang="en-US" dirty="0" sz="2000"/>
                  <a:t xml:space="preserve">The arc is tangent to the heading at the rear axle; the chord </a:t>
                </a:r>
                <a:r>
                  <a:rPr lang="en-US" dirty="0" sz="2000"/>
                  <a:t>L_d = 2R sin α</a:t>
                </a:r>
                <a:r>
                  <a:rPr lang="en-US" dirty="0" sz="2000"/>
                  <a:t>, so</a:t>
                </a:r>
              </a:p>
              <a:p>
                <a:pPr lvl="1" marL="457200" indent="0">
                  <a:buNone/>
                </a:pPr>
                <a:r>
                  <a:rPr lang="en-US" dirty="0" sz="2000"/>
                  <a:t>R = L_d / (2 sin α),   κ = 1/R = 2 sin α / L_d</a:t>
                </a:r>
              </a:p>
              <a:p>
                <a:pPr/>
                <a:r>
                  <a:rPr lang="en-US" dirty="0" sz="2000"/>
                  <a:t xml:space="preserve">Steering from </a:t>
                </a:r>
                <a:r>
                  <a:rPr lang="en-US" dirty="0" sz="2000"/>
                  <a:t>tan δ = L/R</a:t>
                </a:r>
                <a:r>
                  <a:rPr lang="en-US" dirty="0" sz="2000"/>
                  <a:t xml:space="preserve"> (slide 28):</a:t>
                </a:r>
              </a:p>
              <a:p>
                <a:pPr lvl="1" marL="457200" indent="0">
                  <a:buNone/>
                </a:pPr>
                <a:r>
                  <a:rPr lang="en-US" dirty="0" sz="2000"/>
                  <a:t>δ = arctan( 2 L sin α / L_d )</a:t>
                </a:r>
              </a:p>
              <a:p>
                <a:pPr/>
                <a:r>
                  <a:rPr lang="en-US" dirty="0" sz="2000"/>
                  <a:t xml:space="preserve">Example: </a:t>
                </a:r>
                <a:r>
                  <a:rPr lang="en-US" dirty="0" sz="2000"/>
                  <a:t>L = 2.5</a:t>
                </a:r>
                <a:r>
                  <a:rPr lang="en-US" dirty="0" sz="2000"/>
                  <a:t xml:space="preserve"> m, </a:t>
                </a:r>
                <a:r>
                  <a:rPr lang="en-US" dirty="0" sz="2000"/>
                  <a:t>L_d = 5</a:t>
                </a:r>
                <a:r>
                  <a:rPr lang="en-US" dirty="0" sz="2000"/>
                  <a:t xml:space="preserve"> m, </a:t>
                </a:r>
                <a:r>
                  <a:rPr lang="en-US" dirty="0" sz="2000"/>
                  <a:t>α = 20°</a:t>
                </a:r>
                <a:r>
                  <a:rPr lang="en-US" dirty="0" sz="2000"/>
                  <a:t xml:space="preserve"> ⇒ </a:t>
                </a:r>
                <a:r>
                  <a:rPr lang="en-US" dirty="0" sz="2000"/>
                  <a:t>κ = 0.137 m⁻¹</a:t>
                </a:r>
                <a:r>
                  <a:rPr lang="en-US" dirty="0" sz="2000"/>
                  <a:t xml:space="preserve"> (R = 7.3 m), </a:t>
                </a:r>
                <a:r>
                  <a:rPr lang="en-US" dirty="0" sz="2000"/>
                  <a:t>δ = 18.9°</a:t>
                </a:r>
              </a:p>
            </p:txBody>
          </p:sp>
        </mc:Fallback>
      </mc:AlternateContent>
      <p:pic>
        <p:nvPicPr>
          <p:cNvPr id="4" name="Picture 3" descr="Pure pursuit geometry: goal point, lookahead distance, arc radius"/>
          <p:cNvPicPr>
            <a:picLocks noChangeAspect="1"/>
          </p:cNvPicPr>
          <p:nvPr/>
        </p:nvPicPr>
        <p:blipFill>
          <a:blip r:embed="rId3"/>
          <a:stretch>
            <a:fillRect/>
          </a:stretch>
        </p:blipFill>
        <p:spPr>
          <a:xfrm>
            <a:off x="7086600" y="1371600"/>
            <a:ext cx="4846320" cy="3795311"/>
          </a:xfrm>
          <a:prstGeom prst="rect">
            <a:avLst/>
          </a:prstGeom>
        </p:spPr>
      </p:pic>
      <p:sp>
        <p:nvSpPr>
          <p:cNvPr id="5" name="TextBox"/>
          <p:cNvSpPr txBox="1"/>
          <p:nvPr/>
        </p:nvSpPr>
        <p:spPr>
          <a:xfrm>
            <a:off x="7086600" y="5074920"/>
            <a:ext cx="4846320" cy="868680"/>
          </a:xfrm>
          <a:prstGeom prst="rect">
            <a:avLst/>
          </a:prstGeom>
          <a:solidFill>
            <a:srgbClr val="F2F2F2"/>
          </a:solidFill>
        </p:spPr>
        <p:txBody>
          <a:bodyPr wrap="square" lIns="73152" tIns="73152" rIns="73152" bIns="73152" anchor="t"/>
          <a:lstStyle/>
          <a:p>
            <a:pPr marL="0" indent="0">
              <a:buNone/>
            </a:pPr>
            <a:r>
              <a:rPr lang="en-US" dirty="0" sz="1700" b="1"/>
              <a:t xml:space="preserve">Intuition: </a:t>
            </a:r>
            <a:r>
              <a:rPr lang="en-US" dirty="0" sz="1700"/>
              <a:t>like a driver steering toward a point a little way down the road</a:t>
            </a:r>
          </a:p>
        </p:txBody>
      </p:sp>
      <p:sp>
        <p:nvSpPr>
          <p:cNvPr id="6"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Pure Pursuit: Lookahead Distance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355080" cy="5349240"/>
              </a:xfrm>
            </p:spPr>
            <p:txBody>
              <a:bodyPr>
                <a:normAutofit/>
              </a:bodyPr>
              <a:lstStyle/>
              <a:p>
                <a:pPr/>
                <a:r>
                  <a:rPr lang="en-US" dirty="0" sz="2000"/>
                  <a:t xml:space="preserve">Goal point in the vehicle frame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d>
                      <m:dPr>
                        <m:begChr m:val="("/>
                        <m:endChr m:val=")"/>
                        <m:sepChr m:val=""/>
                        <m:grow/>
                      </m:dPr>
                      <m:e>
                        <m:sSub>
                          <m:e>
                            <m:r>
                              <a:rPr lang="en-US" i="1" sz="2000">
                                <a:latin typeface="Cambria Math" panose="02040503050406030204" pitchFamily="18" charset="0"/>
                              </a:rPr>
                              <m:t>x</m:t>
                            </m:r>
                          </m:e>
                          <m:sub>
                            <m:r>
                              <a:rPr lang="en-US" i="1" sz="2000">
                                <a:latin typeface="Cambria Math" panose="02040503050406030204" pitchFamily="18" charset="0"/>
                              </a:rPr>
                              <m:t>g</m:t>
                            </m:r>
                          </m:sub>
                        </m:sSub>
                        <m:r>
                          <m:rPr>
                            <m:sty m:val="p"/>
                          </m:rPr>
                          <a:rPr lang="en-US" i="0" sz="2000">
                            <a:latin typeface="Cambria Math" panose="02040503050406030204" pitchFamily="18" charset="0"/>
                          </a:rPr>
                          <m:t>,</m:t>
                        </m:r>
                        <m:sSub>
                          <m:e>
                            <m:r>
                              <a:rPr lang="en-US" i="1" sz="2000">
                                <a:latin typeface="Cambria Math" panose="02040503050406030204" pitchFamily="18" charset="0"/>
                              </a:rPr>
                              <m:t>y</m:t>
                            </m:r>
                          </m:e>
                          <m:sub>
                            <m:r>
                              <a:rPr lang="en-US" i="1" sz="2000">
                                <a:latin typeface="Cambria Math" panose="02040503050406030204" pitchFamily="18" charset="0"/>
                              </a:rPr>
                              <m:t>g</m:t>
                            </m:r>
                          </m:sub>
                        </m:sSub>
                      </m:e>
                    </m:d>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m:rPr>
                        <m:sty m:val="p"/>
                      </m:rPr>
                      <a:rPr lang="en-US" i="0" sz="2000">
                        <a:latin typeface="Cambria Math" panose="02040503050406030204" pitchFamily="18" charset="0"/>
                      </a:rPr>
                      <m:t>sin</m:t>
                    </m:r>
                    <m:r>
                      <a:rPr lang="en-US" i="1" sz="2000">
                        <a:latin typeface="Cambria Math" panose="02040503050406030204" pitchFamily="18" charset="0"/>
                      </a:rPr>
                      <m:t>α</m:t>
                    </m:r>
                    <m:r>
                      <m:rPr>
                        <m:sty m:val="p"/>
                      </m:rPr>
                      <a:rPr lang="en-US" i="0" sz="2000">
                        <a:latin typeface="Cambria Math" panose="02040503050406030204" pitchFamily="18" charset="0"/>
                      </a:rPr>
                      <m:t>=</m:t>
                    </m:r>
                    <m:sSub>
                      <m:e>
                        <m:r>
                          <a:rPr lang="en-US" i="1" sz="2000">
                            <a:latin typeface="Cambria Math" panose="02040503050406030204" pitchFamily="18" charset="0"/>
                          </a:rPr>
                          <m:t>y</m:t>
                        </m:r>
                      </m:e>
                      <m:sub>
                        <m:r>
                          <a:rPr lang="en-US" i="1" sz="2000">
                            <a:latin typeface="Cambria Math" panose="02040503050406030204" pitchFamily="18" charset="0"/>
                          </a:rPr>
                          <m:t>g</m:t>
                        </m:r>
                      </m:sub>
                    </m:sSub>
                    <m:r>
                      <m:rPr>
                        <m:sty m:val="p"/>
                      </m:rPr>
                      <a:rPr lang="en-US" i="0" sz="2000">
                        <a:latin typeface="Cambria Math" panose="02040503050406030204" pitchFamily="18" charset="0"/>
                      </a:rPr>
                      <m:t>/</m:t>
                    </m:r>
                    <m:sSub>
                      <m:e>
                        <m:r>
                          <a:rPr lang="en-US" i="1" sz="2000">
                            <a:latin typeface="Cambria Math" panose="02040503050406030204" pitchFamily="18" charset="0"/>
                          </a:rPr>
                          <m:t>L</m:t>
                        </m:r>
                      </m:e>
                      <m:sub>
                        <m:r>
                          <a:rPr lang="en-US" i="1" sz="2000">
                            <a:latin typeface="Cambria Math" panose="02040503050406030204" pitchFamily="18" charset="0"/>
                          </a:rPr>
                          <m:t>d</m:t>
                        </m:r>
                      </m:sub>
                    </m:sSub>
                  </m:oMath>
                </a14:m>
                <a:r>
                  <a:rPr lang="en-US" dirty="0" sz="2000"/>
                  <a:t xml:space="preserve">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κ</m:t>
                    </m:r>
                    <m:r>
                      <m:rPr>
                        <m:sty m:val="p"/>
                      </m:rPr>
                      <a:rPr lang="en-US" i="0" sz="2000">
                        <a:latin typeface="Cambria Math" panose="02040503050406030204" pitchFamily="18" charset="0"/>
                      </a:rPr>
                      <m:t>=</m:t>
                    </m:r>
                    <m:f>
                      <m:fPr>
                        <m:type m:val="bar"/>
                      </m:fPr>
                      <m:num>
                        <m:r>
                          <a:rPr lang="en-US" i="1" sz="2000">
                            <a:latin typeface="Cambria Math" panose="02040503050406030204" pitchFamily="18" charset="0"/>
                          </a:rPr>
                          <m:t>2</m:t>
                        </m:r>
                        <m:sSub>
                          <m:e>
                            <m:r>
                              <a:rPr lang="en-US" i="1" sz="2000">
                                <a:latin typeface="Cambria Math" panose="02040503050406030204" pitchFamily="18" charset="0"/>
                              </a:rPr>
                              <m:t>y</m:t>
                            </m:r>
                          </m:e>
                          <m:sub>
                            <m:r>
                              <a:rPr lang="en-US" i="1" sz="2000">
                                <a:latin typeface="Cambria Math" panose="02040503050406030204" pitchFamily="18" charset="0"/>
                              </a:rPr>
                              <m:t>g</m:t>
                            </m:r>
                          </m:sub>
                        </m:sSub>
                      </m:num>
                      <m:den>
                        <m:sSubSup>
                          <m:e>
                            <m:r>
                              <a:rPr lang="en-US" i="1" sz="2000">
                                <a:latin typeface="Cambria Math" panose="02040503050406030204" pitchFamily="18" charset="0"/>
                              </a:rPr>
                              <m:t>L</m:t>
                            </m:r>
                          </m:e>
                          <m:sub>
                            <m:r>
                              <a:rPr lang="en-US" i="1" sz="2000">
                                <a:latin typeface="Cambria Math" panose="02040503050406030204" pitchFamily="18" charset="0"/>
                              </a:rPr>
                              <m:t>d</m:t>
                            </m:r>
                          </m:sub>
                          <m:sup>
                            <m:r>
                              <a:rPr lang="en-US" i="1" sz="2000">
                                <a:latin typeface="Cambria Math" panose="02040503050406030204" pitchFamily="18" charset="0"/>
                              </a:rPr>
                              <m:t>2</m:t>
                            </m:r>
                          </m:sup>
                        </m:sSubSup>
                      </m:den>
                    </m:f>
                  </m:oMath>
                </a14:m>
              </a:p>
              <a:p>
                <a:pPr lvl="1"/>
                <a:r>
                  <a:rPr lang="en-US" dirty="0" sz="1800"/>
                  <a:t xml:space="preserve">Proportional control of the goal point’s lateral offset, gain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2</m:t>
                    </m:r>
                    <m:r>
                      <m:rPr>
                        <m:sty m:val="p"/>
                      </m:rPr>
                      <a:rPr lang="en-US" i="0" sz="1800">
                        <a:latin typeface="Cambria Math" panose="02040503050406030204" pitchFamily="18" charset="0"/>
                      </a:rPr>
                      <m:t>/</m:t>
                    </m:r>
                    <m:sSubSup>
                      <m:e>
                        <m:r>
                          <a:rPr lang="en-US" i="1" sz="1800">
                            <a:latin typeface="Cambria Math" panose="02040503050406030204" pitchFamily="18" charset="0"/>
                          </a:rPr>
                          <m:t>L</m:t>
                        </m:r>
                      </m:e>
                      <m:sub>
                        <m:r>
                          <a:rPr lang="en-US" i="1" sz="1800">
                            <a:latin typeface="Cambria Math" panose="02040503050406030204" pitchFamily="18" charset="0"/>
                          </a:rPr>
                          <m:t>d</m:t>
                        </m:r>
                      </m:sub>
                      <m:sup>
                        <m:r>
                          <a:rPr lang="en-US" i="1" sz="1800">
                            <a:latin typeface="Cambria Math" panose="02040503050406030204" pitchFamily="18" charset="0"/>
                          </a:rPr>
                          <m:t>2</m:t>
                        </m:r>
                      </m:sup>
                    </m:sSubSup>
                  </m:oMath>
                </a14:m>
              </a:p>
              <a:p>
                <a:pPr/>
                <a:r>
                  <a:rPr lang="en-US" dirty="0" sz="2000" b="1"/>
                  <a:t xml:space="preserve">Lookahead </a:t>
                </a:r>
                <a:r>
                  <a:rPr lang="en-US" dirty="0" sz="2000"/>
                  <a:t xml:space="preserve">grows with speed: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L</m:t>
                        </m:r>
                      </m:e>
                      <m:sub>
                        <m:r>
                          <a:rPr lang="en-US" i="1" sz="2000">
                            <a:latin typeface="Cambria Math" panose="02040503050406030204" pitchFamily="18" charset="0"/>
                          </a:rPr>
                          <m:t>d</m:t>
                        </m:r>
                      </m:sub>
                    </m:sSub>
                    <m:r>
                      <m:rPr>
                        <m:sty m:val="p"/>
                      </m:rPr>
                      <a:rPr lang="en-US" i="0" sz="2000">
                        <a:latin typeface="Cambria Math" panose="02040503050406030204" pitchFamily="18" charset="0"/>
                      </a:rPr>
                      <m:t>=</m:t>
                    </m:r>
                    <m:sSub>
                      <m:e>
                        <m:r>
                          <a:rPr lang="en-US" i="1" sz="2000">
                            <a:latin typeface="Cambria Math" panose="02040503050406030204" pitchFamily="18" charset="0"/>
                          </a:rPr>
                          <m:t>k</m:t>
                        </m:r>
                      </m:e>
                      <m:sub>
                        <m:r>
                          <a:rPr lang="en-US" i="1" sz="2000">
                            <a:latin typeface="Cambria Math" panose="02040503050406030204" pitchFamily="18" charset="0"/>
                          </a:rPr>
                          <m:t>v</m:t>
                        </m:r>
                      </m:sub>
                    </m:sSub>
                    <m:r>
                      <a:rPr lang="en-US" i="1" sz="2000">
                        <a:latin typeface="Cambria Math" panose="02040503050406030204" pitchFamily="18" charset="0"/>
                      </a:rPr>
                      <m:t> </m:t>
                    </m:r>
                    <m:r>
                      <a:rPr lang="en-US" i="1" sz="2000">
                        <a:latin typeface="Cambria Math" panose="02040503050406030204" pitchFamily="18" charset="0"/>
                      </a:rPr>
                      <m:t>v</m:t>
                    </m:r>
                    <m:r>
                      <m:rPr>
                        <m:sty m:val="p"/>
                      </m:rPr>
                      <a:rPr lang="en-US" i="0" sz="2000">
                        <a:latin typeface="Cambria Math" panose="02040503050406030204" pitchFamily="18" charset="0"/>
                      </a:rPr>
                      <m:t>+</m:t>
                    </m:r>
                    <m:sSub>
                      <m:e>
                        <m:r>
                          <a:rPr lang="en-US" i="1" sz="2000">
                            <a:latin typeface="Cambria Math" panose="02040503050406030204" pitchFamily="18" charset="0"/>
                          </a:rPr>
                          <m:t>L</m:t>
                        </m:r>
                      </m:e>
                      <m:sub>
                        <m:r>
                          <a:rPr lang="en-US" i="1" sz="2000">
                            <a:latin typeface="Cambria Math" panose="02040503050406030204" pitchFamily="18" charset="0"/>
                          </a:rPr>
                          <m:t>0</m:t>
                        </m:r>
                      </m:sub>
                    </m:sSub>
                  </m:oMath>
                </a14:m>
              </a:p>
              <a:p>
                <a:pPr lvl="1"/>
                <a:r>
                  <a:rPr lang="en-US" dirty="0" sz="1800"/>
                  <a:t xml:space="preserve">Small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1800">
                            <a:latin typeface="Cambria Math" panose="02040503050406030204" pitchFamily="18" charset="0"/>
                          </a:rPr>
                          <m:t>L</m:t>
                        </m:r>
                      </m:e>
                      <m:sub>
                        <m:r>
                          <a:rPr lang="en-US" i="1" sz="1800">
                            <a:latin typeface="Cambria Math" panose="02040503050406030204" pitchFamily="18" charset="0"/>
                          </a:rPr>
                          <m:t>d</m:t>
                        </m:r>
                      </m:sub>
                    </m:sSub>
                  </m:oMath>
                </a14:m>
                <a:r>
                  <a:rPr lang="en-US" dirty="0" sz="1800"/>
                  <a:t>: tight tracking, but oscillation and noise sensitivity</a:t>
                </a:r>
              </a:p>
              <a:p>
                <a:pPr lvl="1"/>
                <a:r>
                  <a:rPr lang="en-US" dirty="0" sz="1800"/>
                  <a:t xml:space="preserve">Large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1800">
                            <a:latin typeface="Cambria Math" panose="02040503050406030204" pitchFamily="18" charset="0"/>
                          </a:rPr>
                          <m:t>L</m:t>
                        </m:r>
                      </m:e>
                      <m:sub>
                        <m:r>
                          <a:rPr lang="en-US" i="1" sz="1800">
                            <a:latin typeface="Cambria Math" panose="02040503050406030204" pitchFamily="18" charset="0"/>
                          </a:rPr>
                          <m:t>d</m:t>
                        </m:r>
                      </m:sub>
                    </m:sSub>
                  </m:oMath>
                </a14:m>
                <a:r>
                  <a:rPr lang="en-US" dirty="0" sz="1800"/>
                  <a:t xml:space="preserve">: smooth and stable, but cuts corners: error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Sup>
                      <m:e>
                        <m:r>
                          <a:rPr lang="en-US" i="1" sz="1800">
                            <a:latin typeface="Cambria Math" panose="02040503050406030204" pitchFamily="18" charset="0"/>
                          </a:rPr>
                          <m:t>L</m:t>
                        </m:r>
                      </m:e>
                      <m:sub>
                        <m:r>
                          <a:rPr lang="en-US" i="1" sz="1800">
                            <a:latin typeface="Cambria Math" panose="02040503050406030204" pitchFamily="18" charset="0"/>
                          </a:rPr>
                          <m:t>d</m:t>
                        </m:r>
                      </m:sub>
                      <m:sup>
                        <m:r>
                          <a:rPr lang="en-US" i="1" sz="1800">
                            <a:latin typeface="Cambria Math" panose="02040503050406030204" pitchFamily="18" charset="0"/>
                          </a:rPr>
                          <m:t>2</m:t>
                        </m:r>
                      </m:sup>
                    </m:sSubSup>
                    <m:r>
                      <m:rPr>
                        <m:sty m:val="p"/>
                      </m:rPr>
                      <a:rPr lang="en-US" i="0" sz="1800">
                        <a:latin typeface="Cambria Math" panose="02040503050406030204" pitchFamily="18" charset="0"/>
                      </a:rPr>
                      <m:t>/</m:t>
                    </m:r>
                    <m:d>
                      <m:dPr>
                        <m:begChr m:val="("/>
                        <m:endChr m:val=")"/>
                        <m:sepChr m:val=""/>
                        <m:grow/>
                      </m:dPr>
                      <m:e>
                        <m:r>
                          <a:rPr lang="en-US" i="1" sz="1800">
                            <a:latin typeface="Cambria Math" panose="02040503050406030204" pitchFamily="18" charset="0"/>
                          </a:rPr>
                          <m:t>8</m:t>
                        </m:r>
                        <m:sSub>
                          <m:e>
                            <m:r>
                              <a:rPr lang="en-US" i="1" sz="1800">
                                <a:latin typeface="Cambria Math" panose="02040503050406030204" pitchFamily="18" charset="0"/>
                              </a:rPr>
                              <m:t>R</m:t>
                            </m:r>
                          </m:e>
                          <m:sub>
                            <m:r>
                              <a:rPr lang="en-US" i="1" sz="1800">
                                <a:latin typeface="Cambria Math" panose="02040503050406030204" pitchFamily="18" charset="0"/>
                              </a:rPr>
                              <m:t>p</m:t>
                            </m:r>
                            <m:r>
                              <a:rPr lang="en-US" i="1" sz="1800">
                                <a:latin typeface="Cambria Math" panose="02040503050406030204" pitchFamily="18" charset="0"/>
                              </a:rPr>
                              <m:t>a</m:t>
                            </m:r>
                            <m:r>
                              <a:rPr lang="en-US" i="1" sz="1800">
                                <a:latin typeface="Cambria Math" panose="02040503050406030204" pitchFamily="18" charset="0"/>
                              </a:rPr>
                              <m:t>t</m:t>
                            </m:r>
                            <m:r>
                              <a:rPr lang="en-US" i="1" sz="1800">
                                <a:latin typeface="Cambria Math" panose="02040503050406030204" pitchFamily="18" charset="0"/>
                              </a:rPr>
                              <m:t>h</m:t>
                            </m:r>
                          </m:sub>
                        </m:sSub>
                      </m:e>
                    </m:d>
                  </m:oMath>
                </a14:m>
              </a:p>
              <a:p>
                <a:pPr/>
                <a:r>
                  <a:rPr lang="en-US" dirty="0" sz="2000" b="1"/>
                  <a:t xml:space="preserve">Each cycle: </a:t>
                </a:r>
                <a:r>
                  <a:rPr lang="en-US" dirty="0" sz="2000"/>
                  <a:t xml:space="preserve">(1) path → vehicle frame; (2) goal point = first path point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sSub>
                      <m:e>
                        <m:r>
                          <a:rPr lang="en-US" i="1" sz="2000">
                            <a:latin typeface="Cambria Math" panose="02040503050406030204" pitchFamily="18" charset="0"/>
                          </a:rPr>
                          <m:t>L</m:t>
                        </m:r>
                      </m:e>
                      <m:sub>
                        <m:r>
                          <a:rPr lang="en-US" i="1" sz="2000">
                            <a:latin typeface="Cambria Math" panose="02040503050406030204" pitchFamily="18" charset="0"/>
                          </a:rPr>
                          <m:t>d</m:t>
                        </m:r>
                      </m:sub>
                    </m:sSub>
                  </m:oMath>
                </a14:m>
                <a:r>
                  <a:rPr lang="en-US" dirty="0" sz="2000"/>
                  <a:t xml:space="preserve"> away; (3)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α</m:t>
                    </m:r>
                    <m:r>
                      <m:rPr>
                        <m:sty m:val="p"/>
                      </m:rPr>
                      <a:rPr lang="en-US" i="0" sz="2000">
                        <a:latin typeface="Cambria Math" panose="02040503050406030204" pitchFamily="18" charset="0"/>
                      </a:rPr>
                      <m:t>=</m:t>
                    </m:r>
                    <m:r>
                      <m:rPr>
                        <m:sty m:val="p"/>
                      </m:rPr>
                      <a:rPr lang="en-US" i="0" sz="2000">
                        <a:latin typeface="Cambria Math" panose="02040503050406030204" pitchFamily="18" charset="0"/>
                      </a:rPr>
                      <m:t>a</m:t>
                    </m:r>
                    <m:r>
                      <m:rPr>
                        <m:sty m:val="p"/>
                      </m:rPr>
                      <a:rPr lang="en-US" i="0" sz="2000">
                        <a:latin typeface="Cambria Math" panose="02040503050406030204" pitchFamily="18" charset="0"/>
                      </a:rPr>
                      <m:t>t</m:t>
                    </m:r>
                    <m:r>
                      <m:rPr>
                        <m:sty m:val="p"/>
                      </m:rPr>
                      <a:rPr lang="en-US" i="0" sz="2000">
                        <a:latin typeface="Cambria Math" panose="02040503050406030204" pitchFamily="18" charset="0"/>
                      </a:rPr>
                      <m:t>a</m:t>
                    </m:r>
                    <m:r>
                      <m:rPr>
                        <m:sty m:val="p"/>
                      </m:rPr>
                      <a:rPr lang="en-US" i="0" sz="2000">
                        <a:latin typeface="Cambria Math" panose="02040503050406030204" pitchFamily="18" charset="0"/>
                      </a:rPr>
                      <m:t>n</m:t>
                    </m:r>
                    <m:r>
                      <m:rPr>
                        <m:sty m:val="p"/>
                      </m:rPr>
                      <a:rPr lang="en-US" i="0" sz="2000">
                        <a:latin typeface="Cambria Math" panose="02040503050406030204" pitchFamily="18" charset="0"/>
                      </a:rPr>
                      <m:t>2</m:t>
                    </m:r>
                    <m:d>
                      <m:dPr>
                        <m:begChr m:val="("/>
                        <m:endChr m:val=")"/>
                        <m:sepChr m:val=""/>
                        <m:grow/>
                      </m:dPr>
                      <m:e>
                        <m:sSub>
                          <m:e>
                            <m:r>
                              <a:rPr lang="en-US" i="1" sz="2000">
                                <a:latin typeface="Cambria Math" panose="02040503050406030204" pitchFamily="18" charset="0"/>
                              </a:rPr>
                              <m:t>y</m:t>
                            </m:r>
                          </m:e>
                          <m:sub>
                            <m:r>
                              <a:rPr lang="en-US" i="1" sz="2000">
                                <a:latin typeface="Cambria Math" panose="02040503050406030204" pitchFamily="18" charset="0"/>
                              </a:rPr>
                              <m:t>g</m:t>
                            </m:r>
                          </m:sub>
                        </m:sSub>
                        <m:r>
                          <m:rPr>
                            <m:sty m:val="p"/>
                          </m:rPr>
                          <a:rPr lang="en-US" i="0" sz="2000">
                            <a:latin typeface="Cambria Math" panose="02040503050406030204" pitchFamily="18" charset="0"/>
                          </a:rPr>
                          <m:t>,</m:t>
                        </m:r>
                        <m:sSub>
                          <m:e>
                            <m:r>
                              <a:rPr lang="en-US" i="1" sz="2000">
                                <a:latin typeface="Cambria Math" panose="02040503050406030204" pitchFamily="18" charset="0"/>
                              </a:rPr>
                              <m:t>x</m:t>
                            </m:r>
                          </m:e>
                          <m:sub>
                            <m:r>
                              <a:rPr lang="en-US" i="1" sz="2000">
                                <a:latin typeface="Cambria Math" panose="02040503050406030204" pitchFamily="18" charset="0"/>
                              </a:rPr>
                              <m:t>g</m:t>
                            </m:r>
                          </m:sub>
                        </m:sSub>
                      </m:e>
                    </m:d>
                  </m:oMath>
                </a14:m>
                <a:r>
                  <a:rPr lang="en-US" dirty="0" sz="2000"/>
                  <a:t xml:space="preserv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r>
                      <m:rPr>
                        <m:sty m:val="p"/>
                      </m:rPr>
                      <a:rPr lang="en-US" i="0" sz="2000">
                        <a:latin typeface="Cambria Math" panose="02040503050406030204" pitchFamily="18" charset="0"/>
                      </a:rPr>
                      <m:t>a</m:t>
                    </m:r>
                    <m:r>
                      <m:rPr>
                        <m:sty m:val="p"/>
                      </m:rPr>
                      <a:rPr lang="en-US" i="0" sz="2000">
                        <a:latin typeface="Cambria Math" panose="02040503050406030204" pitchFamily="18" charset="0"/>
                      </a:rPr>
                      <m:t>t</m:t>
                    </m:r>
                    <m:r>
                      <m:rPr>
                        <m:sty m:val="p"/>
                      </m:rPr>
                      <a:rPr lang="en-US" i="0" sz="2000">
                        <a:latin typeface="Cambria Math" panose="02040503050406030204" pitchFamily="18" charset="0"/>
                      </a:rPr>
                      <m:t>a</m:t>
                    </m:r>
                    <m:r>
                      <m:rPr>
                        <m:sty m:val="p"/>
                      </m:rPr>
                      <a:rPr lang="en-US" i="0" sz="2000">
                        <a:latin typeface="Cambria Math" panose="02040503050406030204" pitchFamily="18" charset="0"/>
                      </a:rPr>
                      <m:t>n</m:t>
                    </m:r>
                    <m:r>
                      <m:rPr>
                        <m:sty m:val="p"/>
                      </m:rPr>
                      <a:rPr lang="en-US" i="0" sz="2000">
                        <a:latin typeface="Cambria Math" panose="02040503050406030204" pitchFamily="18" charset="0"/>
                      </a:rPr>
                      <m:t>2</m:t>
                    </m:r>
                    <m:d>
                      <m:dPr>
                        <m:begChr m:val="("/>
                        <m:endChr m:val=")"/>
                        <m:sepChr m:val=""/>
                        <m:grow/>
                      </m:dPr>
                      <m:e>
                        <m:r>
                          <a:rPr lang="en-US" i="1" sz="2000">
                            <a:latin typeface="Cambria Math" panose="02040503050406030204" pitchFamily="18" charset="0"/>
                          </a:rPr>
                          <m:t>2</m:t>
                        </m:r>
                        <m:r>
                          <a:rPr lang="en-US" i="1" sz="2000">
                            <a:latin typeface="Cambria Math" panose="02040503050406030204" pitchFamily="18" charset="0"/>
                          </a:rPr>
                          <m:t>L</m:t>
                        </m:r>
                        <m:r>
                          <m:rPr>
                            <m:sty m:val="p"/>
                          </m:rPr>
                          <a:rPr lang="en-US" i="0" sz="2000">
                            <a:latin typeface="Cambria Math" panose="02040503050406030204" pitchFamily="18" charset="0"/>
                          </a:rPr>
                          <m:t>sin</m:t>
                        </m:r>
                        <m:r>
                          <a:rPr lang="en-US" i="1" sz="2000">
                            <a:latin typeface="Cambria Math" panose="02040503050406030204" pitchFamily="18" charset="0"/>
                          </a:rPr>
                          <m:t>α</m:t>
                        </m:r>
                        <m:r>
                          <m:rPr>
                            <m:sty m:val="p"/>
                          </m:rPr>
                          <a:rPr lang="en-US" i="0" sz="2000">
                            <a:latin typeface="Cambria Math" panose="02040503050406030204" pitchFamily="18" charset="0"/>
                          </a:rPr>
                          <m:t>,</m:t>
                        </m:r>
                        <m:sSub>
                          <m:e>
                            <m:r>
                              <a:rPr lang="en-US" i="1" sz="2000">
                                <a:latin typeface="Cambria Math" panose="02040503050406030204" pitchFamily="18" charset="0"/>
                              </a:rPr>
                              <m:t>L</m:t>
                            </m:r>
                          </m:e>
                          <m:sub>
                            <m:r>
                              <a:rPr lang="en-US" i="1" sz="2000">
                                <a:latin typeface="Cambria Math" panose="02040503050406030204" pitchFamily="18" charset="0"/>
                              </a:rPr>
                              <m:t>d</m:t>
                            </m:r>
                          </m:sub>
                        </m:sSub>
                      </m:e>
                    </m:d>
                  </m:oMath>
                </a14:m>
                <a:r>
                  <a:rPr lang="en-US" dirty="0" sz="2000"/>
                  <a:t>; (4) clip δ to the steering limit</a:t>
                </a:r>
              </a:p>
              <a:p>
                <a:pPr/>
                <a:r>
                  <a:rPr lang="en-US" dirty="0" sz="2000"/>
                  <a:t>No tire/dynamics model: good at low–medium speed. Autoware offers pure pursuit as an alternative lateral controller (default: MPC)</a:t>
                </a:r>
              </a:p>
            </p:txBody>
          </p:sp>
        </mc:Choice>
        <mc:Fallback>
          <p:sp>
            <p:nvSpPr>
              <p:cNvPr id="3" name="Content Placeholder 2"/>
              <p:cNvSpPr>
                <a:spLocks noGrp="1"/>
              </p:cNvSpPr>
              <p:nvPr>
                <p:ph idx="1"/>
              </p:nvPr>
            </p:nvSpPr>
            <p:spPr>
              <a:xfrm>
                <a:off x="621792" y="1188720"/>
                <a:ext cx="6355080" cy="5349240"/>
              </a:xfrm>
            </p:spPr>
            <p:txBody>
              <a:bodyPr>
                <a:normAutofit/>
              </a:bodyPr>
              <a:lstStyle/>
              <a:p>
                <a:pPr/>
                <a:r>
                  <a:rPr lang="en-US" dirty="0" sz="2000"/>
                  <a:t xml:space="preserve">Goal point in the vehicle frame </a:t>
                </a:r>
                <a:r>
                  <a:rPr lang="en-US" dirty="0" sz="2000"/>
                  <a:t>(x_g, y_g)</a:t>
                </a:r>
                <a:r>
                  <a:rPr lang="en-US" dirty="0" sz="2000"/>
                  <a:t xml:space="preserve">: </a:t>
                </a:r>
                <a:r>
                  <a:rPr lang="en-US" dirty="0" sz="2000"/>
                  <a:t>sin α = y_g / L_d</a:t>
                </a:r>
                <a:r>
                  <a:rPr lang="en-US" dirty="0" sz="2000"/>
                  <a:t xml:space="preserve"> ⇒ </a:t>
                </a:r>
                <a:r>
                  <a:rPr lang="en-US" dirty="0" sz="2000"/>
                  <a:t>κ = 2 y_g / L_d²</a:t>
                </a:r>
              </a:p>
              <a:p>
                <a:pPr lvl="1"/>
                <a:r>
                  <a:rPr lang="en-US" dirty="0" sz="1800"/>
                  <a:t xml:space="preserve">Proportional control of the goal point’s lateral offset, gain </a:t>
                </a:r>
                <a:r>
                  <a:rPr lang="en-US" dirty="0" sz="1800"/>
                  <a:t>2 / L_d²</a:t>
                </a:r>
              </a:p>
              <a:p>
                <a:pPr/>
                <a:r>
                  <a:rPr lang="en-US" dirty="0" sz="2000" b="1"/>
                  <a:t xml:space="preserve">Lookahead </a:t>
                </a:r>
                <a:r>
                  <a:rPr lang="en-US" dirty="0" sz="2000"/>
                  <a:t xml:space="preserve">grows with speed: </a:t>
                </a:r>
                <a:r>
                  <a:rPr lang="en-US" dirty="0" sz="2000"/>
                  <a:t>L_d = k_v v + L_0</a:t>
                </a:r>
              </a:p>
              <a:p>
                <a:pPr lvl="1"/>
                <a:r>
                  <a:rPr lang="en-US" dirty="0" sz="1800"/>
                  <a:t xml:space="preserve">Small </a:t>
                </a:r>
                <a:r>
                  <a:rPr lang="en-US" dirty="0" sz="1800"/>
                  <a:t>L_d</a:t>
                </a:r>
                <a:r>
                  <a:rPr lang="en-US" dirty="0" sz="1800"/>
                  <a:t>: tight tracking, but oscillation and noise sensitivity</a:t>
                </a:r>
              </a:p>
              <a:p>
                <a:pPr lvl="1"/>
                <a:r>
                  <a:rPr lang="en-US" dirty="0" sz="1800"/>
                  <a:t xml:space="preserve">Large </a:t>
                </a:r>
                <a:r>
                  <a:rPr lang="en-US" dirty="0" sz="1800"/>
                  <a:t>L_d</a:t>
                </a:r>
                <a:r>
                  <a:rPr lang="en-US" dirty="0" sz="1800"/>
                  <a:t xml:space="preserve">: smooth and stable, but cuts corners: error ≈ </a:t>
                </a:r>
                <a:r>
                  <a:rPr lang="en-US" dirty="0" sz="1800"/>
                  <a:t>L_d² / (8 R_path)</a:t>
                </a:r>
              </a:p>
              <a:p>
                <a:pPr/>
                <a:r>
                  <a:rPr lang="en-US" dirty="0" sz="2000" b="1"/>
                  <a:t xml:space="preserve">Each cycle: </a:t>
                </a:r>
                <a:r>
                  <a:rPr lang="en-US" dirty="0" sz="2000"/>
                  <a:t xml:space="preserve">(1) path → vehicle frame; (2) goal point = first path point ≥ </a:t>
                </a:r>
                <a:r>
                  <a:rPr lang="en-US" dirty="0" sz="2000"/>
                  <a:t>L_d</a:t>
                </a:r>
                <a:r>
                  <a:rPr lang="en-US" dirty="0" sz="2000"/>
                  <a:t xml:space="preserve"> away; (3) </a:t>
                </a:r>
                <a:r>
                  <a:rPr lang="en-US" dirty="0" sz="2000"/>
                  <a:t>α = atan2(y_g, x_g)</a:t>
                </a:r>
                <a:r>
                  <a:rPr lang="en-US" dirty="0" sz="2000"/>
                  <a:t xml:space="preserve">, </a:t>
                </a:r>
                <a:r>
                  <a:rPr lang="en-US" dirty="0" sz="2000"/>
                  <a:t>δ = atan2(2 L sin α, L_d)</a:t>
                </a:r>
                <a:r>
                  <a:rPr lang="en-US" dirty="0" sz="2000"/>
                  <a:t>; (4) clip δ to the steering limit</a:t>
                </a:r>
              </a:p>
              <a:p>
                <a:pPr/>
                <a:r>
                  <a:rPr lang="en-US" dirty="0" sz="2000"/>
                  <a:t>No tire/dynamics model: good at low–medium speed. Autoware offers pure pursuit as an alternative lateral controller (default: MPC)</a:t>
                </a:r>
              </a:p>
            </p:txBody>
          </p:sp>
        </mc:Fallback>
      </mc:AlternateContent>
      <p:pic>
        <p:nvPicPr>
          <p:cNvPr id="4" name="Picture 3" descr="Cross-track error of pure pursuit in a corner for three lookahead distances"/>
          <p:cNvPicPr>
            <a:picLocks noChangeAspect="1"/>
          </p:cNvPicPr>
          <p:nvPr/>
        </p:nvPicPr>
        <p:blipFill>
          <a:blip r:embed="rId3"/>
          <a:stretch>
            <a:fillRect/>
          </a:stretch>
        </p:blipFill>
        <p:spPr>
          <a:xfrm>
            <a:off x="7040880" y="1325880"/>
            <a:ext cx="4892040" cy="3471249"/>
          </a:xfrm>
          <a:prstGeom prst="rect">
            <a:avLst/>
          </a:prstGeom>
        </p:spPr>
      </p:pic>
      <p:sp>
        <p:nvSpPr>
          <p:cNvPr id="5" name="TextBox"/>
          <p:cNvSpPr txBox="1"/>
          <p:nvPr/>
        </p:nvSpPr>
        <p:spPr>
          <a:xfrm>
            <a:off x="7040880" y="5166360"/>
            <a:ext cx="4892040" cy="914400"/>
          </a:xfrm>
          <a:prstGeom prst="rect">
            <a:avLst/>
          </a:prstGeom>
          <a:solidFill>
            <a:srgbClr val="F2F2F2"/>
          </a:solidFill>
        </p:spPr>
        <p:txBody>
          <a:bodyPr wrap="square" lIns="73152" tIns="73152" rIns="73152" bIns="73152" anchor="t"/>
          <a:lstStyle/>
          <a:p>
            <a:pPr marL="0" indent="0">
              <a:buNone/>
            </a:pPr>
            <a:r>
              <a:rPr lang="en-US" dirty="0" sz="1600" b="1"/>
              <a:t xml:space="preserve">Simulated peak error </a:t>
            </a:r>
            <a:r>
              <a:rPr lang="en-US" dirty="0" sz="1600"/>
              <a:t xml:space="preserve">(v = 5 m/s, R = 20 m corner): </a:t>
            </a:r>
            <a:r>
              <a:rPr lang="en-US" dirty="0" sz="1600"/>
              <a:t>L_d</a:t>
            </a:r>
            <a:r>
              <a:rPr lang="en-US" dirty="0" sz="1600"/>
              <a:t xml:space="preserve"> = 2 m → 0.02 m; 5 m → 0.13 m; 10 m → 0.55 m</a:t>
            </a:r>
          </a:p>
        </p:txBody>
      </p:sp>
      <p:sp>
        <p:nvSpPr>
          <p:cNvPr id="6"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Stanley Controller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172200" cy="5349240"/>
              </a:xfrm>
            </p:spPr>
            <p:txBody>
              <a:bodyPr>
                <a:normAutofit/>
              </a:bodyPr>
              <a:lstStyle/>
              <a:p>
                <a:pPr/>
                <a:r>
                  <a:rPr lang="en-US" dirty="0" sz="2000"/>
                  <a:t>Controller of Stanford’s DARPA Grand Challenge winner “Stanley” (Hoffmann et al., 2007)</a:t>
                </a:r>
              </a:p>
              <a:p>
                <a:pPr/>
                <a:r>
                  <a:rPr lang="en-US" dirty="0" sz="2000"/>
                  <a:t xml:space="preserve">Reference point: </a:t>
                </a:r>
                <a:r>
                  <a:rPr lang="en-US" dirty="0" sz="2000" b="1"/>
                  <a:t>front axle</a:t>
                </a:r>
                <a:r>
                  <a:rPr lang="en-US" dirty="0" sz="2000"/>
                  <a:t>. Two errors:</a:t>
                </a:r>
              </a:p>
              <a:p>
                <a:pPr lvl="1"/>
                <a:r>
                  <a:rPr lang="en-US" dirty="0" sz="1800" b="1"/>
                  <a:t xml:space="preserve">Heading error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ψ</m:t>
                    </m:r>
                  </m:oMath>
                </a14:m>
                <a:r>
                  <a:rPr lang="en-US" dirty="0" sz="1800"/>
                  <a:t>: path tangent direction − vehicle heading</a:t>
                </a:r>
              </a:p>
              <a:p>
                <a:pPr lvl="1"/>
                <a:r>
                  <a:rPr lang="en-US" dirty="0" sz="1800" b="1"/>
                  <a:t xml:space="preserve">Cross-track error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e</m:t>
                    </m:r>
                  </m:oMath>
                </a14:m>
                <a:r>
                  <a:rPr lang="en-US" dirty="0" sz="1800"/>
                  <a:t>: signed distance from the front axle to the nearest path point (positive if the path is on the left)</a:t>
                </a:r>
              </a:p>
              <a:p>
                <a:pPr/>
                <a:r>
                  <a:rPr lang="en-US" dirty="0" sz="2000"/>
                  <a:t>Steering law:</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r>
                      <a:rPr lang="en-US" i="1" sz="2000">
                        <a:latin typeface="Cambria Math" panose="02040503050406030204" pitchFamily="18" charset="0"/>
                      </a:rPr>
                      <m:t>ψ</m:t>
                    </m:r>
                    <m:r>
                      <m:rPr>
                        <m:sty m:val="p"/>
                      </m:rPr>
                      <a:rPr lang="en-US" i="0" sz="2000">
                        <a:latin typeface="Cambria Math" panose="02040503050406030204" pitchFamily="18" charset="0"/>
                      </a:rPr>
                      <m:t>+</m:t>
                    </m:r>
                    <m:r>
                      <m:rPr>
                        <m:sty m:val="p"/>
                      </m:rPr>
                      <a:rPr lang="en-US" i="0" sz="2000">
                        <a:latin typeface="Cambria Math" panose="02040503050406030204" pitchFamily="18" charset="0"/>
                      </a:rPr>
                      <m:t>arctan</m:t>
                    </m:r>
                    <m:d>
                      <m:dPr>
                        <m:begChr m:val="("/>
                        <m:endChr m:val=")"/>
                        <m:sepChr m:val=""/>
                        <m:grow/>
                      </m:dPr>
                      <m:e>
                        <m:f>
                          <m:fPr>
                            <m:type m:val="bar"/>
                          </m:fPr>
                          <m:num>
                            <m:r>
                              <a:rPr lang="en-US" i="1" sz="2000">
                                <a:latin typeface="Cambria Math" panose="02040503050406030204" pitchFamily="18" charset="0"/>
                              </a:rPr>
                              <m:t>k</m:t>
                            </m:r>
                            <m:r>
                              <a:rPr lang="en-US" i="1" sz="2000">
                                <a:latin typeface="Cambria Math" panose="02040503050406030204" pitchFamily="18" charset="0"/>
                              </a:rPr>
                              <m:t> </m:t>
                            </m:r>
                            <m:r>
                              <a:rPr lang="en-US" i="1" sz="2000">
                                <a:latin typeface="Cambria Math" panose="02040503050406030204" pitchFamily="18" charset="0"/>
                              </a:rPr>
                              <m:t>e</m:t>
                            </m:r>
                          </m:num>
                          <m:den>
                            <m:r>
                              <a:rPr lang="en-US" i="1" sz="2000">
                                <a:latin typeface="Cambria Math" panose="02040503050406030204" pitchFamily="18" charset="0"/>
                              </a:rPr>
                              <m:t>v</m:t>
                            </m:r>
                          </m:den>
                        </m:f>
                      </m:e>
                    </m:d>
                  </m:oMath>
                </a14:m>
              </a:p>
              <a:p>
                <a:pPr lvl="1"/>
                <a:r>
                  <a:rPr lang="en-US" dirty="0" sz="1800"/>
                  <a:t xml:space="preserve">1st term: align the wheels with the path; 2nd term: steer toward the path, more for large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e</m:t>
                    </m:r>
                  </m:oMath>
                </a14:m>
                <a:r>
                  <a:rPr lang="en-US" dirty="0" sz="1800"/>
                  <a:t xml:space="preserve">, less at high speed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v</m:t>
                    </m:r>
                  </m:oMath>
                </a14:m>
              </a:p>
              <a:p>
                <a:pPr/>
                <a:r>
                  <a:rPr lang="en-US" dirty="0" sz="2000"/>
                  <a:t xml:space="preserve">Practical version: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m:rPr>
                        <m:sty m:val="p"/>
                      </m:rPr>
                      <a:rPr lang="en-US" i="0" sz="2000">
                        <a:latin typeface="Cambria Math" panose="02040503050406030204" pitchFamily="18" charset="0"/>
                      </a:rPr>
                      <m:t>arctan</m:t>
                    </m:r>
                    <m:d>
                      <m:dPr>
                        <m:begChr m:val="("/>
                        <m:endChr m:val=")"/>
                        <m:sepChr m:val=""/>
                        <m:grow/>
                      </m:dPr>
                      <m:e>
                        <m:f>
                          <m:fPr>
                            <m:type m:val="bar"/>
                          </m:fPr>
                          <m:num>
                            <m:r>
                              <a:rPr lang="en-US" i="1" sz="2000">
                                <a:latin typeface="Cambria Math" panose="02040503050406030204" pitchFamily="18" charset="0"/>
                              </a:rPr>
                              <m:t>k</m:t>
                            </m:r>
                            <m:r>
                              <a:rPr lang="en-US" i="1" sz="2000">
                                <a:latin typeface="Cambria Math" panose="02040503050406030204" pitchFamily="18" charset="0"/>
                              </a:rPr>
                              <m:t> </m:t>
                            </m:r>
                            <m:r>
                              <a:rPr lang="en-US" i="1" sz="2000">
                                <a:latin typeface="Cambria Math" panose="02040503050406030204" pitchFamily="18" charset="0"/>
                              </a:rPr>
                              <m:t>e</m:t>
                            </m:r>
                          </m:num>
                          <m:den>
                            <m:sSub>
                              <m:e>
                                <m:r>
                                  <a:rPr lang="en-US" i="1" sz="2000">
                                    <a:latin typeface="Cambria Math" panose="02040503050406030204" pitchFamily="18" charset="0"/>
                                  </a:rPr>
                                  <m:t>k</m:t>
                                </m:r>
                              </m:e>
                              <m:sub>
                                <m:r>
                                  <a:rPr lang="en-US" i="1" sz="2000">
                                    <a:latin typeface="Cambria Math" panose="02040503050406030204" pitchFamily="18" charset="0"/>
                                  </a:rPr>
                                  <m:t>s</m:t>
                                </m:r>
                              </m:sub>
                            </m:sSub>
                            <m:r>
                              <m:rPr>
                                <m:sty m:val="p"/>
                              </m:rPr>
                              <a:rPr lang="en-US" i="0" sz="2000">
                                <a:latin typeface="Cambria Math" panose="02040503050406030204" pitchFamily="18" charset="0"/>
                              </a:rPr>
                              <m:t>+</m:t>
                            </m:r>
                            <m:r>
                              <a:rPr lang="en-US" i="1" sz="2000">
                                <a:latin typeface="Cambria Math" panose="02040503050406030204" pitchFamily="18" charset="0"/>
                              </a:rPr>
                              <m:t>v</m:t>
                            </m:r>
                          </m:den>
                        </m:f>
                      </m:e>
                    </m:d>
                  </m:oMath>
                </a14:m>
                <a:r>
                  <a:rPr lang="en-US" dirty="0" sz="2000"/>
                  <a:t xml:space="preserve"> (no division by zero at standstill); clip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oMath>
                </a14:m>
                <a:r>
                  <a:rPr lang="en-US" dirty="0" sz="2000"/>
                  <a:t xml:space="preserve"> to the steering limit</a:t>
                </a:r>
              </a:p>
              <a:p>
                <a:pPr/>
                <a:r>
                  <a:rPr lang="en-US" dirty="0" sz="2000"/>
                  <a:t xml:space="preserve">Example: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k</m:t>
                    </m:r>
                    <m:r>
                      <m:rPr>
                        <m:sty m:val="p"/>
                      </m:rPr>
                      <a:rPr lang="en-US" i="0" sz="2000">
                        <a:latin typeface="Cambria Math" panose="02040503050406030204" pitchFamily="18" charset="0"/>
                      </a:rPr>
                      <m:t>=</m:t>
                    </m:r>
                    <m:r>
                      <a:rPr lang="en-US" i="1" sz="2000">
                        <a:latin typeface="Cambria Math" panose="02040503050406030204" pitchFamily="18" charset="0"/>
                      </a:rPr>
                      <m:t>1</m:t>
                    </m:r>
                    <m:r>
                      <a:rPr lang="en-US" i="1" sz="2000">
                        <a:latin typeface="Cambria Math" panose="02040503050406030204" pitchFamily="18" charset="0"/>
                      </a:rPr>
                      <m:t> </m:t>
                    </m:r>
                    <m:sSup>
                      <m:e>
                        <m:r>
                          <m:rPr>
                            <m:sty m:val="p"/>
                          </m:rPr>
                          <a:rPr lang="en-US" i="0" sz="2000">
                            <a:latin typeface="Cambria Math" panose="02040503050406030204" pitchFamily="18" charset="0"/>
                          </a:rPr>
                          <m:t>s</m:t>
                        </m:r>
                      </m:e>
                      <m:sup>
                        <m:r>
                          <m:rPr>
                            <m:sty m:val="p"/>
                          </m:rPr>
                          <a:rPr lang="en-US" i="0" sz="2000">
                            <a:latin typeface="Cambria Math" panose="02040503050406030204" pitchFamily="18" charset="0"/>
                          </a:rPr>
                          <m:t>−</m:t>
                        </m:r>
                        <m:r>
                          <m:rPr>
                            <m:sty m:val="p"/>
                          </m:rPr>
                          <a:rPr lang="en-US" i="0" sz="2000">
                            <a:latin typeface="Cambria Math" panose="02040503050406030204" pitchFamily="18" charset="0"/>
                          </a:rPr>
                          <m:t>1</m:t>
                        </m:r>
                      </m:sup>
                    </m:sSup>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v</m:t>
                    </m:r>
                    <m:r>
                      <m:rPr>
                        <m:sty m:val="p"/>
                      </m:rPr>
                      <a:rPr lang="en-US" i="0" sz="2000">
                        <a:latin typeface="Cambria Math" panose="02040503050406030204" pitchFamily="18" charset="0"/>
                      </a:rPr>
                      <m:t>=</m:t>
                    </m:r>
                    <m:r>
                      <a:rPr lang="en-US" i="1" sz="2000">
                        <a:latin typeface="Cambria Math" panose="02040503050406030204" pitchFamily="18" charset="0"/>
                      </a:rPr>
                      <m:t>5</m:t>
                    </m:r>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e</m:t>
                    </m:r>
                    <m:r>
                      <m:rPr>
                        <m:sty m:val="p"/>
                      </m:rPr>
                      <a:rPr lang="en-US" i="0" sz="2000">
                        <a:latin typeface="Cambria Math" panose="02040503050406030204" pitchFamily="18" charset="0"/>
                      </a:rPr>
                      <m:t>=</m:t>
                    </m:r>
                    <m:r>
                      <a:rPr lang="en-US" i="1" sz="2000">
                        <a:latin typeface="Cambria Math" panose="02040503050406030204" pitchFamily="18" charset="0"/>
                      </a:rPr>
                      <m:t>0.5</m:t>
                    </m:r>
                    <m:r>
                      <m:rPr>
                        <m:sty m:val="p"/>
                      </m:rPr>
                      <a:rPr lang="en-US" i="0" sz="2000">
                        <a:latin typeface="Cambria Math" panose="02040503050406030204" pitchFamily="18" charset="0"/>
                      </a:rPr>
                      <m:t>,</m:t>
                    </m:r>
                    <m:r>
                      <a:rPr lang="en-US" i="1" sz="2000">
                        <a:latin typeface="Cambria Math" panose="02040503050406030204" pitchFamily="18" charset="0"/>
                      </a:rPr>
                      <m:t> </m:t>
                    </m:r>
                    <m:r>
                      <a:rPr lang="en-US" i="1" sz="2000">
                        <a:latin typeface="Cambria Math" panose="02040503050406030204" pitchFamily="18" charset="0"/>
                      </a:rPr>
                      <m:t>ψ</m:t>
                    </m:r>
                    <m:r>
                      <m:rPr>
                        <m:sty m:val="p"/>
                      </m:rPr>
                      <a:rPr lang="en-US" i="0" sz="2000">
                        <a:latin typeface="Cambria Math" panose="02040503050406030204" pitchFamily="18" charset="0"/>
                      </a:rPr>
                      <m:t>=</m:t>
                    </m:r>
                    <m:r>
                      <a:rPr lang="en-US" i="1" sz="2000">
                        <a:latin typeface="Cambria Math" panose="02040503050406030204" pitchFamily="18" charset="0"/>
                      </a:rPr>
                      <m:t>0.1</m:t>
                    </m:r>
                  </m:oMath>
                </a14:m>
                <a:r>
                  <a:rPr lang="en-US" dirty="0" sz="2000"/>
                  <a:t xml:space="preserve">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δ</m:t>
                    </m:r>
                    <m:r>
                      <m:rPr>
                        <m:sty m:val="p"/>
                      </m:rPr>
                      <a:rPr lang="en-US" i="0" sz="2000">
                        <a:latin typeface="Cambria Math" panose="02040503050406030204" pitchFamily="18" charset="0"/>
                      </a:rPr>
                      <m:t>=</m:t>
                    </m:r>
                    <m:r>
                      <a:rPr lang="en-US" i="1" sz="2000">
                        <a:latin typeface="Cambria Math" panose="02040503050406030204" pitchFamily="18" charset="0"/>
                      </a:rPr>
                      <m:t>0.1</m:t>
                    </m:r>
                    <m:r>
                      <m:rPr>
                        <m:sty m:val="p"/>
                      </m:rPr>
                      <a:rPr lang="en-US" i="0" sz="2000">
                        <a:latin typeface="Cambria Math" panose="02040503050406030204" pitchFamily="18" charset="0"/>
                      </a:rPr>
                      <m:t>+</m:t>
                    </m:r>
                    <m:r>
                      <m:rPr>
                        <m:sty m:val="p"/>
                      </m:rPr>
                      <a:rPr lang="en-US" i="0" sz="2000">
                        <a:latin typeface="Cambria Math" panose="02040503050406030204" pitchFamily="18" charset="0"/>
                      </a:rPr>
                      <m:t>arctan</m:t>
                    </m:r>
                    <m:d>
                      <m:dPr>
                        <m:begChr m:val="("/>
                        <m:endChr m:val=")"/>
                        <m:sepChr m:val=""/>
                        <m:grow/>
                      </m:dPr>
                      <m:e>
                        <m:r>
                          <a:rPr lang="en-US" i="1" sz="2000">
                            <a:latin typeface="Cambria Math" panose="02040503050406030204" pitchFamily="18" charset="0"/>
                          </a:rPr>
                          <m:t>0.1</m:t>
                        </m:r>
                      </m:e>
                    </m:d>
                    <m:r>
                      <m:rPr>
                        <m:sty m:val="p"/>
                      </m:rPr>
                      <a:rPr lang="en-US" i="0" sz="2000">
                        <a:latin typeface="Cambria Math" panose="02040503050406030204" pitchFamily="18" charset="0"/>
                      </a:rPr>
                      <m:t>≈</m:t>
                    </m:r>
                    <m:sSup>
                      <m:e>
                        <m:r>
                          <a:rPr lang="en-US" i="1" sz="2000">
                            <a:latin typeface="Cambria Math" panose="02040503050406030204" pitchFamily="18" charset="0"/>
                          </a:rPr>
                          <m:t>11.4</m:t>
                        </m:r>
                      </m:e>
                      <m:sup>
                        <m:r>
                          <m:rPr>
                            <m:sty m:val="p"/>
                          </m:rPr>
                          <a:rPr lang="en-US" i="0" sz="2000">
                            <a:latin typeface="Cambria Math" panose="02040503050406030204" pitchFamily="18" charset="0"/>
                          </a:rPr>
                          <m:t>∘</m:t>
                        </m:r>
                      </m:sup>
                    </m:sSup>
                  </m:oMath>
                </a14:m>
              </a:p>
            </p:txBody>
          </p:sp>
        </mc:Choice>
        <mc:Fallback>
          <p:sp>
            <p:nvSpPr>
              <p:cNvPr id="3" name="Content Placeholder 2"/>
              <p:cNvSpPr>
                <a:spLocks noGrp="1"/>
              </p:cNvSpPr>
              <p:nvPr>
                <p:ph idx="1"/>
              </p:nvPr>
            </p:nvSpPr>
            <p:spPr>
              <a:xfrm>
                <a:off x="621792" y="1188720"/>
                <a:ext cx="6172200" cy="5349240"/>
              </a:xfrm>
            </p:spPr>
            <p:txBody>
              <a:bodyPr>
                <a:normAutofit/>
              </a:bodyPr>
              <a:lstStyle/>
              <a:p>
                <a:pPr/>
                <a:r>
                  <a:rPr lang="en-US" dirty="0" sz="2000"/>
                  <a:t>Controller of Stanford’s DARPA Grand Challenge winner “Stanley” (Hoffmann et al., 2007)</a:t>
                </a:r>
              </a:p>
              <a:p>
                <a:pPr/>
                <a:r>
                  <a:rPr lang="en-US" dirty="0" sz="2000"/>
                  <a:t xml:space="preserve">Reference point: </a:t>
                </a:r>
                <a:r>
                  <a:rPr lang="en-US" dirty="0" sz="2000" b="1"/>
                  <a:t>front axle</a:t>
                </a:r>
                <a:r>
                  <a:rPr lang="en-US" dirty="0" sz="2000"/>
                  <a:t>. Two errors:</a:t>
                </a:r>
              </a:p>
              <a:p>
                <a:pPr lvl="1"/>
                <a:r>
                  <a:rPr lang="en-US" dirty="0" sz="1800" b="1"/>
                  <a:t xml:space="preserve">Heading error </a:t>
                </a:r>
                <a:r>
                  <a:rPr lang="en-US" dirty="0" sz="1800"/>
                  <a:t>ψ</a:t>
                </a:r>
                <a:r>
                  <a:rPr lang="en-US" dirty="0" sz="1800"/>
                  <a:t>: path tangent direction − vehicle heading</a:t>
                </a:r>
              </a:p>
              <a:p>
                <a:pPr lvl="1"/>
                <a:r>
                  <a:rPr lang="en-US" dirty="0" sz="1800" b="1"/>
                  <a:t xml:space="preserve">Cross-track error </a:t>
                </a:r>
                <a:r>
                  <a:rPr lang="en-US" dirty="0" sz="1800"/>
                  <a:t>e</a:t>
                </a:r>
                <a:r>
                  <a:rPr lang="en-US" dirty="0" sz="1800"/>
                  <a:t>: signed distance from the front axle to the nearest path point (positive if the path is on the left)</a:t>
                </a:r>
              </a:p>
              <a:p>
                <a:pPr/>
                <a:r>
                  <a:rPr lang="en-US" dirty="0" sz="2000"/>
                  <a:t>Steering law:</a:t>
                </a:r>
              </a:p>
              <a:p>
                <a:pPr lvl="1" marL="457200" indent="0">
                  <a:buNone/>
                </a:pPr>
                <a:r>
                  <a:rPr lang="en-US" dirty="0" sz="2000"/>
                  <a:t>δ = ψ + arctan( k e / v )</a:t>
                </a:r>
              </a:p>
              <a:p>
                <a:pPr lvl="1"/>
                <a:r>
                  <a:rPr lang="en-US" dirty="0" sz="1800"/>
                  <a:t xml:space="preserve">1st term: align the wheels with the path; 2nd term: steer toward the path, more for large </a:t>
                </a:r>
                <a:r>
                  <a:rPr lang="en-US" dirty="0" sz="1800"/>
                  <a:t>e</a:t>
                </a:r>
                <a:r>
                  <a:rPr lang="en-US" dirty="0" sz="1800"/>
                  <a:t xml:space="preserve">, less at high speed </a:t>
                </a:r>
                <a:r>
                  <a:rPr lang="en-US" dirty="0" sz="1800"/>
                  <a:t>v</a:t>
                </a:r>
              </a:p>
              <a:p>
                <a:pPr/>
                <a:r>
                  <a:rPr lang="en-US" dirty="0" sz="2000"/>
                  <a:t xml:space="preserve">Practical version: </a:t>
                </a:r>
                <a:r>
                  <a:rPr lang="en-US" dirty="0" sz="2000"/>
                  <a:t>arctan( k e / (k_s + v) )</a:t>
                </a:r>
                <a:r>
                  <a:rPr lang="en-US" dirty="0" sz="2000"/>
                  <a:t xml:space="preserve"> (no division by zero at standstill); clip </a:t>
                </a:r>
                <a:r>
                  <a:rPr lang="en-US" dirty="0" sz="2000"/>
                  <a:t>δ</a:t>
                </a:r>
                <a:r>
                  <a:rPr lang="en-US" dirty="0" sz="2000"/>
                  <a:t xml:space="preserve"> to the steering limit</a:t>
                </a:r>
              </a:p>
              <a:p>
                <a:pPr/>
                <a:r>
                  <a:rPr lang="en-US" dirty="0" sz="2000"/>
                  <a:t xml:space="preserve">Example: </a:t>
                </a:r>
                <a:r>
                  <a:rPr lang="en-US" dirty="0" sz="2000"/>
                  <a:t>k = 1 s⁻¹, v = 5 m/s, e = 0.5 m, ψ = 0.1 rad</a:t>
                </a:r>
                <a:r>
                  <a:rPr lang="en-US" dirty="0" sz="2000"/>
                  <a:t xml:space="preserve"> ⇒ </a:t>
                </a:r>
                <a:r>
                  <a:rPr lang="en-US" dirty="0" sz="2000"/>
                  <a:t>δ = 0.1 + arctan(0.1) ≈ 11.4°</a:t>
                </a:r>
              </a:p>
            </p:txBody>
          </p:sp>
        </mc:Fallback>
      </mc:AlternateContent>
      <p:pic>
        <p:nvPicPr>
          <p:cNvPr id="4" name="Picture 3" descr="Stanley geometry: heading error, cross-track error and steering angle at the front axle"/>
          <p:cNvPicPr>
            <a:picLocks noChangeAspect="1"/>
          </p:cNvPicPr>
          <p:nvPr/>
        </p:nvPicPr>
        <p:blipFill>
          <a:blip r:embed="rId3"/>
          <a:stretch>
            <a:fillRect/>
          </a:stretch>
        </p:blipFill>
        <p:spPr>
          <a:xfrm>
            <a:off x="6903720" y="1600200"/>
            <a:ext cx="5029200" cy="1836427"/>
          </a:xfrm>
          <a:prstGeom prst="rect">
            <a:avLst/>
          </a:prstGeom>
        </p:spPr>
      </p:pic>
      <p:sp>
        <p:nvSpPr>
          <p:cNvPr id="5" name="TextBox"/>
          <p:cNvSpPr txBox="1"/>
          <p:nvPr/>
        </p:nvSpPr>
        <p:spPr>
          <a:xfrm>
            <a:off x="6903720" y="3749039"/>
            <a:ext cx="5029200" cy="1325880"/>
          </a:xfrm>
          <a:prstGeom prst="rect">
            <a:avLst/>
          </a:prstGeom>
          <a:solidFill>
            <a:srgbClr val="F2F2F2"/>
          </a:solidFill>
        </p:spPr>
        <p:txBody>
          <a:bodyPr wrap="square" lIns="73152" tIns="73152" rIns="73152" bIns="73152" anchor="t"/>
          <a:lstStyle/>
          <a:p>
            <a:pPr marL="0" indent="0">
              <a:buNone/>
            </a:pPr>
            <a:r>
              <a:rPr lang="en-US" dirty="0" sz="1700" b="1"/>
              <a:t>Sign convention</a:t>
            </a:r>
          </a:p>
          <a:p>
            <a:pPr marL="0" indent="0">
              <a:buNone/>
            </a:pPr>
            <a:r>
              <a:rPr lang="en-US" dirty="0" sz="1500"/>
              <a:t>ψ = path heading − vehicle heading</a:t>
            </a:r>
          </a:p>
          <a:p>
            <a:pPr marL="0" indent="0">
              <a:buNone/>
            </a:pPr>
            <a:r>
              <a:rPr lang="en-US" dirty="0" sz="1500"/>
              <a:t>e &gt; 0 if the path is on the left of the front axle</a:t>
            </a:r>
          </a:p>
          <a:p>
            <a:pPr marL="0" indent="0">
              <a:buNone/>
            </a:pPr>
            <a:r>
              <a:rPr lang="en-US" dirty="0" sz="1500"/>
              <a:t>δ &gt; 0 steers left, so both terms steer toward the path</a:t>
            </a:r>
          </a:p>
        </p:txBody>
      </p:sp>
      <p:sp>
        <p:nvSpPr>
          <p:cNvPr id="6"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Stanley: Why It Converges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1792" y="1188720"/>
                <a:ext cx="6355080" cy="5349240"/>
              </a:xfrm>
            </p:spPr>
            <p:txBody>
              <a:bodyPr>
                <a:normAutofit/>
              </a:bodyPr>
              <a:lstStyle/>
              <a:p>
                <a:pPr/>
                <a:r>
                  <a:rPr lang="en-US" dirty="0" sz="2000"/>
                  <a:t xml:space="preserve">Wheel direction relative to the path is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m:rPr>
                        <m:sty m:val="p"/>
                      </m:rPr>
                      <a:rPr lang="en-US" i="0" sz="2000">
                        <a:latin typeface="Cambria Math" panose="02040503050406030204" pitchFamily="18" charset="0"/>
                      </a:rPr>
                      <m:t>arctan</m:t>
                    </m:r>
                    <m:d>
                      <m:dPr>
                        <m:begChr m:val="("/>
                        <m:endChr m:val=")"/>
                        <m:sepChr m:val=""/>
                        <m:grow/>
                      </m:dPr>
                      <m:e>
                        <m:r>
                          <a:rPr lang="en-US" i="1" sz="2000">
                            <a:latin typeface="Cambria Math" panose="02040503050406030204" pitchFamily="18" charset="0"/>
                          </a:rPr>
                          <m:t>k</m:t>
                        </m:r>
                        <m:r>
                          <a:rPr lang="en-US" i="1" sz="2000">
                            <a:latin typeface="Cambria Math" panose="02040503050406030204" pitchFamily="18" charset="0"/>
                          </a:rPr>
                          <m:t>e</m:t>
                        </m:r>
                        <m:r>
                          <m:rPr>
                            <m:sty m:val="p"/>
                          </m:rPr>
                          <a:rPr lang="en-US" i="0" sz="2000">
                            <a:latin typeface="Cambria Math" panose="02040503050406030204" pitchFamily="18" charset="0"/>
                          </a:rPr>
                          <m:t>/</m:t>
                        </m:r>
                        <m:r>
                          <a:rPr lang="en-US" i="1" sz="2000">
                            <a:latin typeface="Cambria Math" panose="02040503050406030204" pitchFamily="18" charset="0"/>
                          </a:rPr>
                          <m:t>v</m:t>
                        </m:r>
                      </m:e>
                    </m:d>
                  </m:oMath>
                </a14:m>
                <a:r>
                  <a:rPr lang="en-US" dirty="0" sz="2000"/>
                  <a:t>; plugging into the kinematic model:</a:t>
                </a:r>
              </a:p>
              <a:p>
                <a:pPr lvl="1" marL="457200" indent="0">
                  <a:buNone/>
                </a:pP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acc>
                      <m:accPr>
                        <m:chr m:val="̇"/>
                      </m:accPr>
                      <m:e>
                        <m:r>
                          <a:rPr lang="en-US" i="1" sz="2000">
                            <a:latin typeface="Cambria Math" panose="02040503050406030204" pitchFamily="18" charset="0"/>
                          </a:rPr>
                          <m:t>e</m:t>
                        </m:r>
                      </m:e>
                    </m:acc>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
                      <a:rPr lang="en-US" i="1" sz="2000">
                        <a:latin typeface="Cambria Math" panose="02040503050406030204" pitchFamily="18" charset="0"/>
                      </a:rPr>
                      <m:t>v</m:t>
                    </m:r>
                    <m:r>
                      <m:rPr>
                        <m:sty m:val="p"/>
                      </m:rPr>
                      <a:rPr lang="en-US" i="0" sz="2000">
                        <a:latin typeface="Cambria Math" panose="02040503050406030204" pitchFamily="18" charset="0"/>
                      </a:rPr>
                      <m:t>sin</m:t>
                    </m:r>
                    <m:d>
                      <m:dPr>
                        <m:begChr m:val="("/>
                        <m:endChr m:val=")"/>
                        <m:sepChr m:val=""/>
                        <m:grow/>
                      </m:dPr>
                      <m:e>
                        <m:r>
                          <m:rPr>
                            <m:sty m:val="p"/>
                          </m:rPr>
                          <a:rPr lang="en-US" i="0" sz="2000">
                            <a:latin typeface="Cambria Math" panose="02040503050406030204" pitchFamily="18" charset="0"/>
                          </a:rPr>
                          <m:t>arctan</m:t>
                        </m:r>
                        <m:f>
                          <m:fPr>
                            <m:type m:val="bar"/>
                          </m:fPr>
                          <m:num>
                            <m:r>
                              <a:rPr lang="en-US" i="1" sz="2000">
                                <a:latin typeface="Cambria Math" panose="02040503050406030204" pitchFamily="18" charset="0"/>
                              </a:rPr>
                              <m:t>k</m:t>
                            </m:r>
                            <m:r>
                              <a:rPr lang="en-US" i="1" sz="2000">
                                <a:latin typeface="Cambria Math" panose="02040503050406030204" pitchFamily="18" charset="0"/>
                              </a:rPr>
                              <m:t>e</m:t>
                            </m:r>
                          </m:num>
                          <m:den>
                            <m:r>
                              <a:rPr lang="en-US" i="1" sz="2000">
                                <a:latin typeface="Cambria Math" panose="02040503050406030204" pitchFamily="18" charset="0"/>
                              </a:rPr>
                              <m:t>v</m:t>
                            </m:r>
                          </m:den>
                        </m:f>
                      </m:e>
                    </m:d>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f>
                      <m:fPr>
                        <m:type m:val="bar"/>
                      </m:fPr>
                      <m:num>
                        <m:r>
                          <a:rPr lang="en-US" i="1" sz="2000">
                            <a:latin typeface="Cambria Math" panose="02040503050406030204" pitchFamily="18" charset="0"/>
                          </a:rPr>
                          <m:t>k</m:t>
                        </m:r>
                        <m:r>
                          <a:rPr lang="en-US" i="1" sz="2000">
                            <a:latin typeface="Cambria Math" panose="02040503050406030204" pitchFamily="18" charset="0"/>
                          </a:rPr>
                          <m:t> </m:t>
                        </m:r>
                        <m:r>
                          <a:rPr lang="en-US" i="1" sz="2000">
                            <a:latin typeface="Cambria Math" panose="02040503050406030204" pitchFamily="18" charset="0"/>
                          </a:rPr>
                          <m:t>e</m:t>
                        </m:r>
                      </m:num>
                      <m:den>
                        <m:rad>
                          <m:radPr>
                            <m:degHide m:val="on"/>
                          </m:radPr>
                          <m:deg/>
                          <m:e>
                            <m:r>
                              <a:rPr lang="en-US" i="1" sz="2000">
                                <a:latin typeface="Cambria Math" panose="02040503050406030204" pitchFamily="18" charset="0"/>
                              </a:rPr>
                              <m:t>1</m:t>
                            </m:r>
                            <m:r>
                              <m:rPr>
                                <m:sty m:val="p"/>
                              </m:rPr>
                              <a:rPr lang="en-US" i="0" sz="2000">
                                <a:latin typeface="Cambria Math" panose="02040503050406030204" pitchFamily="18" charset="0"/>
                              </a:rPr>
                              <m:t>+</m:t>
                            </m:r>
                            <m:sSup>
                              <m:e>
                                <m:d>
                                  <m:dPr>
                                    <m:begChr m:val="("/>
                                    <m:endChr m:val=")"/>
                                    <m:sepChr m:val=""/>
                                    <m:grow/>
                                  </m:dPr>
                                  <m:e>
                                    <m:r>
                                      <a:rPr lang="en-US" i="1" sz="2000">
                                        <a:latin typeface="Cambria Math" panose="02040503050406030204" pitchFamily="18" charset="0"/>
                                      </a:rPr>
                                      <m:t>k</m:t>
                                    </m:r>
                                    <m:r>
                                      <a:rPr lang="en-US" i="1" sz="2000">
                                        <a:latin typeface="Cambria Math" panose="02040503050406030204" pitchFamily="18" charset="0"/>
                                      </a:rPr>
                                      <m:t>e</m:t>
                                    </m:r>
                                    <m:r>
                                      <m:rPr>
                                        <m:sty m:val="p"/>
                                      </m:rPr>
                                      <a:rPr lang="en-US" i="0" sz="2000">
                                        <a:latin typeface="Cambria Math" panose="02040503050406030204" pitchFamily="18" charset="0"/>
                                      </a:rPr>
                                      <m:t>/</m:t>
                                    </m:r>
                                    <m:r>
                                      <a:rPr lang="en-US" i="1" sz="2000">
                                        <a:latin typeface="Cambria Math" panose="02040503050406030204" pitchFamily="18" charset="0"/>
                                      </a:rPr>
                                      <m:t>v</m:t>
                                    </m:r>
                                  </m:e>
                                </m:d>
                              </m:e>
                              <m:sup>
                                <m:r>
                                  <a:rPr lang="en-US" i="1" sz="2000">
                                    <a:latin typeface="Cambria Math" panose="02040503050406030204" pitchFamily="18" charset="0"/>
                                  </a:rPr>
                                  <m:t>2</m:t>
                                </m:r>
                              </m:sup>
                            </m:sSup>
                          </m:e>
                        </m:rad>
                      </m:den>
                    </m:f>
                  </m:oMath>
                </a14:m>
              </a:p>
              <a:p>
                <a:pPr/>
                <a:r>
                  <a:rPr lang="en-US" dirty="0" sz="2000" b="1"/>
                  <a:t xml:space="preserve">Small error: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acc>
                      <m:accPr>
                        <m:chr m:val="̇"/>
                      </m:accPr>
                      <m:e>
                        <m:r>
                          <a:rPr lang="en-US" i="1" sz="2000">
                            <a:latin typeface="Cambria Math" panose="02040503050406030204" pitchFamily="18" charset="0"/>
                          </a:rPr>
                          <m:t>e</m:t>
                        </m:r>
                      </m:e>
                    </m:acc>
                    <m:r>
                      <m:rPr>
                        <m:sty m:val="p"/>
                      </m:rPr>
                      <a:rPr lang="en-US" i="0" sz="2000">
                        <a:latin typeface="Cambria Math" panose="02040503050406030204" pitchFamily="18" charset="0"/>
                      </a:rPr>
                      <m:t>≈</m:t>
                    </m:r>
                    <m:r>
                      <m:rPr>
                        <m:sty m:val="p"/>
                      </m:rPr>
                      <a:rPr lang="en-US" i="0" sz="2000">
                        <a:latin typeface="Cambria Math" panose="02040503050406030204" pitchFamily="18" charset="0"/>
                      </a:rPr>
                      <m:t>−</m:t>
                    </m:r>
                    <m:r>
                      <a:rPr lang="en-US" i="1" sz="2000">
                        <a:latin typeface="Cambria Math" panose="02040503050406030204" pitchFamily="18" charset="0"/>
                      </a:rPr>
                      <m:t>k</m:t>
                    </m:r>
                    <m:r>
                      <a:rPr lang="en-US" i="1" sz="2000">
                        <a:latin typeface="Cambria Math" panose="02040503050406030204" pitchFamily="18" charset="0"/>
                      </a:rPr>
                      <m:t> </m:t>
                    </m:r>
                    <m:r>
                      <a:rPr lang="en-US" i="1" sz="2000">
                        <a:latin typeface="Cambria Math" panose="02040503050406030204" pitchFamily="18" charset="0"/>
                      </a:rPr>
                      <m:t>e</m:t>
                    </m:r>
                  </m:oMath>
                </a14:m>
                <a:r>
                  <a:rPr lang="en-US" dirty="0" sz="2000"/>
                  <a:t xml:space="preserve"> ⇒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e</m:t>
                    </m:r>
                    <m:d>
                      <m:dPr>
                        <m:begChr m:val="("/>
                        <m:endChr m:val=")"/>
                        <m:sepChr m:val=""/>
                        <m:grow/>
                      </m:dPr>
                      <m:e>
                        <m:r>
                          <a:rPr lang="en-US" i="1" sz="2000">
                            <a:latin typeface="Cambria Math" panose="02040503050406030204" pitchFamily="18" charset="0"/>
                          </a:rPr>
                          <m:t>t</m:t>
                        </m:r>
                      </m:e>
                    </m:d>
                    <m:r>
                      <m:rPr>
                        <m:sty m:val="p"/>
                      </m:rPr>
                      <a:rPr lang="en-US" i="0" sz="2000">
                        <a:latin typeface="Cambria Math" panose="02040503050406030204" pitchFamily="18" charset="0"/>
                      </a:rPr>
                      <m:t>≈</m:t>
                    </m:r>
                    <m:r>
                      <a:rPr lang="en-US" i="1" sz="2000">
                        <a:latin typeface="Cambria Math" panose="02040503050406030204" pitchFamily="18" charset="0"/>
                      </a:rPr>
                      <m:t>e</m:t>
                    </m:r>
                    <m:d>
                      <m:dPr>
                        <m:begChr m:val="("/>
                        <m:endChr m:val=")"/>
                        <m:sepChr m:val=""/>
                        <m:grow/>
                      </m:dPr>
                      <m:e>
                        <m:r>
                          <a:rPr lang="en-US" i="1" sz="2000">
                            <a:latin typeface="Cambria Math" panose="02040503050406030204" pitchFamily="18" charset="0"/>
                          </a:rPr>
                          <m:t>0</m:t>
                        </m:r>
                      </m:e>
                    </m:d>
                    <m:r>
                      <a:rPr lang="en-US" i="1" sz="2000">
                        <a:latin typeface="Cambria Math" panose="02040503050406030204" pitchFamily="18" charset="0"/>
                      </a:rPr>
                      <m:t> </m:t>
                    </m:r>
                    <m:sSup>
                      <m:e>
                        <m:r>
                          <a:rPr lang="en-US" i="1" sz="2000">
                            <a:latin typeface="Cambria Math" panose="02040503050406030204" pitchFamily="18" charset="0"/>
                          </a:rPr>
                          <m:t>e</m:t>
                        </m:r>
                      </m:e>
                      <m:sup>
                        <m:r>
                          <m:rPr>
                            <m:sty m:val="p"/>
                          </m:rPr>
                          <a:rPr lang="en-US" i="0" sz="2000">
                            <a:latin typeface="Cambria Math" panose="02040503050406030204" pitchFamily="18" charset="0"/>
                          </a:rPr>
                          <m:t>−</m:t>
                        </m:r>
                        <m:r>
                          <a:rPr lang="en-US" i="1" sz="2000">
                            <a:latin typeface="Cambria Math" panose="02040503050406030204" pitchFamily="18" charset="0"/>
                          </a:rPr>
                          <m:t>k</m:t>
                        </m:r>
                        <m:r>
                          <a:rPr lang="en-US" i="1" sz="2000">
                            <a:latin typeface="Cambria Math" panose="02040503050406030204" pitchFamily="18" charset="0"/>
                          </a:rPr>
                          <m:t>t</m:t>
                        </m:r>
                      </m:sup>
                    </m:sSup>
                  </m:oMath>
                </a14:m>
              </a:p>
              <a:p>
                <a:pPr lvl="1"/>
                <a:r>
                  <a:rPr lang="en-US" dirty="0" sz="1800"/>
                  <a:t xml:space="preserve">Exponential convergence, time constant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1800">
                        <a:latin typeface="Cambria Math" panose="02040503050406030204" pitchFamily="18" charset="0"/>
                      </a:rPr>
                      <m:t>1</m:t>
                    </m:r>
                    <m:r>
                      <m:rPr>
                        <m:sty m:val="p"/>
                      </m:rPr>
                      <a:rPr lang="en-US" i="0" sz="1800">
                        <a:latin typeface="Cambria Math" panose="02040503050406030204" pitchFamily="18" charset="0"/>
                      </a:rPr>
                      <m:t>/</m:t>
                    </m:r>
                    <m:r>
                      <a:rPr lang="en-US" i="1" sz="1800">
                        <a:latin typeface="Cambria Math" panose="02040503050406030204" pitchFamily="18" charset="0"/>
                      </a:rPr>
                      <m:t>k</m:t>
                    </m:r>
                  </m:oMath>
                </a14:m>
                <a:r>
                  <a:rPr lang="en-US" dirty="0" sz="1800"/>
                  <a:t>, independent of speed</a:t>
                </a:r>
              </a:p>
              <a:p>
                <a:pPr/>
                <a:r>
                  <a:rPr lang="en-US" dirty="0" sz="2000" b="1"/>
                  <a:t xml:space="preserve">Large error: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d>
                      <m:dPr>
                        <m:begChr m:val="|"/>
                        <m:endChr m:val="|"/>
                        <m:sepChr m:val=""/>
                        <m:grow/>
                      </m:dPr>
                      <m:e>
                        <m:acc>
                          <m:accPr>
                            <m:chr m:val="̇"/>
                          </m:accPr>
                          <m:e>
                            <m:r>
                              <a:rPr lang="en-US" i="1" sz="2000">
                                <a:latin typeface="Cambria Math" panose="02040503050406030204" pitchFamily="18" charset="0"/>
                              </a:rPr>
                              <m:t>e</m:t>
                            </m:r>
                          </m:e>
                        </m:acc>
                      </m:e>
                    </m:d>
                    <m:r>
                      <m:rPr>
                        <m:sty m:val="p"/>
                      </m:rPr>
                      <a:rPr lang="en-US" i="0" sz="2000">
                        <a:latin typeface="Cambria Math" panose="02040503050406030204" pitchFamily="18" charset="0"/>
                      </a:rPr>
                      <m:t>→</m:t>
                    </m:r>
                    <m:r>
                      <a:rPr lang="en-US" i="1" sz="2000">
                        <a:latin typeface="Cambria Math" panose="02040503050406030204" pitchFamily="18" charset="0"/>
                      </a:rPr>
                      <m:t>v</m:t>
                    </m:r>
                  </m:oMath>
                </a14:m>
                <a:r>
                  <a:rPr lang="en-US" dirty="0" sz="2000"/>
                  <a:t>: wheels point toward the path</a:t>
                </a:r>
              </a:p>
              <a:p>
                <a:pPr/>
                <a:r>
                  <a:rPr lang="en-US" dirty="0" sz="2000"/>
                  <a:t xml:space="preserve">Tuning: larger </a:t>
                </a:r>
                <a14:m>
                  <m:oMath xmlns:m="http://schemas.openxmlformats.org/officeDocument/2006/math" xmlns:w="http://schemas.openxmlformats.org/wordprocessingml/2006/main" xmlns:o="urn:schemas-microsoft-com:office:office" xmlns:v="urn:schemas-microsoft-com:vml" xmlns:w10="urn:schemas-microsoft-com:office:word" xmlns:pic="http://schemas.openxmlformats.org/drawingml/2006/picture" xmlns:wp="http://schemas.openxmlformats.org/drawingml/2006/wordprocessingDrawing">
                    <m:r>
                      <a:rPr lang="en-US" i="1" sz="2000">
                        <a:latin typeface="Cambria Math" panose="02040503050406030204" pitchFamily="18" charset="0"/>
                      </a:rPr>
                      <m:t>k</m:t>
                    </m:r>
                  </m:oMath>
                </a14:m>
                <a:r>
                  <a:rPr lang="en-US" dirty="0" sz="2000"/>
                  <a:t xml:space="preserve"> converges faster but can oscillate with steering lag and rate limits</a:t>
                </a:r>
              </a:p>
              <a:p>
                <a:pPr/>
                <a:r>
                  <a:rPr lang="en-US" dirty="0" sz="2000"/>
                  <a:t>Assumes kinematic model, no slip, no saturation. The published version adds yaw-rate and steering-angle damping terms</a:t>
                </a:r>
              </a:p>
            </p:txBody>
          </p:sp>
        </mc:Choice>
        <mc:Fallback>
          <p:sp>
            <p:nvSpPr>
              <p:cNvPr id="3" name="Content Placeholder 2"/>
              <p:cNvSpPr>
                <a:spLocks noGrp="1"/>
              </p:cNvSpPr>
              <p:nvPr>
                <p:ph idx="1"/>
              </p:nvPr>
            </p:nvSpPr>
            <p:spPr>
              <a:xfrm>
                <a:off x="621792" y="1188720"/>
                <a:ext cx="6355080" cy="5349240"/>
              </a:xfrm>
            </p:spPr>
            <p:txBody>
              <a:bodyPr>
                <a:normAutofit/>
              </a:bodyPr>
              <a:lstStyle/>
              <a:p>
                <a:pPr/>
                <a:r>
                  <a:rPr lang="en-US" dirty="0" sz="2000"/>
                  <a:t xml:space="preserve">Wheel direction relative to the path is </a:t>
                </a:r>
                <a:r>
                  <a:rPr lang="en-US" dirty="0" sz="2000"/>
                  <a:t>arctan(k e / v)</a:t>
                </a:r>
                <a:r>
                  <a:rPr lang="en-US" dirty="0" sz="2000"/>
                  <a:t>; plugging into the kinematic model:</a:t>
                </a:r>
              </a:p>
              <a:p>
                <a:pPr lvl="1" marL="457200" indent="0">
                  <a:buNone/>
                </a:pPr>
                <a:r>
                  <a:rPr lang="en-US" dirty="0" sz="2000"/>
                  <a:t>ė = −v sin(arctan(k e / v)) = −k e / √(1 + (k e / v)²)</a:t>
                </a:r>
              </a:p>
              <a:p>
                <a:pPr/>
                <a:r>
                  <a:rPr lang="en-US" dirty="0" sz="2000" b="1"/>
                  <a:t xml:space="preserve">Small error: </a:t>
                </a:r>
                <a:r>
                  <a:rPr lang="en-US" dirty="0" sz="2000"/>
                  <a:t>ė ≈ −k e</a:t>
                </a:r>
                <a:r>
                  <a:rPr lang="en-US" dirty="0" sz="2000"/>
                  <a:t xml:space="preserve"> ⇒ </a:t>
                </a:r>
                <a:r>
                  <a:rPr lang="en-US" dirty="0" sz="2000"/>
                  <a:t>e(t) ≈ e(0) e^(−kt)</a:t>
                </a:r>
              </a:p>
              <a:p>
                <a:pPr lvl="1"/>
                <a:r>
                  <a:rPr lang="en-US" dirty="0" sz="1800"/>
                  <a:t xml:space="preserve">Exponential convergence, time constant </a:t>
                </a:r>
                <a:r>
                  <a:rPr lang="en-US" dirty="0" sz="1800"/>
                  <a:t>1/k</a:t>
                </a:r>
                <a:r>
                  <a:rPr lang="en-US" dirty="0" sz="1800"/>
                  <a:t>, independent of speed</a:t>
                </a:r>
              </a:p>
              <a:p>
                <a:pPr/>
                <a:r>
                  <a:rPr lang="en-US" dirty="0" sz="2000" b="1"/>
                  <a:t xml:space="preserve">Large error: </a:t>
                </a:r>
                <a:r>
                  <a:rPr lang="en-US" dirty="0" sz="2000"/>
                  <a:t>|ė| → v</a:t>
                </a:r>
                <a:r>
                  <a:rPr lang="en-US" dirty="0" sz="2000"/>
                  <a:t>: wheels point toward the path</a:t>
                </a:r>
              </a:p>
              <a:p>
                <a:pPr/>
                <a:r>
                  <a:rPr lang="en-US" dirty="0" sz="2000"/>
                  <a:t xml:space="preserve">Tuning: larger </a:t>
                </a:r>
                <a:r>
                  <a:rPr lang="en-US" dirty="0" sz="2000"/>
                  <a:t>k</a:t>
                </a:r>
                <a:r>
                  <a:rPr lang="en-US" dirty="0" sz="2000"/>
                  <a:t xml:space="preserve"> converges faster but can oscillate with steering lag and rate limits</a:t>
                </a:r>
              </a:p>
              <a:p>
                <a:pPr/>
                <a:r>
                  <a:rPr lang="en-US" dirty="0" sz="2000"/>
                  <a:t>Assumes kinematic model, no slip, no saturation. The published version adds yaw-rate and steering-angle damping terms</a:t>
                </a:r>
              </a:p>
            </p:txBody>
          </p:sp>
        </mc:Fallback>
      </mc:AlternateContent>
      <p:pic>
        <p:nvPicPr>
          <p:cNvPr id="4" name="Picture 3" descr="Cross-track error versus time for Stanley at three speeds"/>
          <p:cNvPicPr>
            <a:picLocks noChangeAspect="1"/>
          </p:cNvPicPr>
          <p:nvPr/>
        </p:nvPicPr>
        <p:blipFill>
          <a:blip r:embed="rId3"/>
          <a:stretch>
            <a:fillRect/>
          </a:stretch>
        </p:blipFill>
        <p:spPr>
          <a:xfrm>
            <a:off x="7040880" y="1417320"/>
            <a:ext cx="4892040" cy="3293650"/>
          </a:xfrm>
          <a:prstGeom prst="rect">
            <a:avLst/>
          </a:prstGeom>
        </p:spPr>
      </p:pic>
      <p:sp>
        <p:nvSpPr>
          <p:cNvPr id="5" name="TextBox"/>
          <p:cNvSpPr txBox="1"/>
          <p:nvPr/>
        </p:nvSpPr>
        <p:spPr>
          <a:xfrm>
            <a:off x="7040880" y="5074920"/>
            <a:ext cx="4892040" cy="960120"/>
          </a:xfrm>
          <a:prstGeom prst="rect">
            <a:avLst/>
          </a:prstGeom>
          <a:solidFill>
            <a:srgbClr val="F2F2F2"/>
          </a:solidFill>
        </p:spPr>
        <p:txBody>
          <a:bodyPr wrap="square" lIns="73152" tIns="73152" rIns="73152" bIns="73152" anchor="t"/>
          <a:lstStyle/>
          <a:p>
            <a:pPr marL="0" indent="0">
              <a:buNone/>
            </a:pPr>
            <a:r>
              <a:rPr lang="en-US" dirty="0" sz="1600" b="1"/>
              <a:t xml:space="preserve">vs. Pure Pursuit: </a:t>
            </a:r>
            <a:r>
              <a:rPr lang="en-US" dirty="0" sz="1600"/>
              <a:t xml:space="preserve">Stanley has no lookahead (front axle, feedback on </a:t>
            </a:r>
            <a:r>
              <a:rPr lang="en-US" dirty="0" sz="1600"/>
              <a:t>e</a:t>
            </a:r>
            <a:r>
              <a:rPr lang="en-US" dirty="0" sz="1600"/>
              <a:t xml:space="preserve"> and </a:t>
            </a:r>
            <a:r>
              <a:rPr lang="en-US" dirty="0" sz="1600"/>
              <a:t>ψ</a:t>
            </a:r>
            <a:r>
              <a:rPr lang="en-US" dirty="0" sz="1600"/>
              <a:t xml:space="preserve">); pure pursuit looks ahead by </a:t>
            </a:r>
            <a:r>
              <a:rPr lang="en-US" dirty="0" sz="1600"/>
              <a:t>L_d</a:t>
            </a:r>
          </a:p>
        </p:txBody>
      </p:sp>
      <p:sp>
        <p:nvSpPr>
          <p:cNvPr id="6"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Pure Pursuit vs. Stanley vs. LQR</a:t>
            </a:r>
          </a:p>
        </p:txBody>
      </p:sp>
      <p:pic>
        <p:nvPicPr>
          <p:cNvPr id="3" name="Picture 2" descr="Simulation: trajectories and cross-track error of three path-tracking controllers"/>
          <p:cNvPicPr>
            <a:picLocks noChangeAspect="1"/>
          </p:cNvPicPr>
          <p:nvPr/>
        </p:nvPicPr>
        <p:blipFill>
          <a:blip r:embed="rId3"/>
          <a:stretch>
            <a:fillRect/>
          </a:stretch>
        </p:blipFill>
        <p:spPr>
          <a:xfrm>
            <a:off x="1325880" y="1234440"/>
            <a:ext cx="9509760" cy="3936274"/>
          </a:xfrm>
          <a:prstGeom prst="rect">
            <a:avLst/>
          </a:prstGeom>
        </p:spPr>
      </p:pic>
      <p:sp>
        <p:nvSpPr>
          <p:cNvPr id="4" name="TextBox"/>
          <p:cNvSpPr txBox="1"/>
          <p:nvPr/>
        </p:nvSpPr>
        <p:spPr>
          <a:xfrm>
            <a:off x="640080" y="5349240"/>
            <a:ext cx="10881360" cy="1234440"/>
          </a:xfrm>
          <a:prstGeom prst="rect">
            <a:avLst/>
          </a:prstGeom>
          <a:noFill/>
        </p:spPr>
        <p:txBody>
          <a:bodyPr wrap="square" lIns="73152" tIns="73152" rIns="73152" bIns="73152" anchor="t"/>
          <a:lstStyle/>
          <a:p>
            <a:pPr marL="0" indent="0">
              <a:buNone/>
            </a:pPr>
            <a:r>
              <a:rPr lang="en-US" dirty="0" sz="1400"/>
              <a:t xml:space="preserve">Kinematic bicycle, </a:t>
            </a:r>
            <a:r>
              <a:rPr lang="en-US" dirty="0" sz="1400" b="1"/>
              <a:t>v = 6 m/s</a:t>
            </a:r>
            <a:r>
              <a:rPr lang="en-US" dirty="0" sz="1400"/>
              <a:t xml:space="preserve">, start 1.5 m off the path, 90° corner (R = 20 m).  Pure Pursuit: </a:t>
            </a:r>
            <a:r>
              <a:rPr lang="en-US" dirty="0" sz="1400"/>
              <a:t>L_d</a:t>
            </a:r>
            <a:r>
              <a:rPr lang="en-US" dirty="0" sz="1400"/>
              <a:t xml:space="preserve"> = 4.5 m; Stanley: k = 1.5 s⁻¹; LQR: q_d = q_θ = r = 1 + curvature feedforward</a:t>
            </a:r>
          </a:p>
          <a:p>
            <a:pPr marL="0" indent="0">
              <a:buNone/>
            </a:pPr>
            <a:r>
              <a:rPr lang="en-US" dirty="0" sz="1400" b="1"/>
              <a:t xml:space="preserve">Peak error in the corner: </a:t>
            </a:r>
            <a:r>
              <a:rPr lang="en-US" dirty="0" sz="1400"/>
              <a:t>Pure Pursuit 0.11 m, Stanley 0.02 m, LQR 0.01 m (0.30 m without feedforward).  Peak steering: LQR hits the 30° limit at the start</a:t>
            </a:r>
          </a:p>
        </p:txBody>
      </p:sp>
      <p:sp>
        <p:nvSpPr>
          <p:cNvPr id="5"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a Lateral Controller</a:t>
            </a:r>
          </a:p>
        </p:txBody>
      </p:sp>
      <p:graphicFrame>
        <p:nvGraphicFramePr>
          <p:cNvPr id="3" name="Table 2"/>
          <p:cNvGraphicFramePr>
            <a:graphicFrameLocks noGrp="1"/>
          </p:cNvGraphicFramePr>
          <p:nvPr/>
        </p:nvGraphicFramePr>
        <p:xfrm>
          <a:off x="621792" y="1325880"/>
          <a:ext cx="10972800" cy="4617720"/>
        </p:xfrm>
        <a:graphic>
          <a:graphicData uri="http://schemas.openxmlformats.org/drawingml/2006/table">
            <a:tbl>
              <a:tblPr firstRow="0" bandRow="0">
                <a:tableStyleId>{5940675A-B579-460E-94D1-54222C63F5DA}</a:tableStyleId>
              </a:tblPr>
              <a:tblGrid>
                <a:gridCol w="1316736"/>
                <a:gridCol w="1658112"/>
                <a:gridCol w="1853184"/>
                <a:gridCol w="1072896"/>
                <a:gridCol w="2633472"/>
                <a:gridCol w="2438400"/>
              </a:tblGrid>
              <a:tr h="502920">
                <a:tc>
                  <a:txBody>
                    <a:bodyPr wrap="square"/>
                    <a:lstStyle/>
                    <a:p>
                      <a:r>
                        <a:rPr sz="1400" b="1">
                          <a:solidFill>
                            <a:srgbClr val="000000"/>
                          </a:solidFill>
                        </a:rPr>
                        <a:t>Controller</a:t>
                      </a:r>
                    </a:p>
                  </a:txBody>
                  <a:tcPr marL="64008" marR="64008" marT="36576" marB="36576">
                    <a:solidFill>
                      <a:srgbClr val="DEEBF7"/>
                    </a:solidFill>
                  </a:tcPr>
                </a:tc>
                <a:tc>
                  <a:txBody>
                    <a:bodyPr wrap="square"/>
                    <a:lstStyle/>
                    <a:p>
                      <a:r>
                        <a:rPr sz="1400" b="1">
                          <a:solidFill>
                            <a:srgbClr val="000000"/>
                          </a:solidFill>
                        </a:rPr>
                        <a:t>Reference point</a:t>
                      </a:r>
                    </a:p>
                  </a:txBody>
                  <a:tcPr marL="64008" marR="64008" marT="36576" marB="36576">
                    <a:solidFill>
                      <a:srgbClr val="DEEBF7"/>
                    </a:solidFill>
                  </a:tcPr>
                </a:tc>
                <a:tc>
                  <a:txBody>
                    <a:bodyPr wrap="square"/>
                    <a:lstStyle/>
                    <a:p>
                      <a:r>
                        <a:rPr sz="1400" b="1">
                          <a:solidFill>
                            <a:srgbClr val="000000"/>
                          </a:solidFill>
                        </a:rPr>
                        <a:t>Model needed</a:t>
                      </a:r>
                    </a:p>
                  </a:txBody>
                  <a:tcPr marL="64008" marR="64008" marT="36576" marB="36576">
                    <a:solidFill>
                      <a:srgbClr val="DEEBF7"/>
                    </a:solidFill>
                  </a:tcPr>
                </a:tc>
                <a:tc>
                  <a:txBody>
                    <a:bodyPr wrap="square"/>
                    <a:lstStyle/>
                    <a:p>
                      <a:r>
                        <a:rPr sz="1400" b="1">
                          <a:solidFill>
                            <a:srgbClr val="000000"/>
                          </a:solidFill>
                        </a:rPr>
                        <a:t>Constraints</a:t>
                      </a:r>
                    </a:p>
                  </a:txBody>
                  <a:tcPr marL="64008" marR="64008" marT="36576" marB="36576">
                    <a:solidFill>
                      <a:srgbClr val="DEEBF7"/>
                    </a:solidFill>
                  </a:tcPr>
                </a:tc>
                <a:tc>
                  <a:txBody>
                    <a:bodyPr wrap="square"/>
                    <a:lstStyle/>
                    <a:p>
                      <a:r>
                        <a:rPr sz="1400" b="1">
                          <a:solidFill>
                            <a:srgbClr val="000000"/>
                          </a:solidFill>
                        </a:rPr>
                        <a:t>Strengths</a:t>
                      </a:r>
                    </a:p>
                  </a:txBody>
                  <a:tcPr marL="64008" marR="64008" marT="36576" marB="36576">
                    <a:solidFill>
                      <a:srgbClr val="DEEBF7"/>
                    </a:solidFill>
                  </a:tcPr>
                </a:tc>
                <a:tc>
                  <a:txBody>
                    <a:bodyPr wrap="square"/>
                    <a:lstStyle/>
                    <a:p>
                      <a:r>
                        <a:rPr sz="1400" b="1">
                          <a:solidFill>
                            <a:srgbClr val="000000"/>
                          </a:solidFill>
                        </a:rPr>
                        <a:t>Weaknesses</a:t>
                      </a:r>
                    </a:p>
                  </a:txBody>
                  <a:tcPr marL="64008" marR="64008" marT="36576" marB="36576">
                    <a:solidFill>
                      <a:srgbClr val="DEEBF7"/>
                    </a:solidFill>
                  </a:tcPr>
                </a:tc>
              </a:tr>
              <a:tr h="822960">
                <a:tc>
                  <a:txBody>
                    <a:bodyPr wrap="square"/>
                    <a:lstStyle/>
                    <a:p>
                      <a:r>
                        <a:rPr sz="1400" b="1">
                          <a:solidFill>
                            <a:srgbClr val="000000"/>
                          </a:solidFill>
                        </a:rPr>
                        <a:t>PID</a:t>
                      </a:r>
                    </a:p>
                  </a:txBody>
                  <a:tcPr marL="64008" marR="64008" marT="36576" marB="36576">
                    <a:solidFill>
                      <a:srgbClr val="FFFFFF"/>
                    </a:solidFill>
                  </a:tcPr>
                </a:tc>
                <a:tc>
                  <a:txBody>
                    <a:bodyPr wrap="square"/>
                    <a:lstStyle/>
                    <a:p>
                      <a:r>
                        <a:rPr sz="1400" b="0">
                          <a:solidFill>
                            <a:srgbClr val="000000"/>
                          </a:solidFill>
                        </a:rPr>
                        <a:t>Error signals (d, θ)</a:t>
                      </a:r>
                    </a:p>
                  </a:txBody>
                  <a:tcPr marL="64008" marR="64008" marT="36576" marB="36576">
                    <a:solidFill>
                      <a:srgbClr val="FFFFFF"/>
                    </a:solidFill>
                  </a:tcPr>
                </a:tc>
                <a:tc>
                  <a:txBody>
                    <a:bodyPr wrap="square"/>
                    <a:lstStyle/>
                    <a:p>
                      <a:r>
                        <a:rPr sz="1400" b="0">
                          <a:solidFill>
                            <a:srgbClr val="000000"/>
                          </a:solidFill>
                        </a:rPr>
                        <a:t>None (tuned, e.g. twiddle)</a:t>
                      </a:r>
                    </a:p>
                  </a:txBody>
                  <a:tcPr marL="64008" marR="64008" marT="36576" marB="36576">
                    <a:solidFill>
                      <a:srgbClr val="FFFFFF"/>
                    </a:solidFill>
                  </a:tcPr>
                </a:tc>
                <a:tc>
                  <a:txBody>
                    <a:bodyPr wrap="square"/>
                    <a:lstStyle/>
                    <a:p>
                      <a:r>
                        <a:rPr sz="1400" b="0">
                          <a:solidFill>
                            <a:srgbClr val="000000"/>
                          </a:solidFill>
                        </a:rPr>
                        <a:t>Clip only</a:t>
                      </a:r>
                    </a:p>
                  </a:txBody>
                  <a:tcPr marL="64008" marR="64008" marT="36576" marB="36576">
                    <a:solidFill>
                      <a:srgbClr val="FFFFFF"/>
                    </a:solidFill>
                  </a:tcPr>
                </a:tc>
                <a:tc>
                  <a:txBody>
                    <a:bodyPr wrap="square"/>
                    <a:lstStyle/>
                    <a:p>
                      <a:r>
                        <a:rPr sz="1400" b="0">
                          <a:solidFill>
                            <a:srgbClr val="000000"/>
                          </a:solidFill>
                        </a:rPr>
                        <a:t>Simple, model-free</a:t>
                      </a:r>
                    </a:p>
                  </a:txBody>
                  <a:tcPr marL="64008" marR="64008" marT="36576" marB="36576">
                    <a:solidFill>
                      <a:srgbClr val="FFFFFF"/>
                    </a:solidFill>
                  </a:tcPr>
                </a:tc>
                <a:tc>
                  <a:txBody>
                    <a:bodyPr wrap="square"/>
                    <a:lstStyle/>
                    <a:p>
                      <a:r>
                        <a:rPr sz="1400" b="0">
                          <a:solidFill>
                            <a:srgbClr val="000000"/>
                          </a:solidFill>
                        </a:rPr>
                        <a:t>Gains depend on speed; no preview</a:t>
                      </a:r>
                    </a:p>
                  </a:txBody>
                  <a:tcPr marL="64008" marR="64008" marT="36576" marB="36576">
                    <a:solidFill>
                      <a:srgbClr val="FFFFFF"/>
                    </a:solidFill>
                  </a:tcPr>
                </a:tc>
              </a:tr>
              <a:tr h="822960">
                <a:tc>
                  <a:txBody>
                    <a:bodyPr wrap="square"/>
                    <a:lstStyle/>
                    <a:p>
                      <a:r>
                        <a:rPr sz="1400" b="1">
                          <a:solidFill>
                            <a:srgbClr val="000000"/>
                          </a:solidFill>
                        </a:rPr>
                        <a:t>Pure Pursuit</a:t>
                      </a:r>
                    </a:p>
                  </a:txBody>
                  <a:tcPr marL="64008" marR="64008" marT="36576" marB="36576">
                    <a:solidFill>
                      <a:srgbClr val="FFFFFF"/>
                    </a:solidFill>
                  </a:tcPr>
                </a:tc>
                <a:tc>
                  <a:txBody>
                    <a:bodyPr wrap="square"/>
                    <a:lstStyle/>
                    <a:p>
                      <a:r>
                        <a:rPr sz="1400" b="0">
                          <a:solidFill>
                            <a:srgbClr val="000000"/>
                          </a:solidFill>
                        </a:rPr>
                        <a:t>Rear axle</a:t>
                      </a:r>
                    </a:p>
                  </a:txBody>
                  <a:tcPr marL="64008" marR="64008" marT="36576" marB="36576">
                    <a:solidFill>
                      <a:srgbClr val="FFFFFF"/>
                    </a:solidFill>
                  </a:tcPr>
                </a:tc>
                <a:tc>
                  <a:txBody>
                    <a:bodyPr wrap="square"/>
                    <a:lstStyle/>
                    <a:p>
                      <a:r>
                        <a:rPr sz="1400" b="0">
                          <a:solidFill>
                            <a:srgbClr val="000000"/>
                          </a:solidFill>
                        </a:rPr>
                        <a:t>Kinematic geometry</a:t>
                      </a:r>
                    </a:p>
                  </a:txBody>
                  <a:tcPr marL="64008" marR="64008" marT="36576" marB="36576">
                    <a:solidFill>
                      <a:srgbClr val="FFFFFF"/>
                    </a:solidFill>
                  </a:tcPr>
                </a:tc>
                <a:tc>
                  <a:txBody>
                    <a:bodyPr wrap="square"/>
                    <a:lstStyle/>
                    <a:p>
                      <a:r>
                        <a:rPr sz="1400" b="0">
                          <a:solidFill>
                            <a:srgbClr val="000000"/>
                          </a:solidFill>
                        </a:rPr>
                        <a:t>Clip δ</a:t>
                      </a:r>
                    </a:p>
                  </a:txBody>
                  <a:tcPr marL="64008" marR="64008" marT="36576" marB="36576">
                    <a:solidFill>
                      <a:srgbClr val="FFFFFF"/>
                    </a:solidFill>
                  </a:tcPr>
                </a:tc>
                <a:tc>
                  <a:txBody>
                    <a:bodyPr wrap="square"/>
                    <a:lstStyle/>
                    <a:p>
                      <a:r>
                        <a:rPr sz="1400" b="0">
                          <a:solidFill>
                            <a:srgbClr val="000000"/>
                          </a:solidFill>
                        </a:rPr>
                        <a:t>Robust, one parameter (L_d)</a:t>
                      </a:r>
                    </a:p>
                  </a:txBody>
                  <a:tcPr marL="64008" marR="64008" marT="36576" marB="36576">
                    <a:solidFill>
                      <a:srgbClr val="FFFFFF"/>
                    </a:solidFill>
                  </a:tcPr>
                </a:tc>
                <a:tc>
                  <a:txBody>
                    <a:bodyPr wrap="square"/>
                    <a:lstStyle/>
                    <a:p>
                      <a:r>
                        <a:rPr sz="1400" b="0">
                          <a:solidFill>
                            <a:srgbClr val="000000"/>
                          </a:solidFill>
                        </a:rPr>
                        <a:t>Cuts corners; L_d trade-off</a:t>
                      </a:r>
                    </a:p>
                  </a:txBody>
                  <a:tcPr marL="64008" marR="64008" marT="36576" marB="36576">
                    <a:solidFill>
                      <a:srgbClr val="FFFFFF"/>
                    </a:solidFill>
                  </a:tcPr>
                </a:tc>
              </a:tr>
              <a:tr h="822960">
                <a:tc>
                  <a:txBody>
                    <a:bodyPr wrap="square"/>
                    <a:lstStyle/>
                    <a:p>
                      <a:r>
                        <a:rPr sz="1400" b="1">
                          <a:solidFill>
                            <a:srgbClr val="000000"/>
                          </a:solidFill>
                        </a:rPr>
                        <a:t>Stanley</a:t>
                      </a:r>
                    </a:p>
                  </a:txBody>
                  <a:tcPr marL="64008" marR="64008" marT="36576" marB="36576">
                    <a:solidFill>
                      <a:srgbClr val="FFFFFF"/>
                    </a:solidFill>
                  </a:tcPr>
                </a:tc>
                <a:tc>
                  <a:txBody>
                    <a:bodyPr wrap="square"/>
                    <a:lstStyle/>
                    <a:p>
                      <a:r>
                        <a:rPr sz="1400" b="0">
                          <a:solidFill>
                            <a:srgbClr val="000000"/>
                          </a:solidFill>
                        </a:rPr>
                        <a:t>Front axle</a:t>
                      </a:r>
                    </a:p>
                  </a:txBody>
                  <a:tcPr marL="64008" marR="64008" marT="36576" marB="36576">
                    <a:solidFill>
                      <a:srgbClr val="FFFFFF"/>
                    </a:solidFill>
                  </a:tcPr>
                </a:tc>
                <a:tc>
                  <a:txBody>
                    <a:bodyPr wrap="square"/>
                    <a:lstStyle/>
                    <a:p>
                      <a:r>
                        <a:rPr sz="1400" b="0">
                          <a:solidFill>
                            <a:srgbClr val="000000"/>
                          </a:solidFill>
                        </a:rPr>
                        <a:t>Kinematic geometry</a:t>
                      </a:r>
                    </a:p>
                  </a:txBody>
                  <a:tcPr marL="64008" marR="64008" marT="36576" marB="36576">
                    <a:solidFill>
                      <a:srgbClr val="FFFFFF"/>
                    </a:solidFill>
                  </a:tcPr>
                </a:tc>
                <a:tc>
                  <a:txBody>
                    <a:bodyPr wrap="square"/>
                    <a:lstStyle/>
                    <a:p>
                      <a:r>
                        <a:rPr sz="1400" b="0">
                          <a:solidFill>
                            <a:srgbClr val="000000"/>
                          </a:solidFill>
                        </a:rPr>
                        <a:t>Clip δ</a:t>
                      </a:r>
                    </a:p>
                  </a:txBody>
                  <a:tcPr marL="64008" marR="64008" marT="36576" marB="36576">
                    <a:solidFill>
                      <a:srgbClr val="FFFFFF"/>
                    </a:solidFill>
                  </a:tcPr>
                </a:tc>
                <a:tc>
                  <a:txBody>
                    <a:bodyPr wrap="square"/>
                    <a:lstStyle/>
                    <a:p>
                      <a:r>
                        <a:rPr sz="1400" b="0">
                          <a:solidFill>
                            <a:srgbClr val="000000"/>
                          </a:solidFill>
                        </a:rPr>
                        <a:t>Exponential error decay; good at moderate speed</a:t>
                      </a:r>
                    </a:p>
                  </a:txBody>
                  <a:tcPr marL="64008" marR="64008" marT="36576" marB="36576">
                    <a:solidFill>
                      <a:srgbClr val="FFFFFF"/>
                    </a:solidFill>
                  </a:tcPr>
                </a:tc>
                <a:tc>
                  <a:txBody>
                    <a:bodyPr wrap="square"/>
                    <a:lstStyle/>
                    <a:p>
                      <a:r>
                        <a:rPr sz="1400" b="0">
                          <a:solidFill>
                            <a:srgbClr val="000000"/>
                          </a:solidFill>
                        </a:rPr>
                        <a:t>No preview; noisy e, ψ at low speed</a:t>
                      </a:r>
                    </a:p>
                  </a:txBody>
                  <a:tcPr marL="64008" marR="64008" marT="36576" marB="36576">
                    <a:solidFill>
                      <a:srgbClr val="FFFFFF"/>
                    </a:solidFill>
                  </a:tcPr>
                </a:tc>
              </a:tr>
              <a:tr h="822960">
                <a:tc>
                  <a:txBody>
                    <a:bodyPr wrap="square"/>
                    <a:lstStyle/>
                    <a:p>
                      <a:r>
                        <a:rPr sz="1400" b="1">
                          <a:solidFill>
                            <a:srgbClr val="000000"/>
                          </a:solidFill>
                        </a:rPr>
                        <a:t>LQR</a:t>
                      </a:r>
                    </a:p>
                  </a:txBody>
                  <a:tcPr marL="64008" marR="64008" marT="36576" marB="36576">
                    <a:solidFill>
                      <a:srgbClr val="FFFFFF"/>
                    </a:solidFill>
                  </a:tcPr>
                </a:tc>
                <a:tc>
                  <a:txBody>
                    <a:bodyPr wrap="square"/>
                    <a:lstStyle/>
                    <a:p>
                      <a:r>
                        <a:rPr sz="1400" b="0">
                          <a:solidFill>
                            <a:srgbClr val="000000"/>
                          </a:solidFill>
                        </a:rPr>
                        <a:t>Full state (d, ḋ, θ, θ̇)</a:t>
                      </a:r>
                    </a:p>
                  </a:txBody>
                  <a:tcPr marL="64008" marR="64008" marT="36576" marB="36576">
                    <a:solidFill>
                      <a:srgbClr val="FFFFFF"/>
                    </a:solidFill>
                  </a:tcPr>
                </a:tc>
                <a:tc>
                  <a:txBody>
                    <a:bodyPr wrap="square"/>
                    <a:lstStyle/>
                    <a:p>
                      <a:r>
                        <a:rPr sz="1400" b="0">
                          <a:solidFill>
                            <a:srgbClr val="000000"/>
                          </a:solidFill>
                        </a:rPr>
                        <a:t>Linear error model</a:t>
                      </a:r>
                    </a:p>
                  </a:txBody>
                  <a:tcPr marL="64008" marR="64008" marT="36576" marB="36576">
                    <a:solidFill>
                      <a:srgbClr val="FFFFFF"/>
                    </a:solidFill>
                  </a:tcPr>
                </a:tc>
                <a:tc>
                  <a:txBody>
                    <a:bodyPr wrap="square"/>
                    <a:lstStyle/>
                    <a:p>
                      <a:r>
                        <a:rPr sz="1400" b="0">
                          <a:solidFill>
                            <a:srgbClr val="000000"/>
                          </a:solidFill>
                        </a:rPr>
                        <a:t>Clip u</a:t>
                      </a:r>
                    </a:p>
                  </a:txBody>
                  <a:tcPr marL="64008" marR="64008" marT="36576" marB="36576">
                    <a:solidFill>
                      <a:srgbClr val="FFFFFF"/>
                    </a:solidFill>
                  </a:tcPr>
                </a:tc>
                <a:tc>
                  <a:txBody>
                    <a:bodyPr wrap="square"/>
                    <a:lstStyle/>
                    <a:p>
                      <a:r>
                        <a:rPr sz="1400" b="0">
                          <a:solidFill>
                            <a:srgbClr val="000000"/>
                          </a:solidFill>
                        </a:rPr>
                        <a:t>Optimal trade-off via Q, R; speed-scheduled gains (Apollo)</a:t>
                      </a:r>
                    </a:p>
                  </a:txBody>
                  <a:tcPr marL="64008" marR="64008" marT="36576" marB="36576">
                    <a:solidFill>
                      <a:srgbClr val="FFFFFF"/>
                    </a:solidFill>
                  </a:tcPr>
                </a:tc>
                <a:tc>
                  <a:txBody>
                    <a:bodyPr wrap="square"/>
                    <a:lstStyle/>
                    <a:p>
                      <a:r>
                        <a:rPr sz="1400" b="0">
                          <a:solidFill>
                            <a:srgbClr val="000000"/>
                          </a:solidFill>
                        </a:rPr>
                        <a:t>Model mismatch; no explicit constraints</a:t>
                      </a:r>
                    </a:p>
                  </a:txBody>
                  <a:tcPr marL="64008" marR="64008" marT="36576" marB="36576">
                    <a:solidFill>
                      <a:srgbClr val="FFFFFF"/>
                    </a:solidFill>
                  </a:tcPr>
                </a:tc>
              </a:tr>
              <a:tr h="822960">
                <a:tc>
                  <a:txBody>
                    <a:bodyPr wrap="square"/>
                    <a:lstStyle/>
                    <a:p>
                      <a:r>
                        <a:rPr sz="1400" b="1">
                          <a:solidFill>
                            <a:srgbClr val="000000"/>
                          </a:solidFill>
                        </a:rPr>
                        <a:t>MPC</a:t>
                      </a:r>
                    </a:p>
                  </a:txBody>
                  <a:tcPr marL="64008" marR="64008" marT="36576" marB="36576">
                    <a:solidFill>
                      <a:srgbClr val="FFFFFF"/>
                    </a:solidFill>
                  </a:tcPr>
                </a:tc>
                <a:tc>
                  <a:txBody>
                    <a:bodyPr wrap="square"/>
                    <a:lstStyle/>
                    <a:p>
                      <a:r>
                        <a:rPr sz="1400" b="0">
                          <a:solidFill>
                            <a:srgbClr val="000000"/>
                          </a:solidFill>
                        </a:rPr>
                        <a:t>Predicted horizon</a:t>
                      </a:r>
                    </a:p>
                  </a:txBody>
                  <a:tcPr marL="64008" marR="64008" marT="36576" marB="36576">
                    <a:solidFill>
                      <a:srgbClr val="FFFFFF"/>
                    </a:solidFill>
                  </a:tcPr>
                </a:tc>
                <a:tc>
                  <a:txBody>
                    <a:bodyPr wrap="square"/>
                    <a:lstStyle/>
                    <a:p>
                      <a:r>
                        <a:rPr sz="1400" b="0">
                          <a:solidFill>
                            <a:srgbClr val="000000"/>
                          </a:solidFill>
                        </a:rPr>
                        <a:t>Kinematic or dynamic model</a:t>
                      </a:r>
                    </a:p>
                  </a:txBody>
                  <a:tcPr marL="64008" marR="64008" marT="36576" marB="36576">
                    <a:solidFill>
                      <a:srgbClr val="FFFFFF"/>
                    </a:solidFill>
                  </a:tcPr>
                </a:tc>
                <a:tc>
                  <a:txBody>
                    <a:bodyPr wrap="square"/>
                    <a:lstStyle/>
                    <a:p>
                      <a:r>
                        <a:rPr sz="1400" b="0">
                          <a:solidFill>
                            <a:srgbClr val="000000"/>
                          </a:solidFill>
                        </a:rPr>
                        <a:t>Explicit</a:t>
                      </a:r>
                    </a:p>
                  </a:txBody>
                  <a:tcPr marL="64008" marR="64008" marT="36576" marB="36576">
                    <a:solidFill>
                      <a:srgbClr val="FFFFFF"/>
                    </a:solidFill>
                  </a:tcPr>
                </a:tc>
                <a:tc>
                  <a:txBody>
                    <a:bodyPr wrap="square"/>
                    <a:lstStyle/>
                    <a:p>
                      <a:r>
                        <a:rPr sz="1400" b="0">
                          <a:solidFill>
                            <a:srgbClr val="000000"/>
                          </a:solidFill>
                        </a:rPr>
                        <a:t>Constraints + preview (Autoware default)</a:t>
                      </a:r>
                    </a:p>
                  </a:txBody>
                  <a:tcPr marL="64008" marR="64008" marT="36576" marB="36576">
                    <a:solidFill>
                      <a:srgbClr val="FFFFFF"/>
                    </a:solidFill>
                  </a:tcPr>
                </a:tc>
                <a:tc>
                  <a:txBody>
                    <a:bodyPr wrap="square"/>
                    <a:lstStyle/>
                    <a:p>
                      <a:r>
                        <a:rPr sz="1400" b="0">
                          <a:solidFill>
                            <a:srgbClr val="000000"/>
                          </a:solidFill>
                        </a:rPr>
                        <a:t>Computation; needs accurate model</a:t>
                      </a:r>
                    </a:p>
                  </a:txBody>
                  <a:tcPr marL="64008" marR="64008" marT="36576" marB="36576">
                    <a:solidFill>
                      <a:srgbClr val="FFFFFF"/>
                    </a:solidFill>
                  </a:tcPr>
                </a:tc>
              </a:tr>
            </a:tbl>
          </a:graphicData>
        </a:graphic>
      </p:graphicFrame>
      <p:sp>
        <p:nvSpPr>
          <p:cNvPr id="4" name="Slide Number Placeholder 3"/>
          <p:cNvSpPr>
            <a:spLocks noGrp="1"/>
          </p:cNvSpPr>
          <p:nvPr>
            <p:ph type="sldNum" sz="quarter" idx="12"/>
          </p:nvPr>
        </p:nvSpPr>
        <p:spPr/>
        <p:txBody>
          <a:bodyPr/>
          <a:lstStyle/>
          <a:p>
            <a:fld id="{1F57BF9A-7B35-9447-9112-EAE7E91B4E99}" type="slidenum">
              <a:rPr lang="en-US" smtClean="0"/>
              <a:t>‹#›</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3.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8646</TotalTime>
  <Words>3950</Words>
  <Application>Microsoft Office PowerPoint</Application>
  <PresentationFormat>Widescreen</PresentationFormat>
  <Paragraphs>394</Paragraphs>
  <Slides>39</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39</vt:i4>
      </vt:variant>
    </vt:vector>
  </HeadingPairs>
  <TitlesOfParts>
    <vt:vector size="45" baseType="lpstr">
      <vt:lpstr>Arial</vt:lpstr>
      <vt:lpstr>Calibri</vt:lpstr>
      <vt:lpstr>Calibri Light</vt:lpstr>
      <vt:lpstr>Cambria Math</vt:lpstr>
      <vt:lpstr>Office Theme</vt:lpstr>
      <vt:lpstr>Custom Design</vt:lpstr>
      <vt:lpstr>L6 Control</vt:lpstr>
      <vt:lpstr>Control in the AD Pipeline</vt:lpstr>
      <vt:lpstr>Feedback Control Problem</vt:lpstr>
      <vt:lpstr>Outline</vt:lpstr>
      <vt:lpstr>PID Control</vt:lpstr>
      <vt:lpstr>Step Response Performance Metrics</vt:lpstr>
      <vt:lpstr>Proportional Term K_p</vt:lpstr>
      <vt:lpstr>Integral Term K_i</vt:lpstr>
      <vt:lpstr>Derivative Term K_d</vt:lpstr>
      <vt:lpstr>Effects of PID Gains</vt:lpstr>
      <vt:lpstr>Example: Vehicle Lateral Control </vt:lpstr>
      <vt:lpstr>System and P Control Modeling</vt:lpstr>
      <vt:lpstr>P Control Design with Pole Placement (not covered in this course)</vt:lpstr>
      <vt:lpstr>P Control Design Cont’d</vt:lpstr>
      <vt:lpstr>Simplifying Assumptions</vt:lpstr>
      <vt:lpstr>Outline</vt:lpstr>
      <vt:lpstr>MPC (Model-Predictive Control)</vt:lpstr>
      <vt:lpstr>MPC Example</vt:lpstr>
      <vt:lpstr>MPC Illustration Con’t</vt:lpstr>
      <vt:lpstr>Linear vs. Nonlinear MPC</vt:lpstr>
      <vt:lpstr>MPC Pros and Cons</vt:lpstr>
      <vt:lpstr>PID Control Example (No Look-Ahead)</vt:lpstr>
      <vt:lpstr>MPC Control Example (Look-Ahead)</vt:lpstr>
      <vt:lpstr>MPC Quiz</vt:lpstr>
      <vt:lpstr>Outline</vt:lpstr>
      <vt:lpstr>Kinematics vs. Dynamics</vt:lpstr>
      <vt:lpstr>Kinematic vs. Dynamic Control</vt:lpstr>
      <vt:lpstr>Kinematic Bicycle Model</vt:lpstr>
      <vt:lpstr>State Update in Python Code</vt:lpstr>
      <vt:lpstr>State Update Equation</vt:lpstr>
      <vt:lpstr>Straight Line vs. Circular Motion</vt:lpstr>
      <vt:lpstr>PID Control Lab Setup</vt:lpstr>
      <vt:lpstr>Outline</vt:lpstr>
      <vt:lpstr>Udacity: Racetrack Control</vt:lpstr>
      <vt:lpstr>run()</vt:lpstr>
      <vt:lpstr>For General dt</vt:lpstr>
      <vt:lpstr>twiddle()</vt:lpstr>
      <vt:lpstr>Changing to P Control</vt:lpstr>
      <vt:lpstr>twiddle() vs. Pole Placement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953</cp:revision>
  <dcterms:created xsi:type="dcterms:W3CDTF">2020-05-28T21:34:29Z</dcterms:created>
  <dcterms:modified xsi:type="dcterms:W3CDTF">2026-10-07T23:37:18Z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