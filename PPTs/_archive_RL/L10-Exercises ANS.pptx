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</p:sldIdLst>
  <p:sldSz cx="12192000" cy="6858000"/>
  <p:notesSz cx="9601200" cy="7315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AA"/>
    <a:srgbClr val="FF0000"/>
    <a:srgbClr val="2A40E2"/>
    <a:srgbClr val="BCFFBC"/>
    <a:srgbClr val="F430AB"/>
    <a:srgbClr val="A18623"/>
    <a:srgbClr val="9E7800"/>
    <a:srgbClr val="C49500"/>
    <a:srgbClr val="E6E703"/>
    <a:srgbClr val="72AA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F134B6-D37D-4D2B-9A35-B8F225AC66B4}" v="3" dt="2025-10-17T01:22:21.469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1" autoAdjust="0"/>
    <p:restoredTop sz="82745" autoAdjust="0"/>
  </p:normalViewPr>
  <p:slideViewPr>
    <p:cSldViewPr>
      <p:cViewPr varScale="1">
        <p:scale>
          <a:sx n="68" d="100"/>
          <a:sy n="68" d="100"/>
        </p:scale>
        <p:origin x="437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4805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6/11/relationships/changesInfo" Target="changesInfos/changesInfo1.xml"/><Relationship Id="rId3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custSel modSld">
      <pc:chgData name="Zonghua Gu" userId="9a7e1853e1951ef5" providerId="LiveId" clId="{CF1FAA12-072C-4ED5-BA76-0FFFAEFDB88A}" dt="2025-10-17T01:22:23.049" v="46" actId="20577"/>
      <pc:docMkLst>
        <pc:docMk/>
      </pc:docMkLst>
      <pc:sldChg chg="modSp mod">
        <pc:chgData name="Zonghua Gu" userId="9a7e1853e1951ef5" providerId="LiveId" clId="{CF1FAA12-072C-4ED5-BA76-0FFFAEFDB88A}" dt="2025-09-26T00:33:07.077" v="1" actId="20577"/>
        <pc:sldMkLst>
          <pc:docMk/>
          <pc:sldMk cId="3198402123" sldId="381"/>
        </pc:sldMkLst>
        <pc:spChg chg="mod">
          <ac:chgData name="Zonghua Gu" userId="9a7e1853e1951ef5" providerId="LiveId" clId="{CF1FAA12-072C-4ED5-BA76-0FFFAEFDB88A}" dt="2025-09-26T00:33:07.077" v="1" actId="20577"/>
          <ac:spMkLst>
            <pc:docMk/>
            <pc:sldMk cId="3198402123" sldId="381"/>
            <ac:spMk id="22" creationId="{E6AF71B3-F5D1-B2DE-B835-5C8208F44553}"/>
          </ac:spMkLst>
        </pc:spChg>
      </pc:sldChg>
      <pc:sldChg chg="modSp mod">
        <pc:chgData name="Zonghua Gu" userId="9a7e1853e1951ef5" providerId="LiveId" clId="{CF1FAA12-072C-4ED5-BA76-0FFFAEFDB88A}" dt="2025-10-17T01:20:09.875" v="29" actId="20577"/>
        <pc:sldMkLst>
          <pc:docMk/>
          <pc:sldMk cId="3823801097" sldId="420"/>
        </pc:sldMkLst>
        <pc:spChg chg="mod">
          <ac:chgData name="Zonghua Gu" userId="9a7e1853e1951ef5" providerId="LiveId" clId="{CF1FAA12-072C-4ED5-BA76-0FFFAEFDB88A}" dt="2025-10-17T01:20:09.875" v="29" actId="20577"/>
          <ac:spMkLst>
            <pc:docMk/>
            <pc:sldMk cId="3823801097" sldId="420"/>
            <ac:spMk id="7" creationId="{8BDE5981-C58E-1D2C-A988-FFF28496CD9B}"/>
          </ac:spMkLst>
        </pc:spChg>
      </pc:sldChg>
      <pc:sldChg chg="modSp mod">
        <pc:chgData name="Zonghua Gu" userId="9a7e1853e1951ef5" providerId="LiveId" clId="{CF1FAA12-072C-4ED5-BA76-0FFFAEFDB88A}" dt="2025-10-17T01:21:42.124" v="41" actId="20577"/>
        <pc:sldMkLst>
          <pc:docMk/>
          <pc:sldMk cId="937329881" sldId="1384"/>
        </pc:sldMkLst>
        <pc:spChg chg="mod">
          <ac:chgData name="Zonghua Gu" userId="9a7e1853e1951ef5" providerId="LiveId" clId="{CF1FAA12-072C-4ED5-BA76-0FFFAEFDB88A}" dt="2025-10-17T01:21:42.124" v="41" actId="20577"/>
          <ac:spMkLst>
            <pc:docMk/>
            <pc:sldMk cId="937329881" sldId="1384"/>
            <ac:spMk id="3" creationId="{C96CE106-EFF2-89A6-A94C-94BA0CA70C60}"/>
          </ac:spMkLst>
        </pc:spChg>
      </pc:sldChg>
      <pc:sldChg chg="modSp mod">
        <pc:chgData name="Zonghua Gu" userId="9a7e1853e1951ef5" providerId="LiveId" clId="{CF1FAA12-072C-4ED5-BA76-0FFFAEFDB88A}" dt="2025-10-17T01:22:04.667" v="43" actId="20577"/>
        <pc:sldMkLst>
          <pc:docMk/>
          <pc:sldMk cId="210011671" sldId="1386"/>
        </pc:sldMkLst>
        <pc:spChg chg="mod">
          <ac:chgData name="Zonghua Gu" userId="9a7e1853e1951ef5" providerId="LiveId" clId="{CF1FAA12-072C-4ED5-BA76-0FFFAEFDB88A}" dt="2025-10-17T01:22:04.667" v="43" actId="20577"/>
          <ac:spMkLst>
            <pc:docMk/>
            <pc:sldMk cId="210011671" sldId="1386"/>
            <ac:spMk id="3" creationId="{2C890D62-C0BE-DA6D-366C-8F725FB1BCE9}"/>
          </ac:spMkLst>
        </pc:spChg>
      </pc:sldChg>
      <pc:sldChg chg="modSp mod">
        <pc:chgData name="Zonghua Gu" userId="9a7e1853e1951ef5" providerId="LiveId" clId="{CF1FAA12-072C-4ED5-BA76-0FFFAEFDB88A}" dt="2025-10-17T01:22:23.049" v="46" actId="20577"/>
        <pc:sldMkLst>
          <pc:docMk/>
          <pc:sldMk cId="2996913365" sldId="1388"/>
        </pc:sldMkLst>
        <pc:spChg chg="mod">
          <ac:chgData name="Zonghua Gu" userId="9a7e1853e1951ef5" providerId="LiveId" clId="{CF1FAA12-072C-4ED5-BA76-0FFFAEFDB88A}" dt="2025-10-17T01:22:23.049" v="46" actId="20577"/>
          <ac:spMkLst>
            <pc:docMk/>
            <pc:sldMk cId="2996913365" sldId="1388"/>
            <ac:spMk id="3" creationId="{E9304C07-65AC-81BF-04CE-B8BAC4C0342A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4387622" y="6956427"/>
            <a:ext cx="827553" cy="2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68" tIns="46975" rIns="92268" bIns="46975">
            <a:spAutoFit/>
          </a:bodyPr>
          <a:lstStyle/>
          <a:p>
            <a:pPr algn="ctr" defTabSz="917113">
              <a:lnSpc>
                <a:spcPct val="90000"/>
              </a:lnSpc>
            </a:pPr>
            <a:r>
              <a:rPr lang="en-US" sz="1300" b="0">
                <a:latin typeface="Gill Sans Light" charset="0"/>
                <a:cs typeface="Gill Sans Light" charset="0"/>
              </a:rPr>
              <a:t>Page </a:t>
            </a:r>
            <a:fld id="{073744B8-EF17-EB47-B355-93F8159194C2}" type="slidenum">
              <a:rPr lang="en-US" sz="1300" b="0">
                <a:latin typeface="Gill Sans Light" charset="0"/>
                <a:cs typeface="Gill Sans Light" charset="0"/>
              </a:rPr>
              <a:pPr algn="ctr" defTabSz="917113">
                <a:lnSpc>
                  <a:spcPct val="90000"/>
                </a:lnSpc>
              </a:pPr>
              <a:t>‹#›</a:t>
            </a:fld>
            <a:endParaRPr lang="en-US" sz="1300" b="0">
              <a:latin typeface="Gill Sans Light" charset="0"/>
              <a:cs typeface="Gill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444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373194" y="6956427"/>
            <a:ext cx="856407" cy="2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68" tIns="46975" rIns="92268" bIns="46975">
            <a:spAutoFit/>
          </a:bodyPr>
          <a:lstStyle/>
          <a:p>
            <a:pPr algn="ctr" defTabSz="917113">
              <a:lnSpc>
                <a:spcPct val="90000"/>
              </a:lnSpc>
            </a:pPr>
            <a:r>
              <a:rPr lang="en-US" sz="1300" b="0"/>
              <a:t>Page </a:t>
            </a:r>
            <a:fld id="{6D259941-7246-4245-A40C-55C6F952DF9E}" type="slidenum">
              <a:rPr lang="en-US" sz="1300" b="0"/>
              <a:pPr algn="ctr" defTabSz="917113">
                <a:lnSpc>
                  <a:spcPct val="90000"/>
                </a:lnSpc>
              </a:pPr>
              <a:t>‹#›</a:t>
            </a:fld>
            <a:endParaRPr lang="en-US" sz="1300" b="0"/>
          </a:p>
        </p:txBody>
      </p:sp>
      <p:sp>
        <p:nvSpPr>
          <p:cNvPr id="65539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7688"/>
            <a:ext cx="4876800" cy="27447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1115" y="3475043"/>
            <a:ext cx="7038975" cy="329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22" tIns="46975" rIns="95622" bIns="469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5107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ＭＳ Ｐゴシック" charset="0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3006919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Gill Sans" charset="0"/>
                <a:ea typeface="Gill Sans" charset="0"/>
                <a:cs typeface="Gill Sans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218968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45881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914400"/>
            <a:ext cx="5181600" cy="5105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181600" cy="5105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3685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304875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387832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64620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63132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009511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21120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152400"/>
            <a:ext cx="2641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52400"/>
            <a:ext cx="7721600" cy="5867400"/>
          </a:xfrm>
        </p:spPr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19027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5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914400"/>
            <a:ext cx="5181600" cy="51054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181600" cy="51054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692831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5334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917701"/>
            <a:ext cx="5435600" cy="207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48400" y="1917701"/>
            <a:ext cx="5435600" cy="207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4144963"/>
            <a:ext cx="5435600" cy="2074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4144963"/>
            <a:ext cx="5435600" cy="2074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9042400" y="636428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827A0A33-D1BC-4593-884F-3C34146062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609600" y="6364288"/>
            <a:ext cx="5852584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© </a:t>
            </a:r>
            <a:r>
              <a:rPr lang="en-US" err="1"/>
              <a:t>Zonghua</a:t>
            </a:r>
            <a:r>
              <a:rPr lang="en-US"/>
              <a:t> </a:t>
            </a:r>
            <a:r>
              <a:rPr lang="en-US" err="1"/>
              <a:t>Gu</a:t>
            </a:r>
            <a:r>
              <a:rPr lang="en-US"/>
              <a:t>, CMPT 300, Fall 2011 </a:t>
            </a:r>
          </a:p>
        </p:txBody>
      </p:sp>
    </p:spTree>
    <p:extLst>
      <p:ext uri="{BB962C8B-B14F-4D97-AF65-F5344CB8AC3E}">
        <p14:creationId xmlns:p14="http://schemas.microsoft.com/office/powerpoint/2010/main" val="39129538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152400"/>
            <a:ext cx="9550400" cy="533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8" tIns="44445" rIns="90478" bIns="444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914400"/>
            <a:ext cx="10566400" cy="5105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Body Text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30" name="Line 6"/>
          <p:cNvSpPr>
            <a:spLocks noChangeShapeType="1"/>
          </p:cNvSpPr>
          <p:nvPr userDrawn="1"/>
        </p:nvSpPr>
        <p:spPr bwMode="auto">
          <a:xfrm>
            <a:off x="1320800" y="685800"/>
            <a:ext cx="95504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en-US">
              <a:ea typeface="Arial" charset="0"/>
              <a:cs typeface="Arial" charset="0"/>
            </a:endParaRPr>
          </a:p>
        </p:txBody>
      </p:sp>
      <p:sp>
        <p:nvSpPr>
          <p:cNvPr id="2" name="Plassholder for lysbildenummer 5">
            <a:extLst>
              <a:ext uri="{FF2B5EF4-FFF2-40B4-BE49-F238E27FC236}">
                <a16:creationId xmlns:a16="http://schemas.microsoft.com/office/drawing/2014/main" id="{C1122AA0-51BA-FB92-7E72-DEDEC17FA8AB}"/>
              </a:ext>
            </a:extLst>
          </p:cNvPr>
          <p:cNvSpPr txBox="1">
            <a:spLocks/>
          </p:cNvSpPr>
          <p:nvPr userDrawn="1"/>
        </p:nvSpPr>
        <p:spPr>
          <a:xfrm>
            <a:off x="11734800" y="6492875"/>
            <a:ext cx="456108" cy="365125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400" b="0" i="0" smtClean="0">
                <a:solidFill>
                  <a:schemeClr val="tx1"/>
                </a:solidFill>
                <a:latin typeface="Arial"/>
                <a:cs typeface="Arial"/>
              </a:rPr>
              <a:pPr algn="ctr"/>
              <a:t>‹#›</a:t>
            </a:fld>
            <a:endParaRPr lang="nb-NO" sz="1400" b="0" i="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9" r:id="rId13"/>
  </p:sldLayoutIdLst>
  <p:transition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Gill Sans" charset="0"/>
          <a:ea typeface="ＭＳ Ｐゴシック" charset="0"/>
          <a:cs typeface="Gill Sans" charset="0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2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295400"/>
            <a:ext cx="10439400" cy="2057400"/>
          </a:xfrm>
        </p:spPr>
        <p:txBody>
          <a:bodyPr/>
          <a:lstStyle/>
          <a:p>
            <a:r>
              <a:rPr sz="3000"/>
              <a:t>CSC 144V: Autonomous Vehicles</a:t>
            </a:r>
            <a:br>
              <a:rPr sz="3000"/>
            </a:br>
            <a:r>
              <a:rPr sz="3000"/>
              <a:t>Lecture 10</a:t>
            </a:r>
            <a:br>
              <a:rPr sz="3000"/>
            </a:br>
            <a:br>
              <a:rPr sz="3000"/>
            </a:br>
            <a:br>
              <a:rPr sz="3000"/>
            </a:br>
            <a:r>
              <a:rPr sz="3000"/>
              <a:t>AD with IL and RL Exercises 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4191000"/>
            <a:ext cx="8001000" cy="1447800"/>
          </a:xfrm>
        </p:spPr>
        <p:txBody>
          <a:bodyPr/>
          <a:lstStyle/>
          <a:p>
            <a:pPr marL="285750" indent="-285750"/>
            <a:r>
              <a:t>Department of Computer Science, </a:t>
            </a:r>
          </a:p>
          <a:p>
            <a:pPr marL="285750" indent="-285750"/>
            <a:r>
              <a:t>Hofstra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Compounding error in BC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6500000" cy="5500000"/>
          </a:xfrm>
        </p:spPr>
        <p:txBody>
          <a:bodyPr wrap="square"/>
          <a:lstStyle/>
          <a:p>
            <a:pPr marL="0" indent="0">
              <a:buNone/>
            </a:pPr>
            <a:r>
              <a:rPr sz="1900"/>
              <a:t>Behavior cloning (BC) suffers from </a:t>
            </a:r>
            <a:r>
              <a:rPr sz="1900" b="1">
                <a:solidFill>
                  <a:srgbClr val="2A40E2"/>
                </a:solidFill>
              </a:rPr>
              <a:t>distribution shift</a:t>
            </a:r>
            <a:r>
              <a:rPr sz="1900"/>
              <a:t>: the learner makes a small error with probability ε per step and then visits states the expert never showed. Cost 1 per mistake, horizon T = 100, ε = 0.002.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buNone/>
            </a:pPr>
            <a:r>
              <a:rPr sz="1900"/>
              <a:t>(a) Expected total cost if errors did not compound (i.i.d. supervised bound ε T)?</a:t>
            </a:r>
          </a:p>
          <a:p>
            <a:pPr marL="0" indent="0">
              <a:buNone/>
            </a:pPr>
            <a:r>
              <a:rPr sz="1900"/>
              <a:t>(b) BC bound ε T²? Ratio?</a:t>
            </a:r>
          </a:p>
          <a:p>
            <a:pPr marL="0" indent="0">
              <a:buNone/>
            </a:pPr>
            <a:r>
              <a:rPr sz="1900"/>
              <a:t>(c) Why do errors compound? Name two remedies used in practice.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00000" y="1400000"/>
          <a:ext cx="4700000" cy="280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800000"/>
                <a:gridCol w="1900000"/>
              </a:tblGrid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700" b="1"/>
                        <a:t>Setting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/>
                        <a:t>Expected cost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700"/>
                        <a:t>Errors independent (ε T)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700"/>
                    </a:p>
                  </a:txBody>
                  <a:tcPr marL="60000" marR="60000" marT="25000" marB="25000" anchor="ctr"/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700"/>
                        <a:t>BC with compounding (ε T²)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700"/>
                    </a:p>
                  </a:txBody>
                  <a:tcPr marL="60000" marR="60000" marT="25000" marB="25000" anchor="ctr"/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700"/>
                        <a:t>Ratio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700"/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Compounding error in BC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6500000" cy="5500000"/>
          </a:xfrm>
        </p:spPr>
        <p:txBody>
          <a:bodyPr wrap="square"/>
          <a:lstStyle/>
          <a:p>
            <a:r>
              <a:rPr sz="1900"/>
              <a:t>(a) ε T = 0.002 · 100 = </a:t>
            </a:r>
            <a:r>
              <a:rPr sz="1900" b="1">
                <a:solidFill>
                  <a:srgbClr val="2A40E2"/>
                </a:solidFill>
              </a:rPr>
              <a:t>0.2</a:t>
            </a:r>
            <a:r>
              <a:rPr sz="1900"/>
              <a:t>.</a:t>
            </a:r>
          </a:p>
          <a:p>
            <a:r>
              <a:rPr sz="1900"/>
              <a:t>(b) ε T² = 0.002 · 10,000 = </a:t>
            </a:r>
            <a:r>
              <a:rPr sz="1900" b="1">
                <a:solidFill>
                  <a:srgbClr val="2A40E2"/>
                </a:solidFill>
              </a:rPr>
              <a:t>20</a:t>
            </a:r>
            <a:r>
              <a:rPr sz="1900"/>
              <a:t>: </a:t>
            </a:r>
            <a:r>
              <a:rPr sz="1900" b="1">
                <a:solidFill>
                  <a:srgbClr val="2A40E2"/>
                </a:solidFill>
              </a:rPr>
              <a:t>T = 100 times</a:t>
            </a:r>
            <a:r>
              <a:rPr sz="1900"/>
              <a:t> larger.</a:t>
            </a:r>
          </a:p>
          <a:p>
            <a:r>
              <a:rPr sz="1900"/>
              <a:t>(c) One mistake puts the car in a state (off-center) that is not in the expert data, so the next action is also unreliable, and errors accumulate quadratically with the horizon.</a:t>
            </a:r>
          </a:p>
          <a:p>
            <a:r>
              <a:rPr sz="1900"/>
              <a:t>Remedies: </a:t>
            </a:r>
            <a:r>
              <a:rPr sz="1900" b="1">
                <a:solidFill>
                  <a:srgbClr val="2A40E2"/>
                </a:solidFill>
              </a:rPr>
              <a:t>data augmentation</a:t>
            </a:r>
            <a:r>
              <a:rPr sz="1900"/>
              <a:t> with shifted and rotated views and corrective labels (PilotNet); </a:t>
            </a:r>
            <a:r>
              <a:rPr sz="1900" b="1">
                <a:solidFill>
                  <a:srgbClr val="2A40E2"/>
                </a:solidFill>
              </a:rPr>
              <a:t>DAgger</a:t>
            </a:r>
            <a:r>
              <a:rPr sz="1900"/>
              <a:t> (query the expert on the learner’s own states); also adding noise to the expert’s demonstrations.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00000" y="1400000"/>
          <a:ext cx="4700000" cy="280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800000"/>
                <a:gridCol w="1900000"/>
              </a:tblGrid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700" b="1"/>
                        <a:t>Setting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/>
                        <a:t>Expected cost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700"/>
                        <a:t>Errors independent (ε T)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0E2"/>
                          </a:solidFill>
                        </a:rPr>
                        <a:t>0.2</a:t>
                      </a:r>
                    </a:p>
                  </a:txBody>
                  <a:tcPr marL="60000" marR="60000" marT="25000" marB="25000" anchor="ctr"/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700"/>
                        <a:t>BC with compounding (ε T²)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0E2"/>
                          </a:solidFill>
                        </a:rPr>
                        <a:t>20</a:t>
                      </a:r>
                    </a:p>
                  </a:txBody>
                  <a:tcPr marL="60000" marR="60000" marT="25000" marB="25000" anchor="ctr"/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700"/>
                        <a:t>Ratio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0E2"/>
                          </a:solidFill>
                        </a:rPr>
                        <a:t>100×</a:t>
                      </a:r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Augmentation labels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5500000"/>
          </a:xfrm>
        </p:spPr>
        <p:txBody>
          <a:bodyPr wrap="square"/>
          <a:lstStyle/>
          <a:p>
            <a:pPr marL="0" indent="0">
              <a:buNone/>
            </a:pPr>
            <a:r>
              <a:rPr sz="2000"/>
              <a:t>PilotNet predicts the inverse turning radius 1/r. A synthetic image shows the car </a:t>
            </a:r>
            <a:r>
              <a:rPr sz="2000" b="1">
                <a:solidFill>
                  <a:srgbClr val="2A40E2"/>
                </a:solidFill>
              </a:rPr>
              <a:t>e = 0.5 m left</a:t>
            </a:r>
            <a:r>
              <a:rPr sz="2000"/>
              <a:t> of the lane center; the label should bring the car back to the center within </a:t>
            </a:r>
            <a:r>
              <a:rPr sz="2000" b="1">
                <a:solidFill>
                  <a:srgbClr val="2A40E2"/>
                </a:solidFill>
              </a:rPr>
              <a:t>2 s</a:t>
            </a:r>
            <a:r>
              <a:rPr sz="2000"/>
              <a:t> at v = 10 m/s. Left turns are positive.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buNone/>
            </a:pPr>
            <a:r>
              <a:rPr sz="2000"/>
              <a:t>(a) Distance driven in 2 s? Approximating the correction by a circular arc, e = κ d²/2: what curvature κ = 1/r is needed, and what radius?</a:t>
            </a:r>
          </a:p>
          <a:p>
            <a:pPr marL="0" indent="0">
              <a:buNone/>
            </a:pPr>
            <a:r>
              <a:rPr sz="2000"/>
              <a:t>(b) Steering label of the shifted image if the human drove straight (label 0)?</a:t>
            </a:r>
          </a:p>
          <a:p>
            <a:pPr marL="0" indent="0">
              <a:buNone/>
            </a:pPr>
            <a:r>
              <a:rPr sz="2000"/>
              <a:t>(c) The needed wheel angle for L = 2.8 m (δ = atan(Lκ))? And κ for e = 1.0 m?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Augmentation labels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5500000"/>
          </a:xfrm>
        </p:spPr>
        <p:txBody>
          <a:bodyPr wrap="square"/>
          <a:lstStyle/>
          <a:p>
            <a:r>
              <a:rPr sz="2100"/>
              <a:t>(a) d = 10 × 2 = </a:t>
            </a:r>
            <a:r>
              <a:rPr sz="2100" b="1">
                <a:solidFill>
                  <a:srgbClr val="2A40E2"/>
                </a:solidFill>
              </a:rPr>
              <a:t>20 m</a:t>
            </a:r>
            <a:r>
              <a:rPr sz="2100"/>
              <a:t>; κ = 2e/d² = 2 · 0.5/400 = </a:t>
            </a:r>
            <a:r>
              <a:rPr sz="2100" b="1">
                <a:solidFill>
                  <a:srgbClr val="2A40E2"/>
                </a:solidFill>
              </a:rPr>
              <a:t>0.0025 m⁻¹</a:t>
            </a:r>
            <a:r>
              <a:rPr sz="2100"/>
              <a:t>, i.e. r = </a:t>
            </a:r>
            <a:r>
              <a:rPr sz="2100" b="1">
                <a:solidFill>
                  <a:srgbClr val="2A40E2"/>
                </a:solidFill>
              </a:rPr>
              <a:t>400 m</a:t>
            </a:r>
            <a:r>
              <a:rPr sz="2100"/>
              <a:t>.</a:t>
            </a:r>
          </a:p>
          <a:p>
            <a:r>
              <a:rPr sz="2100"/>
              <a:t>(b) The car is left of center, so it must turn right: label = </a:t>
            </a:r>
            <a:r>
              <a:rPr sz="2100" b="1">
                <a:solidFill>
                  <a:srgbClr val="2A40E2"/>
                </a:solidFill>
              </a:rPr>
              <a:t>−0.0025 m⁻¹</a:t>
            </a:r>
            <a:r>
              <a:rPr sz="2100"/>
              <a:t> (added to the human’s own 1/r).</a:t>
            </a:r>
          </a:p>
          <a:p>
            <a:r>
              <a:rPr sz="2100"/>
              <a:t>(c) δ = atan(2.8 · 0.0025) = atan(0.007) ≈ </a:t>
            </a:r>
            <a:r>
              <a:rPr sz="2100" b="1">
                <a:solidFill>
                  <a:srgbClr val="2A40E2"/>
                </a:solidFill>
              </a:rPr>
              <a:t>0.007 rad ≈ 0.4°</a:t>
            </a:r>
            <a:r>
              <a:rPr sz="2100"/>
              <a:t>; for e = 1.0 m: κ = </a:t>
            </a:r>
            <a:r>
              <a:rPr sz="2100" b="1">
                <a:solidFill>
                  <a:srgbClr val="2A40E2"/>
                </a:solidFill>
              </a:rPr>
              <a:t>0.005 m⁻¹</a:t>
            </a:r>
            <a:r>
              <a:rPr sz="2100"/>
              <a:t>.</a:t>
            </a:r>
          </a:p>
          <a:p>
            <a:r>
              <a:rPr sz="2100"/>
              <a:t>Left and right cameras (and synthetic shifts and rotations) give recovery examples the human never produced.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PilotNet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780000"/>
            <a:ext cx="11500000" cy="900000"/>
          </a:xfrm>
        </p:spPr>
        <p:txBody>
          <a:bodyPr wrap="square"/>
          <a:lstStyle/>
          <a:p>
            <a:pPr marL="0" indent="0">
              <a:buNone/>
            </a:pPr>
            <a:r>
              <a:rPr sz="1800"/>
              <a:t>PilotNet: input 66 × 200 × 3 (YUV), a normalization layer (no learnable parameters), 5 convolutional layers, 3 FC layers and one output. Fill in the output shape and the number of parameters of each layer.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00000" y="1700000"/>
          <a:ext cx="10000000" cy="470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500000"/>
                <a:gridCol w="3600000"/>
                <a:gridCol w="2700000"/>
                <a:gridCol w="2200000"/>
              </a:tblGrid>
              <a:tr h="470000">
                <a:tc>
                  <a:txBody>
                    <a:bodyPr wrap="square"/>
                    <a:lstStyle/>
                    <a:p>
                      <a:pPr algn="ctr"/>
                      <a:r>
                        <a:rPr sz="1700" b="1"/>
                        <a:t>Layer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/>
                        <a:t>Configuration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/>
                        <a:t>Output shape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/>
                        <a:t># parameters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Conv1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5×5, stride 2, 24 filters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7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700"/>
                    </a:p>
                  </a:txBody>
                  <a:tcPr marL="60000" marR="60000" marT="25000" marB="25000" anchor="ctr"/>
                </a:tc>
              </a:tr>
              <a:tr h="470000"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Conv2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5×5, stride 2, 36 filters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7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700"/>
                    </a:p>
                  </a:txBody>
                  <a:tcPr marL="60000" marR="60000" marT="25000" marB="25000" anchor="ctr"/>
                </a:tc>
              </a:tr>
              <a:tr h="470000"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Conv3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5×5, stride 2, 48 filters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7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700"/>
                    </a:p>
                  </a:txBody>
                  <a:tcPr marL="60000" marR="60000" marT="25000" marB="25000" anchor="ctr"/>
                </a:tc>
              </a:tr>
              <a:tr h="470000"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Conv4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3×3, stride 1, 64 filters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7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700"/>
                    </a:p>
                  </a:txBody>
                  <a:tcPr marL="60000" marR="60000" marT="25000" marB="25000" anchor="ctr"/>
                </a:tc>
              </a:tr>
              <a:tr h="470000"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Conv5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3×3, stride 1, 64 filters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7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700"/>
                    </a:p>
                  </a:txBody>
                  <a:tcPr marL="60000" marR="60000" marT="25000" marB="25000" anchor="ctr"/>
                </a:tc>
              </a:tr>
              <a:tr h="470000"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FC1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1152 → 100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7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700"/>
                    </a:p>
                  </a:txBody>
                  <a:tcPr marL="60000" marR="60000" marT="25000" marB="25000" anchor="ctr"/>
                </a:tc>
              </a:tr>
              <a:tr h="470000"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FC2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100 → 50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7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700"/>
                    </a:p>
                  </a:txBody>
                  <a:tcPr marL="60000" marR="60000" marT="25000" marB="25000" anchor="ctr"/>
                </a:tc>
              </a:tr>
              <a:tr h="470000"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FC3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50 → 10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7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700"/>
                    </a:p>
                  </a:txBody>
                  <a:tcPr marL="60000" marR="60000" marT="25000" marB="25000" anchor="ctr"/>
                </a:tc>
              </a:tr>
              <a:tr h="470000"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Output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10 → 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7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700"/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PilotNet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780000"/>
            <a:ext cx="11500000" cy="900000"/>
          </a:xfrm>
        </p:spPr>
        <p:txBody>
          <a:bodyPr wrap="square"/>
          <a:lstStyle/>
          <a:p>
            <a:pPr marL="0" indent="0">
              <a:buNone/>
            </a:pPr>
            <a:r>
              <a:rPr sz="1800"/>
              <a:t>Output size = ⌊(N − F)/S⌋ + 1. Total = </a:t>
            </a:r>
            <a:r>
              <a:rPr sz="1800" b="1">
                <a:solidFill>
                  <a:srgbClr val="2A40E2"/>
                </a:solidFill>
              </a:rPr>
              <a:t>252,219 parameters</a:t>
            </a:r>
            <a:r>
              <a:rPr sz="1800"/>
              <a:t> (≈ 250 k): 131,348 in the convolutions and 120,871 in the FC layers.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00000" y="1700000"/>
          <a:ext cx="10000000" cy="470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500000"/>
                <a:gridCol w="3600000"/>
                <a:gridCol w="2700000"/>
                <a:gridCol w="2200000"/>
              </a:tblGrid>
              <a:tr h="470000">
                <a:tc>
                  <a:txBody>
                    <a:bodyPr wrap="square"/>
                    <a:lstStyle/>
                    <a:p>
                      <a:pPr algn="ctr"/>
                      <a:r>
                        <a:rPr sz="1700" b="1"/>
                        <a:t>Layer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/>
                        <a:t>Configuration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/>
                        <a:t>Output shape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/>
                        <a:t># parameters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Conv1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5×5, stride 2, 24 filters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0E2"/>
                          </a:solidFill>
                        </a:rPr>
                        <a:t>31 × 98 × 24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0E2"/>
                          </a:solidFill>
                        </a:rPr>
                        <a:t>1,824</a:t>
                      </a:r>
                    </a:p>
                  </a:txBody>
                  <a:tcPr marL="60000" marR="60000" marT="25000" marB="25000" anchor="ctr"/>
                </a:tc>
              </a:tr>
              <a:tr h="470000"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Conv2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5×5, stride 2, 36 filters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0E2"/>
                          </a:solidFill>
                        </a:rPr>
                        <a:t>14 × 47 × 36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0E2"/>
                          </a:solidFill>
                        </a:rPr>
                        <a:t>21,636</a:t>
                      </a:r>
                    </a:p>
                  </a:txBody>
                  <a:tcPr marL="60000" marR="60000" marT="25000" marB="25000" anchor="ctr"/>
                </a:tc>
              </a:tr>
              <a:tr h="470000"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Conv3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5×5, stride 2, 48 filters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0E2"/>
                          </a:solidFill>
                        </a:rPr>
                        <a:t>5 × 22 × 48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0E2"/>
                          </a:solidFill>
                        </a:rPr>
                        <a:t>43,248</a:t>
                      </a:r>
                    </a:p>
                  </a:txBody>
                  <a:tcPr marL="60000" marR="60000" marT="25000" marB="25000" anchor="ctr"/>
                </a:tc>
              </a:tr>
              <a:tr h="470000"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Conv4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3×3, stride 1, 64 filters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0E2"/>
                          </a:solidFill>
                        </a:rPr>
                        <a:t>3 × 20 × 64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0E2"/>
                          </a:solidFill>
                        </a:rPr>
                        <a:t>27,712</a:t>
                      </a:r>
                    </a:p>
                  </a:txBody>
                  <a:tcPr marL="60000" marR="60000" marT="25000" marB="25000" anchor="ctr"/>
                </a:tc>
              </a:tr>
              <a:tr h="470000"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Conv5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3×3, stride 1, 64 filters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0E2"/>
                          </a:solidFill>
                        </a:rPr>
                        <a:t>1 × 18 × 64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0E2"/>
                          </a:solidFill>
                        </a:rPr>
                        <a:t>36,928</a:t>
                      </a:r>
                    </a:p>
                  </a:txBody>
                  <a:tcPr marL="60000" marR="60000" marT="25000" marB="25000" anchor="ctr"/>
                </a:tc>
              </a:tr>
              <a:tr h="470000"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FC1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1152 → 100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0E2"/>
                          </a:solidFill>
                        </a:rPr>
                        <a:t>100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0E2"/>
                          </a:solidFill>
                        </a:rPr>
                        <a:t>115,300</a:t>
                      </a:r>
                    </a:p>
                  </a:txBody>
                  <a:tcPr marL="60000" marR="60000" marT="25000" marB="25000" anchor="ctr"/>
                </a:tc>
              </a:tr>
              <a:tr h="470000"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FC2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100 → 50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0E2"/>
                          </a:solidFill>
                        </a:rPr>
                        <a:t>50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0E2"/>
                          </a:solidFill>
                        </a:rPr>
                        <a:t>5,050</a:t>
                      </a:r>
                    </a:p>
                  </a:txBody>
                  <a:tcPr marL="60000" marR="60000" marT="25000" marB="25000" anchor="ctr"/>
                </a:tc>
              </a:tr>
              <a:tr h="470000"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FC3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50 → 10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0E2"/>
                          </a:solidFill>
                        </a:rPr>
                        <a:t>10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0E2"/>
                          </a:solidFill>
                        </a:rPr>
                        <a:t>510</a:t>
                      </a:r>
                    </a:p>
                  </a:txBody>
                  <a:tcPr marL="60000" marR="60000" marT="25000" marB="25000" anchor="ctr"/>
                </a:tc>
              </a:tr>
              <a:tr h="470000"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Output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/>
                        <a:t>10 → 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0E2"/>
                          </a:solidFill>
                        </a:rPr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0E2"/>
                          </a:solidFill>
                        </a:rPr>
                        <a:t>11</a:t>
                      </a:r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Reward ambiguity in IRL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2600000"/>
          </a:xfrm>
        </p:spPr>
        <p:txBody>
          <a:bodyPr wrap="square"/>
          <a:lstStyle/>
          <a:p>
            <a:pPr marL="0" indent="0">
              <a:buNone/>
            </a:pPr>
            <a:r>
              <a:rPr sz="2000"/>
              <a:t>Inverse RL: chain S1, S2, S3. The expert goes S1 → S2 → S3. The alternative stays at S1 twice. Return of a path = R(first state entered) + 0.9 · R(second state entered).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buNone/>
            </a:pPr>
            <a:r>
              <a:rPr sz="2000"/>
              <a:t>(a) For each candidate reward (R(S1), R(S2), R(S3)) compute both returns: is the expert behavior optimal?</a:t>
            </a:r>
          </a:p>
          <a:p>
            <a:pPr marL="0" indent="0">
              <a:buNone/>
            </a:pPr>
            <a:r>
              <a:rPr sz="2000"/>
              <a:t>(b) What does this show about the reward function recovered by IRL?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00000" y="3500000"/>
          <a:ext cx="10300000" cy="301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3000000"/>
                <a:gridCol w="2300000"/>
                <a:gridCol w="2700000"/>
                <a:gridCol w="2300000"/>
              </a:tblGrid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Reward (S1, S2, S3)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Expert return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Alternative return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Expert optimal?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a: (0, 0, 1)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b: (0, 0, 5)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c: (0, 0.5, 1)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d: (0, 0, 0)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e: (1, 0, 0)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f: (1, 1, 2)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Reward ambiguity in IRL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2300000"/>
          </a:xfrm>
        </p:spPr>
        <p:txBody>
          <a:bodyPr wrap="square"/>
          <a:lstStyle/>
          <a:p>
            <a:r>
              <a:rPr sz="2000"/>
              <a:t>Rows a, b, c, d, f are all </a:t>
            </a:r>
            <a:r>
              <a:rPr sz="2000" b="1">
                <a:solidFill>
                  <a:srgbClr val="2A40E2"/>
                </a:solidFill>
              </a:rPr>
              <a:t>consistent</a:t>
            </a:r>
            <a:r>
              <a:rPr sz="2000"/>
              <a:t> with the expert; only e is not (it rewards staying at S1).</a:t>
            </a:r>
          </a:p>
          <a:p>
            <a:r>
              <a:rPr sz="2000"/>
              <a:t>(b) The reward is </a:t>
            </a:r>
            <a:r>
              <a:rPr sz="2000" b="1">
                <a:solidFill>
                  <a:srgbClr val="2A40E2"/>
                </a:solidFill>
              </a:rPr>
              <a:t>not unique</a:t>
            </a:r>
            <a:r>
              <a:rPr sz="2000"/>
              <a:t>: scaling (b = 5 × a), shifting (f) and even R ≡ 0 (d: every behavior is optimal) explain the demonstrations. IRL needs extra assumptions (e.g. max-margin or max-entropy) to pick one.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00000" y="3050000"/>
          <a:ext cx="10300000" cy="301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3000000"/>
                <a:gridCol w="2300000"/>
                <a:gridCol w="2700000"/>
                <a:gridCol w="2300000"/>
              </a:tblGrid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Reward (S1, S2, S3)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Expert return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Alternative return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Expert optimal?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a: (0, 0, 1)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0.9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yes</a:t>
                      </a:r>
                    </a:p>
                  </a:txBody>
                  <a:tcPr marL="60000" marR="60000" marT="25000" marB="25000" anchor="ctr"/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b: (0, 0, 5)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4.5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yes</a:t>
                      </a:r>
                    </a:p>
                  </a:txBody>
                  <a:tcPr marL="60000" marR="60000" marT="25000" marB="25000" anchor="ctr"/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c: (0, 0.5, 1)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1.4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yes</a:t>
                      </a:r>
                    </a:p>
                  </a:txBody>
                  <a:tcPr marL="60000" marR="60000" marT="25000" marB="25000" anchor="ctr"/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d: (0, 0, 0)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yes (tie)</a:t>
                      </a:r>
                    </a:p>
                  </a:txBody>
                  <a:tcPr marL="60000" marR="60000" marT="25000" marB="25000" anchor="ctr"/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e: (1, 0, 0)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1.9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no</a:t>
                      </a:r>
                    </a:p>
                  </a:txBody>
                  <a:tcPr marL="60000" marR="60000" marT="25000" marB="25000" anchor="ctr"/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f: (1, 1, 2)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2.8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1.9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yes</a:t>
                      </a:r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1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Gill Sans Ligh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>
            <a:latin typeface="Gill Sans Light"/>
          </a:defRPr>
        </a:defPPr>
      </a:lstStyle>
    </a:txDef>
  </a:objectDefaults>
  <a:extraClrSchemeLst>
    <a:extraClrScheme>
      <a:clrScheme name="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a48a9ac-7937-4134-8b13-3620bf967764}" enabled="1" method="Privileged" siteId="{5a4ba6f9-f531-4f32-9467-398f19e69d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98985</TotalTime>
  <Pages>60</Pages>
  <Words>2924</Words>
  <Application>Microsoft Office PowerPoint</Application>
  <PresentationFormat>Widescreen</PresentationFormat>
  <Paragraphs>591</Paragraphs>
  <Slides>22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Arial MT</vt:lpstr>
      <vt:lpstr>gg sans</vt:lpstr>
      <vt:lpstr>Gill Sans</vt:lpstr>
      <vt:lpstr>Gill Sans Light</vt:lpstr>
      <vt:lpstr>宋体</vt:lpstr>
      <vt:lpstr>Arial</vt:lpstr>
      <vt:lpstr>Cambria Math</vt:lpstr>
      <vt:lpstr>Comic Sans MS</vt:lpstr>
      <vt:lpstr>Courier New</vt:lpstr>
      <vt:lpstr>Times New Roman</vt:lpstr>
      <vt:lpstr>Office</vt:lpstr>
      <vt:lpstr>Equation</vt:lpstr>
      <vt:lpstr>CSC 112: Computer Operating Systems Lecture 4   Deadlocks Exercises Solution</vt:lpstr>
      <vt:lpstr>Quiz: Deadlocks </vt:lpstr>
      <vt:lpstr>Quiz: Banker’s Algorithm I</vt:lpstr>
      <vt:lpstr>Quiz Solution: Banker’s Algorithm I</vt:lpstr>
      <vt:lpstr>Quiz: Banker’s algorithm II</vt:lpstr>
      <vt:lpstr>Quiz Solution: Banker’s algorithm II</vt:lpstr>
      <vt:lpstr>Quiz Solution: Banker’s algorithm II</vt:lpstr>
      <vt:lpstr>Quiz Solution: Banker’s algorithm II</vt:lpstr>
      <vt:lpstr>Banker’s Algorithm: 4 philosophers each holding his left fork</vt:lpstr>
      <vt:lpstr>Banker’s Algorithm: 4 philosophers each holding his left fork ANS</vt:lpstr>
      <vt:lpstr>Banker’s Algorithm: 5 philosophers each holding his left fork</vt:lpstr>
      <vt:lpstr>Multi-Armed Lawyers</vt:lpstr>
      <vt:lpstr>Quiz: Dining Lawyers I</vt:lpstr>
      <vt:lpstr>Example: 5 Lawyers, each with 2 arms, 5 chopsticks</vt:lpstr>
      <vt:lpstr>Example: 5 Lawyers, each with 2 arms, 5 chopsticks</vt:lpstr>
      <vt:lpstr>Quiz: Dining Lawyers II </vt:lpstr>
      <vt:lpstr>Quiz: Dining Lawyers II Answer</vt:lpstr>
      <vt:lpstr>Quiz: Dining Lawyers III</vt:lpstr>
      <vt:lpstr>Quiz: Dining Lawyers III Answer</vt:lpstr>
      <vt:lpstr>Quiz: Dining Lawyers IV</vt:lpstr>
      <vt:lpstr>Quiz: Dining Lawyers IV Answer</vt:lpstr>
      <vt:lpstr>Example: 2 lawyers, each with 4 arms, 2 knives and 2 forks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Course Introduction and Overview</dc:title>
  <dc:creator>John D. Kubiatowicz</dc:creator>
  <dc:description>Imported some pictures from Silbershatz (c) 2005</dc:description>
  <cp:lastModifiedBy>Zonghua Gu</cp:lastModifiedBy>
  <cp:revision>1065</cp:revision>
  <cp:lastPrinted>2022-03-15T20:14:46Z</cp:lastPrinted>
  <dcterms:created xsi:type="dcterms:W3CDTF">1995-08-12T11:37:26Z</dcterms:created>
  <dcterms:modified xsi:type="dcterms:W3CDTF">2025-10-17T01:22:24Z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>Joseph</vt:lpwstr>
  </property>
  <property fmtid="{D5CDD505-2E9C-101B-9397-08002B2CF9AE}" pid="3" name="Semester">
    <vt:lpwstr>Spring 2006</vt:lpwstr>
  </property>
</Properties>
</file>