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9601200" cy="7315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b="1" kern="1200">
        <a:solidFill>
          <a:schemeClr val="tx1"/>
        </a:solidFill>
        <a:latin typeface="Comic Sans MS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/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AA"/>
    <a:srgbClr val="FF0000"/>
    <a:srgbClr val="2A40E2"/>
    <a:srgbClr val="BCFFBC"/>
    <a:srgbClr val="F430AB"/>
    <a:srgbClr val="A18623"/>
    <a:srgbClr val="9E7800"/>
    <a:srgbClr val="C49500"/>
    <a:srgbClr val="E6E703"/>
    <a:srgbClr val="72AA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134B6-D37D-4D2B-9A35-B8F225AC66B4}" v="3" dt="2025-10-17T01:22:21.469"/>
  </p1510:revLst>
</p1510:revInfo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391" autoAdjust="0"/>
    <p:restoredTop sz="95492" autoAdjust="0"/>
  </p:normalViewPr>
  <p:slideViewPr>
    <p:cSldViewPr>
      <p:cViewPr varScale="1">
        <p:scale>
          <a:sx n="108" d="100"/>
          <a:sy n="108" d="100"/>
        </p:scale>
        <p:origin x="516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onghua Gu" userId="9a7e1853e1951ef5" providerId="LiveId" clId="{CF1FAA12-072C-4ED5-BA76-0FFFAEFDB88A}"/>
    <pc:docChg chg="custSel modSld">
      <pc:chgData name="Zonghua Gu" userId="9a7e1853e1951ef5" providerId="LiveId" clId="{CF1FAA12-072C-4ED5-BA76-0FFFAEFDB88A}" dt="2025-10-17T01:22:23.049" v="46" actId="20577"/>
      <pc:docMkLst>
        <pc:docMk/>
      </pc:docMkLst>
      <pc:sldChg chg="modSp mod">
        <pc:chgData name="Zonghua Gu" userId="9a7e1853e1951ef5" providerId="LiveId" clId="{CF1FAA12-072C-4ED5-BA76-0FFFAEFDB88A}" dt="2025-09-26T00:33:07.077" v="1" actId="20577"/>
        <pc:sldMkLst>
          <pc:docMk/>
          <pc:sldMk cId="3198402123" sldId="381"/>
        </pc:sldMkLst>
        <pc:spChg chg="mod">
          <ac:chgData name="Zonghua Gu" userId="9a7e1853e1951ef5" providerId="LiveId" clId="{CF1FAA12-072C-4ED5-BA76-0FFFAEFDB88A}" dt="2025-09-26T00:33:07.077" v="1" actId="20577"/>
          <ac:spMkLst>
            <pc:docMk/>
            <pc:sldMk cId="3198402123" sldId="381"/>
            <ac:spMk id="22" creationId="{E6AF71B3-F5D1-B2DE-B835-5C8208F44553}"/>
          </ac:spMkLst>
        </pc:spChg>
      </pc:sldChg>
      <pc:sldChg chg="modSp mod">
        <pc:chgData name="Zonghua Gu" userId="9a7e1853e1951ef5" providerId="LiveId" clId="{CF1FAA12-072C-4ED5-BA76-0FFFAEFDB88A}" dt="2025-10-17T01:20:09.875" v="29" actId="20577"/>
        <pc:sldMkLst>
          <pc:docMk/>
          <pc:sldMk cId="3823801097" sldId="420"/>
        </pc:sldMkLst>
        <pc:spChg chg="mod">
          <ac:chgData name="Zonghua Gu" userId="9a7e1853e1951ef5" providerId="LiveId" clId="{CF1FAA12-072C-4ED5-BA76-0FFFAEFDB88A}" dt="2025-10-17T01:20:09.875" v="29" actId="20577"/>
          <ac:spMkLst>
            <pc:docMk/>
            <pc:sldMk cId="3823801097" sldId="420"/>
            <ac:spMk id="7" creationId="{8BDE5981-C58E-1D2C-A988-FFF28496CD9B}"/>
          </ac:spMkLst>
        </pc:spChg>
      </pc:sldChg>
      <pc:sldChg chg="modSp mod">
        <pc:chgData name="Zonghua Gu" userId="9a7e1853e1951ef5" providerId="LiveId" clId="{CF1FAA12-072C-4ED5-BA76-0FFFAEFDB88A}" dt="2025-10-17T01:21:42.124" v="41" actId="20577"/>
        <pc:sldMkLst>
          <pc:docMk/>
          <pc:sldMk cId="937329881" sldId="1384"/>
        </pc:sldMkLst>
        <pc:spChg chg="mod">
          <ac:chgData name="Zonghua Gu" userId="9a7e1853e1951ef5" providerId="LiveId" clId="{CF1FAA12-072C-4ED5-BA76-0FFFAEFDB88A}" dt="2025-10-17T01:21:42.124" v="41" actId="20577"/>
          <ac:spMkLst>
            <pc:docMk/>
            <pc:sldMk cId="937329881" sldId="1384"/>
            <ac:spMk id="3" creationId="{C96CE106-EFF2-89A6-A94C-94BA0CA70C60}"/>
          </ac:spMkLst>
        </pc:spChg>
      </pc:sldChg>
      <pc:sldChg chg="modSp mod">
        <pc:chgData name="Zonghua Gu" userId="9a7e1853e1951ef5" providerId="LiveId" clId="{CF1FAA12-072C-4ED5-BA76-0FFFAEFDB88A}" dt="2025-10-17T01:22:04.667" v="43" actId="20577"/>
        <pc:sldMkLst>
          <pc:docMk/>
          <pc:sldMk cId="210011671" sldId="1386"/>
        </pc:sldMkLst>
        <pc:spChg chg="mod">
          <ac:chgData name="Zonghua Gu" userId="9a7e1853e1951ef5" providerId="LiveId" clId="{CF1FAA12-072C-4ED5-BA76-0FFFAEFDB88A}" dt="2025-10-17T01:22:04.667" v="43" actId="20577"/>
          <ac:spMkLst>
            <pc:docMk/>
            <pc:sldMk cId="210011671" sldId="1386"/>
            <ac:spMk id="3" creationId="{2C890D62-C0BE-DA6D-366C-8F725FB1BCE9}"/>
          </ac:spMkLst>
        </pc:spChg>
      </pc:sldChg>
      <pc:sldChg chg="modSp mod">
        <pc:chgData name="Zonghua Gu" userId="9a7e1853e1951ef5" providerId="LiveId" clId="{CF1FAA12-072C-4ED5-BA76-0FFFAEFDB88A}" dt="2025-10-17T01:22:23.049" v="46" actId="20577"/>
        <pc:sldMkLst>
          <pc:docMk/>
          <pc:sldMk cId="2996913365" sldId="1388"/>
        </pc:sldMkLst>
        <pc:spChg chg="mod">
          <ac:chgData name="Zonghua Gu" userId="9a7e1853e1951ef5" providerId="LiveId" clId="{CF1FAA12-072C-4ED5-BA76-0FFFAEFDB88A}" dt="2025-10-17T01:22:23.049" v="46" actId="20577"/>
          <ac:spMkLst>
            <pc:docMk/>
            <pc:sldMk cId="2996913365" sldId="1388"/>
            <ac:spMk id="3" creationId="{E9304C07-65AC-81BF-04CE-B8BAC4C0342A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387622" y="6956427"/>
            <a:ext cx="827553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>
                <a:latin typeface="Gill Sans Light" charset="0"/>
                <a:cs typeface="Gill Sans Light" charset="0"/>
              </a:rPr>
              <a:t>Page </a:t>
            </a:r>
            <a:fld id="{073744B8-EF17-EB47-B355-93F8159194C2}" type="slidenum">
              <a:rPr lang="en-US" sz="1300" b="0">
                <a:latin typeface="Gill Sans Light" charset="0"/>
                <a:cs typeface="Gill Sans Light" charset="0"/>
              </a:rPr>
              <a:pPr algn="ctr" defTabSz="917113">
                <a:lnSpc>
                  <a:spcPct val="90000"/>
                </a:lnSpc>
              </a:pPr>
              <a:t>‹#›</a:t>
            </a:fld>
            <a:endParaRPr lang="en-US" sz="1300" b="0">
              <a:latin typeface="Gill Sans Light" charset="0"/>
              <a:cs typeface="Gill Sans Ligh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74449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373194" y="6956427"/>
            <a:ext cx="856407" cy="2749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268" tIns="46975" rIns="92268" bIns="46975">
            <a:spAutoFit/>
          </a:bodyPr>
          <a:lstStyle/>
          <a:p>
            <a:pPr algn="ctr" defTabSz="917113">
              <a:lnSpc>
                <a:spcPct val="90000"/>
              </a:lnSpc>
            </a:pPr>
            <a:r>
              <a:rPr lang="en-US" sz="1300" b="0"/>
              <a:t>Page </a:t>
            </a:r>
            <a:fld id="{6D259941-7246-4245-A40C-55C6F952DF9E}" type="slidenum">
              <a:rPr lang="en-US" sz="1300" b="0"/>
              <a:pPr algn="ctr" defTabSz="917113">
                <a:lnSpc>
                  <a:spcPct val="90000"/>
                </a:lnSpc>
              </a:pPr>
              <a:t>‹#›</a:t>
            </a:fld>
            <a:endParaRPr lang="en-US" sz="1300" b="0"/>
          </a:p>
        </p:txBody>
      </p:sp>
      <p:sp>
        <p:nvSpPr>
          <p:cNvPr id="65539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62200" y="547688"/>
            <a:ext cx="4876800" cy="27447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1115" y="3475043"/>
            <a:ext cx="7038975" cy="329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5622" tIns="46975" rIns="95622" bIns="469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85107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ＭＳ Ｐゴシック" charset="0"/>
      </a:defRPr>
    </a:lvl1pPr>
    <a:lvl2pPr marL="4572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2pPr>
    <a:lvl3pPr marL="9144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3pPr>
    <a:lvl4pPr marL="13716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4pPr>
    <a:lvl5pPr marL="1828800" algn="l" rtl="0" eaLnBrk="0" fontAlgn="base" hangingPunct="0">
      <a:lnSpc>
        <a:spcPct val="90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Comic Sans MS" pitchFamily="66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3600"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1280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3006919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Gill Sans" charset="0"/>
                <a:ea typeface="Gill Sans" charset="0"/>
                <a:cs typeface="Gill Sans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8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1pPr>
            <a:lvl2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2pPr>
            <a:lvl3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3pPr>
            <a:lvl4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4pPr>
            <a:lvl5pPr>
              <a:defRPr sz="2400" b="0" i="0">
                <a:latin typeface="Gill Sans" panose="020B0502020104020203"/>
                <a:ea typeface="Gill Sans" panose="020B0502020104020203"/>
                <a:cs typeface="Gill Sans" panose="020B0502020104020203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2189684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458815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236857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1304875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387832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646209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323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009511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211204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152400"/>
            <a:ext cx="264160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152400"/>
            <a:ext cx="7721600" cy="5867400"/>
          </a:xfrm>
        </p:spPr>
        <p:txBody>
          <a:bodyPr vert="eaVer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29190270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5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28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181600" cy="51054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692831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5334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48400" y="1917701"/>
            <a:ext cx="5435600" cy="20748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4144963"/>
            <a:ext cx="5435600" cy="20748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9042400" y="6364288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827A0A33-D1BC-4593-884F-3C34146062B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" name="Rectangle 4"/>
          <p:cNvSpPr>
            <a:spLocks noGrp="1" noChangeArrowheads="1"/>
          </p:cNvSpPr>
          <p:nvPr>
            <p:ph type="dt" sz="half" idx="11"/>
          </p:nvPr>
        </p:nvSpPr>
        <p:spPr>
          <a:xfrm>
            <a:off x="609600" y="6364288"/>
            <a:ext cx="5852584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© </a:t>
            </a:r>
            <a:r>
              <a:rPr lang="en-US" err="1"/>
              <a:t>Zonghua</a:t>
            </a:r>
            <a:r>
              <a:rPr lang="en-US"/>
              <a:t> </a:t>
            </a:r>
            <a:r>
              <a:rPr lang="en-US" err="1"/>
              <a:t>Gu</a:t>
            </a:r>
            <a:r>
              <a:rPr lang="en-US"/>
              <a:t>, CMPT 300, Fall 2011 </a:t>
            </a:r>
          </a:p>
        </p:txBody>
      </p:sp>
    </p:spTree>
    <p:extLst>
      <p:ext uri="{BB962C8B-B14F-4D97-AF65-F5344CB8AC3E}">
        <p14:creationId xmlns:p14="http://schemas.microsoft.com/office/powerpoint/2010/main" val="3912953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20800" y="152400"/>
            <a:ext cx="9550400" cy="533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812800" y="914400"/>
            <a:ext cx="10566400" cy="5105400"/>
          </a:xfrm>
          <a:prstGeom prst="rect">
            <a:avLst/>
          </a:prstGeom>
          <a:noFill/>
          <a:ln>
            <a:noFill/>
          </a:ln>
          <a:effectLst/>
          <a:extLst>
            <a:ext uri="{FAA26D3D-D897-4be2-8F04-BA451C77F1D7}">
              <ma14:placeholderFlag xmlns="" xmlns:ma14="http://schemas.microsoft.com/office/mac/drawingml/2011/main" val="1"/>
            </a:ex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pattFill prst="narHorz">
                  <a:fgClr>
                    <a:schemeClr val="tx1"/>
                  </a:fgClr>
                  <a:bgClr>
                    <a:schemeClr val="bg1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0478" tIns="44445" rIns="90478" bIns="444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Body Text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30" name="Line 6"/>
          <p:cNvSpPr>
            <a:spLocks noChangeShapeType="1"/>
          </p:cNvSpPr>
          <p:nvPr userDrawn="1"/>
        </p:nvSpPr>
        <p:spPr bwMode="auto">
          <a:xfrm>
            <a:off x="1320800" y="685800"/>
            <a:ext cx="9550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en-US">
              <a:ea typeface="Arial" charset="0"/>
              <a:cs typeface="Arial" charset="0"/>
            </a:endParaRPr>
          </a:p>
        </p:txBody>
      </p:sp>
      <p:sp>
        <p:nvSpPr>
          <p:cNvPr id="2" name="Plassholder for lysbildenummer 5">
            <a:extLst>
              <a:ext uri="{FF2B5EF4-FFF2-40B4-BE49-F238E27FC236}">
                <a16:creationId xmlns:a16="http://schemas.microsoft.com/office/drawing/2014/main" id="{C1122AA0-51BA-FB92-7E72-DEDEC17FA8AB}"/>
              </a:ext>
            </a:extLst>
          </p:cNvPr>
          <p:cNvSpPr txBox="1">
            <a:spLocks/>
          </p:cNvSpPr>
          <p:nvPr userDrawn="1"/>
        </p:nvSpPr>
        <p:spPr>
          <a:xfrm>
            <a:off x="11734800" y="6492875"/>
            <a:ext cx="456108" cy="365125"/>
          </a:xfrm>
          <a:prstGeom prst="rect">
            <a:avLst/>
          </a:prstGeom>
        </p:spPr>
        <p:txBody>
          <a:bodyPr/>
          <a:lstStyle>
            <a:defPPr>
              <a:defRPr lang="nb-NO"/>
            </a:defPPr>
            <a:lvl1pPr marL="0" algn="l" defTabSz="4572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91853A39-49B3-554A-AE82-85611CEBD8E3}" type="slidenum">
              <a:rPr lang="nb-NO" sz="1400" b="0" i="0" smtClean="0">
                <a:solidFill>
                  <a:schemeClr val="tx1"/>
                </a:solidFill>
                <a:latin typeface="Arial"/>
                <a:cs typeface="Arial"/>
              </a:rPr>
              <a:pPr algn="ctr"/>
              <a:t>‹#›</a:t>
            </a:fld>
            <a:endParaRPr lang="nb-NO" sz="1400" b="0" i="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9" r:id="rId13"/>
  </p:sldLayoutIdLst>
  <p:transition/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2A40E2"/>
          </a:solidFill>
          <a:latin typeface="Gill Sans" charset="0"/>
          <a:ea typeface="ＭＳ Ｐゴシック" charset="0"/>
          <a:cs typeface="Gill Sans" charset="0"/>
        </a:defRPr>
      </a:lvl5pPr>
      <a:lvl6pPr marL="4572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6pPr>
      <a:lvl7pPr marL="9144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7pPr>
      <a:lvl8pPr marL="13716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8pPr>
      <a:lvl9pPr marL="1828800"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rgbClr val="2A40E2"/>
          </a:solidFill>
          <a:latin typeface="Comic Sans MS" pitchFamily="66" charset="0"/>
        </a:defRPr>
      </a:lvl9pPr>
    </p:titleStyle>
    <p:bodyStyle>
      <a:lvl1pPr marL="285750" indent="-2857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400">
          <a:solidFill>
            <a:schemeClr val="tx1"/>
          </a:solidFill>
          <a:latin typeface="Gill Sans" charset="0"/>
          <a:ea typeface="ＭＳ Ｐゴシック" charset="0"/>
          <a:cs typeface="Gill Sans" charset="0"/>
        </a:defRPr>
      </a:lvl1pPr>
      <a:lvl2pPr marL="6858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2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2pPr>
      <a:lvl3pPr marL="1143000" indent="-22860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»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3pPr>
      <a:lvl4pPr marL="1543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4pPr>
      <a:lvl5pPr marL="20002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Gill Sans" charset="0"/>
          <a:ea typeface="Gill Sans" charset="0"/>
          <a:cs typeface="Gill Sans" charset="0"/>
        </a:defRPr>
      </a:lvl5pPr>
      <a:lvl6pPr marL="24574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6pPr>
      <a:lvl7pPr marL="29146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7pPr>
      <a:lvl8pPr marL="33718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8pPr>
      <a:lvl9pPr marL="3829050" indent="-171450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Char char="–"/>
        <a:defRPr sz="20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295400"/>
            <a:ext cx="10439400" cy="2057400"/>
          </a:xfrm>
        </p:spPr>
        <p:txBody>
          <a:bodyPr/>
          <a:lstStyle/>
          <a:p>
            <a:r>
              <a:rPr sz="3000"/>
              <a:t>CSC 144V: Autonomous Vehicles</a:t>
            </a:r>
            <a:br>
              <a:rPr sz="3000"/>
            </a:br>
            <a:r>
              <a:rPr sz="3000"/>
              <a:t>Lecture 5</a:t>
            </a:r>
            <a:br>
              <a:rPr sz="3000"/>
            </a:br>
            <a:br>
              <a:rPr sz="3000"/>
            </a:br>
            <a:br>
              <a:rPr sz="3000"/>
            </a:br>
            <a:r>
              <a:rPr sz="3000"/>
              <a:t>Object Detection and Segmentation Exercises Solution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4191000"/>
            <a:ext cx="8001000" cy="1447800"/>
          </a:xfrm>
        </p:spPr>
        <p:txBody>
          <a:bodyPr/>
          <a:lstStyle/>
          <a:p>
            <a:pPr marL="285750" indent="-285750"/>
            <a:r>
              <a:t>Department of Computer Science, </a:t>
            </a:r>
          </a:p>
          <a:p>
            <a:pPr marL="285750" indent="-285750"/>
            <a:r>
              <a:t>Hofstra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IoU and NMS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26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Four detections of two pedestrians, boxes (x₁, y₁, x₂, y₂) in pixels. IoU = |A ∩ B| / |A ∪ B|.</a:t>
            </a:r>
          </a:p>
          <a:p>
            <a:pPr marL="0" indent="0">
              <a:buNone/>
            </a:pPr>
            <a:r>
              <a:rPr sz="2000"/>
              <a:t>(a) Compute the IoU of each box with the top-scoring box A.  (b) Run greedy NMS: keep the best box, suppress boxes with IoU &gt; threshold with a kept box. Threshold 0.5.  (c) Which boxes remain with threshold 0.4?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00000" y="3500000"/>
          <a:ext cx="9900000" cy="280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Box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(x₁, y₁, x₂, y₂)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Score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IoU with A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NMS, thr. 0.5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A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(10, 10, 60, 60)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0.9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(20, 20, 70, 70)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(12, 12, 62, 62)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(100, 100, 150, 160)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IoU and NMS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2600000"/>
          </a:xfrm>
        </p:spPr>
        <p:txBody>
          <a:bodyPr wrap="square"/>
          <a:lstStyle/>
          <a:p>
            <a:r>
              <a:rPr sz="1900" dirty="0" err="1"/>
              <a:t>IoU</a:t>
            </a:r>
            <a:r>
              <a:rPr sz="1900" dirty="0"/>
              <a:t>(A, B): intersection 40 × 40 = 1,600, union 2,500 + 2,500 − 1,600 = 3,400 → </a:t>
            </a:r>
            <a:r>
              <a:rPr sz="1900" b="1" dirty="0">
                <a:solidFill>
                  <a:srgbClr val="2A40E2"/>
                </a:solidFill>
              </a:rPr>
              <a:t>0.47</a:t>
            </a:r>
            <a:r>
              <a:rPr sz="1900" dirty="0"/>
              <a:t>. </a:t>
            </a:r>
            <a:r>
              <a:rPr sz="1900" dirty="0" err="1"/>
              <a:t>IoU</a:t>
            </a:r>
            <a:r>
              <a:rPr sz="1900" dirty="0"/>
              <a:t>(A, C): 48 × 48 = 2,304, union 2,696 → </a:t>
            </a:r>
            <a:r>
              <a:rPr sz="1900" b="1" dirty="0">
                <a:solidFill>
                  <a:srgbClr val="2A40E2"/>
                </a:solidFill>
              </a:rPr>
              <a:t>0.85</a:t>
            </a:r>
            <a:r>
              <a:rPr sz="1900" dirty="0"/>
              <a:t>. </a:t>
            </a:r>
            <a:r>
              <a:rPr sz="1900" dirty="0" err="1"/>
              <a:t>IoU</a:t>
            </a:r>
            <a:r>
              <a:rPr sz="1900" dirty="0"/>
              <a:t>(A, D) = </a:t>
            </a:r>
            <a:r>
              <a:rPr sz="1900" b="1" dirty="0">
                <a:solidFill>
                  <a:srgbClr val="2A40E2"/>
                </a:solidFill>
              </a:rPr>
              <a:t>0</a:t>
            </a:r>
            <a:r>
              <a:rPr sz="1900" dirty="0"/>
              <a:t>.</a:t>
            </a:r>
          </a:p>
          <a:p>
            <a:r>
              <a:rPr sz="1900" dirty="0"/>
              <a:t>Threshold 0.5: keep A; suppress C (0.85); B survives (0.47 ≤ 0.5); D survives → </a:t>
            </a:r>
            <a:r>
              <a:rPr sz="1900" b="1" dirty="0">
                <a:solidFill>
                  <a:srgbClr val="2A40E2"/>
                </a:solidFill>
              </a:rPr>
              <a:t>A, B, D</a:t>
            </a:r>
            <a:r>
              <a:rPr sz="1900" dirty="0"/>
              <a:t>.</a:t>
            </a:r>
          </a:p>
          <a:p>
            <a:r>
              <a:rPr sz="1900" dirty="0"/>
              <a:t>Threshold 0.4: B is also suppressed (0.47 &gt; 0.4) → </a:t>
            </a:r>
            <a:r>
              <a:rPr sz="1900" b="1" dirty="0">
                <a:solidFill>
                  <a:srgbClr val="2A40E2"/>
                </a:solidFill>
              </a:rPr>
              <a:t>A, D</a:t>
            </a:r>
            <a:r>
              <a:rPr sz="1900" dirty="0"/>
              <a:t>. A low threshold risks removing a second object that overlaps the first.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432877"/>
              </p:ext>
            </p:extLst>
          </p:nvPr>
        </p:nvGraphicFramePr>
        <p:xfrm>
          <a:off x="1752600" y="3400000"/>
          <a:ext cx="8396397" cy="287728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657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21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897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9702">
                  <a:extLst>
                    <a:ext uri="{9D8B030D-6E8A-4147-A177-3AD203B41FA5}">
                      <a16:colId xmlns:a16="http://schemas.microsoft.com/office/drawing/2014/main" val="107693907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Box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(x₁, y₁, x₂, y₂)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Score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IoU with A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/>
                        <a:t>NMS, </a:t>
                      </a:r>
                      <a:r>
                        <a:rPr sz="1800" b="1" dirty="0" err="1"/>
                        <a:t>thr</a:t>
                      </a:r>
                      <a:r>
                        <a:rPr sz="1800" b="1" dirty="0"/>
                        <a:t>. 0.5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NMS, </a:t>
                      </a:r>
                      <a:r>
                        <a:rPr lang="en-US" sz="1800" b="1" dirty="0" err="1"/>
                        <a:t>thr</a:t>
                      </a:r>
                      <a:r>
                        <a:rPr lang="en-US" sz="1800" b="1" dirty="0"/>
                        <a:t>. 0.4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A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(10, 10, 60, 60)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0.9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keep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keep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B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(20, 20, 70, 70)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0.8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0.47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keep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2A40E2"/>
                          </a:solidFill>
                        </a:rPr>
                        <a:t>suppress</a:t>
                      </a:r>
                      <a:endParaRPr sz="1800" b="1" dirty="0">
                        <a:solidFill>
                          <a:srgbClr val="2A40E2"/>
                        </a:solidFill>
                      </a:endParaRP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C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(12, 12, 62, 62)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0.85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suppress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suppress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D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(100, 100, 150, 160)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0.6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keep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2A40E2"/>
                          </a:solidFill>
                        </a:rPr>
                        <a:t>keep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6B437-2E9B-4341-84DB-426B4203E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</a:t>
            </a:r>
            <a:r>
              <a:rPr lang="en-US" dirty="0" err="1"/>
              <a:t>IoU</a:t>
            </a:r>
            <a:r>
              <a:rPr lang="en-US" dirty="0"/>
              <a:t>(A, 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DE3A1E-4696-4EDF-83EE-42DB0F906D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The coordinates of the boxes are (lower left corner and upper right corner):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Box A: </a:t>
            </a:r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(10,10,60,60)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Box B: </a:t>
            </a:r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(20,20,70,70)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Each box has a width and height of 50, so each has an area of: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Area(A)=50×50=2500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Area(B)=50×50=2500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Step 1: Calculate the intersection.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The overlapping region extends from coordinate 20 to 60 on both axes, with width and height both 40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Intersection=40×40=1600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Step 2: Calculate the union.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Subtract the overlapping area from the sum of both box areas:</a:t>
            </a:r>
          </a:p>
          <a:p>
            <a:pPr lvl="1"/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Union=2500+2500−1600=3400​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/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Step 3: Calculate </a:t>
            </a:r>
            <a:r>
              <a:rPr lang="en-US" b="1" i="0" dirty="0" err="1">
                <a:solidFill>
                  <a:srgbClr val="0D0D0D"/>
                </a:solidFill>
                <a:effectLst/>
                <a:latin typeface="-apple-system-body"/>
              </a:rPr>
              <a:t>IoU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.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lvl="1"/>
            <a:r>
              <a:rPr lang="en-US" b="0" i="0" dirty="0" err="1">
                <a:solidFill>
                  <a:srgbClr val="0D0D0D"/>
                </a:solidFill>
                <a:effectLst/>
                <a:latin typeface="KaTeX_Main"/>
              </a:rPr>
              <a:t>IoU</a:t>
            </a:r>
            <a:r>
              <a:rPr lang="en-US" b="0" i="0" dirty="0">
                <a:solidFill>
                  <a:srgbClr val="0D0D0D"/>
                </a:solidFill>
                <a:effectLst/>
                <a:latin typeface="KaTeX_Main"/>
              </a:rPr>
              <a:t>(A,B)=1600/3400≈0.47​</a:t>
            </a:r>
            <a:endParaRPr lang="en-US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algn="l"/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This means the boxes have approximately </a:t>
            </a:r>
            <a:r>
              <a:rPr lang="en-US" b="1" i="0" dirty="0">
                <a:solidFill>
                  <a:srgbClr val="0D0D0D"/>
                </a:solidFill>
                <a:effectLst/>
                <a:latin typeface="-apple-system-body"/>
              </a:rPr>
              <a:t>47% overlap</a:t>
            </a:r>
            <a:r>
              <a:rPr lang="en-US" b="0" i="0" dirty="0">
                <a:solidFill>
                  <a:srgbClr val="0D0D0D"/>
                </a:solidFill>
                <a:effectLst/>
                <a:latin typeface="-apple-system-body"/>
              </a:rPr>
              <a:t> relative to their combined area.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81342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Precision, recall and 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59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There are </a:t>
            </a:r>
            <a:r>
              <a:rPr sz="2000" b="1">
                <a:solidFill>
                  <a:srgbClr val="2A40E2"/>
                </a:solidFill>
              </a:rPr>
              <a:t>5</a:t>
            </a:r>
            <a:r>
              <a:rPr sz="2000"/>
              <a:t> ground-truth objects. The detector returns 6 detections sorted by confidence: TP, TP, FP, TP, FP, TP.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Precision and recall after each rank.</a:t>
            </a:r>
          </a:p>
          <a:p>
            <a:pPr marL="0" indent="0">
              <a:buNone/>
            </a:pPr>
            <a:r>
              <a:rPr sz="2000"/>
              <a:t>(b) Average precision using the all-point interpolated envelope: precision at recall r is the maximum precision at any recall ≥ r.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0" y="1100000"/>
          <a:ext cx="5500000" cy="39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Rank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TP / FP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Precision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Recall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18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Precision, recall and 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5900000" cy="5500000"/>
          </a:xfrm>
        </p:spPr>
        <p:txBody>
          <a:bodyPr wrap="square"/>
          <a:lstStyle/>
          <a:p>
            <a:r>
              <a:rPr sz="2100"/>
              <a:t>Precision = TP/rank; recall = TP/5.</a:t>
            </a:r>
          </a:p>
          <a:p>
            <a:r>
              <a:rPr sz="2100"/>
              <a:t>Envelope: recall 0.2 → 1, 0.4 → 1, 0.6 → 0.75, 0.8 → 0.667, 1.0 → 0 (never reached).</a:t>
            </a:r>
          </a:p>
          <a:p>
            <a:r>
              <a:rPr sz="2100"/>
              <a:t>AP = 0.2 × (1 + 1 + 0.75 + 0.667 + 0) ≈ </a:t>
            </a:r>
            <a:r>
              <a:rPr sz="2100" b="1">
                <a:solidFill>
                  <a:srgbClr val="2A40E2"/>
                </a:solidFill>
              </a:rPr>
              <a:t>0.683</a:t>
            </a:r>
            <a:r>
              <a:rPr sz="210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0" y="1100000"/>
          <a:ext cx="5500000" cy="39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Rank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TP / FP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Precision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/>
                        <a:t>Recall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1.00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1.00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0.75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FP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/>
                        <a:t>TP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0.67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2A40E2"/>
                          </a:solidFill>
                        </a:rPr>
                        <a:t>0.8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YOLO label of a grid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4000000"/>
          </a:xfrm>
        </p:spPr>
        <p:txBody>
          <a:bodyPr wrap="square"/>
          <a:lstStyle/>
          <a:p>
            <a:pPr marL="0" indent="0">
              <a:buNone/>
            </a:pPr>
            <a:r>
              <a:rPr sz="2200"/>
              <a:t>A </a:t>
            </a:r>
            <a:r>
              <a:rPr sz="2200" b="1">
                <a:solidFill>
                  <a:srgbClr val="2A40E2"/>
                </a:solidFill>
              </a:rPr>
              <a:t>300 × 300</a:t>
            </a:r>
            <a:r>
              <a:rPr sz="2200"/>
              <a:t> image is divided into a </a:t>
            </a:r>
            <a:r>
              <a:rPr sz="2200" b="1">
                <a:solidFill>
                  <a:srgbClr val="2A40E2"/>
                </a:solidFill>
              </a:rPr>
              <a:t>3 × 3</a:t>
            </a:r>
            <a:r>
              <a:rPr sz="2200"/>
              <a:t> grid; classes: Pedestrian, Car, Motorcycle. A car has its mid-point at pixel (170, 240); its box is </a:t>
            </a:r>
            <a:r>
              <a:rPr sz="2200" b="1">
                <a:solidFill>
                  <a:srgbClr val="2A40E2"/>
                </a:solidFill>
              </a:rPr>
              <a:t>150 px wide</a:t>
            </a:r>
            <a:r>
              <a:rPr sz="2200"/>
              <a:t> and </a:t>
            </a:r>
            <a:r>
              <a:rPr sz="2200" b="1">
                <a:solidFill>
                  <a:srgbClr val="2A40E2"/>
                </a:solidFill>
              </a:rPr>
              <a:t>60 px high</a:t>
            </a:r>
            <a:r>
              <a:rPr sz="2200"/>
              <a:t>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200"/>
              <a:t>(a) Which grid cell (row, col from 0, top-left) is responsible?</a:t>
            </a:r>
          </a:p>
          <a:p>
            <a:pPr marL="0" indent="0">
              <a:buNone/>
            </a:pPr>
            <a:r>
              <a:rPr sz="2200"/>
              <a:t>(b) Fill in the label y = (pc, bx, by, bh, bw, c₁, c₂, c₃) of that cell.</a:t>
            </a:r>
          </a:p>
          <a:p>
            <a:pPr marL="0" indent="0">
              <a:buNone/>
            </a:pPr>
            <a:r>
              <a:rPr sz="2200"/>
              <a:t>(c) What is the shape of the whole output tensor?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0000" y="5000000"/>
          <a:ext cx="7200000" cy="11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pc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bx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bh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bw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c₃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YOLO label of a grid cell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4000000"/>
          </a:xfrm>
        </p:spPr>
        <p:txBody>
          <a:bodyPr wrap="square"/>
          <a:lstStyle/>
          <a:p>
            <a:r>
              <a:rPr sz="2200"/>
              <a:t>(a) Cell size 100 px: col = ⌊170/100⌋ = 1, row = ⌊240/100⌋ = 2 → </a:t>
            </a:r>
            <a:r>
              <a:rPr sz="2200" b="1">
                <a:solidFill>
                  <a:srgbClr val="2A40E2"/>
                </a:solidFill>
              </a:rPr>
              <a:t>cell (2, 1)</a:t>
            </a:r>
            <a:r>
              <a:rPr sz="2200"/>
              <a:t>.</a:t>
            </a:r>
          </a:p>
          <a:p>
            <a:r>
              <a:rPr sz="2200"/>
              <a:t>(b) bx = (170 − 100)/100 = 0.7, by = (240 − 200)/100 = 0.4, bh = 60/100 = 0.6, bw = 150/100 = 1.5 (can exceed 1). Car is class 2.</a:t>
            </a:r>
          </a:p>
          <a:p>
            <a:r>
              <a:rPr sz="2200"/>
              <a:t>(c) 8 numbers per cell: </a:t>
            </a:r>
            <a:r>
              <a:rPr sz="2200" b="1">
                <a:solidFill>
                  <a:srgbClr val="2A40E2"/>
                </a:solidFill>
              </a:rPr>
              <a:t>3 × 3 × 8</a:t>
            </a:r>
            <a:r>
              <a:rPr sz="220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00000" y="5000000"/>
          <a:ext cx="7200000" cy="11200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pc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bx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by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bh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bw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c₁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c₂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/>
                        <a:t>c₃</a:t>
                      </a:r>
                    </a:p>
                  </a:txBody>
                  <a:tcPr marL="60000" marR="60000" marT="25000" marB="250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0.7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0.6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1.5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Realistic YOLO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400"/>
              <a:t>A realistic YOLO takes a </a:t>
            </a:r>
            <a:r>
              <a:rPr sz="2400" b="1">
                <a:solidFill>
                  <a:srgbClr val="2A40E2"/>
                </a:solidFill>
              </a:rPr>
              <a:t>608 × 608 × 3</a:t>
            </a:r>
            <a:r>
              <a:rPr sz="2400"/>
              <a:t> image and outputs a </a:t>
            </a:r>
            <a:r>
              <a:rPr sz="2400" b="1">
                <a:solidFill>
                  <a:srgbClr val="2A40E2"/>
                </a:solidFill>
              </a:rPr>
              <a:t>19 × 19 × 5 × 85</a:t>
            </a:r>
            <a:r>
              <a:rPr sz="2400"/>
              <a:t> tensor.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400"/>
              <a:t>(a) What do 5 and 85 stand for?</a:t>
            </a:r>
          </a:p>
          <a:p>
            <a:pPr marL="0" indent="0">
              <a:buNone/>
            </a:pPr>
            <a:r>
              <a:rPr sz="2400"/>
              <a:t>(b) How many numbers are predicted, and how many candidate boxes enter NMS?</a:t>
            </a:r>
          </a:p>
          <a:p>
            <a:pPr marL="0" indent="0">
              <a:buNone/>
            </a:pPr>
            <a:r>
              <a:rPr sz="2400"/>
              <a:t>(c) What is the stride (pixels per grid cell)? In which cell (row, col from 0) does an object with mid-point at pixel (330, 200) fall, and what are (bx, by) of its label?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Realistic YOLO dimensions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11500000" cy="5500000"/>
          </a:xfrm>
        </p:spPr>
        <p:txBody>
          <a:bodyPr wrap="square"/>
          <a:lstStyle/>
          <a:p>
            <a:r>
              <a:rPr sz="2400"/>
              <a:t>(a) </a:t>
            </a:r>
            <a:r>
              <a:rPr sz="2400" b="1">
                <a:solidFill>
                  <a:srgbClr val="2A40E2"/>
                </a:solidFill>
              </a:rPr>
              <a:t>5 anchor boxes</a:t>
            </a:r>
            <a:r>
              <a:rPr sz="2400"/>
              <a:t> per cell; 85 = 5 + 80: (pc, bx, by, bh, bw) plus </a:t>
            </a:r>
            <a:r>
              <a:rPr sz="2400" b="1">
                <a:solidFill>
                  <a:srgbClr val="2A40E2"/>
                </a:solidFill>
              </a:rPr>
              <a:t>80 class scores</a:t>
            </a:r>
            <a:r>
              <a:rPr sz="2400"/>
              <a:t>.</a:t>
            </a:r>
          </a:p>
          <a:p>
            <a:r>
              <a:rPr sz="2400"/>
              <a:t>(b) 19 × 19 × 5 × 85 = </a:t>
            </a:r>
            <a:r>
              <a:rPr sz="2400" b="1">
                <a:solidFill>
                  <a:srgbClr val="2A40E2"/>
                </a:solidFill>
              </a:rPr>
              <a:t>153,425</a:t>
            </a:r>
            <a:r>
              <a:rPr sz="2400"/>
              <a:t> numbers; 19 × 19 × 5 = </a:t>
            </a:r>
            <a:r>
              <a:rPr sz="2400" b="1">
                <a:solidFill>
                  <a:srgbClr val="2A40E2"/>
                </a:solidFill>
              </a:rPr>
              <a:t>1,805</a:t>
            </a:r>
            <a:r>
              <a:rPr sz="2400"/>
              <a:t> candidate boxes before NMS.</a:t>
            </a:r>
          </a:p>
          <a:p>
            <a:r>
              <a:rPr sz="2400"/>
              <a:t>(c) Stride 608/19 = </a:t>
            </a:r>
            <a:r>
              <a:rPr sz="2400" b="1">
                <a:solidFill>
                  <a:srgbClr val="2A40E2"/>
                </a:solidFill>
              </a:rPr>
              <a:t>32 px</a:t>
            </a:r>
            <a:r>
              <a:rPr sz="2400"/>
              <a:t>. col = ⌊330/32⌋ = 10, row = ⌊200/32⌋ = 6 → </a:t>
            </a:r>
            <a:r>
              <a:rPr sz="2400" b="1">
                <a:solidFill>
                  <a:srgbClr val="2A40E2"/>
                </a:solidFill>
              </a:rPr>
              <a:t>cell (6, 10)</a:t>
            </a:r>
            <a:r>
              <a:rPr sz="2400"/>
              <a:t>; bx = (330 − 320)/32 = </a:t>
            </a:r>
            <a:r>
              <a:rPr sz="2400" b="1">
                <a:solidFill>
                  <a:srgbClr val="2A40E2"/>
                </a:solidFill>
              </a:rPr>
              <a:t>0.31</a:t>
            </a:r>
            <a:r>
              <a:rPr sz="2400"/>
              <a:t>, by = (200 − 192)/32 = </a:t>
            </a:r>
            <a:r>
              <a:rPr sz="2400" b="1">
                <a:solidFill>
                  <a:srgbClr val="2A40E2"/>
                </a:solidFill>
              </a:rPr>
              <a:t>0.25</a:t>
            </a:r>
            <a:r>
              <a:rPr sz="240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Upsampling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46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2000"/>
              <a:t>Upsample the 2 × 2 feature map to 4 × 4 with a stride of 2.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(a) </a:t>
            </a:r>
            <a:r>
              <a:rPr sz="2000" b="1">
                <a:solidFill>
                  <a:srgbClr val="2A40E2"/>
                </a:solidFill>
              </a:rPr>
              <a:t>Bed of nails</a:t>
            </a:r>
            <a:r>
              <a:rPr sz="2000"/>
              <a:t>: insert zeros; each input goes to the top-left corner of its 2 × 2 block.</a:t>
            </a:r>
          </a:p>
          <a:p>
            <a:pPr marL="0" indent="0">
              <a:buNone/>
            </a:pPr>
            <a:r>
              <a:rPr sz="2000"/>
              <a:t>(b) </a:t>
            </a:r>
            <a:r>
              <a:rPr sz="2000" b="1">
                <a:solidFill>
                  <a:srgbClr val="2A40E2"/>
                </a:solidFill>
              </a:rPr>
              <a:t>Nearest neighbor</a:t>
            </a:r>
            <a:r>
              <a:rPr sz="2000"/>
              <a:t>: duplicate each element.</a:t>
            </a:r>
          </a:p>
          <a:p>
            <a:pPr marL="0" indent="0">
              <a:buNone/>
            </a:pPr>
            <a:r>
              <a:rPr sz="800"/>
              <a:t> </a:t>
            </a:r>
          </a:p>
          <a:p>
            <a:pPr marL="0" indent="0">
              <a:buNone/>
            </a:pPr>
            <a:r>
              <a:rPr sz="2000"/>
              <a:t>(c) Name two other upsampling methods used in FCNs.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Input (2 ×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00000" y="24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Bed of nails (4 ×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0000" y="24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Nearest neighbor (4 × 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00000" y="2750000"/>
          <a:ext cx="2240000" cy="1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00000" y="2750000"/>
          <a:ext cx="2240000" cy="1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Upsampling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4600000" cy="5500000"/>
          </a:xfrm>
        </p:spPr>
        <p:txBody>
          <a:bodyPr wrap="square"/>
          <a:lstStyle/>
          <a:p>
            <a:r>
              <a:rPr sz="2000"/>
              <a:t>(a) Bed of nails keeps the values at fixed positions and fills the rest with 0.</a:t>
            </a:r>
          </a:p>
          <a:p>
            <a:r>
              <a:rPr sz="2000"/>
              <a:t>(b) Nearest neighbor replicates each value over its 2 × 2 block.</a:t>
            </a:r>
          </a:p>
          <a:p>
            <a:r>
              <a:rPr sz="2000"/>
              <a:t>(c) Max unpooling (restores each value to the position of the max in the matching pooling layer), bilinear / bicubic interpolation, transposed convolution (learnable).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Input (2 × 2)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2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200000" y="24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Bed of nails (4 × 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00000" y="24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Nearest neighbor (4 × 4)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00000" y="2750000"/>
          <a:ext cx="2240000" cy="1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700000" y="2750000"/>
          <a:ext cx="2240000" cy="184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Exercise: Transposed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000000" cy="5500000"/>
          </a:xfrm>
        </p:spPr>
        <p:txBody>
          <a:bodyPr wrap="square"/>
          <a:lstStyle/>
          <a:p>
            <a:pPr marL="0" indent="0">
              <a:buNone/>
            </a:pPr>
            <a:r>
              <a:rPr sz="1900" b="1">
                <a:solidFill>
                  <a:srgbClr val="2A40E2"/>
                </a:solidFill>
              </a:rPr>
              <a:t>Transposed convolution</a:t>
            </a:r>
            <a:r>
              <a:rPr sz="1900"/>
              <a:t> (stride 1, no padding): each input element multiplies the whole kernel, the products are placed at its position, and overlapping outputs add up.</a:t>
            </a:r>
          </a:p>
          <a:p>
            <a:pPr marL="0" indent="0">
              <a:buNone/>
            </a:pPr>
            <a:r>
              <a:rPr sz="1900"/>
              <a:t>(a) Compute the 3 × 3 output.</a:t>
            </a:r>
          </a:p>
          <a:p>
            <a:pPr marL="0" indent="0">
              <a:buNone/>
            </a:pPr>
            <a:r>
              <a:rPr sz="1900"/>
              <a:t>(b) Output size formula for input N, kernel K, stride S?</a:t>
            </a:r>
          </a:p>
          <a:p>
            <a:pPr marL="0" indent="0">
              <a:buNone/>
            </a:pPr>
            <a:r>
              <a:rPr sz="1900"/>
              <a:t>(c) With L stacked 3 × 3 CONV layers (stride 1) the receptive field is 2L + 1. For L = 10? How many layers for a receptive field ≥ 224? How does downsampling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Input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Kernel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00000" y="25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Output (3 × 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0" y="2850000"/>
          <a:ext cx="1680000" cy="13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endParaRPr sz="2000"/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152400"/>
            <a:ext cx="9575800" cy="533400"/>
          </a:xfrm>
        </p:spPr>
        <p:txBody>
          <a:bodyPr/>
          <a:lstStyle/>
          <a:p>
            <a:r>
              <a:t>Exercise Solution: Transposed convolution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000" y="800000"/>
            <a:ext cx="6000000" cy="5500000"/>
          </a:xfrm>
        </p:spPr>
        <p:txBody>
          <a:bodyPr wrap="square"/>
          <a:lstStyle/>
          <a:p>
            <a:r>
              <a:rPr sz="1900"/>
              <a:t>(a) e.g. O[1][1] = 1·1 + 2·0 + 3·2 + 4·1 = 11 (four overlapping contributions).</a:t>
            </a:r>
          </a:p>
          <a:p>
            <a:r>
              <a:rPr sz="1900"/>
              <a:t>(b) (N − 1)·S + K = (2 − 1)·1 + 2 = </a:t>
            </a:r>
            <a:r>
              <a:rPr sz="1900" b="1">
                <a:solidFill>
                  <a:srgbClr val="2A40E2"/>
                </a:solidFill>
              </a:rPr>
              <a:t>3</a:t>
            </a:r>
            <a:r>
              <a:rPr sz="1900"/>
              <a:t>.</a:t>
            </a:r>
          </a:p>
          <a:p>
            <a:r>
              <a:rPr sz="1900"/>
              <a:t>(c) L = 10 → </a:t>
            </a:r>
            <a:r>
              <a:rPr sz="1900" b="1">
                <a:solidFill>
                  <a:srgbClr val="2A40E2"/>
                </a:solidFill>
              </a:rPr>
              <a:t>21 × 21</a:t>
            </a:r>
            <a:r>
              <a:rPr sz="1900"/>
              <a:t>. 2L + 1 ≥ 224 → L ≥ 111.5 → </a:t>
            </a:r>
            <a:r>
              <a:rPr sz="1900" b="1">
                <a:solidFill>
                  <a:srgbClr val="2A40E2"/>
                </a:solidFill>
              </a:rPr>
              <a:t>112 layers</a:t>
            </a:r>
            <a:r>
              <a:rPr sz="1900"/>
              <a:t>: too slow. Pooling / strided convolution makes the receptive field grow much faster and shrinks the cost; upsampling then restores the output size.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Input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00000" y="780000"/>
            <a:ext cx="22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Kernel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900000" y="1120000"/>
          <a:ext cx="1120000" cy="92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2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/>
                        <a:t>1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00000" y="2500000"/>
            <a:ext cx="3000000" cy="320000"/>
          </a:xfrm>
          <a:prstGeom prst="rect">
            <a:avLst/>
          </a:prstGeom>
          <a:noFill/>
        </p:spPr>
        <p:txBody>
          <a:bodyPr wrap="square" lIns="36000" tIns="18000" rIns="36000" bIns="18000">
            <a:spAutoFit/>
          </a:bodyPr>
          <a:lstStyle/>
          <a:p>
            <a:r>
              <a:rPr sz="1600" b="1"/>
              <a:t>Output (3 × 3)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00000" y="2850000"/>
          <a:ext cx="1680000" cy="1380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11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10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000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0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3</a:t>
                      </a:r>
                    </a:p>
                  </a:txBody>
                  <a:tcPr marL="60000" marR="60000" marT="25000" marB="25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2A40E2"/>
                          </a:solidFill>
                        </a:rPr>
                        <a:t>4</a:t>
                      </a:r>
                    </a:p>
                  </a:txBody>
                  <a:tcPr marL="60000" marR="60000" marT="25000" marB="25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1"/>
            </a:solidFill>
            <a:effectLst/>
            <a:latin typeface="Gill Sans Ligh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571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>
            <a:latin typeface="Gill Sans Light"/>
          </a:defRPr>
        </a:defPPr>
      </a:lstStyle>
    </a:txDef>
  </a:objectDefaults>
  <a:extraClrSchemeLst>
    <a:extraClrScheme>
      <a:clrScheme name="Offic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da48a9ac-7937-4134-8b13-3620bf967764}" enabled="1" method="Privileged" siteId="{5a4ba6f9-f531-4f32-9467-398f19e69de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98995</TotalTime>
  <Pages>60</Pages>
  <Words>1647</Words>
  <Application>Microsoft Office PowerPoint</Application>
  <PresentationFormat>Widescreen</PresentationFormat>
  <Paragraphs>267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-apple-system-body</vt:lpstr>
      <vt:lpstr>Arial</vt:lpstr>
      <vt:lpstr>Comic Sans MS</vt:lpstr>
      <vt:lpstr>Gill Sans</vt:lpstr>
      <vt:lpstr>Gill Sans Light</vt:lpstr>
      <vt:lpstr>KaTeX_Main</vt:lpstr>
      <vt:lpstr>Office</vt:lpstr>
      <vt:lpstr>CSC 144V: Autonomous Vehicles Lecture 5   Object Detection and Segmentation Exercises Solution</vt:lpstr>
      <vt:lpstr>Exercise: IoU and NMS</vt:lpstr>
      <vt:lpstr>Exercise Solution: IoU and NMS</vt:lpstr>
      <vt:lpstr>Calculating IoU(A, B)</vt:lpstr>
      <vt:lpstr>Exercise: Precision, recall and AP</vt:lpstr>
      <vt:lpstr>Exercise Solution: Precision, recall and AP</vt:lpstr>
      <vt:lpstr>Exercise: YOLO label of a grid cell</vt:lpstr>
      <vt:lpstr>Exercise Solution: YOLO label of a grid cell</vt:lpstr>
      <vt:lpstr>Exercise: Realistic YOLO dimensions</vt:lpstr>
      <vt:lpstr>Exercise Solution: Realistic YOLO dimensions</vt:lpstr>
      <vt:lpstr>Exercise: Upsampling</vt:lpstr>
      <vt:lpstr>Exercise Solution: Upsampling</vt:lpstr>
      <vt:lpstr>Exercise: Transposed convolution</vt:lpstr>
      <vt:lpstr>Exercise Solution: Transposed convolution</vt:lpstr>
    </vt:vector>
  </TitlesOfParts>
  <Company>UC Berkeley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Course Introduction and Overview</dc:title>
  <dc:creator>John D. Kubiatowicz</dc:creator>
  <dc:description>Imported some pictures from Silbershatz (c) 2005</dc:description>
  <cp:lastModifiedBy>Zonghua Gu</cp:lastModifiedBy>
  <cp:revision>1069</cp:revision>
  <cp:lastPrinted>2022-03-15T20:14:46Z</cp:lastPrinted>
  <dcterms:created xsi:type="dcterms:W3CDTF">1995-08-12T11:37:26Z</dcterms:created>
  <dcterms:modified xsi:type="dcterms:W3CDTF">2026-10-28T16:10:13Z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">
    <vt:lpwstr>Joseph</vt:lpwstr>
  </property>
  <property fmtid="{D5CDD505-2E9C-101B-9397-08002B2CF9AE}" pid="3" name="Semester">
    <vt:lpwstr>Spring 2006</vt:lpwstr>
  </property>
</Properties>
</file>