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4" autoAdjust="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train RL algorithm in the simulator on AWS cloud, but it costs money after some free time.</a:t>
            </a:r>
          </a:p>
          <a:p>
            <a:r>
              <a:rPr lang="en-US" dirty="0"/>
              <a:t>They hold competitions, both online and in real-world. 1/10</a:t>
            </a:r>
            <a:r>
              <a:rPr lang="en-US" baseline="30000" dirty="0"/>
              <a:t>th</a:t>
            </a:r>
            <a:r>
              <a:rPr lang="en-US" dirty="0"/>
              <a:t> scale race car costs USD $</a:t>
            </a:r>
            <a:r>
              <a:rPr lang="en-SE" dirty="0"/>
              <a:t>349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2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eeprac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da-DK" sz="4400" dirty="0"/>
              <a:t>L9.1  Markov Decision Process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3C722-8478-86E6-23BC-02A9F14F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7916" y="2872468"/>
            <a:ext cx="3845515" cy="23876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3301-82EB-7768-76DB-53986518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2A923-055A-4F60-73D3-0F06C386F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An MDP consists of: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𝑆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Start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s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0</m:t>
                        </m:r>
                      </m:sub>
                    </m:sSub>
                  </m:oMath>
                </a14:m>
                <a:endParaRPr lang="en-US" baseline="-25000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actions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𝐴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Transitions and rewards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altLang="ja-JP" dirty="0">
                    <a:ea typeface="ＭＳ Ｐゴシック" pitchFamily="34" charset="-128"/>
                  </a:rPr>
                  <a:t>(w. discount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</m:t>
                    </m:r>
                  </m:oMath>
                </a14:m>
                <a:r>
                  <a:rPr lang="en-US" altLang="ja-JP" dirty="0">
                    <a:ea typeface="ＭＳ Ｐゴシック" pitchFamily="34" charset="-128"/>
                  </a:rPr>
                  <a:t>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Policy maps from states to actions: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Deterministic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defines a deterministic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Stochastic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/>
                  <a:t> defines a probability distribution over possible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ea typeface="ＭＳ Ｐゴシック" pitchFamily="34" charset="-128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Markov means that next state only depends on current state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−1,…,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altLang="ja-JP" dirty="0">
                    <a:ea typeface="ＭＳ Ｐゴシック" pitchFamily="34" charset="-128"/>
                  </a:rPr>
                  <a:t>Given the present state, the future and the past are independent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 dirty="0"/>
                  <a:t>e.g., for driving task, current vehicle position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 as the state does not satisfy the Markov property, since the next state depends on not only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, but also velocity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and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, assuming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stays constant within each step). If we redefine the state 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9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̇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̈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900" dirty="0"/>
                  <a:t>, then it satisfies the Markov property.</a:t>
                </a:r>
              </a:p>
              <a:p>
                <a:pPr lvl="1"/>
                <a:r>
                  <a:rPr lang="en-US" dirty="0"/>
                  <a:t>Or, current snapshot of front camera view can be used as the state (e.g., NVIDIA’s </a:t>
                </a:r>
                <a:r>
                  <a:rPr lang="en-US" dirty="0" err="1"/>
                  <a:t>PilotNet</a:t>
                </a:r>
                <a:r>
                  <a:rPr lang="en-US" dirty="0"/>
                  <a:t>), but some works use past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video frames as the state to capture more dynamics (e.g., Waymo’s </a:t>
                </a:r>
                <a:r>
                  <a:rPr lang="en-US" dirty="0" err="1"/>
                  <a:t>ChauffeurNet</a:t>
                </a:r>
                <a:r>
                  <a:rPr lang="en-US" dirty="0"/>
                  <a:t>).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2A923-055A-4F60-73D3-0F06C386F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2" t="-2934" r="-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6E58F-2278-220D-536D-61F38AB8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6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4A74-D775-8E6E-EC46-82524F0E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Example 1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BFF6CC-5EC3-41A5-85DA-83C2A0CBB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6562747" cy="55573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this MDP with a single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two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</a:t>
                </a:r>
                <a:r>
                  <a:rPr lang="en-US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𝑟𝑖𝑔ℎ𝑡</m:t>
                    </m:r>
                  </m:oMath>
                </a14:m>
                <a:r>
                  <a:rPr lang="en-US" dirty="0"/>
                  <a:t>. Are these valid policies?</a:t>
                </a:r>
              </a:p>
              <a:p>
                <a:pPr lvl="1"/>
                <a:r>
                  <a:rPr lang="en-US" dirty="0"/>
                  <a:t>1)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(goes left or right with equal probability. uniform random policy)</a:t>
                </a:r>
              </a:p>
              <a:p>
                <a:pPr lvl="1"/>
                <a:r>
                  <a:rPr lang="en-US" dirty="0">
                    <a:ea typeface="ＭＳ Ｐゴシック" pitchFamily="34" charset="-128"/>
                  </a:rPr>
                  <a:t>2)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=1.0,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(always goes left)</a:t>
                </a:r>
              </a:p>
              <a:p>
                <a:pPr lvl="1"/>
                <a:r>
                  <a:rPr lang="en-US" dirty="0"/>
                  <a:t>3) Alternating left and right, i.e., if previous action is left, then current action must be right, next action must be left, and so on.</a:t>
                </a:r>
              </a:p>
              <a:p>
                <a:pPr lvl="1"/>
                <a:r>
                  <a:rPr lang="en-US" dirty="0"/>
                  <a:t>ANS: 3) is not a valid policy, since it depends on the history of actions. To be a valid policy, the action must depend on the current state only.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BFF6CC-5EC3-41A5-85DA-83C2A0CBB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6562747" cy="5557345"/>
              </a:xfrm>
              <a:blipFill>
                <a:blip r:embed="rId2"/>
                <a:stretch>
                  <a:fillRect l="-1857" t="-3509" r="-139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1FD6-2877-A9BB-FD49-01B34C97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F2CA2-3B5B-A9CB-8A2E-2D6E0D7C3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4" y="2529968"/>
            <a:ext cx="4495800" cy="2450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E4C54C-4084-B467-9177-F2D0346E9AA7}"/>
                  </a:ext>
                </a:extLst>
              </p:cNvPr>
              <p:cNvSpPr txBox="1"/>
              <p:nvPr/>
            </p:nvSpPr>
            <p:spPr>
              <a:xfrm>
                <a:off x="9248783" y="3824682"/>
                <a:ext cx="375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E4C54C-4084-B467-9177-F2D0346E9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783" y="3824682"/>
                <a:ext cx="3751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52B9B1-C304-14FC-3DC6-5001DF160343}"/>
                  </a:ext>
                </a:extLst>
              </p:cNvPr>
              <p:cNvSpPr txBox="1"/>
              <p:nvPr/>
            </p:nvSpPr>
            <p:spPr>
              <a:xfrm>
                <a:off x="8372709" y="2408904"/>
                <a:ext cx="1063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52B9B1-C304-14FC-3DC6-5001DF16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709" y="2408904"/>
                <a:ext cx="106362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C948D9-A29A-F0EB-0AC8-36080D9B001F}"/>
                  </a:ext>
                </a:extLst>
              </p:cNvPr>
              <p:cNvSpPr txBox="1"/>
              <p:nvPr/>
            </p:nvSpPr>
            <p:spPr>
              <a:xfrm>
                <a:off x="9436334" y="2408904"/>
                <a:ext cx="120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𝑟𝑖𝑔ℎ𝑡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C948D9-A29A-F0EB-0AC8-36080D9B0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334" y="2408904"/>
                <a:ext cx="120308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15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1778-DDE3-6884-34AC-23EBB33C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Example 2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E9CC9-A0EB-5335-62B6-E5B48438A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034371" cy="51947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Green nodes denote 3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Red nodes denote 2 possible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each state. Each red node can also be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Agent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may get different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denoted as 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, due to environment uncertainty (all rewards are 0 expect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show in fig)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E9CC9-A0EB-5335-62B6-E5B48438A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034371" cy="5194738"/>
              </a:xfrm>
              <a:blipFill>
                <a:blip r:embed="rId2"/>
                <a:stretch>
                  <a:fillRect l="-2323" t="-31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18F0-2CBC-C375-A980-409D9FE5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21950-E2AA-C7F0-A39D-CB6C2AB39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716520"/>
            <a:ext cx="5183909" cy="41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1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C883-A02C-6CE1-AB69-F287EE0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Function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EAF56-C82B-8825-FF29-C64C757AE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4"/>
                <a:ext cx="10949153" cy="31408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For the vehicle in left fig: </a:t>
                </a:r>
              </a:p>
              <a:p>
                <a:pPr lvl="1"/>
                <a:r>
                  <a:rPr lang="en-US" sz="2000" dirty="0"/>
                  <a:t>state: Pose of ego-car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environment map; </a:t>
                </a:r>
                <a:r>
                  <a:rPr lang="en-US" sz="2100" dirty="0"/>
                  <a:t>action: Steering wheel/brake/acceleration</a:t>
                </a:r>
              </a:p>
              <a:p>
                <a:r>
                  <a:rPr lang="en-US" sz="2400" dirty="0"/>
                  <a:t>Possible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Weight sum to maximum longitudinal velocity (first term), and minimize cross-track error (distance to lane center)</a:t>
                </a:r>
              </a:p>
              <a:p>
                <a:pPr lvl="1"/>
                <a:r>
                  <a:rPr lang="en-US" sz="2000" dirty="0"/>
                  <a:t>This is an example of dense reward (e.g., at every time step), as opposed to sparse reward (e.g., only at the end of each episode)</a:t>
                </a:r>
              </a:p>
              <a:p>
                <a:r>
                  <a:rPr lang="en-US" sz="2400" dirty="0"/>
                  <a:t>Compare with twiddle() :</a:t>
                </a:r>
              </a:p>
              <a:p>
                <a:pPr lvl="1"/>
                <a:r>
                  <a:rPr lang="en-US" sz="2000" dirty="0"/>
                  <a:t>twiddle() can be viewed as an RL algorithm (policy gradient), that learns PID parameters with sparse reward (cost function is average cross-track error (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), computed at the end of each simulation episode, as sum of squares of </a:t>
                </a:r>
                <a:r>
                  <a:rPr lang="en-US" sz="2000" dirty="0" err="1"/>
                  <a:t>ctes</a:t>
                </a:r>
                <a:r>
                  <a:rPr lang="en-US" sz="2000" dirty="0"/>
                  <a:t> for N timesteps divided by N. But it is very crude: </a:t>
                </a:r>
              </a:p>
              <a:p>
                <a:pPr lvl="1"/>
                <a:r>
                  <a:rPr lang="en-US" sz="2000" dirty="0"/>
                  <a:t>It does not use the numeric value of 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, only its relative size (if err &lt; </a:t>
                </a:r>
                <a:r>
                  <a:rPr lang="en-US" sz="2000" dirty="0" err="1"/>
                  <a:t>best_err</a:t>
                </a:r>
                <a:r>
                  <a:rPr lang="en-US" sz="2000" dirty="0"/>
                  <a:t>);</a:t>
                </a:r>
              </a:p>
              <a:p>
                <a:pPr lvl="1"/>
                <a:r>
                  <a:rPr lang="en-US" sz="2000" dirty="0"/>
                  <a:t>Cost function does not include heading angle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lvl="1"/>
                <a:r>
                  <a:rPr lang="en-US" sz="2000" dirty="0"/>
                  <a:t>if the track is very long and irregular, then we can make the reward denser, to adjust PID parameters every K timesteps instead of at the end of each episode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EAF56-C82B-8825-FF29-C64C757AE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4"/>
                <a:ext cx="10949153" cy="3140839"/>
              </a:xfrm>
              <a:blipFill>
                <a:blip r:embed="rId2"/>
                <a:stretch>
                  <a:fillRect l="-278" t="-2718" r="-50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8C0BE-1F21-34DC-0FC7-D07944AD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A0D12-AA13-A5DA-B6C8-1B877DFA342D}"/>
              </a:ext>
            </a:extLst>
          </p:cNvPr>
          <p:cNvSpPr/>
          <p:nvPr/>
        </p:nvSpPr>
        <p:spPr>
          <a:xfrm>
            <a:off x="3875231" y="6627371"/>
            <a:ext cx="39243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04C48"/>
                </a:solidFill>
                <a:latin typeface="Helvetica Neue"/>
              </a:rPr>
              <a:t>Ben Lau, Quantitative Researcher, Hobbyist, at </a:t>
            </a:r>
            <a:r>
              <a:rPr lang="en-US" sz="1000" dirty="0" err="1">
                <a:solidFill>
                  <a:srgbClr val="504C48"/>
                </a:solidFill>
                <a:latin typeface="Helvetica Neue"/>
              </a:rPr>
              <a:t>MLconf</a:t>
            </a:r>
            <a:r>
              <a:rPr lang="en-US" sz="1000" dirty="0">
                <a:solidFill>
                  <a:srgbClr val="504C48"/>
                </a:solidFill>
                <a:latin typeface="Helvetica Neue"/>
              </a:rPr>
              <a:t> NYC 2017</a:t>
            </a:r>
            <a:endParaRPr lang="en-US" sz="1000" b="0" i="0" dirty="0">
              <a:solidFill>
                <a:srgbClr val="504C48"/>
              </a:solidFill>
              <a:effectLst/>
              <a:latin typeface="Helvetica Neue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2E7D59-B342-BBD8-9670-64754B81C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182" y="4403836"/>
            <a:ext cx="4953000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18A7A-ED12-6D04-F7C2-138184696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043" y="4171152"/>
            <a:ext cx="3124200" cy="2456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49EB16-DAB2-7CE7-7B92-2DDBA209D4CB}"/>
              </a:ext>
            </a:extLst>
          </p:cNvPr>
          <p:cNvSpPr txBox="1"/>
          <p:nvPr/>
        </p:nvSpPr>
        <p:spPr>
          <a:xfrm>
            <a:off x="8504382" y="623263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twiddle()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5626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AE86-B5A9-4E4A-7644-041A7FDA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9075445" cy="1069486"/>
          </a:xfrm>
        </p:spPr>
        <p:txBody>
          <a:bodyPr>
            <a:normAutofit fontScale="90000"/>
          </a:bodyPr>
          <a:lstStyle/>
          <a:p>
            <a:r>
              <a:rPr lang="en-US" dirty="0"/>
              <a:t>Reward Function in Amazon </a:t>
            </a:r>
            <a:r>
              <a:rPr lang="en-US" dirty="0" err="1"/>
              <a:t>DeepRacer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C02A-17E1-42A9-38B2-42F50E061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8742936" cy="5194738"/>
          </a:xfrm>
        </p:spPr>
        <p:txBody>
          <a:bodyPr/>
          <a:lstStyle/>
          <a:p>
            <a:r>
              <a:rPr lang="en-US" dirty="0"/>
              <a:t>Amazon Web Services (AWS) launched </a:t>
            </a:r>
            <a:r>
              <a:rPr lang="en-US" dirty="0" err="1"/>
              <a:t>DeepRacer</a:t>
            </a:r>
            <a:r>
              <a:rPr lang="en-US" dirty="0"/>
              <a:t> in 2018 for training AD algorithms with RL</a:t>
            </a:r>
          </a:p>
          <a:p>
            <a:pPr lvl="1"/>
            <a:r>
              <a:rPr lang="en-US" dirty="0">
                <a:hlinkClick r:id="rId3"/>
              </a:rPr>
              <a:t>https://aws.amazon.com/deepracer/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4CF13-DB87-11CD-580B-0D0F2CD7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 descr="Examples of parameters on the track">
            <a:extLst>
              <a:ext uri="{FF2B5EF4-FFF2-40B4-BE49-F238E27FC236}">
                <a16:creationId xmlns:a16="http://schemas.microsoft.com/office/drawing/2014/main" id="{960C5E19-D548-7915-D4CF-5EAFD0BED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17" y="2674160"/>
            <a:ext cx="7325830" cy="412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8DEE6C-5D08-A62C-6A49-C4CFB0DE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673" y="184262"/>
            <a:ext cx="2502825" cy="649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5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C5C6-0DAD-FCAD-00D0-E7C68DED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Reward Function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221AF-D258-587E-BE64-81953119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reward_function</a:t>
            </a:r>
            <a:r>
              <a:rPr lang="en-US" dirty="0"/>
              <a:t>(params):</a:t>
            </a:r>
          </a:p>
          <a:p>
            <a:r>
              <a:rPr lang="en-US" dirty="0"/>
              <a:t>    '''Example of penalize steering, which helps mitigate zig-zag behaviors'''</a:t>
            </a:r>
          </a:p>
          <a:p>
            <a:r>
              <a:rPr lang="en-US" dirty="0"/>
              <a:t>    # Read input parameters</a:t>
            </a:r>
          </a:p>
          <a:p>
            <a:r>
              <a:rPr lang="en-US" dirty="0"/>
              <a:t>    </a:t>
            </a:r>
            <a:r>
              <a:rPr lang="en-US" dirty="0" err="1"/>
              <a:t>distance_from_center</a:t>
            </a:r>
            <a:r>
              <a:rPr lang="en-US" dirty="0"/>
              <a:t> = params['</a:t>
            </a:r>
            <a:r>
              <a:rPr lang="en-US" dirty="0" err="1"/>
              <a:t>distance_from_center</a:t>
            </a:r>
            <a:r>
              <a:rPr lang="en-US" dirty="0"/>
              <a:t>']</a:t>
            </a:r>
          </a:p>
          <a:p>
            <a:r>
              <a:rPr lang="en-US" dirty="0"/>
              <a:t>    </a:t>
            </a:r>
            <a:r>
              <a:rPr lang="en-US" dirty="0" err="1"/>
              <a:t>track_width</a:t>
            </a:r>
            <a:r>
              <a:rPr lang="en-US" dirty="0"/>
              <a:t> = params['</a:t>
            </a:r>
            <a:r>
              <a:rPr lang="en-US" dirty="0" err="1"/>
              <a:t>track_width</a:t>
            </a:r>
            <a:r>
              <a:rPr lang="en-US" dirty="0"/>
              <a:t>']</a:t>
            </a:r>
          </a:p>
          <a:p>
            <a:r>
              <a:rPr lang="en-US" dirty="0"/>
              <a:t>    steering = abs(params['</a:t>
            </a:r>
            <a:r>
              <a:rPr lang="en-US" dirty="0" err="1"/>
              <a:t>steering_angle</a:t>
            </a:r>
            <a:r>
              <a:rPr lang="en-US" dirty="0"/>
              <a:t>']) # Only need the absolute steering angle</a:t>
            </a:r>
          </a:p>
          <a:p>
            <a:endParaRPr lang="en-US" dirty="0"/>
          </a:p>
          <a:p>
            <a:r>
              <a:rPr lang="en-US" dirty="0"/>
              <a:t>    # Calculate 3 markers that are at varying distances away from the center line</a:t>
            </a:r>
          </a:p>
          <a:p>
            <a:r>
              <a:rPr lang="en-US" dirty="0"/>
              <a:t>    marker_1 = 0.1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marker_2 = 0.25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marker_3 = 0.5 * </a:t>
            </a:r>
            <a:r>
              <a:rPr lang="en-US" dirty="0" err="1"/>
              <a:t>track_width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# Give higher reward if the agent is closer to center line and vice versa</a:t>
            </a:r>
          </a:p>
          <a:p>
            <a:r>
              <a:rPr lang="en-US" dirty="0"/>
              <a:t>    if </a:t>
            </a:r>
            <a:r>
              <a:rPr lang="en-US" dirty="0" err="1"/>
              <a:t>distance_from_center</a:t>
            </a:r>
            <a:r>
              <a:rPr lang="en-US" dirty="0"/>
              <a:t> &lt;= marker_1:</a:t>
            </a:r>
          </a:p>
          <a:p>
            <a:r>
              <a:rPr lang="en-US" dirty="0"/>
              <a:t>        reward = 1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marker_2:</a:t>
            </a:r>
          </a:p>
          <a:p>
            <a:r>
              <a:rPr lang="en-US" dirty="0"/>
              <a:t>        reward = 0.5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marker_3:</a:t>
            </a:r>
          </a:p>
          <a:p>
            <a:r>
              <a:rPr lang="en-US" dirty="0"/>
              <a:t>        reward = 0.1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reward = 1e-3  # likely crashed/ close to off track</a:t>
            </a:r>
          </a:p>
          <a:p>
            <a:endParaRPr lang="en-US" dirty="0"/>
          </a:p>
          <a:p>
            <a:r>
              <a:rPr lang="en-US" dirty="0"/>
              <a:t>    # Steering penalty threshold, change the number based on your action space setting</a:t>
            </a:r>
          </a:p>
          <a:p>
            <a:r>
              <a:rPr lang="en-US" dirty="0"/>
              <a:t>    ABS_STEERING_THRESHOLD = 15</a:t>
            </a:r>
          </a:p>
          <a:p>
            <a:endParaRPr lang="en-US" dirty="0"/>
          </a:p>
          <a:p>
            <a:r>
              <a:rPr lang="en-US" dirty="0"/>
              <a:t>    # Penalize reward if the agent is steering too much</a:t>
            </a:r>
          </a:p>
          <a:p>
            <a:r>
              <a:rPr lang="en-US" dirty="0"/>
              <a:t>    if steering &gt; ABS_STEERING_THRESHOLD:</a:t>
            </a:r>
          </a:p>
          <a:p>
            <a:r>
              <a:rPr lang="en-US" dirty="0"/>
              <a:t>        reward *= 0.8</a:t>
            </a:r>
          </a:p>
          <a:p>
            <a:endParaRPr lang="en-US" dirty="0"/>
          </a:p>
          <a:p>
            <a:r>
              <a:rPr lang="en-US" dirty="0"/>
              <a:t>    return float(reward)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F322-34F0-A183-030B-484542C4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8651</TotalTime>
  <Words>1040</Words>
  <Application>Microsoft Office PowerPoint</Application>
  <PresentationFormat>Widescreen</PresentationFormat>
  <Paragraphs>88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Helvetica Neue</vt:lpstr>
      <vt:lpstr>ＭＳ Ｐゴシック</vt:lpstr>
      <vt:lpstr>Arial</vt:lpstr>
      <vt:lpstr>Calibri</vt:lpstr>
      <vt:lpstr>Calibri Light</vt:lpstr>
      <vt:lpstr>Cambria Math</vt:lpstr>
      <vt:lpstr>Office Theme</vt:lpstr>
      <vt:lpstr>Custom Design</vt:lpstr>
      <vt:lpstr>L7.1  Markov Decision Process</vt:lpstr>
      <vt:lpstr>Markov Decision Process (MDP)</vt:lpstr>
      <vt:lpstr>MDP Example 1</vt:lpstr>
      <vt:lpstr>MDP Example 2</vt:lpstr>
      <vt:lpstr>Reward Function</vt:lpstr>
      <vt:lpstr>Reward Function in Amazon DeepRacer</vt:lpstr>
      <vt:lpstr>Example Reward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Warner, James E. (LARC-D309)</dc:creator>
  <cp:lastModifiedBy>Zonghua Gu</cp:lastModifiedBy>
  <cp:revision>952</cp:revision>
  <dcterms:created xsi:type="dcterms:W3CDTF">2020-05-28T21:34:29Z</dcterms:created>
  <dcterms:modified xsi:type="dcterms:W3CDTF">2026-09-10T14:21:21Z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