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2"/>
  </p:sldMasterIdLst>
  <p:notesMasterIdLst>
    <p:notesMasterId r:id="rId123"/>
  </p:notesMasterIdLst>
  <p:sldIdLst>
    <p:sldId id="256" r:id="rId3"/>
    <p:sldId id="513" r:id="rId4"/>
    <p:sldId id="267" r:id="rId5"/>
    <p:sldId id="329" r:id="rId6"/>
    <p:sldId id="273" r:id="rId7"/>
    <p:sldId id="275" r:id="rId8"/>
    <p:sldId id="276" r:id="rId9"/>
    <p:sldId id="277" r:id="rId10"/>
    <p:sldId id="278" r:id="rId11"/>
    <p:sldId id="284" r:id="rId12"/>
    <p:sldId id="280" r:id="rId13"/>
    <p:sldId id="285" r:id="rId14"/>
    <p:sldId id="289" r:id="rId15"/>
    <p:sldId id="295" r:id="rId16"/>
    <p:sldId id="298" r:id="rId17"/>
    <p:sldId id="301" r:id="rId18"/>
    <p:sldId id="313" r:id="rId19"/>
    <p:sldId id="308" r:id="rId20"/>
    <p:sldId id="309" r:id="rId21"/>
    <p:sldId id="310" r:id="rId22"/>
    <p:sldId id="311" r:id="rId23"/>
    <p:sldId id="312" r:id="rId24"/>
    <p:sldId id="316" r:id="rId25"/>
    <p:sldId id="317" r:id="rId26"/>
    <p:sldId id="337" r:id="rId27"/>
    <p:sldId id="398" r:id="rId28"/>
    <p:sldId id="509" r:id="rId29"/>
    <p:sldId id="315" r:id="rId30"/>
    <p:sldId id="401" r:id="rId31"/>
    <p:sldId id="508" r:id="rId32"/>
    <p:sldId id="400" r:id="rId33"/>
    <p:sldId id="318" r:id="rId34"/>
    <p:sldId id="319" r:id="rId35"/>
    <p:sldId id="320" r:id="rId36"/>
    <p:sldId id="321" r:id="rId37"/>
    <p:sldId id="322" r:id="rId38"/>
    <p:sldId id="323" r:id="rId39"/>
    <p:sldId id="326" r:id="rId40"/>
    <p:sldId id="325" r:id="rId41"/>
    <p:sldId id="260" r:id="rId42"/>
    <p:sldId id="261" r:id="rId43"/>
    <p:sldId id="265" r:id="rId44"/>
    <p:sldId id="266" r:id="rId45"/>
    <p:sldId id="363" r:id="rId46"/>
    <p:sldId id="268" r:id="rId47"/>
    <p:sldId id="269" r:id="rId48"/>
    <p:sldId id="364" r:id="rId49"/>
    <p:sldId id="365" r:id="rId50"/>
    <p:sldId id="366" r:id="rId51"/>
    <p:sldId id="367" r:id="rId52"/>
    <p:sldId id="368" r:id="rId53"/>
    <p:sldId id="369" r:id="rId54"/>
    <p:sldId id="370" r:id="rId55"/>
    <p:sldId id="371" r:id="rId56"/>
    <p:sldId id="372" r:id="rId57"/>
    <p:sldId id="373" r:id="rId58"/>
    <p:sldId id="374" r:id="rId59"/>
    <p:sldId id="375" r:id="rId60"/>
    <p:sldId id="376" r:id="rId61"/>
    <p:sldId id="377" r:id="rId62"/>
    <p:sldId id="378" r:id="rId63"/>
    <p:sldId id="379" r:id="rId64"/>
    <p:sldId id="380" r:id="rId65"/>
    <p:sldId id="287" r:id="rId66"/>
    <p:sldId id="381" r:id="rId67"/>
    <p:sldId id="382" r:id="rId68"/>
    <p:sldId id="290" r:id="rId69"/>
    <p:sldId id="383" r:id="rId70"/>
    <p:sldId id="292" r:id="rId71"/>
    <p:sldId id="384" r:id="rId72"/>
    <p:sldId id="385" r:id="rId73"/>
    <p:sldId id="386" r:id="rId74"/>
    <p:sldId id="387" r:id="rId75"/>
    <p:sldId id="388" r:id="rId76"/>
    <p:sldId id="389" r:id="rId77"/>
    <p:sldId id="390" r:id="rId78"/>
    <p:sldId id="391" r:id="rId79"/>
    <p:sldId id="392" r:id="rId80"/>
    <p:sldId id="395" r:id="rId81"/>
    <p:sldId id="396" r:id="rId82"/>
    <p:sldId id="328" r:id="rId83"/>
    <p:sldId id="330" r:id="rId84"/>
    <p:sldId id="331" r:id="rId85"/>
    <p:sldId id="510" r:id="rId86"/>
    <p:sldId id="976" r:id="rId87"/>
    <p:sldId id="975" r:id="rId88"/>
    <p:sldId id="980" r:id="rId89"/>
    <p:sldId id="511" r:id="rId90"/>
    <p:sldId id="512" r:id="rId91"/>
    <p:sldId id="334" r:id="rId92"/>
    <p:sldId id="335" r:id="rId93"/>
    <p:sldId id="978" r:id="rId94"/>
    <p:sldId id="340" r:id="rId95"/>
    <p:sldId id="341" r:id="rId96"/>
    <p:sldId id="342" r:id="rId97"/>
    <p:sldId id="343" r:id="rId98"/>
    <p:sldId id="344" r:id="rId99"/>
    <p:sldId id="345" r:id="rId100"/>
    <p:sldId id="346" r:id="rId101"/>
    <p:sldId id="347" r:id="rId102"/>
    <p:sldId id="348" r:id="rId103"/>
    <p:sldId id="349" r:id="rId104"/>
    <p:sldId id="350" r:id="rId105"/>
    <p:sldId id="351" r:id="rId106"/>
    <p:sldId id="352" r:id="rId107"/>
    <p:sldId id="353" r:id="rId108"/>
    <p:sldId id="354" r:id="rId109"/>
    <p:sldId id="355" r:id="rId110"/>
    <p:sldId id="356" r:id="rId111"/>
    <p:sldId id="357" r:id="rId112"/>
    <p:sldId id="358" r:id="rId113"/>
    <p:sldId id="359" r:id="rId114"/>
    <p:sldId id="360" r:id="rId115"/>
    <p:sldId id="361" r:id="rId116"/>
    <p:sldId id="338" r:id="rId117"/>
    <p:sldId id="981" r:id="rId118"/>
    <p:sldId id="982" r:id="rId119"/>
    <p:sldId id="507" r:id="rId120"/>
    <p:sldId id="333" r:id="rId121"/>
    <p:sldId id="332" r:id="rId122"/>
  </p:sldIdLst>
  <p:sldSz cx="9144000" cy="5143500" type="screen16x9"/>
  <p:notesSz cx="6858000" cy="9144000"/>
  <p:embeddedFontLst>
    <p:embeddedFont>
      <p:font typeface="Cambria Math" panose="02040503050406030204" pitchFamily="18" charset="0"/>
      <p:regular r:id="rId124"/>
    </p:embeddedFont>
    <p:embeddedFont>
      <p:font typeface="Lato" panose="020F0502020204030203" pitchFamily="34" charset="0"/>
      <p:regular r:id="rId125"/>
      <p:bold r:id="rId126"/>
      <p:italic r:id="rId127"/>
      <p:boldItalic r:id="rId128"/>
    </p:embeddedFont>
    <p:embeddedFont>
      <p:font typeface="Raleway" pitchFamily="2" charset="0"/>
      <p:regular r:id="rId129"/>
      <p:bold r:id="rId130"/>
      <p:italic r:id="rId131"/>
      <p:boldItalic r:id="rId1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0" roundtripDataSignature="AMtx7mjheL/dYeBjyYYAU7yxxnXQNm5C2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988" autoAdjust="0"/>
  </p:normalViewPr>
  <p:slideViewPr>
    <p:cSldViewPr snapToGrid="0">
      <p:cViewPr varScale="1">
        <p:scale>
          <a:sx n="119" d="100"/>
          <a:sy n="119" d="100"/>
        </p:scale>
        <p:origin x="1296" y="48"/>
      </p:cViewPr>
      <p:guideLst>
        <p:guide orient="horz" pos="1620"/>
        <p:guide pos="2880"/>
      </p:guideLst>
    </p:cSldViewPr>
  </p:slideViewPr>
  <p:notesTextViewPr>
    <p:cViewPr>
      <p:scale>
        <a:sx n="1" d="1"/>
        <a:sy n="1" d="1"/>
      </p:scale>
      <p:origin x="0" y="0"/>
    </p:cViewPr>
  </p:notesTextViewPr>
  <p:sorterViewPr>
    <p:cViewPr varScale="1">
      <p:scale>
        <a:sx n="1" d="1"/>
        <a:sy n="1" d="1"/>
      </p:scale>
      <p:origin x="0" y="-4194"/>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notesMaster" Target="notesMasters/notesMaster1.xml"/><Relationship Id="rId128" Type="http://schemas.openxmlformats.org/officeDocument/2006/relationships/font" Target="fonts/font5.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50" Type="http://customschemas.google.com/relationships/presentationmetadata" Target="metadata"/><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font" Target="fonts/font1.fntdata"/><Relationship Id="rId129" Type="http://schemas.openxmlformats.org/officeDocument/2006/relationships/font" Target="fonts/font6.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font" Target="fonts/font7.fntdata"/><Relationship Id="rId151"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font" Target="fonts/font2.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font" Target="fonts/font8.fntdata"/><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font" Target="fonts/font3.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font" Target="fonts/font9.fntdata"/><Relationship Id="rId153"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font" Target="fonts/font4.fntdata"/><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Introduce myself</a:t>
            </a:r>
            <a:endParaRPr/>
          </a:p>
          <a:p>
            <a:pPr marL="0" lvl="0" indent="0" algn="l" rtl="0">
              <a:lnSpc>
                <a:spcPct val="100000"/>
              </a:lnSpc>
              <a:spcBef>
                <a:spcPts val="0"/>
              </a:spcBef>
              <a:spcAft>
                <a:spcPts val="0"/>
              </a:spcAft>
              <a:buSzPts val="1100"/>
              <a:buNone/>
            </a:pPr>
            <a:r>
              <a:rPr lang="en"/>
              <a:t>How many of you have used ….</a:t>
            </a:r>
            <a:endParaRPr/>
          </a:p>
          <a:p>
            <a:pPr marL="0" lvl="0" indent="0" algn="l" rtl="0">
              <a:lnSpc>
                <a:spcPct val="100000"/>
              </a:lnSpc>
              <a:spcBef>
                <a:spcPts val="0"/>
              </a:spcBef>
              <a:spcAft>
                <a:spcPts val="0"/>
              </a:spcAft>
              <a:buSzPts val="1100"/>
              <a:buNone/>
            </a:pPr>
            <a:r>
              <a:rPr lang="en"/>
              <a:t>Know what an nn is already</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Understanding the nature of human intelligence. We are symbolic creatures that can string together symbols to make symbolic stories, despite everything in our heads being just these strange, complicated series of cells with distributed information flowing through in the form of chemistry, electricity and black magic. </a:t>
            </a:r>
            <a:endParaRPr/>
          </a:p>
          <a:p>
            <a:pPr marL="0" lvl="0" indent="0" algn="l" rtl="0">
              <a:lnSpc>
                <a:spcPct val="100000"/>
              </a:lnSpc>
              <a:spcBef>
                <a:spcPts val="0"/>
              </a:spcBef>
              <a:spcAft>
                <a:spcPts val="0"/>
              </a:spcAft>
              <a:buSzPts val="1100"/>
              <a:buNone/>
            </a:pPr>
            <a:r>
              <a:rPr lang="en"/>
              <a:t>During the next hour, I’ll be your guide to the realm of artificial abstractions or approximations of neurons, unsurprisingly called artificial neural networks, and try and answer why, as physics students, may want to use them for trigger and data acquisition. You can also ask questions whenever you have them during the lecture. There’s a lot to cover, so strap in! Let me know if I’m going too fast.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zh-CN" altLang="en-US"/>
          </a:p>
        </p:txBody>
      </p:sp>
      <p:sp>
        <p:nvSpPr>
          <p:cNvPr id="3" name="Notes Placeholder 2"/>
          <p:cNvSpPr>
            <a:spLocks noGrp="1"/>
          </p:cNvSpPr>
          <p:nvPr>
            <p:ph type="body" idx="1"/>
          </p:nvPr>
        </p:nvSpPr>
        <p:spPr/>
        <p:txBody>
          <a:bodyPr/>
          <a:lstStyle/>
          <a:p>
            <a:r>
              <a:rPr lang="en-GB" altLang="zh-CN" sz="1200" dirty="0"/>
              <a:t>Towards Safe and Efficient Resource-Constrained </a:t>
            </a:r>
            <a:r>
              <a:rPr lang="en-US" altLang="zh-CN" sz="1200" dirty="0"/>
              <a:t>AI</a:t>
            </a:r>
            <a:r>
              <a:rPr lang="en-GB" altLang="zh-CN" sz="1200" dirty="0"/>
              <a:t>-Enabled Cyber-Physical Systems</a:t>
            </a:r>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3E9E18-F207-E64A-9E5E-A745EA36301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4261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 word of warning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41153" algn="l" rtl="0">
              <a:lnSpc>
                <a:spcPct val="95000"/>
              </a:lnSpc>
              <a:spcBef>
                <a:spcPts val="0"/>
              </a:spcBef>
              <a:spcAft>
                <a:spcPts val="0"/>
              </a:spcAft>
              <a:buSzPts val="1773"/>
              <a:buChar char="-"/>
            </a:pPr>
            <a:r>
              <a:rPr lang="en" dirty="0"/>
              <a:t>Okay let’s get back to neural networks </a:t>
            </a:r>
            <a:r>
              <a:rPr lang="en-US" altLang="zh-CN" sz="1771" b="1" dirty="0"/>
              <a:t>Evolution</a:t>
            </a:r>
          </a:p>
          <a:p>
            <a:pPr marL="914400" lvl="1" indent="-322103" algn="l" rtl="0">
              <a:lnSpc>
                <a:spcPct val="95000"/>
              </a:lnSpc>
              <a:spcBef>
                <a:spcPts val="0"/>
              </a:spcBef>
              <a:spcAft>
                <a:spcPts val="0"/>
              </a:spcAft>
              <a:buSzPts val="1473"/>
              <a:buChar char="-"/>
            </a:pPr>
            <a:r>
              <a:rPr lang="en-US" altLang="zh-CN" sz="1472" dirty="0"/>
              <a:t>Optimize parameters through (Darwinian) evolution; e.g. genetic algorithms.</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361354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But where do neural networks come from?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ltLang="zh-CN" dirty="0"/>
              <a:t> (not the only neural network model!)</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Timestamp: 00:10</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In reality we often get things that are not approximable with lines. What if you want to model a more complex function?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dirty="0">
                <a:solidFill>
                  <a:schemeClr val="dk1"/>
                </a:solidFill>
              </a:rPr>
              <a:t>Let’s get back to the perceptron. What if we could chain them together in something like a layer? Maybe we could approximate little bits of our complicated functions as little lines and combine them to get a sort of complicated piecewise function?</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2" name="Google Shape;412;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6" name="Google Shape;436;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Can you see what’s gonna happen next?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2" name="Google Shape;462;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sz="1100" b="0" i="1" u="none" strike="noStrike" cap="none" dirty="0">
                <a:solidFill>
                  <a:srgbClr val="000000"/>
                </a:solidFill>
                <a:latin typeface="Lato"/>
                <a:ea typeface="Lato"/>
                <a:cs typeface="Lato"/>
                <a:sym typeface="Lato"/>
              </a:rPr>
              <a:t>Most common way of writing out the activation of a layer of an MLP</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5" name="Google Shape;545;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r>
              <a:rPr lang="en" dirty="0"/>
              <a:t>Okay just to recap</a:t>
            </a:r>
            <a:r>
              <a:rPr lang="en-US" altLang="zh-CN" sz="1100" dirty="0"/>
              <a:t>Without a non-linear activation function, a series of linear transformations would result in just a linear transformation of the input to the output.</a:t>
            </a:r>
          </a:p>
          <a:p>
            <a:pPr marL="0" lvl="0" indent="0" algn="l" rtl="0">
              <a:lnSpc>
                <a:spcPct val="115000"/>
              </a:lnSpc>
              <a:spcBef>
                <a:spcPts val="1200"/>
              </a:spcBef>
              <a:spcAft>
                <a:spcPts val="0"/>
              </a:spcAft>
              <a:buSzPts val="1300"/>
              <a:buNone/>
            </a:pPr>
            <a:endParaRPr lang="en-US" altLang="zh-CN" sz="1100" dirty="0"/>
          </a:p>
          <a:p>
            <a:pPr marL="0" lvl="0" indent="0" algn="l" rtl="0">
              <a:lnSpc>
                <a:spcPct val="115000"/>
              </a:lnSpc>
              <a:spcBef>
                <a:spcPts val="1200"/>
              </a:spcBef>
              <a:spcAft>
                <a:spcPts val="1200"/>
              </a:spcAft>
              <a:buSzPts val="1300"/>
              <a:buNone/>
            </a:pPr>
            <a:r>
              <a:rPr lang="en-US" altLang="zh-CN" sz="1100" dirty="0"/>
              <a:t>We would still be stuck in the land of linear separability!</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73502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5" name="Google Shape;515;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1" name="Google Shape;521;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7" name="Google Shape;527;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3" name="Google Shape;533;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9" name="Google Shape;569;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2e7c7bc5007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2e7c7bc500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5" name="Google Shape;745;p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sz="1100" b="0" i="0" u="none" strike="noStrike" cap="none" dirty="0">
                <a:solidFill>
                  <a:srgbClr val="000000"/>
                </a:solidFill>
                <a:latin typeface="Lato"/>
                <a:ea typeface="Lato"/>
                <a:cs typeface="Lato"/>
                <a:sym typeface="Lato"/>
              </a:rPr>
              <a:t>Easier said than done in practice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sz="1100" b="0" i="0" u="none" strike="noStrike" cap="none" dirty="0">
                <a:solidFill>
                  <a:srgbClr val="000000"/>
                </a:solidFill>
                <a:latin typeface="Lato"/>
                <a:ea typeface="Lato"/>
                <a:cs typeface="Lato"/>
                <a:sym typeface="Lato"/>
              </a:rPr>
              <a:t>Schematic borrowed from Jaeger, H.  (2022) </a:t>
            </a:r>
            <a:r>
              <a:rPr lang="en-US" altLang="zh-CN" sz="1100" b="0" i="1" u="none" strike="noStrike" cap="none" dirty="0">
                <a:solidFill>
                  <a:srgbClr val="000000"/>
                </a:solidFill>
                <a:latin typeface="Lato"/>
                <a:ea typeface="Lato"/>
                <a:cs typeface="Lato"/>
                <a:sym typeface="Lato"/>
              </a:rPr>
              <a:t>Neural Networks </a:t>
            </a:r>
            <a:r>
              <a:rPr lang="en-US" altLang="zh-CN" sz="1100" b="0" i="0" u="none" strike="noStrike" cap="none" dirty="0">
                <a:solidFill>
                  <a:srgbClr val="000000"/>
                </a:solidFill>
                <a:latin typeface="Lato"/>
                <a:ea typeface="Lato"/>
                <a:cs typeface="Lato"/>
                <a:sym typeface="Lato"/>
              </a:rPr>
              <a:t>Lecture Notes, https://www.ai.rug.nl/minds/uploads/LN_NN_RUG.pdf</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sz="1100" b="0" i="1" u="none" strike="noStrike" cap="none" dirty="0">
                <a:solidFill>
                  <a:srgbClr val="000000"/>
                </a:solidFill>
                <a:latin typeface="Lato"/>
                <a:ea typeface="Lato"/>
                <a:cs typeface="Lato"/>
                <a:sym typeface="Lato"/>
              </a:rPr>
              <a:t>Collection of proofs</a:t>
            </a:r>
            <a:r>
              <a:rPr lang="en-US" altLang="zh-CN" sz="1100" b="0" i="0" u="none" strike="noStrike" cap="none" dirty="0">
                <a:solidFill>
                  <a:srgbClr val="000000"/>
                </a:solidFill>
                <a:latin typeface="Lato"/>
                <a:ea typeface="Lato"/>
                <a:cs typeface="Lato"/>
                <a:sym typeface="Lato"/>
              </a:rPr>
              <a:t>: https://ai.stackexchange.com/questions/13317/where-can-i-find-the-proof-of-the-universal-approximation-theorem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altLang="zh-CN" sz="1100" b="0" i="0" u="none" strike="noStrike" cap="none" dirty="0">
              <a:solidFill>
                <a:srgbClr val="000000"/>
              </a:solidFill>
              <a:latin typeface="Lato"/>
              <a:ea typeface="Lato"/>
              <a:cs typeface="Lato"/>
              <a:sym typeface="La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altLang="zh-CN" sz="1100" b="0" i="0" u="none" strike="noStrike" cap="none" dirty="0">
              <a:solidFill>
                <a:srgbClr val="000000"/>
              </a:solidFill>
              <a:latin typeface="Lato"/>
              <a:ea typeface="Lato"/>
              <a:cs typeface="Lato"/>
              <a:sym typeface="Lato"/>
            </a:endParaRP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326326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a:extLst>
            <a:ext uri="{FF2B5EF4-FFF2-40B4-BE49-F238E27FC236}">
              <a16:creationId xmlns:a16="http://schemas.microsoft.com/office/drawing/2014/main" id="{F2D137D5-061F-5272-30AF-AE33A13520EF}"/>
            </a:ext>
          </a:extLst>
        </p:cNvPr>
        <p:cNvGrpSpPr/>
        <p:nvPr/>
      </p:nvGrpSpPr>
      <p:grpSpPr>
        <a:xfrm>
          <a:off x="0" y="0"/>
          <a:ext cx="0" cy="0"/>
          <a:chOff x="0" y="0"/>
          <a:chExt cx="0" cy="0"/>
        </a:xfrm>
      </p:grpSpPr>
      <p:sp>
        <p:nvSpPr>
          <p:cNvPr id="280" name="Google Shape;280;p20:notes">
            <a:extLst>
              <a:ext uri="{FF2B5EF4-FFF2-40B4-BE49-F238E27FC236}">
                <a16:creationId xmlns:a16="http://schemas.microsoft.com/office/drawing/2014/main" id="{CDE0356E-4F67-893B-2A62-0D7532A88B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0:notes">
            <a:extLst>
              <a:ext uri="{FF2B5EF4-FFF2-40B4-BE49-F238E27FC236}">
                <a16:creationId xmlns:a16="http://schemas.microsoft.com/office/drawing/2014/main" id="{E389DA8B-CCE5-0A59-80DB-4BB5AFD9C9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Timestamp: 00:10</a:t>
            </a:r>
            <a:endParaRPr/>
          </a:p>
        </p:txBody>
      </p:sp>
    </p:spTree>
    <p:extLst>
      <p:ext uri="{BB962C8B-B14F-4D97-AF65-F5344CB8AC3E}">
        <p14:creationId xmlns:p14="http://schemas.microsoft.com/office/powerpoint/2010/main" val="403874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1" name="Google Shape;561;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422032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sz="1100" b="1" i="0" u="none" strike="noStrike" cap="none" dirty="0">
                <a:solidFill>
                  <a:srgbClr val="000000"/>
                </a:solidFill>
                <a:effectLst/>
                <a:latin typeface="Arial"/>
                <a:ea typeface="Arial"/>
                <a:cs typeface="Arial"/>
                <a:sym typeface="Arial"/>
              </a:rPr>
              <a:t>A Short Introduction to Entropy, Cross-Entropy and KL-Divergence</a:t>
            </a:r>
          </a:p>
          <a:p>
            <a:br>
              <a:rPr lang="en-US" altLang="zh-CN" dirty="0"/>
            </a:br>
            <a:r>
              <a:rPr lang="en-US" altLang="zh-CN" dirty="0"/>
              <a:t>https://www.youtube.com/watch?v=ErfnhcEV1O8</a:t>
            </a:r>
            <a:endParaRPr lang="zh-CN" altLang="en-US" dirty="0"/>
          </a:p>
        </p:txBody>
      </p:sp>
    </p:spTree>
    <p:extLst>
      <p:ext uri="{BB962C8B-B14F-4D97-AF65-F5344CB8AC3E}">
        <p14:creationId xmlns:p14="http://schemas.microsoft.com/office/powerpoint/2010/main" val="30037511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5" name="Google Shape;585;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4" name="Google Shape;594;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0" name="Google Shape;600;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1" name="Google Shape;611;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8" name="Google Shape;618;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5" name="Google Shape;625;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9" name="Google Shape;669;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253186c61bb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253186c61bb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nSpc>
                <a:spcPct val="100000"/>
              </a:lnSpc>
              <a:spcBef>
                <a:spcPts val="10"/>
              </a:spcBef>
            </a:pPr>
            <a:endParaRPr lang="en-US" altLang="zh-CN" sz="1400" dirty="0">
              <a:latin typeface="Times New Roman"/>
              <a:cs typeface="Times New Roman"/>
            </a:endParaRPr>
          </a:p>
          <a:p>
            <a:pPr marL="499745" marR="1191895">
              <a:lnSpc>
                <a:spcPts val="2850"/>
              </a:lnSpc>
              <a:spcBef>
                <a:spcPts val="5"/>
              </a:spcBef>
            </a:pPr>
            <a:r>
              <a:rPr lang="en-US" altLang="zh-CN" sz="1100" spc="-5" dirty="0">
                <a:latin typeface="Arial"/>
                <a:cs typeface="Arial"/>
              </a:rPr>
              <a:t>In practice: Derive analytic gradient, check your  implementation with numerical</a:t>
            </a:r>
            <a:r>
              <a:rPr lang="en-US" altLang="zh-CN" sz="1100" spc="50" dirty="0">
                <a:latin typeface="Arial"/>
                <a:cs typeface="Arial"/>
              </a:rPr>
              <a:t> </a:t>
            </a:r>
            <a:r>
              <a:rPr lang="en-US" altLang="zh-CN" sz="1100" spc="-5" dirty="0">
                <a:latin typeface="Arial"/>
                <a:cs typeface="Arial"/>
              </a:rPr>
              <a:t>gradient </a:t>
            </a:r>
          </a:p>
          <a:p>
            <a:pPr marL="12700">
              <a:lnSpc>
                <a:spcPts val="2865"/>
              </a:lnSpc>
            </a:pPr>
            <a:r>
              <a:rPr lang="nl-NL" altLang="zh-CN" sz="1100" b="1" spc="-5" dirty="0">
                <a:latin typeface="Arial"/>
                <a:cs typeface="Arial"/>
              </a:rPr>
              <a:t>Numerical </a:t>
            </a:r>
            <a:r>
              <a:rPr lang="nl-NL" altLang="zh-CN" sz="1100" b="1" dirty="0">
                <a:latin typeface="Arial"/>
                <a:cs typeface="Arial"/>
              </a:rPr>
              <a:t>gradient</a:t>
            </a:r>
            <a:r>
              <a:rPr lang="nl-NL" altLang="zh-CN" sz="1100" dirty="0">
                <a:latin typeface="Arial"/>
                <a:cs typeface="Arial"/>
              </a:rPr>
              <a:t>: </a:t>
            </a:r>
            <a:r>
              <a:rPr lang="nl-NL" altLang="zh-CN" sz="1100" spc="-5" dirty="0">
                <a:latin typeface="Arial"/>
                <a:cs typeface="Arial"/>
              </a:rPr>
              <a:t>slow, approximate, easy to write</a:t>
            </a:r>
            <a:endParaRPr lang="nl-NL" altLang="zh-CN" sz="1100" dirty="0">
              <a:latin typeface="Arial"/>
              <a:cs typeface="Arial"/>
            </a:endParaRPr>
          </a:p>
          <a:p>
            <a:pPr marL="12700">
              <a:lnSpc>
                <a:spcPts val="2865"/>
              </a:lnSpc>
            </a:pPr>
            <a:r>
              <a:rPr lang="nl-NL" altLang="zh-CN" sz="1100" b="1" spc="-5" dirty="0">
                <a:latin typeface="Arial"/>
                <a:cs typeface="Arial"/>
              </a:rPr>
              <a:t>Analytic </a:t>
            </a:r>
            <a:r>
              <a:rPr lang="nl-NL" altLang="zh-CN" sz="1100" b="1" dirty="0">
                <a:latin typeface="Arial"/>
                <a:cs typeface="Arial"/>
              </a:rPr>
              <a:t>gradient</a:t>
            </a:r>
            <a:r>
              <a:rPr lang="nl-NL" altLang="zh-CN" sz="1100" dirty="0">
                <a:latin typeface="Arial"/>
                <a:cs typeface="Arial"/>
              </a:rPr>
              <a:t>: </a:t>
            </a:r>
            <a:r>
              <a:rPr lang="nl-NL" altLang="zh-CN" sz="1100" spc="-5" dirty="0">
                <a:latin typeface="Arial"/>
                <a:cs typeface="Arial"/>
              </a:rPr>
              <a:t>fast, exact</a:t>
            </a:r>
          </a:p>
          <a:p>
            <a:pPr marL="12700">
              <a:lnSpc>
                <a:spcPts val="2865"/>
              </a:lnSpc>
            </a:pPr>
            <a:r>
              <a:rPr lang="nl-NL" altLang="zh-CN" sz="1100" dirty="0">
                <a:latin typeface="Arial"/>
                <a:cs typeface="Arial"/>
              </a:rPr>
              <a:t>PyTorch’s </a:t>
            </a:r>
            <a:r>
              <a:rPr lang="nl-NL" altLang="zh-CN" sz="1100" dirty="0">
                <a:solidFill>
                  <a:srgbClr val="C00000"/>
                </a:solidFill>
                <a:latin typeface="Arial"/>
                <a:cs typeface="Arial"/>
              </a:rPr>
              <a:t>automatic differentiation (autograd)</a:t>
            </a:r>
            <a:r>
              <a:rPr lang="nl-NL" altLang="zh-CN" sz="1100" dirty="0">
                <a:latin typeface="Arial"/>
                <a:cs typeface="Arial"/>
              </a:rPr>
              <a:t> uses Analytic Gradient. </a:t>
            </a:r>
          </a:p>
          <a:p>
            <a:pPr marL="499745" marR="1191895">
              <a:lnSpc>
                <a:spcPts val="2850"/>
              </a:lnSpc>
              <a:spcBef>
                <a:spcPts val="5"/>
              </a:spcBef>
            </a:pPr>
            <a:endParaRPr lang="en-US" altLang="zh-CN" sz="1100" dirty="0">
              <a:latin typeface="Arial"/>
              <a:cs typeface="Arial"/>
            </a:endParaRPr>
          </a:p>
          <a:p>
            <a:endParaRPr lang="zh-CN" altLang="en-US" dirty="0"/>
          </a:p>
        </p:txBody>
      </p:sp>
    </p:spTree>
    <p:extLst>
      <p:ext uri="{BB962C8B-B14F-4D97-AF65-F5344CB8AC3E}">
        <p14:creationId xmlns:p14="http://schemas.microsoft.com/office/powerpoint/2010/main" val="39202215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 The add gate is a gradient distributor — it copies the upstream gradient to all of its inputs. The max gate is a gradient router — it sends the gradient only to whichever input was the largest, and zero to the others. The multiply gate is a gradient switcher — each input receives the upstream gradient scaled by the other input.</a:t>
            </a:r>
          </a:p>
          <a:p>
            <a:pPr marL="12700">
              <a:lnSpc>
                <a:spcPct val="100000"/>
              </a:lnSpc>
            </a:pPr>
            <a:r>
              <a:rPr lang="en-US" altLang="zh-CN" sz="1200" b="1" spc="-5" dirty="0">
                <a:solidFill>
                  <a:srgbClr val="C00000"/>
                </a:solidFill>
                <a:latin typeface="Arial"/>
                <a:cs typeface="Arial"/>
              </a:rPr>
              <a:t>add</a:t>
            </a:r>
            <a:r>
              <a:rPr lang="en-US" altLang="zh-CN" sz="1200" b="1" spc="-5" dirty="0">
                <a:latin typeface="Arial"/>
                <a:cs typeface="Arial"/>
              </a:rPr>
              <a:t> </a:t>
            </a:r>
            <a:r>
              <a:rPr lang="en-US" altLang="zh-CN" sz="1200" spc="-5" dirty="0">
                <a:latin typeface="Arial"/>
                <a:cs typeface="Arial"/>
              </a:rPr>
              <a:t>gate: gradient</a:t>
            </a:r>
            <a:r>
              <a:rPr lang="en-US" altLang="zh-CN" sz="1200" spc="15" dirty="0">
                <a:latin typeface="Arial"/>
                <a:cs typeface="Arial"/>
              </a:rPr>
              <a:t> </a:t>
            </a:r>
            <a:r>
              <a:rPr lang="en-US" altLang="zh-CN" sz="1200" spc="-5" dirty="0">
                <a:solidFill>
                  <a:srgbClr val="C00000"/>
                </a:solidFill>
                <a:latin typeface="Arial"/>
                <a:cs typeface="Arial"/>
              </a:rPr>
              <a:t>distributor</a:t>
            </a:r>
            <a:r>
              <a:rPr lang="en-US" altLang="zh-CN" sz="1200" spc="-5" dirty="0">
                <a:latin typeface="Arial"/>
                <a:cs typeface="Arial"/>
              </a:rPr>
              <a:t>: </a:t>
            </a:r>
            <a:r>
              <a:rPr lang="en-US" altLang="zh-CN" sz="1200" dirty="0">
                <a:latin typeface="Arial"/>
                <a:cs typeface="Arial"/>
              </a:rPr>
              <a:t>it copies the upstream gradient to all of its inputs</a:t>
            </a:r>
          </a:p>
          <a:p>
            <a:pPr marL="12700">
              <a:lnSpc>
                <a:spcPct val="100000"/>
              </a:lnSpc>
              <a:spcBef>
                <a:spcPts val="15"/>
              </a:spcBef>
            </a:pPr>
            <a:r>
              <a:rPr lang="en-US" altLang="zh-CN" sz="1200" b="1" spc="-5" dirty="0">
                <a:solidFill>
                  <a:srgbClr val="C00000"/>
                </a:solidFill>
                <a:latin typeface="Arial"/>
                <a:cs typeface="Arial"/>
              </a:rPr>
              <a:t>max</a:t>
            </a:r>
            <a:r>
              <a:rPr lang="en-US" altLang="zh-CN" sz="1200" b="1" spc="-5" dirty="0">
                <a:latin typeface="Arial"/>
                <a:cs typeface="Arial"/>
              </a:rPr>
              <a:t> </a:t>
            </a:r>
            <a:r>
              <a:rPr lang="en-US" altLang="zh-CN" sz="1200" spc="-5" dirty="0">
                <a:latin typeface="Arial"/>
                <a:cs typeface="Arial"/>
              </a:rPr>
              <a:t>gate: gradient</a:t>
            </a:r>
            <a:r>
              <a:rPr lang="en-US" altLang="zh-CN" sz="1200" spc="-10" dirty="0">
                <a:latin typeface="Arial"/>
                <a:cs typeface="Arial"/>
              </a:rPr>
              <a:t> </a:t>
            </a:r>
            <a:r>
              <a:rPr lang="en-US" altLang="zh-CN" sz="1200" spc="-5" dirty="0">
                <a:solidFill>
                  <a:srgbClr val="C00000"/>
                </a:solidFill>
                <a:latin typeface="Arial"/>
                <a:cs typeface="Arial"/>
              </a:rPr>
              <a:t>router</a:t>
            </a:r>
            <a:r>
              <a:rPr lang="en-US" altLang="zh-CN" sz="1200" spc="-5" dirty="0">
                <a:latin typeface="Arial"/>
                <a:cs typeface="Arial"/>
              </a:rPr>
              <a:t>: it sends the gradient only to larger input</a:t>
            </a:r>
            <a:endParaRPr lang="en-US" altLang="zh-CN" sz="1200" dirty="0">
              <a:latin typeface="Arial"/>
              <a:cs typeface="Arial"/>
            </a:endParaRPr>
          </a:p>
          <a:p>
            <a:pPr marL="12700">
              <a:lnSpc>
                <a:spcPct val="100000"/>
              </a:lnSpc>
              <a:spcBef>
                <a:spcPts val="15"/>
              </a:spcBef>
            </a:pPr>
            <a:r>
              <a:rPr lang="en-US" altLang="zh-CN" sz="1200" b="1" spc="-5" dirty="0" err="1">
                <a:solidFill>
                  <a:srgbClr val="C00000"/>
                </a:solidFill>
                <a:latin typeface="Arial"/>
                <a:cs typeface="Arial"/>
              </a:rPr>
              <a:t>mul</a:t>
            </a:r>
            <a:r>
              <a:rPr lang="en-US" altLang="zh-CN" sz="1200" b="1" spc="-5" dirty="0">
                <a:latin typeface="Arial"/>
                <a:cs typeface="Arial"/>
              </a:rPr>
              <a:t> </a:t>
            </a:r>
            <a:r>
              <a:rPr lang="en-US" altLang="zh-CN" sz="1200" spc="-5" dirty="0">
                <a:latin typeface="Arial"/>
                <a:cs typeface="Arial"/>
              </a:rPr>
              <a:t>gate: gradient </a:t>
            </a:r>
            <a:r>
              <a:rPr lang="en-US" altLang="zh-CN" sz="1200" spc="-5" dirty="0">
                <a:solidFill>
                  <a:srgbClr val="C00000"/>
                </a:solidFill>
                <a:latin typeface="Arial"/>
                <a:cs typeface="Arial"/>
              </a:rPr>
              <a:t>switcher</a:t>
            </a:r>
            <a:r>
              <a:rPr lang="en-US" altLang="zh-CN" sz="1200" spc="-5" dirty="0">
                <a:latin typeface="Arial"/>
                <a:cs typeface="Arial"/>
              </a:rPr>
              <a:t>: each input receives the upstream gradient scaled by the other input</a:t>
            </a:r>
            <a:endParaRPr lang="en-US" altLang="zh-CN" sz="1200" dirty="0">
              <a:latin typeface="Arial"/>
              <a:cs typeface="Arial"/>
            </a:endParaRPr>
          </a:p>
          <a:p>
            <a:endParaRPr lang="zh-CN" altLang="en-US" dirty="0"/>
          </a:p>
        </p:txBody>
      </p:sp>
      <p:sp>
        <p:nvSpPr>
          <p:cNvPr id="4" name="Slide Number Placeholder 3"/>
          <p:cNvSpPr>
            <a:spLocks noGrp="1"/>
          </p:cNvSpPr>
          <p:nvPr>
            <p:ph type="sldNum" sz="quarter" idx="5"/>
          </p:nvPr>
        </p:nvSpPr>
        <p:spPr/>
        <p:txBody>
          <a:bodyPr/>
          <a:lstStyle/>
          <a:p>
            <a:fld id="{BEC7569B-69D4-410D-A317-40C7B512E296}" type="slidenum">
              <a:rPr lang="zh-CN" altLang="en-US" smtClean="0"/>
              <a:t>76</a:t>
            </a:fld>
            <a:endParaRPr lang="zh-CN" altLang="en-US"/>
          </a:p>
        </p:txBody>
      </p:sp>
    </p:spTree>
    <p:extLst>
      <p:ext uri="{BB962C8B-B14F-4D97-AF65-F5344CB8AC3E}">
        <p14:creationId xmlns:p14="http://schemas.microsoft.com/office/powerpoint/2010/main" val="33966130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spc="-5" dirty="0">
                <a:solidFill>
                  <a:srgbClr val="0000FF"/>
                </a:solidFill>
                <a:latin typeface="Arial"/>
                <a:cs typeface="Arial"/>
              </a:rPr>
              <a:t>Q2: what does</a:t>
            </a:r>
            <a:r>
              <a:rPr lang="en-US" altLang="zh-CN" sz="1200" spc="-55" dirty="0">
                <a:solidFill>
                  <a:srgbClr val="0000FF"/>
                </a:solidFill>
                <a:latin typeface="Arial"/>
                <a:cs typeface="Arial"/>
              </a:rPr>
              <a:t> </a:t>
            </a:r>
            <a:r>
              <a:rPr lang="en-US" altLang="zh-CN" sz="1200" spc="-5" dirty="0">
                <a:solidFill>
                  <a:srgbClr val="0000FF"/>
                </a:solidFill>
                <a:latin typeface="Arial"/>
                <a:cs typeface="Arial"/>
              </a:rPr>
              <a:t>it  look</a:t>
            </a:r>
            <a:r>
              <a:rPr lang="en-US" altLang="zh-CN" sz="1200" spc="-65" dirty="0">
                <a:solidFill>
                  <a:srgbClr val="0000FF"/>
                </a:solidFill>
                <a:latin typeface="Arial"/>
                <a:cs typeface="Arial"/>
              </a:rPr>
              <a:t> </a:t>
            </a:r>
            <a:r>
              <a:rPr lang="en-US" altLang="zh-CN" sz="1200" spc="-5" dirty="0">
                <a:solidFill>
                  <a:srgbClr val="0000FF"/>
                </a:solidFill>
                <a:latin typeface="Arial"/>
                <a:cs typeface="Arial"/>
              </a:rPr>
              <a:t>like?</a:t>
            </a:r>
            <a:endParaRPr lang="en-US" altLang="zh-CN" sz="1200" dirty="0">
              <a:latin typeface="Arial"/>
              <a:cs typeface="Arial"/>
            </a:endParaRPr>
          </a:p>
          <a:p>
            <a:endParaRPr lang="zh-CN" altLang="en-US" dirty="0"/>
          </a:p>
        </p:txBody>
      </p:sp>
      <p:sp>
        <p:nvSpPr>
          <p:cNvPr id="4" name="灯片编号占位符 3"/>
          <p:cNvSpPr>
            <a:spLocks noGrp="1"/>
          </p:cNvSpPr>
          <p:nvPr>
            <p:ph type="sldNum" sz="quarter" idx="10"/>
          </p:nvPr>
        </p:nvSpPr>
        <p:spPr/>
        <p:txBody>
          <a:bodyPr/>
          <a:lstStyle/>
          <a:p>
            <a:fld id="{BEC7569B-69D4-410D-A317-40C7B512E296}" type="slidenum">
              <a:rPr lang="zh-CN" altLang="en-US" smtClean="0"/>
              <a:t>79</a:t>
            </a:fld>
            <a:endParaRPr lang="zh-CN" altLang="en-US"/>
          </a:p>
        </p:txBody>
      </p:sp>
    </p:spTree>
    <p:extLst>
      <p:ext uri="{BB962C8B-B14F-4D97-AF65-F5344CB8AC3E}">
        <p14:creationId xmlns:p14="http://schemas.microsoft.com/office/powerpoint/2010/main" val="2926613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2e7c7bc5007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3" name="Google Shape;683;g2e7c7bc5007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altLang="zh-CN" sz="1100" b="1" i="0" u="none" strike="noStrike" cap="none" dirty="0">
                <a:solidFill>
                  <a:srgbClr val="000000"/>
                </a:solidFill>
                <a:effectLst/>
                <a:latin typeface="Arial"/>
                <a:ea typeface="Arial"/>
                <a:cs typeface="Arial"/>
                <a:sym typeface="Arial"/>
              </a:rPr>
              <a:t>Gradient Descent</a:t>
            </a:r>
            <a:r>
              <a:rPr lang="en-US" altLang="zh-CN" sz="1100" b="0" i="0" u="none" strike="noStrike" cap="none" dirty="0">
                <a:solidFill>
                  <a:srgbClr val="000000"/>
                </a:solidFill>
                <a:effectLst/>
                <a:latin typeface="Arial"/>
                <a:ea typeface="Arial"/>
                <a:cs typeface="Arial"/>
                <a:sym typeface="Arial"/>
              </a:rPr>
              <a:t>: Updates parameters in the direction of the steepest descent but struggles with slow convergence and uniform learning rates.</a:t>
            </a:r>
          </a:p>
          <a:p>
            <a:r>
              <a:rPr lang="en-US" altLang="zh-CN" sz="1100" b="1" i="0" u="none" strike="noStrike" cap="none" dirty="0">
                <a:solidFill>
                  <a:srgbClr val="000000"/>
                </a:solidFill>
                <a:effectLst/>
                <a:latin typeface="Arial"/>
                <a:ea typeface="Arial"/>
                <a:cs typeface="Arial"/>
                <a:sym typeface="Arial"/>
              </a:rPr>
              <a:t>Momentum</a:t>
            </a:r>
            <a:r>
              <a:rPr lang="en-US" altLang="zh-CN" sz="1100" b="0" i="0" u="none" strike="noStrike" cap="none" dirty="0">
                <a:solidFill>
                  <a:srgbClr val="000000"/>
                </a:solidFill>
                <a:effectLst/>
                <a:latin typeface="Arial"/>
                <a:ea typeface="Arial"/>
                <a:cs typeface="Arial"/>
                <a:sym typeface="Arial"/>
              </a:rPr>
              <a:t>: Introduces a velocity term to smooth updates and accelerate convergence.</a:t>
            </a:r>
          </a:p>
          <a:p>
            <a:r>
              <a:rPr lang="en-US" altLang="zh-CN" sz="1100" b="1" i="0" u="none" strike="noStrike" cap="none" dirty="0">
                <a:solidFill>
                  <a:srgbClr val="000000"/>
                </a:solidFill>
                <a:effectLst/>
                <a:latin typeface="Arial"/>
                <a:ea typeface="Arial"/>
                <a:cs typeface="Arial"/>
                <a:sym typeface="Arial"/>
              </a:rPr>
              <a:t>RMSprop</a:t>
            </a:r>
            <a:r>
              <a:rPr lang="en-US" altLang="zh-CN" sz="1100" b="0" i="0" u="none" strike="noStrike" cap="none" dirty="0">
                <a:solidFill>
                  <a:srgbClr val="000000"/>
                </a:solidFill>
                <a:effectLst/>
                <a:latin typeface="Arial"/>
                <a:ea typeface="Arial"/>
                <a:cs typeface="Arial"/>
                <a:sym typeface="Arial"/>
              </a:rPr>
              <a:t>: Adapts the learning rate for each parameter by normalizing gradients, tackling challenges like exploding or vanishing gradients.</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6" name="Google Shape;696;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chemeClr val="dk1"/>
                </a:solidFill>
              </a:rPr>
              <a:t>Timestamp: 00:25</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1" name="Google Shape;701;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46050" indent="0">
              <a:buNone/>
            </a:pPr>
            <a:r>
              <a:rPr lang="en-US" altLang="zh-CN" dirty="0"/>
              <a:t>) is a perception system which learns to control the NAVLAB vehicles by watching a person drive</a:t>
            </a:r>
          </a:p>
          <a:p>
            <a:pPr marL="146050" indent="0">
              <a:buNone/>
            </a:pPr>
            <a:r>
              <a:rPr lang="en-US" altLang="zh-CN" dirty="0"/>
              <a:t>One of the first examples that neural-networks could do "real-work". It</a:t>
            </a:r>
          </a:p>
          <a:p>
            <a:pPr marL="146050" indent="0">
              <a:buNone/>
            </a:pPr>
            <a:r>
              <a:rPr lang="en-US" altLang="zh-CN" dirty="0"/>
              <a:t>Each input unit is fully connected to a layer of five hidden units which are in turn fully connected to a layer of 30 output units. </a:t>
            </a:r>
          </a:p>
          <a:p>
            <a:pPr marL="146050" indent="0">
              <a:buNone/>
            </a:pPr>
            <a:r>
              <a:rPr lang="nl-NL" altLang="zh-CN" dirty="0"/>
              <a:t>https://jmvidal.cse.sc.edu/talks/ann/alvin.html</a:t>
            </a:r>
            <a:endParaRPr lang="zh-CN" altLang="en-US" dirty="0"/>
          </a:p>
        </p:txBody>
      </p:sp>
    </p:spTree>
    <p:extLst>
      <p:ext uri="{BB962C8B-B14F-4D97-AF65-F5344CB8AC3E}">
        <p14:creationId xmlns:p14="http://schemas.microsoft.com/office/powerpoint/2010/main" val="27029051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sz="1100" dirty="0">
                <a:solidFill>
                  <a:schemeClr val="accent1"/>
                </a:solidFill>
                <a:latin typeface="Lato"/>
                <a:ea typeface="Lato"/>
                <a:cs typeface="Lato"/>
                <a:sym typeface="Lato"/>
              </a:rPr>
              <a:t>Can handle images of arbitrary size </a:t>
            </a:r>
          </a:p>
          <a:p>
            <a:pPr marL="0" lvl="0" indent="0" algn="l" rtl="0">
              <a:lnSpc>
                <a:spcPct val="115000"/>
              </a:lnSpc>
              <a:spcBef>
                <a:spcPts val="0"/>
              </a:spcBef>
              <a:spcAft>
                <a:spcPts val="0"/>
              </a:spcAft>
              <a:buSzPts val="1300"/>
              <a:buNone/>
            </a:pPr>
            <a:r>
              <a:rPr lang="en-US" altLang="zh-CN" sz="1100" dirty="0"/>
              <a:t>Learn “</a:t>
            </a:r>
            <a:r>
              <a:rPr lang="en-US" altLang="zh-CN" sz="1100" b="1" dirty="0"/>
              <a:t>kernels</a:t>
            </a:r>
            <a:r>
              <a:rPr lang="en-US" altLang="zh-CN" sz="1100" dirty="0"/>
              <a:t>” that extract increasingly abstract, lower-dimensional features from image pixels.</a:t>
            </a:r>
          </a:p>
          <a:p>
            <a:pPr marL="0" lvl="0" indent="0" algn="l" rtl="0">
              <a:lnSpc>
                <a:spcPct val="115000"/>
              </a:lnSpc>
              <a:spcBef>
                <a:spcPts val="1200"/>
              </a:spcBef>
              <a:spcAft>
                <a:spcPts val="0"/>
              </a:spcAft>
              <a:buSzPts val="1300"/>
              <a:buNone/>
            </a:pPr>
            <a:r>
              <a:rPr lang="en-US" altLang="zh-CN" sz="1100" dirty="0"/>
              <a:t>Used in </a:t>
            </a:r>
            <a:r>
              <a:rPr lang="en-US" altLang="zh-CN" sz="1100" b="1" dirty="0"/>
              <a:t>image processing tasks</a:t>
            </a:r>
            <a:r>
              <a:rPr lang="en-US" altLang="zh-CN" sz="1100" dirty="0"/>
              <a:t> such as classification, object detection and segmentation. </a:t>
            </a:r>
          </a:p>
          <a:p>
            <a:pPr marL="0" lvl="0" indent="0" algn="l" rtl="0">
              <a:lnSpc>
                <a:spcPct val="115000"/>
              </a:lnSpc>
              <a:spcBef>
                <a:spcPts val="1200"/>
              </a:spcBef>
              <a:spcAft>
                <a:spcPts val="0"/>
              </a:spcAft>
              <a:buSzPts val="1300"/>
              <a:buNone/>
            </a:pPr>
            <a:r>
              <a:rPr lang="en-US" altLang="zh-CN" sz="1100" dirty="0"/>
              <a:t>Each Convolutional layer extracts increasingly higher level features,  </a:t>
            </a:r>
          </a:p>
          <a:p>
            <a:pPr marL="0" lvl="0" indent="0" algn="l" rtl="0">
              <a:lnSpc>
                <a:spcPct val="115000"/>
              </a:lnSpc>
              <a:spcBef>
                <a:spcPts val="1200"/>
              </a:spcBef>
              <a:spcAft>
                <a:spcPts val="0"/>
              </a:spcAft>
              <a:buSzPts val="1300"/>
              <a:buNone/>
            </a:pPr>
            <a:endParaRPr lang="en-US" altLang="zh-CN" sz="1100"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CN" sz="1100" dirty="0">
              <a:solidFill>
                <a:schemeClr val="accent1"/>
              </a:solidFill>
              <a:latin typeface="Lato"/>
              <a:ea typeface="Lato"/>
              <a:cs typeface="Lato"/>
              <a:sym typeface="Lato"/>
            </a:endParaRPr>
          </a:p>
          <a:p>
            <a:endParaRPr lang="zh-CN" altLang="en-US" dirty="0"/>
          </a:p>
        </p:txBody>
      </p:sp>
    </p:spTree>
    <p:extLst>
      <p:ext uri="{BB962C8B-B14F-4D97-AF65-F5344CB8AC3E}">
        <p14:creationId xmlns:p14="http://schemas.microsoft.com/office/powerpoint/2010/main" val="5935685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zh-CN" dirty="0"/>
                  <a:t>The last 2 layers of the CNN for classification (FC-1000 and SoftMax) are not used, since we only need the extracted features from the layer FC-4096</a:t>
                </a:r>
              </a:p>
              <a:p>
                <a:r>
                  <a:rPr lang="en-US" altLang="zh-CN" dirty="0"/>
                  <a:t>At each timestep, sample from the prob vector of the output </a:t>
                </a:r>
                <a14:m>
                  <m:oMath xmlns:m="http://schemas.openxmlformats.org/officeDocument/2006/math">
                    <m:r>
                      <a:rPr lang="en-US" altLang="zh-CN" i="1" dirty="0" smtClean="0">
                        <a:latin typeface="Cambria Math" panose="02040503050406030204" pitchFamily="18" charset="0"/>
                      </a:rPr>
                      <m:t>𝑦</m:t>
                    </m:r>
                    <m:r>
                      <a:rPr lang="en-US" altLang="zh-CN" i="1" baseline="-25000" dirty="0" err="1" smtClean="0">
                        <a:latin typeface="Cambria Math" panose="02040503050406030204" pitchFamily="18" charset="0"/>
                      </a:rPr>
                      <m:t>𝑡</m:t>
                    </m:r>
                  </m:oMath>
                </a14:m>
                <a:r>
                  <a:rPr lang="en-US" altLang="zh-CN" dirty="0"/>
                  <a:t> to generate the next input word</a:t>
                </a:r>
              </a:p>
              <a:p>
                <a:endParaRPr lang="en-US" altLang="zh-CN" dirty="0"/>
              </a:p>
              <a:p>
                <a:endParaRPr lang="en-SE" altLang="zh-CN" dirty="0"/>
              </a:p>
              <a:p>
                <a:endParaRPr lang="zh-CN" altLang="en-US" dirty="0"/>
              </a:p>
            </p:txBody>
          </p:sp>
        </mc:Choice>
        <mc:Fallback xmlns="">
          <p:sp>
            <p:nvSpPr>
              <p:cNvPr id="3" name="Notes Placeholder 2"/>
              <p:cNvSpPr>
                <a:spLocks noGrp="1"/>
              </p:cNvSpPr>
              <p:nvPr>
                <p:ph type="body" idx="1"/>
              </p:nvPr>
            </p:nvSpPr>
            <p:spPr/>
            <p:txBody>
              <a:bodyPr/>
              <a:lstStyle/>
              <a:p>
                <a:r>
                  <a:rPr lang="en-US" altLang="zh-CN" dirty="0"/>
                  <a:t>The last 2 layers of the CNN for classification (FC-1000 and SoftMax) are not used, since we only need the extracted features from the layer FC-4096</a:t>
                </a:r>
              </a:p>
              <a:p>
                <a:r>
                  <a:rPr lang="en-US" altLang="zh-CN" dirty="0"/>
                  <a:t>At each timestep, sample from the prob vector of the output </a:t>
                </a:r>
                <a:r>
                  <a:rPr lang="en-US" altLang="zh-CN" i="0" dirty="0">
                    <a:latin typeface="Cambria Math" panose="02040503050406030204" pitchFamily="18" charset="0"/>
                  </a:rPr>
                  <a:t>𝑦</a:t>
                </a:r>
                <a:r>
                  <a:rPr lang="en-US" altLang="zh-CN" i="0" baseline="-25000" dirty="0" err="1">
                    <a:latin typeface="Cambria Math" panose="02040503050406030204" pitchFamily="18" charset="0"/>
                  </a:rPr>
                  <a:t>𝑡</a:t>
                </a:r>
                <a:r>
                  <a:rPr lang="en-US" altLang="zh-CN" dirty="0"/>
                  <a:t> to generate the next input word</a:t>
                </a:r>
              </a:p>
              <a:p>
                <a:endParaRPr lang="en-US" altLang="zh-CN" dirty="0"/>
              </a:p>
              <a:p>
                <a:endParaRPr lang="en-SE" altLang="zh-CN" dirty="0"/>
              </a:p>
              <a:p>
                <a:endParaRPr lang="zh-CN" altLang="en-US" dirty="0"/>
              </a:p>
            </p:txBody>
          </p:sp>
        </mc:Fallback>
      </mc:AlternateContent>
    </p:spTree>
    <p:extLst>
      <p:ext uri="{BB962C8B-B14F-4D97-AF65-F5344CB8AC3E}">
        <p14:creationId xmlns:p14="http://schemas.microsoft.com/office/powerpoint/2010/main" val="24358519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e78df7ea50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6" name="Google Shape;726;g2e78df7ea50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r>
              <a:rPr lang="nl-NL" altLang="zh-CN" sz="1100" dirty="0"/>
              <a:t>Models or uses ‘manifold embeddings’ on non-Euclidean domains like graphs, meshes and manifolds - </a:t>
            </a:r>
            <a:r>
              <a:rPr lang="nl-NL" altLang="zh-CN" sz="1100" i="1" dirty="0"/>
              <a:t>geometric </a:t>
            </a:r>
            <a:r>
              <a:rPr lang="nl-NL" altLang="zh-CN" sz="1100" dirty="0"/>
              <a:t>inductive bias</a:t>
            </a:r>
          </a:p>
          <a:p>
            <a:pPr marL="0" lvl="0" indent="0" algn="l" rtl="0">
              <a:lnSpc>
                <a:spcPct val="115000"/>
              </a:lnSpc>
              <a:spcBef>
                <a:spcPts val="1200"/>
              </a:spcBef>
              <a:spcAft>
                <a:spcPts val="0"/>
              </a:spcAft>
              <a:buSzPts val="1300"/>
              <a:buNone/>
            </a:pPr>
            <a:r>
              <a:rPr lang="nl-NL" altLang="zh-CN" sz="1100" dirty="0"/>
              <a:t>Captures </a:t>
            </a:r>
            <a:r>
              <a:rPr lang="nl-NL" altLang="zh-CN" sz="1100" b="1" dirty="0"/>
              <a:t>various forms of invariance and equivariance </a:t>
            </a:r>
            <a:r>
              <a:rPr lang="nl-NL" altLang="zh-CN" sz="1100" dirty="0"/>
              <a:t>(e.g. Grids, Groups, Graphs, Geodesics, and Gauges)</a:t>
            </a:r>
          </a:p>
          <a:p>
            <a:pPr marL="0" lvl="0" indent="0" algn="l" rtl="0">
              <a:lnSpc>
                <a:spcPct val="115000"/>
              </a:lnSpc>
              <a:spcBef>
                <a:spcPts val="1200"/>
              </a:spcBef>
              <a:spcAft>
                <a:spcPts val="1200"/>
              </a:spcAft>
              <a:buSzPts val="1300"/>
              <a:buNone/>
            </a:pPr>
            <a:r>
              <a:rPr lang="nl-NL" altLang="zh-CN" sz="1100" dirty="0"/>
              <a:t>Used in e.g. 3D object recognition, protein structures, medical imagine, etc.\</a:t>
            </a:r>
          </a:p>
          <a:p>
            <a:pPr marL="0" lvl="0" indent="0" algn="l" rtl="0">
              <a:lnSpc>
                <a:spcPct val="115000"/>
              </a:lnSpc>
              <a:spcBef>
                <a:spcPts val="0"/>
              </a:spcBef>
              <a:spcAft>
                <a:spcPts val="0"/>
              </a:spcAft>
              <a:buSzPts val="1300"/>
              <a:buNone/>
            </a:pPr>
            <a:r>
              <a:rPr lang="en-US" altLang="zh-CN" sz="1100" dirty="0"/>
              <a:t>capture relationships, dependencies and interactions between entities. https://www.geeksforgeeks.org/deep-learning/what-are-graph-neural-networks/</a:t>
            </a:r>
          </a:p>
          <a:p>
            <a:pPr marL="0" lvl="0" indent="0" algn="l" rtl="0">
              <a:lnSpc>
                <a:spcPct val="115000"/>
              </a:lnSpc>
              <a:spcBef>
                <a:spcPts val="0"/>
              </a:spcBef>
              <a:spcAft>
                <a:spcPts val="0"/>
              </a:spcAft>
              <a:buSzPts val="1300"/>
              <a:buNone/>
            </a:pPr>
            <a:r>
              <a:rPr lang="en-US" altLang="zh-CN" sz="1100" dirty="0"/>
              <a:t>They </a:t>
            </a:r>
            <a:endParaRPr lang="nl-NL" altLang="zh-CN" sz="1100"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4" name="Google Shape;734;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nl-NL" dirty="0"/>
              <a:t>https://www.geeksforgeeks.org/machine-learning/getting-started-with-transformers/</a:t>
            </a:r>
          </a:p>
          <a:p>
            <a:pPr marL="0" lvl="0" indent="0" algn="l" rtl="0">
              <a:lnSpc>
                <a:spcPct val="100000"/>
              </a:lnSpc>
              <a:spcBef>
                <a:spcPts val="0"/>
              </a:spcBef>
              <a:spcAft>
                <a:spcPts val="0"/>
              </a:spcAft>
              <a:buSzPts val="1100"/>
              <a:buNone/>
            </a:pPr>
            <a:r>
              <a:rPr lang="en-US" altLang="zh-CN" sz="1100" dirty="0"/>
              <a:t>They do this by learning context and tracking relationships between sequence components. </a:t>
            </a:r>
            <a:endParaRPr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2" name="Google Shape;772;p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e7c7bc500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7" name="Google Shape;777;g2e7c7bc500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3" name="Google Shape;783;p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1" name="Google Shape;791;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9" name="Google Shape;799;p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0" name="Google Shape;810;p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7" name="Google Shape;817;p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8" name="Google Shape;828;p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9" name="Google Shape;839;p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0" name="Google Shape;850;p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1" name="Google Shape;861;p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2" name="Google Shape;872;p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3" name="Google Shape;883;p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1" name="Google Shape;891;p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9" name="Google Shape;899;p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7" name="Google Shape;907;p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5" name="Google Shape;915;p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3" name="Google Shape;923;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1" name="Google Shape;931;p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9" name="Google Shape;939;p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53186c61bb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253186c61bb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5" name="Google Shape;955;p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BBADC331-4BFF-DAD3-9952-C83340A35D38}"/>
            </a:ext>
          </a:extLst>
        </p:cNvPr>
        <p:cNvGrpSpPr/>
        <p:nvPr/>
      </p:nvGrpSpPr>
      <p:grpSpPr>
        <a:xfrm>
          <a:off x="0" y="0"/>
          <a:ext cx="0" cy="0"/>
          <a:chOff x="0" y="0"/>
          <a:chExt cx="0" cy="0"/>
        </a:xfrm>
      </p:grpSpPr>
      <p:sp>
        <p:nvSpPr>
          <p:cNvPr id="753" name="Google Shape;753;p74:notes">
            <a:extLst>
              <a:ext uri="{FF2B5EF4-FFF2-40B4-BE49-F238E27FC236}">
                <a16:creationId xmlns:a16="http://schemas.microsoft.com/office/drawing/2014/main" id="{918E4AF3-06BC-6673-8C02-9322EB0626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4" name="Google Shape;754;p74:notes">
            <a:extLst>
              <a:ext uri="{FF2B5EF4-FFF2-40B4-BE49-F238E27FC236}">
                <a16:creationId xmlns:a16="http://schemas.microsoft.com/office/drawing/2014/main" id="{A919075F-E4D6-EB5C-26C1-9945EAC413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SzPts val="1300"/>
              <a:buNone/>
            </a:pPr>
            <a:r>
              <a:rPr lang="en-US" altLang="zh-CN" sz="1100" dirty="0"/>
              <a:t>Tasks </a:t>
            </a:r>
            <a:r>
              <a:rPr lang="en-US" altLang="zh-CN" sz="1100" b="1" dirty="0"/>
              <a:t>without expansion</a:t>
            </a:r>
            <a:r>
              <a:rPr lang="en-US" altLang="zh-CN" sz="1100" dirty="0"/>
              <a:t> (input-output fixed)</a:t>
            </a:r>
          </a:p>
          <a:p>
            <a:pPr marL="0" lvl="0" indent="0" algn="l" rtl="0">
              <a:lnSpc>
                <a:spcPct val="115000"/>
              </a:lnSpc>
              <a:spcBef>
                <a:spcPts val="1200"/>
              </a:spcBef>
              <a:spcAft>
                <a:spcPts val="0"/>
              </a:spcAft>
              <a:buSzPts val="1300"/>
              <a:buNone/>
            </a:pPr>
            <a:r>
              <a:rPr lang="en-US" altLang="zh-CN" sz="1100" dirty="0"/>
              <a:t>&gt; </a:t>
            </a:r>
            <a:r>
              <a:rPr lang="en-US" altLang="zh-CN" sz="1100" b="1" dirty="0"/>
              <a:t>Specialized tasks</a:t>
            </a:r>
            <a:endParaRPr lang="en-US" altLang="zh-CN" sz="1100" dirty="0"/>
          </a:p>
          <a:p>
            <a:pPr marL="0" lvl="0" indent="0" algn="l" rtl="0">
              <a:lnSpc>
                <a:spcPct val="115000"/>
              </a:lnSpc>
              <a:spcBef>
                <a:spcPts val="1200"/>
              </a:spcBef>
              <a:spcAft>
                <a:spcPts val="1200"/>
              </a:spcAft>
              <a:buSzPts val="1300"/>
              <a:buNone/>
            </a:pPr>
            <a:r>
              <a:rPr lang="en-US" altLang="zh-CN" sz="1100" dirty="0"/>
              <a:t>&gt; Good </a:t>
            </a:r>
            <a:r>
              <a:rPr lang="en-US" altLang="zh-CN" sz="1100" b="1" dirty="0"/>
              <a:t>in-range performance </a:t>
            </a:r>
            <a:r>
              <a:rPr lang="en-US" altLang="zh-CN" sz="1100" dirty="0"/>
              <a:t>IRL</a:t>
            </a:r>
            <a:endParaRPr lang="en-US" altLang="zh-CN" sz="1100" b="1"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sz="1100" dirty="0"/>
              <a:t>&gt; </a:t>
            </a:r>
            <a:r>
              <a:rPr lang="en-US" altLang="zh-CN" sz="1100" b="1" dirty="0"/>
              <a:t>No causal relations</a:t>
            </a:r>
            <a:endParaRPr lang="en-US" altLang="zh-CN" sz="1100" dirty="0"/>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0060182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6" name="Google Shape;716;p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2166854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8" name="Google Shape;708;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ltLang="zh-CN" sz="1100" dirty="0"/>
              <a:t>, i.e. ‘tensors’ (multi-dimensional arrays) that convolve over </a:t>
            </a:r>
            <a:r>
              <a:rPr lang="en" altLang="zh-CN" sz="1100" i="1" dirty="0"/>
              <a:t>n</a:t>
            </a:r>
            <a:r>
              <a:rPr lang="en" altLang="zh-CN" sz="1100" dirty="0"/>
              <a:t>-dimensional data to</a:t>
            </a:r>
          </a:p>
          <a:p>
            <a:pPr marL="0" lvl="0" indent="0" algn="l" rtl="0">
              <a:lnSpc>
                <a:spcPct val="115000"/>
              </a:lnSpc>
              <a:spcBef>
                <a:spcPts val="1200"/>
              </a:spcBef>
              <a:spcAft>
                <a:spcPts val="0"/>
              </a:spcAft>
              <a:buSzPts val="1300"/>
              <a:buNone/>
            </a:pPr>
            <a:endParaRPr lang="en-US" altLang="zh-CN" sz="1100" dirty="0"/>
          </a:p>
          <a:p>
            <a:pPr marL="0" lvl="0" indent="0" algn="l" rtl="0">
              <a:lnSpc>
                <a:spcPct val="115000"/>
              </a:lnSpc>
              <a:spcBef>
                <a:spcPts val="1200"/>
              </a:spcBef>
              <a:spcAft>
                <a:spcPts val="1200"/>
              </a:spcAft>
              <a:buSzPts val="1300"/>
              <a:buNone/>
            </a:pPr>
            <a:r>
              <a:rPr lang="en-US" altLang="zh-CN" sz="1100" b="1" dirty="0"/>
              <a:t>Translational invariance</a:t>
            </a:r>
            <a:r>
              <a:rPr lang="en-US" altLang="zh-CN" sz="1100" dirty="0"/>
              <a:t>: Cand still be found</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66485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10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 name="Google Shape;11;p102"/>
          <p:cNvGrpSpPr/>
          <p:nvPr/>
        </p:nvGrpSpPr>
        <p:grpSpPr>
          <a:xfrm>
            <a:off x="830392" y="1191256"/>
            <a:ext cx="745763" cy="45826"/>
            <a:chOff x="4580561" y="2589004"/>
            <a:chExt cx="1064464" cy="25200"/>
          </a:xfrm>
        </p:grpSpPr>
        <p:sp>
          <p:nvSpPr>
            <p:cNvPr id="12" name="Google Shape;12;p10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0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 name="Google Shape;14;p102"/>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15" name="Google Shape;15;p102"/>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16" name="Google Shape;16;p10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10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 name="Google Shape;19;p103"/>
          <p:cNvGrpSpPr/>
          <p:nvPr/>
        </p:nvGrpSpPr>
        <p:grpSpPr>
          <a:xfrm>
            <a:off x="830392" y="1191256"/>
            <a:ext cx="745763" cy="45826"/>
            <a:chOff x="4580561" y="2589004"/>
            <a:chExt cx="1064464" cy="25200"/>
          </a:xfrm>
        </p:grpSpPr>
        <p:sp>
          <p:nvSpPr>
            <p:cNvPr id="20" name="Google Shape;20;p10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10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 name="Google Shape;22;p10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23" name="Google Shape;23;p10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4" name="Google Shape;24;p10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5"/>
        <p:cNvGrpSpPr/>
        <p:nvPr/>
      </p:nvGrpSpPr>
      <p:grpSpPr>
        <a:xfrm>
          <a:off x="0" y="0"/>
          <a:ext cx="0" cy="0"/>
          <a:chOff x="0" y="0"/>
          <a:chExt cx="0" cy="0"/>
        </a:xfrm>
      </p:grpSpPr>
      <p:grpSp>
        <p:nvGrpSpPr>
          <p:cNvPr id="26" name="Google Shape;26;p104"/>
          <p:cNvGrpSpPr/>
          <p:nvPr/>
        </p:nvGrpSpPr>
        <p:grpSpPr>
          <a:xfrm>
            <a:off x="830392" y="1191256"/>
            <a:ext cx="745763" cy="45826"/>
            <a:chOff x="4580561" y="2589004"/>
            <a:chExt cx="1064464" cy="25200"/>
          </a:xfrm>
        </p:grpSpPr>
        <p:sp>
          <p:nvSpPr>
            <p:cNvPr id="27" name="Google Shape;27;p104"/>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104"/>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 name="Google Shape;29;p104"/>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30" name="Google Shape;30;p10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10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3" name="Google Shape;33;p105"/>
          <p:cNvGrpSpPr/>
          <p:nvPr/>
        </p:nvGrpSpPr>
        <p:grpSpPr>
          <a:xfrm>
            <a:off x="830392" y="1191256"/>
            <a:ext cx="745763" cy="45826"/>
            <a:chOff x="4580561" y="2589004"/>
            <a:chExt cx="1064464" cy="25200"/>
          </a:xfrm>
        </p:grpSpPr>
        <p:sp>
          <p:nvSpPr>
            <p:cNvPr id="34" name="Google Shape;34;p10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10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 name="Google Shape;36;p10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atin typeface="+mj-lt"/>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dirty="0"/>
          </a:p>
        </p:txBody>
      </p:sp>
      <p:sp>
        <p:nvSpPr>
          <p:cNvPr id="37" name="Google Shape;37;p105"/>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atin typeface="+mj-lt"/>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dirty="0"/>
          </a:p>
        </p:txBody>
      </p:sp>
      <p:sp>
        <p:nvSpPr>
          <p:cNvPr id="38" name="Google Shape;38;p105"/>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atin typeface="+mj-lt"/>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dirty="0"/>
          </a:p>
        </p:txBody>
      </p:sp>
      <p:sp>
        <p:nvSpPr>
          <p:cNvPr id="39" name="Google Shape;39;p10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10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2" name="Google Shape;42;p106"/>
          <p:cNvGrpSpPr/>
          <p:nvPr/>
        </p:nvGrpSpPr>
        <p:grpSpPr>
          <a:xfrm>
            <a:off x="830392" y="1191256"/>
            <a:ext cx="745763" cy="45826"/>
            <a:chOff x="4580561" y="2589004"/>
            <a:chExt cx="1064464" cy="25200"/>
          </a:xfrm>
        </p:grpSpPr>
        <p:sp>
          <p:nvSpPr>
            <p:cNvPr id="43" name="Google Shape;43;p10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10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 name="Google Shape;45;p106"/>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6" name="Google Shape;46;p10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10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107"/>
          <p:cNvGrpSpPr/>
          <p:nvPr/>
        </p:nvGrpSpPr>
        <p:grpSpPr>
          <a:xfrm>
            <a:off x="830392" y="1191256"/>
            <a:ext cx="745763" cy="45826"/>
            <a:chOff x="4580561" y="2589004"/>
            <a:chExt cx="1064464" cy="25200"/>
          </a:xfrm>
        </p:grpSpPr>
        <p:sp>
          <p:nvSpPr>
            <p:cNvPr id="50" name="Google Shape;50;p10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10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107"/>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107"/>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4" name="Google Shape;54;p10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108"/>
          <p:cNvGrpSpPr/>
          <p:nvPr/>
        </p:nvGrpSpPr>
        <p:grpSpPr>
          <a:xfrm>
            <a:off x="830392" y="4169130"/>
            <a:ext cx="745763" cy="45826"/>
            <a:chOff x="4580561" y="2589004"/>
            <a:chExt cx="1064464" cy="25200"/>
          </a:xfrm>
        </p:grpSpPr>
        <p:sp>
          <p:nvSpPr>
            <p:cNvPr id="57" name="Google Shape;57;p10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0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108"/>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0" name="Google Shape;60;p10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3" name="Google Shape;63;p109"/>
          <p:cNvGrpSpPr/>
          <p:nvPr/>
        </p:nvGrpSpPr>
        <p:grpSpPr>
          <a:xfrm>
            <a:off x="830392" y="1191256"/>
            <a:ext cx="745763" cy="45826"/>
            <a:chOff x="4580561" y="2589004"/>
            <a:chExt cx="1064464" cy="25200"/>
          </a:xfrm>
        </p:grpSpPr>
        <p:sp>
          <p:nvSpPr>
            <p:cNvPr id="64" name="Google Shape;64;p10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0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109"/>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7" name="Google Shape;67;p109"/>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68" name="Google Shape;68;p109"/>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9" name="Google Shape;69;p10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10"/>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2" name="Google Shape;72;p11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1"/>
          <p:cNvGrpSpPr/>
          <p:nvPr/>
        </p:nvGrpSpPr>
        <p:grpSpPr>
          <a:xfrm>
            <a:off x="830392" y="4169130"/>
            <a:ext cx="745763" cy="45826"/>
            <a:chOff x="4580561" y="2589004"/>
            <a:chExt cx="1064464" cy="25200"/>
          </a:xfrm>
        </p:grpSpPr>
        <p:sp>
          <p:nvSpPr>
            <p:cNvPr id="75" name="Google Shape;75;p1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7" name="Google Shape;77;p111"/>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111"/>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79" name="Google Shape;79;p11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1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2"/>
                </a:solidFill>
                <a:latin typeface="Arial"/>
                <a:cs typeface="Arial"/>
              </a:defRPr>
            </a:lvl1pPr>
          </a:lstStyle>
          <a:p>
            <a:endParaRPr dirty="0"/>
          </a:p>
        </p:txBody>
      </p:sp>
      <p:sp>
        <p:nvSpPr>
          <p:cNvPr id="3" name="Holder 3"/>
          <p:cNvSpPr>
            <a:spLocks noGrp="1"/>
          </p:cNvSpPr>
          <p:nvPr>
            <p:ph type="body" idx="1"/>
          </p:nvPr>
        </p:nvSpPr>
        <p:spPr/>
        <p:txBody>
          <a:bodyPr lIns="0" tIns="0" rIns="0" bIns="0"/>
          <a:lstStyle>
            <a:lvl1pPr>
              <a:defRPr sz="2400" b="0" i="0">
                <a:solidFill>
                  <a:schemeClr val="bg2"/>
                </a:solidFill>
                <a:latin typeface="Arial"/>
                <a:cs typeface="Arial"/>
              </a:defRPr>
            </a:lvl1pPr>
          </a:lstStyle>
          <a:p>
            <a:endParaRPr dirty="0"/>
          </a:p>
        </p:txBody>
      </p:sp>
      <p:sp>
        <p:nvSpPr>
          <p:cNvPr id="4" name="Holder 4"/>
          <p:cNvSpPr>
            <a:spLocks noGrp="1"/>
          </p:cNvSpPr>
          <p:nvPr>
            <p:ph type="ftr" sz="quarter" idx="5"/>
          </p:nvPr>
        </p:nvSpPr>
        <p:spPr/>
        <p:txBody>
          <a:bodyPr lIns="0" tIns="0" rIns="0" bIns="0"/>
          <a:lstStyle>
            <a:lvl1pPr>
              <a:defRPr sz="1800" b="0" i="0">
                <a:solidFill>
                  <a:schemeClr val="bg1"/>
                </a:solidFill>
                <a:latin typeface="Arial"/>
                <a:cs typeface="Arial"/>
              </a:defRPr>
            </a:lvl1pPr>
          </a:lstStyle>
          <a:p>
            <a:pPr marL="12700">
              <a:lnSpc>
                <a:spcPts val="1920"/>
              </a:lnSpc>
            </a:pP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2000" b="0" i="0">
                <a:solidFill>
                  <a:schemeClr val="bg1"/>
                </a:solidFill>
                <a:latin typeface="Arial"/>
                <a:cs typeface="Arial"/>
              </a:defRPr>
            </a:lvl1pPr>
          </a:lstStyle>
          <a:p>
            <a:pPr marL="25400">
              <a:lnSpc>
                <a:spcPts val="2120"/>
              </a:lnSpc>
            </a:pPr>
            <a:fld id="{81D60167-4931-47E6-BA6A-407CBD079E47}" type="slidenum">
              <a:rPr spc="-5" dirty="0"/>
              <a:t>‹#›</a:t>
            </a:fld>
            <a:endParaRPr spc="-5" dirty="0"/>
          </a:p>
        </p:txBody>
      </p:sp>
    </p:spTree>
    <p:extLst>
      <p:ext uri="{BB962C8B-B14F-4D97-AF65-F5344CB8AC3E}">
        <p14:creationId xmlns:p14="http://schemas.microsoft.com/office/powerpoint/2010/main" val="2006580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bg1"/>
                </a:solidFill>
                <a:latin typeface="Arial"/>
                <a:cs typeface="Arial"/>
              </a:defRPr>
            </a:lvl1pPr>
          </a:lstStyle>
          <a:p>
            <a:pPr marL="12700">
              <a:lnSpc>
                <a:spcPts val="1920"/>
              </a:lnSpc>
            </a:pPr>
            <a:endParaRPr spc="-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2000" b="0" i="0">
                <a:solidFill>
                  <a:schemeClr val="bg1"/>
                </a:solidFill>
                <a:latin typeface="Arial"/>
                <a:cs typeface="Arial"/>
              </a:defRPr>
            </a:lvl1pPr>
          </a:lstStyle>
          <a:p>
            <a:pPr marL="25400">
              <a:lnSpc>
                <a:spcPts val="2120"/>
              </a:lnSpc>
            </a:pPr>
            <a:fld id="{81D60167-4931-47E6-BA6A-407CBD079E47}" type="slidenum">
              <a:rPr spc="-5" dirty="0"/>
              <a:t>‹#›</a:t>
            </a:fld>
            <a:endParaRPr spc="-5" dirty="0"/>
          </a:p>
        </p:txBody>
      </p:sp>
    </p:spTree>
    <p:extLst>
      <p:ext uri="{BB962C8B-B14F-4D97-AF65-F5344CB8AC3E}">
        <p14:creationId xmlns:p14="http://schemas.microsoft.com/office/powerpoint/2010/main" val="2255699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5/30/2026</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1732248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465083" y="-238757"/>
            <a:ext cx="8211865" cy="1149216"/>
          </a:xfrm>
        </p:spPr>
        <p:txBody>
          <a:bodyPr>
            <a:normAutofit/>
          </a:bodyPr>
          <a:lstStyle>
            <a:lvl1pPr>
              <a:defRPr sz="2700"/>
            </a:lvl1p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467053" y="713508"/>
            <a:ext cx="8211865" cy="40537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628650" y="4831557"/>
            <a:ext cx="2057400" cy="273844"/>
          </a:xfrm>
        </p:spPr>
        <p:txBody>
          <a:bodyPr/>
          <a:lstStyle/>
          <a:p>
            <a:fld id="{4553E244-3CAB-5240-928D-C4F781982911}" type="datetime1">
              <a:rPr lang="en-US" smtClean="0"/>
              <a:t>5/30/2026</a:t>
            </a:fld>
            <a:endParaRPr lang="en-US"/>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3028950" y="4831557"/>
            <a:ext cx="3086100" cy="273844"/>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7086600" y="4869657"/>
            <a:ext cx="2057400" cy="273844"/>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8667147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5/30/2026</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a:xfrm>
            <a:off x="6975040" y="4845014"/>
            <a:ext cx="2057400" cy="273844"/>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8915454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5/30/2026</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8966933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5/30/2026</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023641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5/30/2026</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5553747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5/30/2026</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8957652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629841" y="342900"/>
            <a:ext cx="2949178" cy="1200150"/>
          </a:xfrm>
        </p:spPr>
        <p:txBody>
          <a:bodyPr anchor="b"/>
          <a:lstStyle>
            <a:lvl1pPr>
              <a:defRPr sz="2400">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3887391" y="740569"/>
            <a:ext cx="4629150" cy="3655219"/>
          </a:xfrm>
        </p:spPr>
        <p:txBody>
          <a:bodyPr/>
          <a:lstStyle>
            <a:lvl1pPr>
              <a:defRPr sz="2400">
                <a:latin typeface="Arial" panose="020B0604020202020204" pitchFamily="34" charset="0"/>
                <a:cs typeface="Arial" panose="020B0604020202020204" pitchFamily="34" charset="0"/>
              </a:defRPr>
            </a:lvl1pPr>
            <a:lvl2pPr>
              <a:defRPr sz="21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500">
                <a:latin typeface="Arial" panose="020B0604020202020204" pitchFamily="34" charset="0"/>
                <a:cs typeface="Arial" panose="020B0604020202020204" pitchFamily="34" charset="0"/>
              </a:defRPr>
            </a:lvl4pPr>
            <a:lvl5pPr>
              <a:defRPr sz="1500">
                <a:latin typeface="Arial" panose="020B0604020202020204" pitchFamily="34" charset="0"/>
                <a:cs typeface="Arial" panose="020B0604020202020204" pitchFamily="34" charset="0"/>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629841" y="1543050"/>
            <a:ext cx="2949178" cy="2858691"/>
          </a:xfrm>
        </p:spPr>
        <p:txBody>
          <a:bodyPr/>
          <a:lstStyle>
            <a:lvl1pPr marL="0" indent="0">
              <a:buNone/>
              <a:defRPr sz="1200">
                <a:latin typeface="Arial" panose="020B0604020202020204" pitchFamily="34" charset="0"/>
                <a:cs typeface="Arial" panose="020B060402020202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5/30/2026</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2456824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5/30/2026</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35784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5/30/2026</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5246672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5/30/2026</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169076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0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9pPr>
          </a:lstStyle>
          <a:p>
            <a:endParaRPr/>
          </a:p>
        </p:txBody>
      </p:sp>
      <p:sp>
        <p:nvSpPr>
          <p:cNvPr id="7" name="Google Shape;7;p10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10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28650" y="-171478"/>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28650" y="1102024"/>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1484145-EBBF-4546-953A-FE89B9B40A32}" type="datetime1">
              <a:rPr lang="en-US" smtClean="0"/>
              <a:t>5/30/2026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6948406"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322" y="638296"/>
            <a:ext cx="9145688" cy="0"/>
            <a:chOff x="-2252" y="806819"/>
            <a:chExt cx="9146252" cy="6724"/>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0" y="806819"/>
              <a:ext cx="9144000" cy="6724"/>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129415335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3.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9.jp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_rels/slide40.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70.png"/></Relationships>
</file>

<file path=ppt/slides/_rels/slide41.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image" Target="../media/image71.jpg"/><Relationship Id="rId1" Type="http://schemas.openxmlformats.org/officeDocument/2006/relationships/slideLayout" Target="../slideLayouts/slideLayout12.xml"/><Relationship Id="rId4" Type="http://schemas.openxmlformats.org/officeDocument/2006/relationships/image" Target="../media/image73.jpg"/></Relationships>
</file>

<file path=ppt/slides/_rels/slide42.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74.jp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2.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g"/></Relationships>
</file>

<file path=ppt/slides/_rels/slide44.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2.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g"/><Relationship Id="rId9" Type="http://schemas.openxmlformats.org/officeDocument/2006/relationships/image" Target="../media/image81.jpg"/></Relationships>
</file>

<file path=ppt/slides/_rels/slide45.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2.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g"/><Relationship Id="rId9" Type="http://schemas.openxmlformats.org/officeDocument/2006/relationships/image" Target="../media/image81.jpg"/></Relationships>
</file>

<file path=ppt/slides/_rels/slide46.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2.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g"/><Relationship Id="rId9" Type="http://schemas.openxmlformats.org/officeDocument/2006/relationships/image" Target="../media/image82.jpg"/></Relationships>
</file>

<file path=ppt/slides/_rels/slide47.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2.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g"/><Relationship Id="rId9" Type="http://schemas.openxmlformats.org/officeDocument/2006/relationships/image" Target="../media/image82.jpg"/></Relationships>
</file>

<file path=ppt/slides/_rels/slide48.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2.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g"/><Relationship Id="rId9" Type="http://schemas.openxmlformats.org/officeDocument/2006/relationships/image" Target="../media/image83.jpg"/></Relationships>
</file>

<file path=ppt/slides/_rels/slide49.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2.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g"/><Relationship Id="rId9" Type="http://schemas.openxmlformats.org/officeDocument/2006/relationships/image" Target="../media/image83.jpg"/></Relationships>
</file>

<file path=ppt/slides/_rels/slide50.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2.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g"/><Relationship Id="rId9" Type="http://schemas.openxmlformats.org/officeDocument/2006/relationships/image" Target="../media/image84.jpg"/></Relationships>
</file>

<file path=ppt/slides/_rels/slide51.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2.xml"/><Relationship Id="rId6" Type="http://schemas.openxmlformats.org/officeDocument/2006/relationships/image" Target="../media/image78.jpg"/><Relationship Id="rId11" Type="http://schemas.openxmlformats.org/officeDocument/2006/relationships/image" Target="../media/image86.jpg"/><Relationship Id="rId5" Type="http://schemas.openxmlformats.org/officeDocument/2006/relationships/image" Target="../media/image77.jpg"/><Relationship Id="rId10" Type="http://schemas.openxmlformats.org/officeDocument/2006/relationships/image" Target="../media/image84.jpg"/><Relationship Id="rId4" Type="http://schemas.openxmlformats.org/officeDocument/2006/relationships/image" Target="../media/image76.jpg"/><Relationship Id="rId9" Type="http://schemas.openxmlformats.org/officeDocument/2006/relationships/image" Target="../media/image85.jpg"/></Relationships>
</file>

<file path=ppt/slides/_rels/slide52.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2.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g"/><Relationship Id="rId9" Type="http://schemas.openxmlformats.org/officeDocument/2006/relationships/image" Target="../media/image87.jpg"/></Relationships>
</file>

<file path=ppt/slides/_rels/slide53.xml.rels><?xml version="1.0" encoding="UTF-8" standalone="yes"?>
<Relationships xmlns="http://schemas.openxmlformats.org/package/2006/relationships"><Relationship Id="rId8" Type="http://schemas.openxmlformats.org/officeDocument/2006/relationships/image" Target="../media/image80.jpg"/><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2.xml"/><Relationship Id="rId6" Type="http://schemas.openxmlformats.org/officeDocument/2006/relationships/image" Target="../media/image78.jpg"/><Relationship Id="rId5" Type="http://schemas.openxmlformats.org/officeDocument/2006/relationships/image" Target="../media/image77.jpg"/><Relationship Id="rId10" Type="http://schemas.openxmlformats.org/officeDocument/2006/relationships/image" Target="../media/image85.jpg"/><Relationship Id="rId4" Type="http://schemas.openxmlformats.org/officeDocument/2006/relationships/image" Target="../media/image76.jpg"/><Relationship Id="rId9" Type="http://schemas.openxmlformats.org/officeDocument/2006/relationships/image" Target="../media/image87.jpg"/></Relationships>
</file>

<file path=ppt/slides/_rels/slide54.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image" Target="../media/image88.jpg"/><Relationship Id="rId1" Type="http://schemas.openxmlformats.org/officeDocument/2006/relationships/slideLayout" Target="../slideLayouts/slideLayout12.xml"/><Relationship Id="rId4" Type="http://schemas.openxmlformats.org/officeDocument/2006/relationships/image" Target="../media/image90.jpg"/></Relationships>
</file>

<file path=ppt/slides/_rels/slide55.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image" Target="../media/image88.jpg"/><Relationship Id="rId1" Type="http://schemas.openxmlformats.org/officeDocument/2006/relationships/slideLayout" Target="../slideLayouts/slideLayout12.xml"/><Relationship Id="rId6" Type="http://schemas.openxmlformats.org/officeDocument/2006/relationships/image" Target="../media/image92.jpg"/><Relationship Id="rId5" Type="http://schemas.openxmlformats.org/officeDocument/2006/relationships/image" Target="../media/image91.jpg"/><Relationship Id="rId4" Type="http://schemas.openxmlformats.org/officeDocument/2006/relationships/image" Target="../media/image90.jpg"/></Relationships>
</file>

<file path=ppt/slides/_rels/slide56.xml.rels><?xml version="1.0" encoding="UTF-8" standalone="yes"?>
<Relationships xmlns="http://schemas.openxmlformats.org/package/2006/relationships"><Relationship Id="rId3" Type="http://schemas.openxmlformats.org/officeDocument/2006/relationships/image" Target="../media/image89.jpg"/><Relationship Id="rId7" Type="http://schemas.openxmlformats.org/officeDocument/2006/relationships/image" Target="../media/image93.jpg"/><Relationship Id="rId2" Type="http://schemas.openxmlformats.org/officeDocument/2006/relationships/image" Target="../media/image88.jpg"/><Relationship Id="rId1" Type="http://schemas.openxmlformats.org/officeDocument/2006/relationships/slideLayout" Target="../slideLayouts/slideLayout12.xml"/><Relationship Id="rId6" Type="http://schemas.openxmlformats.org/officeDocument/2006/relationships/image" Target="../media/image92.jpg"/><Relationship Id="rId5" Type="http://schemas.openxmlformats.org/officeDocument/2006/relationships/image" Target="../media/image91.jpg"/><Relationship Id="rId4" Type="http://schemas.openxmlformats.org/officeDocument/2006/relationships/image" Target="../media/image90.jpg"/></Relationships>
</file>

<file path=ppt/slides/_rels/slide57.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jpg"/><Relationship Id="rId7" Type="http://schemas.openxmlformats.org/officeDocument/2006/relationships/image" Target="../media/image92.jpg"/><Relationship Id="rId2" Type="http://schemas.openxmlformats.org/officeDocument/2006/relationships/image" Target="../media/image88.jpg"/><Relationship Id="rId1" Type="http://schemas.openxmlformats.org/officeDocument/2006/relationships/slideLayout" Target="../slideLayouts/slideLayout12.xml"/><Relationship Id="rId6" Type="http://schemas.openxmlformats.org/officeDocument/2006/relationships/image" Target="../media/image91.jpg"/><Relationship Id="rId5" Type="http://schemas.openxmlformats.org/officeDocument/2006/relationships/image" Target="../media/image93.jpg"/><Relationship Id="rId4" Type="http://schemas.openxmlformats.org/officeDocument/2006/relationships/image" Target="../media/image90.jpg"/></Relationships>
</file>

<file path=ppt/slides/_rels/slide58.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jpg"/><Relationship Id="rId7" Type="http://schemas.openxmlformats.org/officeDocument/2006/relationships/image" Target="../media/image92.jpg"/><Relationship Id="rId2" Type="http://schemas.openxmlformats.org/officeDocument/2006/relationships/image" Target="../media/image88.jpg"/><Relationship Id="rId1" Type="http://schemas.openxmlformats.org/officeDocument/2006/relationships/slideLayout" Target="../slideLayouts/slideLayout12.xml"/><Relationship Id="rId6" Type="http://schemas.openxmlformats.org/officeDocument/2006/relationships/image" Target="../media/image91.jpg"/><Relationship Id="rId5" Type="http://schemas.openxmlformats.org/officeDocument/2006/relationships/image" Target="../media/image93.jpg"/><Relationship Id="rId4" Type="http://schemas.openxmlformats.org/officeDocument/2006/relationships/image" Target="../media/image90.jpg"/><Relationship Id="rId9" Type="http://schemas.openxmlformats.org/officeDocument/2006/relationships/image" Target="../media/image95.png"/></Relationships>
</file>

<file path=ppt/slides/_rels/slide59.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jpg"/><Relationship Id="rId7" Type="http://schemas.openxmlformats.org/officeDocument/2006/relationships/image" Target="../media/image92.jpg"/><Relationship Id="rId2" Type="http://schemas.openxmlformats.org/officeDocument/2006/relationships/image" Target="../media/image88.jpg"/><Relationship Id="rId1" Type="http://schemas.openxmlformats.org/officeDocument/2006/relationships/slideLayout" Target="../slideLayouts/slideLayout12.xml"/><Relationship Id="rId6" Type="http://schemas.openxmlformats.org/officeDocument/2006/relationships/image" Target="../media/image91.jpg"/><Relationship Id="rId5" Type="http://schemas.openxmlformats.org/officeDocument/2006/relationships/image" Target="../media/image93.jpg"/><Relationship Id="rId4" Type="http://schemas.openxmlformats.org/officeDocument/2006/relationships/image" Target="../media/image90.jpg"/><Relationship Id="rId9" Type="http://schemas.openxmlformats.org/officeDocument/2006/relationships/image" Target="../media/image95.png"/></Relationships>
</file>

<file path=ppt/slides/_rels/slide60.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9.jpg"/><Relationship Id="rId4" Type="http://schemas.openxmlformats.org/officeDocument/2006/relationships/image" Target="../media/image98.jpg"/></Relationships>
</file>

<file path=ppt/slides/_rels/slide62.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9.jpg"/><Relationship Id="rId4" Type="http://schemas.openxmlformats.org/officeDocument/2006/relationships/image" Target="../media/image98.jpg"/></Relationships>
</file>

<file path=ppt/slides/_rels/slide63.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6" Type="http://schemas.openxmlformats.org/officeDocument/2006/relationships/image" Target="../media/image100.jpg"/><Relationship Id="rId5" Type="http://schemas.openxmlformats.org/officeDocument/2006/relationships/image" Target="../media/image99.jpg"/><Relationship Id="rId4" Type="http://schemas.openxmlformats.org/officeDocument/2006/relationships/image" Target="../media/image98.jpg"/></Relationships>
</file>

<file path=ppt/slides/_rels/slide64.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9.jpg"/><Relationship Id="rId4" Type="http://schemas.openxmlformats.org/officeDocument/2006/relationships/image" Target="../media/image98.jpg"/></Relationships>
</file>

<file path=ppt/slides/_rels/slide65.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6" Type="http://schemas.openxmlformats.org/officeDocument/2006/relationships/image" Target="../media/image101.jpg"/><Relationship Id="rId5" Type="http://schemas.openxmlformats.org/officeDocument/2006/relationships/image" Target="../media/image99.jpg"/><Relationship Id="rId4" Type="http://schemas.openxmlformats.org/officeDocument/2006/relationships/image" Target="../media/image98.jpg"/></Relationships>
</file>

<file path=ppt/slides/_rels/slide66.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9.jpg"/><Relationship Id="rId4" Type="http://schemas.openxmlformats.org/officeDocument/2006/relationships/image" Target="../media/image98.jpg"/></Relationships>
</file>

<file path=ppt/slides/_rels/slide67.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6" Type="http://schemas.openxmlformats.org/officeDocument/2006/relationships/image" Target="../media/image102.jpg"/><Relationship Id="rId5" Type="http://schemas.openxmlformats.org/officeDocument/2006/relationships/image" Target="../media/image99.jpg"/><Relationship Id="rId4" Type="http://schemas.openxmlformats.org/officeDocument/2006/relationships/image" Target="../media/image98.jpg"/></Relationships>
</file>

<file path=ppt/slides/_rels/slide68.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9.jpg"/><Relationship Id="rId4" Type="http://schemas.openxmlformats.org/officeDocument/2006/relationships/image" Target="../media/image98.jpg"/></Relationships>
</file>

<file path=ppt/slides/_rels/slide69.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9.jpg"/><Relationship Id="rId4" Type="http://schemas.openxmlformats.org/officeDocument/2006/relationships/image" Target="../media/image98.jpg"/></Relationships>
</file>

<file path=ppt/slides/_rels/slide70.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9.jpg"/><Relationship Id="rId4" Type="http://schemas.openxmlformats.org/officeDocument/2006/relationships/image" Target="../media/image98.jpg"/></Relationships>
</file>

<file path=ppt/slides/_rels/slide71.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9.jpg"/><Relationship Id="rId4" Type="http://schemas.openxmlformats.org/officeDocument/2006/relationships/image" Target="../media/image98.jpg"/></Relationships>
</file>

<file path=ppt/slides/_rels/slide72.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9.jpg"/><Relationship Id="rId4" Type="http://schemas.openxmlformats.org/officeDocument/2006/relationships/image" Target="../media/image98.jpg"/></Relationships>
</file>

<file path=ppt/slides/_rels/slide73.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9.jpg"/><Relationship Id="rId4" Type="http://schemas.openxmlformats.org/officeDocument/2006/relationships/image" Target="../media/image98.jpg"/></Relationships>
</file>

<file path=ppt/slides/_rels/slide74.xml.rels><?xml version="1.0" encoding="UTF-8" standalone="yes"?>
<Relationships xmlns="http://schemas.openxmlformats.org/package/2006/relationships"><Relationship Id="rId3" Type="http://schemas.openxmlformats.org/officeDocument/2006/relationships/image" Target="../media/image103.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7.jpg"/><Relationship Id="rId4" Type="http://schemas.openxmlformats.org/officeDocument/2006/relationships/image" Target="../media/image104.jpg"/></Relationships>
</file>

<file path=ppt/slides/_rels/slide75.xml.rels><?xml version="1.0" encoding="UTF-8" standalone="yes"?>
<Relationships xmlns="http://schemas.openxmlformats.org/package/2006/relationships"><Relationship Id="rId3" Type="http://schemas.openxmlformats.org/officeDocument/2006/relationships/image" Target="../media/image103.jpg"/><Relationship Id="rId2" Type="http://schemas.openxmlformats.org/officeDocument/2006/relationships/image" Target="../media/image96.jpg"/><Relationship Id="rId1" Type="http://schemas.openxmlformats.org/officeDocument/2006/relationships/slideLayout" Target="../slideLayouts/slideLayout12.xml"/><Relationship Id="rId5" Type="http://schemas.openxmlformats.org/officeDocument/2006/relationships/image" Target="../media/image97.jpg"/><Relationship Id="rId4" Type="http://schemas.openxmlformats.org/officeDocument/2006/relationships/image" Target="../media/image104.jpg"/></Relationships>
</file>

<file path=ppt/slides/_rels/slide76.xml.rels><?xml version="1.0" encoding="UTF-8" standalone="yes"?>
<Relationships xmlns="http://schemas.openxmlformats.org/package/2006/relationships"><Relationship Id="rId3" Type="http://schemas.openxmlformats.org/officeDocument/2006/relationships/image" Target="../media/image105.jp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2.xml"/><Relationship Id="rId5" Type="http://schemas.openxmlformats.org/officeDocument/2006/relationships/image" Target="../media/image105.png"/><Relationship Id="rId4" Type="http://schemas.openxmlformats.org/officeDocument/2006/relationships/image" Target="../media/image104.png"/></Relationships>
</file>

<file path=ppt/slides/_rels/slide78.xml.rels><?xml version="1.0" encoding="UTF-8" standalone="yes"?>
<Relationships xmlns="http://schemas.openxmlformats.org/package/2006/relationships"><Relationship Id="rId8" Type="http://schemas.openxmlformats.org/officeDocument/2006/relationships/image" Target="../media/image93.jpg"/><Relationship Id="rId3" Type="http://schemas.openxmlformats.org/officeDocument/2006/relationships/image" Target="../media/image89.jpg"/><Relationship Id="rId7" Type="http://schemas.openxmlformats.org/officeDocument/2006/relationships/image" Target="../media/image107.png"/><Relationship Id="rId2" Type="http://schemas.openxmlformats.org/officeDocument/2006/relationships/image" Target="../media/image88.jpg"/><Relationship Id="rId1" Type="http://schemas.openxmlformats.org/officeDocument/2006/relationships/slideLayout" Target="../slideLayouts/slideLayout13.xml"/><Relationship Id="rId6" Type="http://schemas.openxmlformats.org/officeDocument/2006/relationships/image" Target="../media/image92.jpg"/><Relationship Id="rId5" Type="http://schemas.openxmlformats.org/officeDocument/2006/relationships/image" Target="../media/image91.jpg"/><Relationship Id="rId4" Type="http://schemas.openxmlformats.org/officeDocument/2006/relationships/image" Target="../media/image90.jpg"/><Relationship Id="rId9" Type="http://schemas.openxmlformats.org/officeDocument/2006/relationships/image" Target="../media/image94.png"/></Relationships>
</file>

<file path=ppt/slides/_rels/slide79.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107.emf"/></Relationships>
</file>

<file path=ppt/slides/_rels/slide80.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image" Target="../media/image107.emf"/><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09.gi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112.jpeg"/><Relationship Id="rId4" Type="http://schemas.openxmlformats.org/officeDocument/2006/relationships/image" Target="../media/image111.jpg"/></Relationships>
</file>

<file path=ppt/slides/_rels/slide86.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image" Target="../media/image113.png"/><Relationship Id="rId1" Type="http://schemas.openxmlformats.org/officeDocument/2006/relationships/slideLayout" Target="../slideLayouts/slideLayout12.xml"/><Relationship Id="rId4" Type="http://schemas.openxmlformats.org/officeDocument/2006/relationships/image" Target="../media/image115.png"/></Relationships>
</file>

<file path=ppt/slides/_rels/slide87.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17.jp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19.jpg"/></Relationships>
</file>

<file path=ppt/slides/_rels/slide9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9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10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10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108.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10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114.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36.jpg"/><Relationship Id="rId2" Type="http://schemas.openxmlformats.org/officeDocument/2006/relationships/image" Target="../media/image135.jpg"/><Relationship Id="rId1" Type="http://schemas.openxmlformats.org/officeDocument/2006/relationships/slideLayout" Target="../slideLayouts/slideLayout12.xml"/><Relationship Id="rId5" Type="http://schemas.openxmlformats.org/officeDocument/2006/relationships/image" Target="../media/image138.jpg"/><Relationship Id="rId4" Type="http://schemas.openxmlformats.org/officeDocument/2006/relationships/image" Target="../media/image137.jpg"/></Relationships>
</file>

<file path=ppt/slides/_rels/slide11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120.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11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n"/>
              <a:t>An Introduction to</a:t>
            </a:r>
            <a:br>
              <a:rPr lang="en"/>
            </a:br>
            <a:r>
              <a:rPr lang="en"/>
              <a:t>Neural Networks</a:t>
            </a:r>
            <a:endParaRPr/>
          </a:p>
        </p:txBody>
      </p:sp>
      <p:sp>
        <p:nvSpPr>
          <p:cNvPr id="87" name="Google Shape;87;p1"/>
          <p:cNvSpPr txBox="1">
            <a:spLocks noGrp="1"/>
          </p:cNvSpPr>
          <p:nvPr>
            <p:ph type="subTitle" idx="1"/>
          </p:nvPr>
        </p:nvSpPr>
        <p:spPr>
          <a:xfrm>
            <a:off x="729625" y="3172900"/>
            <a:ext cx="7688100" cy="1830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n"/>
              <a:t>Satchit Chatterji</a:t>
            </a:r>
            <a:endParaRPr/>
          </a:p>
          <a:p>
            <a:pPr marL="0" lvl="0" indent="0" algn="l" rtl="0">
              <a:lnSpc>
                <a:spcPct val="100000"/>
              </a:lnSpc>
              <a:spcBef>
                <a:spcPts val="0"/>
              </a:spcBef>
              <a:spcAft>
                <a:spcPts val="0"/>
              </a:spcAft>
              <a:buSzPts val="1600"/>
              <a:buNone/>
            </a:pPr>
            <a:r>
              <a:rPr lang="en"/>
              <a:t>MSc Artificial Intelligence</a:t>
            </a:r>
            <a:endParaRPr/>
          </a:p>
          <a:p>
            <a:pPr marL="0" lvl="0" indent="0" algn="l" rtl="0">
              <a:lnSpc>
                <a:spcPct val="100000"/>
              </a:lnSpc>
              <a:spcBef>
                <a:spcPts val="0"/>
              </a:spcBef>
              <a:spcAft>
                <a:spcPts val="0"/>
              </a:spcAft>
              <a:buSzPts val="1600"/>
              <a:buNone/>
            </a:pPr>
            <a:r>
              <a:rPr lang="en"/>
              <a:t>University of Amsterdam</a:t>
            </a:r>
            <a:br>
              <a:rPr lang="en"/>
            </a:br>
            <a:br>
              <a:rPr lang="en" sz="1400" i="1"/>
            </a:br>
            <a:r>
              <a:rPr lang="en" sz="1400" i="1"/>
              <a:t>satchit.chatterji@gmail.com</a:t>
            </a:r>
            <a:endParaRPr sz="1400" i="1"/>
          </a:p>
        </p:txBody>
      </p:sp>
      <p:sp>
        <p:nvSpPr>
          <p:cNvPr id="88" name="Google Shape;88;p1"/>
          <p:cNvSpPr txBox="1"/>
          <p:nvPr/>
        </p:nvSpPr>
        <p:spPr>
          <a:xfrm>
            <a:off x="7059750" y="4802950"/>
            <a:ext cx="2084100" cy="34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300">
                <a:solidFill>
                  <a:schemeClr val="accent1"/>
                </a:solidFill>
                <a:latin typeface="Lato"/>
                <a:ea typeface="Lato"/>
                <a:cs typeface="Lato"/>
                <a:sym typeface="Lato"/>
              </a:rPr>
              <a:t>June 24th, 2024</a:t>
            </a:r>
            <a:endParaRPr sz="1300">
              <a:solidFill>
                <a:schemeClr val="accent1"/>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9218B2F1-4BEC-6DD9-46EC-E40B99F1FD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041F-9850-E24F-8D87-6868054CAE9B}"/>
              </a:ext>
            </a:extLst>
          </p:cNvPr>
          <p:cNvSpPr>
            <a:spLocks noGrp="1"/>
          </p:cNvSpPr>
          <p:nvPr>
            <p:ph type="ctrTitle"/>
          </p:nvPr>
        </p:nvSpPr>
        <p:spPr>
          <a:xfrm>
            <a:off x="417444" y="746099"/>
            <a:ext cx="8304143" cy="1790700"/>
          </a:xfrm>
        </p:spPr>
        <p:txBody>
          <a:bodyPr anchor="ctr">
            <a:normAutofit/>
          </a:bodyPr>
          <a:lstStyle/>
          <a:p>
            <a:r>
              <a:rPr lang="en-US" sz="3300" dirty="0"/>
              <a:t>Introduction to Neural Networks, Backpropagation, and Gradient Descent</a:t>
            </a:r>
          </a:p>
        </p:txBody>
      </p:sp>
      <p:sp>
        <p:nvSpPr>
          <p:cNvPr id="5" name="Subtitle 2">
            <a:extLst>
              <a:ext uri="{FF2B5EF4-FFF2-40B4-BE49-F238E27FC236}">
                <a16:creationId xmlns:a16="http://schemas.microsoft.com/office/drawing/2014/main" id="{6AD7EF61-6860-BF49-9EBD-781006606D7D}"/>
              </a:ext>
            </a:extLst>
          </p:cNvPr>
          <p:cNvSpPr txBox="1">
            <a:spLocks/>
          </p:cNvSpPr>
          <p:nvPr/>
        </p:nvSpPr>
        <p:spPr>
          <a:xfrm>
            <a:off x="647241" y="3844925"/>
            <a:ext cx="7849518" cy="812801"/>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685800">
              <a:spcBef>
                <a:spcPts val="750"/>
              </a:spcBef>
              <a:buClrTx/>
            </a:pPr>
            <a:r>
              <a:rPr lang="en-US" sz="2100" dirty="0">
                <a:solidFill>
                  <a:prstClr val="black"/>
                </a:solidFill>
                <a:latin typeface="Calibri" panose="020F0502020204030204"/>
              </a:rPr>
              <a:t>Zonghua Gu</a:t>
            </a:r>
          </a:p>
          <a:p>
            <a:pPr defTabSz="685800">
              <a:spcBef>
                <a:spcPts val="750"/>
              </a:spcBef>
              <a:buClrTx/>
            </a:pPr>
            <a:r>
              <a:rPr lang="en-US" altLang="zh-CN" sz="2100" dirty="0">
                <a:solidFill>
                  <a:prstClr val="black"/>
                </a:solidFill>
                <a:latin typeface="Calibri" panose="020F0502020204030204"/>
                <a:ea typeface="等线" panose="02010600030101010101" pitchFamily="2" charset="-122"/>
              </a:rPr>
              <a:t>Jun 01 2026,</a:t>
            </a:r>
            <a:r>
              <a:rPr lang="zh-CN" altLang="en-US" sz="2100" dirty="0">
                <a:solidFill>
                  <a:prstClr val="black"/>
                </a:solidFill>
                <a:latin typeface="Calibri" panose="020F0502020204030204"/>
                <a:ea typeface="等线" panose="02010600030101010101" pitchFamily="2" charset="-122"/>
              </a:rPr>
              <a:t> </a:t>
            </a:r>
            <a:r>
              <a:rPr lang="en-US" altLang="zh-CN" sz="2100" dirty="0">
                <a:solidFill>
                  <a:prstClr val="black"/>
                </a:solidFill>
                <a:latin typeface="Calibri" panose="020F0502020204030204"/>
                <a:ea typeface="等线" panose="02010600030101010101" pitchFamily="2" charset="-122"/>
              </a:rPr>
              <a:t>Memorial University</a:t>
            </a:r>
          </a:p>
        </p:txBody>
      </p:sp>
    </p:spTree>
    <p:extLst>
      <p:ext uri="{BB962C8B-B14F-4D97-AF65-F5344CB8AC3E}">
        <p14:creationId xmlns:p14="http://schemas.microsoft.com/office/powerpoint/2010/main" val="542446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Overview</a:t>
            </a:r>
            <a:endParaRPr dirty="0"/>
          </a:p>
        </p:txBody>
      </p:sp>
      <p:sp>
        <p:nvSpPr>
          <p:cNvPr id="177" name="Google Shape;177;p9"/>
          <p:cNvSpPr txBox="1">
            <a:spLocks noGrp="1"/>
          </p:cNvSpPr>
          <p:nvPr>
            <p:ph type="body" idx="1"/>
          </p:nvPr>
        </p:nvSpPr>
        <p:spPr>
          <a:xfrm>
            <a:off x="729450" y="2078875"/>
            <a:ext cx="7688700" cy="30645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1200"/>
              </a:spcAft>
              <a:buSzPts val="1300"/>
              <a:buNone/>
            </a:pPr>
            <a:r>
              <a:rPr lang="en" sz="1600" b="1" dirty="0"/>
              <a:t>Goals of this lecture:</a:t>
            </a:r>
            <a:br>
              <a:rPr lang="en" sz="1600" b="1" dirty="0"/>
            </a:br>
            <a:r>
              <a:rPr lang="en" sz="1600" dirty="0"/>
              <a:t>	- Explain </a:t>
            </a:r>
            <a:r>
              <a:rPr lang="en" sz="1600" u="sng" dirty="0"/>
              <a:t>what</a:t>
            </a:r>
            <a:r>
              <a:rPr lang="en" sz="1600" dirty="0"/>
              <a:t> a neural network is and </a:t>
            </a:r>
            <a:r>
              <a:rPr lang="en" sz="1600" u="sng" dirty="0"/>
              <a:t>how</a:t>
            </a:r>
            <a:r>
              <a:rPr lang="en" sz="1600" dirty="0"/>
              <a:t> it works</a:t>
            </a:r>
            <a:br>
              <a:rPr lang="en" sz="1600" dirty="0"/>
            </a:br>
            <a:r>
              <a:rPr lang="en" sz="1600" dirty="0"/>
              <a:t>	- </a:t>
            </a:r>
            <a:r>
              <a:rPr lang="en" sz="1600" u="sng" dirty="0"/>
              <a:t>Why</a:t>
            </a:r>
            <a:r>
              <a:rPr lang="en" sz="1600" dirty="0"/>
              <a:t> you should use them, and </a:t>
            </a:r>
            <a:r>
              <a:rPr lang="en" sz="1600" u="sng" dirty="0"/>
              <a:t>why not</a:t>
            </a:r>
            <a:br>
              <a:rPr lang="en" sz="1600" dirty="0"/>
            </a:br>
            <a:r>
              <a:rPr lang="en" sz="1600" dirty="0"/>
              <a:t>	- </a:t>
            </a:r>
            <a:r>
              <a:rPr lang="en" sz="1600" u="sng" dirty="0"/>
              <a:t>Which</a:t>
            </a:r>
            <a:r>
              <a:rPr lang="en" sz="1600" dirty="0"/>
              <a:t> neural networks are used today</a:t>
            </a:r>
            <a:br>
              <a:rPr lang="en" sz="1600" dirty="0"/>
            </a:br>
            <a:r>
              <a:rPr lang="en" sz="1600" dirty="0"/>
              <a:t>	- </a:t>
            </a:r>
            <a:r>
              <a:rPr lang="en" sz="1600" u="sng" dirty="0"/>
              <a:t>Where</a:t>
            </a:r>
            <a:r>
              <a:rPr lang="en" sz="1600" dirty="0"/>
              <a:t> neural networks are headed next</a:t>
            </a:r>
          </a:p>
          <a:p>
            <a:pPr marL="0" indent="0">
              <a:buNone/>
            </a:pPr>
            <a:r>
              <a:rPr lang="en" altLang="zh-CN" sz="1600" b="1" dirty="0"/>
              <a:t>Outline:</a:t>
            </a:r>
            <a:br>
              <a:rPr lang="en" altLang="zh-CN" sz="1600" b="1" dirty="0"/>
            </a:br>
            <a:r>
              <a:rPr lang="en" altLang="zh-CN" sz="1600" dirty="0"/>
              <a:t>	- </a:t>
            </a:r>
            <a:r>
              <a:rPr lang="en-US" altLang="zh-CN" sz="1600" dirty="0"/>
              <a:t>Building a Neural Network from Scratch</a:t>
            </a:r>
            <a:br>
              <a:rPr lang="en" altLang="zh-CN" sz="1600" dirty="0"/>
            </a:br>
            <a:r>
              <a:rPr lang="en" altLang="zh-CN" sz="1600" dirty="0"/>
              <a:t>	- </a:t>
            </a:r>
            <a:r>
              <a:rPr lang="nl-NL" altLang="zh-CN" sz="1600" dirty="0"/>
              <a:t>Gradient Descent</a:t>
            </a:r>
            <a:br>
              <a:rPr lang="en" altLang="zh-CN" sz="1600" dirty="0"/>
            </a:br>
            <a:r>
              <a:rPr lang="en" altLang="zh-CN" sz="1600" dirty="0"/>
              <a:t>	- </a:t>
            </a:r>
            <a:r>
              <a:rPr lang="nl-NL" altLang="zh-CN" sz="1600" dirty="0"/>
              <a:t>Types of Neural Networks </a:t>
            </a:r>
          </a:p>
          <a:p>
            <a:pPr marL="0" indent="0">
              <a:buNone/>
            </a:pPr>
            <a:r>
              <a:rPr lang="en-US" altLang="zh-CN" sz="1600" dirty="0"/>
              <a:t>	</a:t>
            </a:r>
            <a:r>
              <a:rPr lang="en" altLang="zh-CN" sz="1600" dirty="0"/>
              <a:t>- Training tips</a:t>
            </a:r>
          </a:p>
          <a:p>
            <a:pPr marL="0" lvl="0" indent="0" algn="l" rtl="0">
              <a:lnSpc>
                <a:spcPct val="115000"/>
              </a:lnSpc>
              <a:spcBef>
                <a:spcPts val="0"/>
              </a:spcBef>
              <a:spcAft>
                <a:spcPts val="1200"/>
              </a:spcAft>
              <a:buSzPts val="1300"/>
              <a:buNone/>
            </a:pPr>
            <a:endParaRPr lang="en" sz="1600" dirty="0"/>
          </a:p>
          <a:p>
            <a:pPr marL="0" lvl="0" indent="0" algn="l" rtl="0">
              <a:lnSpc>
                <a:spcPct val="115000"/>
              </a:lnSpc>
              <a:spcBef>
                <a:spcPts val="0"/>
              </a:spcBef>
              <a:spcAft>
                <a:spcPts val="1200"/>
              </a:spcAft>
              <a:buSzPts val="1300"/>
              <a:buNone/>
            </a:pPr>
            <a:endParaRPr sz="1600" dirty="0"/>
          </a:p>
        </p:txBody>
      </p:sp>
      <p:sp>
        <p:nvSpPr>
          <p:cNvPr id="2" name="Slide Number Placeholder 1">
            <a:extLst>
              <a:ext uri="{FF2B5EF4-FFF2-40B4-BE49-F238E27FC236}">
                <a16:creationId xmlns:a16="http://schemas.microsoft.com/office/drawing/2014/main" id="{1389A58D-470A-9ABF-9621-8C54AB4A9E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6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ML Training paradigms</a:t>
            </a:r>
            <a:endParaRPr b="0" dirty="0"/>
          </a:p>
        </p:txBody>
      </p:sp>
      <p:sp>
        <p:nvSpPr>
          <p:cNvPr id="693" name="Google Shape;693;p66"/>
          <p:cNvSpPr txBox="1">
            <a:spLocks noGrp="1"/>
          </p:cNvSpPr>
          <p:nvPr>
            <p:ph type="body" idx="1"/>
          </p:nvPr>
        </p:nvSpPr>
        <p:spPr>
          <a:xfrm>
            <a:off x="729450" y="1853850"/>
            <a:ext cx="7893300" cy="3099000"/>
          </a:xfrm>
          <a:prstGeom prst="rect">
            <a:avLst/>
          </a:prstGeom>
          <a:noFill/>
          <a:ln>
            <a:noFill/>
          </a:ln>
        </p:spPr>
        <p:txBody>
          <a:bodyPr spcFirstLastPara="1" wrap="square" lIns="91425" tIns="91425" rIns="91425" bIns="91425" anchor="t" anchorCtr="0">
            <a:noAutofit/>
          </a:bodyPr>
          <a:lstStyle/>
          <a:p>
            <a:pPr marL="457200" lvl="0" indent="-341153" algn="l" rtl="0">
              <a:lnSpc>
                <a:spcPct val="95000"/>
              </a:lnSpc>
              <a:spcBef>
                <a:spcPts val="0"/>
              </a:spcBef>
              <a:spcAft>
                <a:spcPts val="0"/>
              </a:spcAft>
              <a:buSzPts val="1773"/>
              <a:buChar char="-"/>
            </a:pPr>
            <a:r>
              <a:rPr lang="en" sz="1771" b="1" dirty="0"/>
              <a:t>Supervised (focus of this lecture)</a:t>
            </a:r>
            <a:endParaRPr sz="1771" b="1" dirty="0"/>
          </a:p>
          <a:p>
            <a:pPr marL="914400" lvl="1" indent="-322103" algn="l" rtl="0">
              <a:lnSpc>
                <a:spcPct val="95000"/>
              </a:lnSpc>
              <a:spcBef>
                <a:spcPts val="0"/>
              </a:spcBef>
              <a:spcAft>
                <a:spcPts val="0"/>
              </a:spcAft>
              <a:buSzPts val="1473"/>
              <a:buChar char="-"/>
            </a:pPr>
            <a:r>
              <a:rPr lang="en" sz="1472" dirty="0"/>
              <a:t>Train a model with explicit input-output pairs</a:t>
            </a:r>
            <a:endParaRPr sz="1472" dirty="0"/>
          </a:p>
          <a:p>
            <a:pPr marL="457200" lvl="0" indent="-341153" algn="l" rtl="0">
              <a:lnSpc>
                <a:spcPct val="95000"/>
              </a:lnSpc>
              <a:spcBef>
                <a:spcPts val="0"/>
              </a:spcBef>
              <a:spcAft>
                <a:spcPts val="0"/>
              </a:spcAft>
              <a:buSzPts val="1773"/>
              <a:buChar char="-"/>
            </a:pPr>
            <a:r>
              <a:rPr lang="en" sz="1771" b="1" dirty="0"/>
              <a:t>Unsupervised</a:t>
            </a:r>
            <a:endParaRPr sz="1771" b="1" dirty="0"/>
          </a:p>
          <a:p>
            <a:pPr marL="914400" lvl="1" indent="-322103" algn="l" rtl="0">
              <a:lnSpc>
                <a:spcPct val="95000"/>
              </a:lnSpc>
              <a:spcBef>
                <a:spcPts val="0"/>
              </a:spcBef>
              <a:spcAft>
                <a:spcPts val="0"/>
              </a:spcAft>
              <a:buSzPts val="1473"/>
              <a:buChar char="-"/>
            </a:pPr>
            <a:r>
              <a:rPr lang="en" sz="1472" dirty="0"/>
              <a:t>Learns “patterns” from unlabelled data</a:t>
            </a:r>
            <a:endParaRPr sz="1472" dirty="0"/>
          </a:p>
          <a:p>
            <a:pPr marL="457200" lvl="0" indent="-341153" algn="l" rtl="0">
              <a:lnSpc>
                <a:spcPct val="95000"/>
              </a:lnSpc>
              <a:spcBef>
                <a:spcPts val="0"/>
              </a:spcBef>
              <a:spcAft>
                <a:spcPts val="0"/>
              </a:spcAft>
              <a:buSzPts val="1773"/>
              <a:buChar char="-"/>
            </a:pPr>
            <a:r>
              <a:rPr lang="en" sz="1771" b="1" dirty="0"/>
              <a:t>Semi-supervised learning</a:t>
            </a:r>
            <a:endParaRPr sz="1771" b="1" dirty="0"/>
          </a:p>
          <a:p>
            <a:pPr marL="914400" lvl="1" indent="-322103" algn="l" rtl="0">
              <a:lnSpc>
                <a:spcPct val="95000"/>
              </a:lnSpc>
              <a:spcBef>
                <a:spcPts val="0"/>
              </a:spcBef>
              <a:spcAft>
                <a:spcPts val="0"/>
              </a:spcAft>
              <a:buSzPts val="1473"/>
              <a:buChar char="-"/>
            </a:pPr>
            <a:r>
              <a:rPr lang="en" sz="1472" dirty="0"/>
              <a:t>Learn a few things with input-output pairs, relate them to patterns learnt unsupervised</a:t>
            </a:r>
            <a:endParaRPr sz="1472" dirty="0"/>
          </a:p>
          <a:p>
            <a:pPr marL="457200" lvl="0" indent="-341153" algn="l" rtl="0">
              <a:lnSpc>
                <a:spcPct val="95000"/>
              </a:lnSpc>
              <a:spcBef>
                <a:spcPts val="0"/>
              </a:spcBef>
              <a:spcAft>
                <a:spcPts val="0"/>
              </a:spcAft>
              <a:buSzPts val="1773"/>
              <a:buChar char="-"/>
            </a:pPr>
            <a:r>
              <a:rPr lang="en" sz="1771" b="1" dirty="0"/>
              <a:t>Reinforcement Learning</a:t>
            </a:r>
            <a:endParaRPr sz="1771" b="1" dirty="0"/>
          </a:p>
          <a:p>
            <a:pPr marL="914400" lvl="1" indent="-322103" algn="l" rtl="0">
              <a:lnSpc>
                <a:spcPct val="95000"/>
              </a:lnSpc>
              <a:spcBef>
                <a:spcPts val="0"/>
              </a:spcBef>
              <a:spcAft>
                <a:spcPts val="0"/>
              </a:spcAft>
              <a:buSzPts val="1473"/>
              <a:buChar char="-"/>
            </a:pPr>
            <a:r>
              <a:rPr lang="en" sz="1472" dirty="0"/>
              <a:t>Learn an optimal “policy” that gives you the best action to take at any given state space by taking random actions and learning through positive or negative reinforcement.</a:t>
            </a:r>
            <a:endParaRPr sz="1472" dirty="0"/>
          </a:p>
        </p:txBody>
      </p:sp>
      <p:sp>
        <p:nvSpPr>
          <p:cNvPr id="2" name="Slide Number Placeholder 1">
            <a:extLst>
              <a:ext uri="{FF2B5EF4-FFF2-40B4-BE49-F238E27FC236}">
                <a16:creationId xmlns:a16="http://schemas.microsoft.com/office/drawing/2014/main" id="{2A4F6F72-FD8F-6674-EB2F-F4535C79F9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2727024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5"/>
          <p:cNvSpPr/>
          <p:nvPr/>
        </p:nvSpPr>
        <p:spPr>
          <a:xfrm>
            <a:off x="3579600" y="2841040"/>
            <a:ext cx="1984800" cy="32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15"/>
          <p:cNvSpPr txBox="1">
            <a:spLocks noGrp="1"/>
          </p:cNvSpPr>
          <p:nvPr>
            <p:ph type="body" idx="1"/>
          </p:nvPr>
        </p:nvSpPr>
        <p:spPr>
          <a:xfrm>
            <a:off x="729450" y="1774075"/>
            <a:ext cx="7688700" cy="3216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b="1" dirty="0"/>
              <a:t>Given:</a:t>
            </a:r>
            <a:r>
              <a:rPr lang="en" sz="1600" dirty="0"/>
              <a:t> Input-output examples of the form:</a:t>
            </a:r>
            <a:br>
              <a:rPr lang="en" sz="1600" b="1" dirty="0"/>
            </a:br>
            <a:endParaRPr sz="1600" b="1" dirty="0"/>
          </a:p>
          <a:p>
            <a:pPr marL="0" lvl="0" indent="0" algn="l" rtl="0">
              <a:lnSpc>
                <a:spcPct val="115000"/>
              </a:lnSpc>
              <a:spcBef>
                <a:spcPts val="1200"/>
              </a:spcBef>
              <a:spcAft>
                <a:spcPts val="0"/>
              </a:spcAft>
              <a:buSzPts val="1300"/>
              <a:buNone/>
            </a:pPr>
            <a:r>
              <a:rPr lang="en" sz="1600" b="1" dirty="0"/>
              <a:t>Assumption: </a:t>
            </a:r>
            <a:r>
              <a:rPr lang="en" sz="1600" dirty="0"/>
              <a:t>Data is generated by a “true ” function, with some added noise:</a:t>
            </a:r>
            <a:br>
              <a:rPr lang="en" sz="1600" b="1" dirty="0"/>
            </a:br>
            <a:endParaRPr sz="1600" b="1" dirty="0"/>
          </a:p>
          <a:p>
            <a:pPr marL="0" lvl="0" indent="0" algn="l" rtl="0">
              <a:lnSpc>
                <a:spcPct val="115000"/>
              </a:lnSpc>
              <a:spcBef>
                <a:spcPts val="1200"/>
              </a:spcBef>
              <a:spcAft>
                <a:spcPts val="0"/>
              </a:spcAft>
              <a:buSzPts val="1300"/>
              <a:buNone/>
            </a:pPr>
            <a:r>
              <a:rPr lang="en" sz="1600" b="1" dirty="0"/>
              <a:t>Goal: </a:t>
            </a:r>
            <a:r>
              <a:rPr lang="en" sz="1600" dirty="0"/>
              <a:t>Learn an approximation             of the generator function to use on new data:</a:t>
            </a:r>
            <a:endParaRPr sz="1600" dirty="0"/>
          </a:p>
          <a:p>
            <a:pPr marL="0" lvl="0" indent="0" algn="l" rtl="0">
              <a:lnSpc>
                <a:spcPct val="115000"/>
              </a:lnSpc>
              <a:spcBef>
                <a:spcPts val="1200"/>
              </a:spcBef>
              <a:spcAft>
                <a:spcPts val="1200"/>
              </a:spcAft>
              <a:buSzPts val="1300"/>
              <a:buNone/>
            </a:pPr>
            <a:br>
              <a:rPr lang="en" sz="1600" b="1" dirty="0"/>
            </a:br>
            <a:r>
              <a:rPr lang="en" sz="1600" b="1" dirty="0"/>
              <a:t>Loss function:</a:t>
            </a:r>
            <a:r>
              <a:rPr lang="en" sz="1600" dirty="0"/>
              <a:t> A distance between              and            such that we can say             is “good” if </a:t>
            </a:r>
            <a:r>
              <a:rPr lang="en" sz="1600" i="1" dirty="0"/>
              <a:t>L </a:t>
            </a:r>
            <a:r>
              <a:rPr lang="en" sz="1600" dirty="0"/>
              <a:t>is low across many given instances of </a:t>
            </a:r>
            <a:r>
              <a:rPr lang="en" sz="1600" i="1" dirty="0"/>
              <a:t>S</a:t>
            </a:r>
            <a:r>
              <a:rPr lang="en" sz="1600" dirty="0"/>
              <a:t>.</a:t>
            </a:r>
            <a:endParaRPr sz="1600" dirty="0"/>
          </a:p>
        </p:txBody>
      </p:sp>
      <p:sp>
        <p:nvSpPr>
          <p:cNvPr id="230" name="Google Shape;230;p1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Supervised Learning</a:t>
            </a:r>
            <a:endParaRPr dirty="0"/>
          </a:p>
        </p:txBody>
      </p:sp>
      <p:pic>
        <p:nvPicPr>
          <p:cNvPr id="231" name="Google Shape;231;p15"/>
          <p:cNvPicPr preferRelativeResize="0"/>
          <p:nvPr/>
        </p:nvPicPr>
        <p:blipFill rotWithShape="1">
          <a:blip r:embed="rId3">
            <a:alphaModFix/>
          </a:blip>
          <a:srcRect/>
          <a:stretch/>
        </p:blipFill>
        <p:spPr>
          <a:xfrm>
            <a:off x="3965149" y="3595531"/>
            <a:ext cx="1213696" cy="287900"/>
          </a:xfrm>
          <a:prstGeom prst="rect">
            <a:avLst/>
          </a:prstGeom>
          <a:noFill/>
          <a:ln>
            <a:noFill/>
          </a:ln>
        </p:spPr>
      </p:pic>
      <p:pic>
        <p:nvPicPr>
          <p:cNvPr id="232" name="Google Shape;232;p15"/>
          <p:cNvPicPr preferRelativeResize="0"/>
          <p:nvPr/>
        </p:nvPicPr>
        <p:blipFill rotWithShape="1">
          <a:blip r:embed="rId3">
            <a:alphaModFix/>
          </a:blip>
          <a:srcRect r="60435"/>
          <a:stretch/>
        </p:blipFill>
        <p:spPr>
          <a:xfrm>
            <a:off x="3579600" y="3261504"/>
            <a:ext cx="480200" cy="287900"/>
          </a:xfrm>
          <a:prstGeom prst="rect">
            <a:avLst/>
          </a:prstGeom>
          <a:noFill/>
          <a:ln>
            <a:noFill/>
          </a:ln>
        </p:spPr>
      </p:pic>
      <p:pic>
        <p:nvPicPr>
          <p:cNvPr id="233" name="Google Shape;233;p15"/>
          <p:cNvPicPr preferRelativeResize="0"/>
          <p:nvPr/>
        </p:nvPicPr>
        <p:blipFill rotWithShape="1">
          <a:blip r:embed="rId3">
            <a:alphaModFix/>
          </a:blip>
          <a:srcRect r="60435"/>
          <a:stretch/>
        </p:blipFill>
        <p:spPr>
          <a:xfrm>
            <a:off x="4059800" y="3995560"/>
            <a:ext cx="480200" cy="287900"/>
          </a:xfrm>
          <a:prstGeom prst="rect">
            <a:avLst/>
          </a:prstGeom>
          <a:noFill/>
          <a:ln>
            <a:noFill/>
          </a:ln>
        </p:spPr>
      </p:pic>
      <p:pic>
        <p:nvPicPr>
          <p:cNvPr id="234" name="Google Shape;234;p15"/>
          <p:cNvPicPr preferRelativeResize="0"/>
          <p:nvPr/>
        </p:nvPicPr>
        <p:blipFill rotWithShape="1">
          <a:blip r:embed="rId3">
            <a:alphaModFix/>
          </a:blip>
          <a:srcRect l="63408"/>
          <a:stretch/>
        </p:blipFill>
        <p:spPr>
          <a:xfrm>
            <a:off x="5035300" y="3995560"/>
            <a:ext cx="444100" cy="287900"/>
          </a:xfrm>
          <a:prstGeom prst="rect">
            <a:avLst/>
          </a:prstGeom>
          <a:noFill/>
          <a:ln>
            <a:noFill/>
          </a:ln>
        </p:spPr>
      </p:pic>
      <p:pic>
        <p:nvPicPr>
          <p:cNvPr id="235" name="Google Shape;235;p15"/>
          <p:cNvPicPr preferRelativeResize="0"/>
          <p:nvPr/>
        </p:nvPicPr>
        <p:blipFill rotWithShape="1">
          <a:blip r:embed="rId3">
            <a:alphaModFix/>
          </a:blip>
          <a:srcRect r="60435"/>
          <a:stretch/>
        </p:blipFill>
        <p:spPr>
          <a:xfrm>
            <a:off x="7557801" y="3995560"/>
            <a:ext cx="480200" cy="287900"/>
          </a:xfrm>
          <a:prstGeom prst="rect">
            <a:avLst/>
          </a:prstGeom>
          <a:noFill/>
          <a:ln>
            <a:noFill/>
          </a:ln>
        </p:spPr>
      </p:pic>
      <p:pic>
        <p:nvPicPr>
          <p:cNvPr id="236" name="Google Shape;236;p15"/>
          <p:cNvPicPr preferRelativeResize="0"/>
          <p:nvPr/>
        </p:nvPicPr>
        <p:blipFill rotWithShape="1">
          <a:blip r:embed="rId4">
            <a:alphaModFix/>
          </a:blip>
          <a:srcRect/>
          <a:stretch/>
        </p:blipFill>
        <p:spPr>
          <a:xfrm>
            <a:off x="3191450" y="4604500"/>
            <a:ext cx="2713450" cy="287900"/>
          </a:xfrm>
          <a:prstGeom prst="rect">
            <a:avLst/>
          </a:prstGeom>
          <a:noFill/>
          <a:ln>
            <a:noFill/>
          </a:ln>
        </p:spPr>
      </p:pic>
      <p:sp>
        <p:nvSpPr>
          <p:cNvPr id="237" name="Google Shape;237;p15"/>
          <p:cNvSpPr/>
          <p:nvPr/>
        </p:nvSpPr>
        <p:spPr>
          <a:xfrm>
            <a:off x="3886650" y="3582225"/>
            <a:ext cx="1370700" cy="320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5"/>
          <p:cNvSpPr/>
          <p:nvPr/>
        </p:nvSpPr>
        <p:spPr>
          <a:xfrm>
            <a:off x="3107250" y="4538754"/>
            <a:ext cx="2929500" cy="419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9" name="Google Shape;239;p15"/>
          <p:cNvPicPr preferRelativeResize="0"/>
          <p:nvPr/>
        </p:nvPicPr>
        <p:blipFill rotWithShape="1">
          <a:blip r:embed="rId5">
            <a:alphaModFix/>
          </a:blip>
          <a:srcRect/>
          <a:stretch/>
        </p:blipFill>
        <p:spPr>
          <a:xfrm>
            <a:off x="3667742" y="2866882"/>
            <a:ext cx="1760863" cy="287900"/>
          </a:xfrm>
          <a:prstGeom prst="rect">
            <a:avLst/>
          </a:prstGeom>
          <a:noFill/>
          <a:ln>
            <a:noFill/>
          </a:ln>
        </p:spPr>
      </p:pic>
      <p:sp>
        <p:nvSpPr>
          <p:cNvPr id="240" name="Google Shape;240;p15"/>
          <p:cNvSpPr/>
          <p:nvPr/>
        </p:nvSpPr>
        <p:spPr>
          <a:xfrm>
            <a:off x="2522125" y="2163000"/>
            <a:ext cx="4052100" cy="380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1" name="Google Shape;241;p15"/>
          <p:cNvPicPr preferRelativeResize="0"/>
          <p:nvPr/>
        </p:nvPicPr>
        <p:blipFill rotWithShape="1">
          <a:blip r:embed="rId6">
            <a:alphaModFix/>
          </a:blip>
          <a:srcRect/>
          <a:stretch/>
        </p:blipFill>
        <p:spPr>
          <a:xfrm>
            <a:off x="2655812" y="2208075"/>
            <a:ext cx="3784725" cy="290250"/>
          </a:xfrm>
          <a:prstGeom prst="rect">
            <a:avLst/>
          </a:prstGeom>
          <a:noFill/>
          <a:ln>
            <a:noFill/>
          </a:ln>
        </p:spPr>
      </p:pic>
      <p:sp>
        <p:nvSpPr>
          <p:cNvPr id="2" name="Slide Number Placeholder 1">
            <a:extLst>
              <a:ext uri="{FF2B5EF4-FFF2-40B4-BE49-F238E27FC236}">
                <a16:creationId xmlns:a16="http://schemas.microsoft.com/office/drawing/2014/main" id="{CE8F7335-9C53-6FA0-0A73-E2BDAF8BE55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7"/>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Aim: Learn a function with low “risk”</a:t>
            </a:r>
            <a:endParaRPr/>
          </a:p>
        </p:txBody>
      </p:sp>
      <p:sp>
        <p:nvSpPr>
          <p:cNvPr id="255" name="Google Shape;255;p17"/>
          <p:cNvSpPr txBox="1">
            <a:spLocks noGrp="1"/>
          </p:cNvSpPr>
          <p:nvPr>
            <p:ph type="body" idx="1"/>
          </p:nvPr>
        </p:nvSpPr>
        <p:spPr>
          <a:xfrm>
            <a:off x="729450" y="2078875"/>
            <a:ext cx="7688700" cy="2576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b="1" dirty="0"/>
              <a:t>Risk: </a:t>
            </a:r>
            <a:r>
              <a:rPr lang="en" sz="1600" dirty="0"/>
              <a:t>What we want to minimize</a:t>
            </a:r>
            <a:br>
              <a:rPr lang="en" sz="1600" b="1" dirty="0"/>
            </a:br>
            <a:endParaRPr sz="1600" b="1" dirty="0"/>
          </a:p>
          <a:p>
            <a:pPr marL="0" lvl="0" indent="0" algn="l" rtl="0">
              <a:lnSpc>
                <a:spcPct val="115000"/>
              </a:lnSpc>
              <a:spcBef>
                <a:spcPts val="1200"/>
              </a:spcBef>
              <a:spcAft>
                <a:spcPts val="1200"/>
              </a:spcAft>
              <a:buSzPts val="1300"/>
              <a:buNone/>
            </a:pPr>
            <a:br>
              <a:rPr lang="en" sz="1600" b="1" dirty="0"/>
            </a:br>
            <a:r>
              <a:rPr lang="en" sz="1600" b="1" dirty="0"/>
              <a:t>Empirical Risk:</a:t>
            </a:r>
            <a:r>
              <a:rPr lang="en" sz="1600" dirty="0"/>
              <a:t> What we can actually calculate (loss for a “candidate” model </a:t>
            </a:r>
            <a:r>
              <a:rPr lang="en" sz="1600" b="1" i="1" dirty="0"/>
              <a:t>h</a:t>
            </a:r>
            <a:r>
              <a:rPr lang="en" sz="1600" dirty="0"/>
              <a:t>, averaged over </a:t>
            </a:r>
            <a:r>
              <a:rPr lang="en" sz="1600" b="1" i="1" dirty="0"/>
              <a:t>N</a:t>
            </a:r>
            <a:r>
              <a:rPr lang="en" sz="1600" i="1" dirty="0"/>
              <a:t> </a:t>
            </a:r>
            <a:r>
              <a:rPr lang="en" sz="1600" dirty="0"/>
              <a:t>training examples)</a:t>
            </a:r>
            <a:endParaRPr sz="1600" dirty="0"/>
          </a:p>
        </p:txBody>
      </p:sp>
      <p:pic>
        <p:nvPicPr>
          <p:cNvPr id="256" name="Google Shape;256;p17"/>
          <p:cNvPicPr preferRelativeResize="0"/>
          <p:nvPr/>
        </p:nvPicPr>
        <p:blipFill rotWithShape="1">
          <a:blip r:embed="rId3">
            <a:alphaModFix/>
          </a:blip>
          <a:srcRect b="72077"/>
          <a:stretch/>
        </p:blipFill>
        <p:spPr>
          <a:xfrm>
            <a:off x="2764450" y="2581075"/>
            <a:ext cx="3254875" cy="300200"/>
          </a:xfrm>
          <a:prstGeom prst="rect">
            <a:avLst/>
          </a:prstGeom>
          <a:noFill/>
          <a:ln>
            <a:noFill/>
          </a:ln>
        </p:spPr>
      </p:pic>
      <p:pic>
        <p:nvPicPr>
          <p:cNvPr id="257" name="Google Shape;257;p17"/>
          <p:cNvPicPr preferRelativeResize="0"/>
          <p:nvPr/>
        </p:nvPicPr>
        <p:blipFill rotWithShape="1">
          <a:blip r:embed="rId3">
            <a:alphaModFix/>
          </a:blip>
          <a:srcRect t="30901"/>
          <a:stretch/>
        </p:blipFill>
        <p:spPr>
          <a:xfrm>
            <a:off x="2946350" y="3768300"/>
            <a:ext cx="3254875" cy="742900"/>
          </a:xfrm>
          <a:prstGeom prst="rect">
            <a:avLst/>
          </a:prstGeom>
          <a:noFill/>
          <a:ln>
            <a:noFill/>
          </a:ln>
        </p:spPr>
      </p:pic>
      <p:sp>
        <p:nvSpPr>
          <p:cNvPr id="258" name="Google Shape;258;p17"/>
          <p:cNvSpPr txBox="1"/>
          <p:nvPr/>
        </p:nvSpPr>
        <p:spPr>
          <a:xfrm>
            <a:off x="5066400" y="4655575"/>
            <a:ext cx="4077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Lato"/>
                <a:ea typeface="Lato"/>
                <a:cs typeface="Lato"/>
                <a:sym typeface="Lato"/>
              </a:rPr>
              <a:t>Slide adapted from Jaeger, H.  (2022) </a:t>
            </a:r>
            <a:r>
              <a:rPr lang="en" sz="1000" b="0" i="1" u="none" strike="noStrike" cap="none">
                <a:solidFill>
                  <a:srgbClr val="000000"/>
                </a:solidFill>
                <a:latin typeface="Lato"/>
                <a:ea typeface="Lato"/>
                <a:cs typeface="Lato"/>
                <a:sym typeface="Lato"/>
              </a:rPr>
              <a:t>Neural Networks </a:t>
            </a:r>
            <a:r>
              <a:rPr lang="en" sz="1000" b="0" i="0" u="none" strike="noStrike" cap="none">
                <a:solidFill>
                  <a:srgbClr val="000000"/>
                </a:solidFill>
                <a:latin typeface="Lato"/>
                <a:ea typeface="Lato"/>
                <a:cs typeface="Lato"/>
                <a:sym typeface="Lato"/>
              </a:rPr>
              <a:t>Lecture Notes, https://www.ai.rug.nl/minds/uploads/LN_NN_RUG.pdf</a:t>
            </a:r>
            <a:endParaRPr sz="1000" b="0" i="0" u="none" strike="noStrike" cap="none">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CF2923C3-98E3-F22F-F588-FB21DE963F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8"/>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Common Approaches</a:t>
            </a:r>
            <a:endParaRPr/>
          </a:p>
        </p:txBody>
      </p:sp>
      <p:sp>
        <p:nvSpPr>
          <p:cNvPr id="264" name="Google Shape;264;p18"/>
          <p:cNvSpPr txBox="1">
            <a:spLocks noGrp="1"/>
          </p:cNvSpPr>
          <p:nvPr>
            <p:ph type="body" idx="1"/>
          </p:nvPr>
        </p:nvSpPr>
        <p:spPr>
          <a:xfrm>
            <a:off x="729450" y="2244275"/>
            <a:ext cx="4116300" cy="2261100"/>
          </a:xfrm>
          <a:prstGeom prst="rect">
            <a:avLst/>
          </a:prstGeom>
          <a:noFill/>
          <a:ln>
            <a:noFill/>
          </a:ln>
        </p:spPr>
        <p:txBody>
          <a:bodyPr spcFirstLastPara="1" wrap="square" lIns="91425" tIns="91425" rIns="91425" bIns="91425" anchor="t" anchorCtr="0">
            <a:normAutofit/>
          </a:bodyPr>
          <a:lstStyle/>
          <a:p>
            <a:pPr marL="457200" lvl="0" indent="-330200" algn="l" rtl="0">
              <a:lnSpc>
                <a:spcPct val="115000"/>
              </a:lnSpc>
              <a:spcBef>
                <a:spcPts val="0"/>
              </a:spcBef>
              <a:spcAft>
                <a:spcPts val="0"/>
              </a:spcAft>
              <a:buSzPts val="1600"/>
              <a:buChar char="-"/>
            </a:pPr>
            <a:r>
              <a:rPr lang="en" sz="1600"/>
              <a:t>Linear/Polynomial/Logistic Regression</a:t>
            </a:r>
            <a:endParaRPr sz="1600"/>
          </a:p>
          <a:p>
            <a:pPr marL="457200" lvl="0" indent="-330200" algn="l" rtl="0">
              <a:lnSpc>
                <a:spcPct val="115000"/>
              </a:lnSpc>
              <a:spcBef>
                <a:spcPts val="0"/>
              </a:spcBef>
              <a:spcAft>
                <a:spcPts val="0"/>
              </a:spcAft>
              <a:buSzPts val="1600"/>
              <a:buChar char="-"/>
            </a:pPr>
            <a:r>
              <a:rPr lang="en" sz="1600"/>
              <a:t>(Boosted) Decision trees</a:t>
            </a:r>
            <a:endParaRPr sz="1600"/>
          </a:p>
          <a:p>
            <a:pPr marL="457200" lvl="0" indent="-330200" algn="l" rtl="0">
              <a:lnSpc>
                <a:spcPct val="115000"/>
              </a:lnSpc>
              <a:spcBef>
                <a:spcPts val="0"/>
              </a:spcBef>
              <a:spcAft>
                <a:spcPts val="0"/>
              </a:spcAft>
              <a:buSzPts val="1600"/>
              <a:buChar char="-"/>
            </a:pPr>
            <a:r>
              <a:rPr lang="en" sz="1600"/>
              <a:t>Support Vector Machines</a:t>
            </a:r>
            <a:endParaRPr sz="1600"/>
          </a:p>
          <a:p>
            <a:pPr marL="457200" lvl="0" indent="-330200" algn="l" rtl="0">
              <a:lnSpc>
                <a:spcPct val="115000"/>
              </a:lnSpc>
              <a:spcBef>
                <a:spcPts val="0"/>
              </a:spcBef>
              <a:spcAft>
                <a:spcPts val="0"/>
              </a:spcAft>
              <a:buSzPts val="1600"/>
              <a:buChar char="-"/>
            </a:pPr>
            <a:r>
              <a:rPr lang="en" sz="1600"/>
              <a:t>Naive Bayes</a:t>
            </a:r>
            <a:endParaRPr sz="1600"/>
          </a:p>
          <a:p>
            <a:pPr marL="457200" lvl="0" indent="-330200" algn="l" rtl="0">
              <a:lnSpc>
                <a:spcPct val="115000"/>
              </a:lnSpc>
              <a:spcBef>
                <a:spcPts val="0"/>
              </a:spcBef>
              <a:spcAft>
                <a:spcPts val="0"/>
              </a:spcAft>
              <a:buSzPts val="1600"/>
              <a:buChar char="-"/>
            </a:pPr>
            <a:r>
              <a:rPr lang="en" sz="1600"/>
              <a:t>Neural Networks</a:t>
            </a:r>
            <a:endParaRPr sz="1600"/>
          </a:p>
          <a:p>
            <a:pPr marL="457200" lvl="0" indent="-330200" algn="l" rtl="0">
              <a:lnSpc>
                <a:spcPct val="115000"/>
              </a:lnSpc>
              <a:spcBef>
                <a:spcPts val="0"/>
              </a:spcBef>
              <a:spcAft>
                <a:spcPts val="0"/>
              </a:spcAft>
              <a:buSzPts val="1600"/>
              <a:buChar char="-"/>
            </a:pPr>
            <a:r>
              <a:rPr lang="en" sz="1600"/>
              <a:t>…</a:t>
            </a:r>
            <a:endParaRPr sz="1600"/>
          </a:p>
        </p:txBody>
      </p:sp>
      <p:pic>
        <p:nvPicPr>
          <p:cNvPr id="265" name="Google Shape;265;p18"/>
          <p:cNvPicPr preferRelativeResize="0"/>
          <p:nvPr/>
        </p:nvPicPr>
        <p:blipFill rotWithShape="1">
          <a:blip r:embed="rId3">
            <a:alphaModFix/>
          </a:blip>
          <a:srcRect/>
          <a:stretch/>
        </p:blipFill>
        <p:spPr>
          <a:xfrm>
            <a:off x="7173063" y="2532713"/>
            <a:ext cx="1951725" cy="382869"/>
          </a:xfrm>
          <a:prstGeom prst="rect">
            <a:avLst/>
          </a:prstGeom>
          <a:noFill/>
          <a:ln>
            <a:noFill/>
          </a:ln>
        </p:spPr>
      </p:pic>
      <p:pic>
        <p:nvPicPr>
          <p:cNvPr id="266" name="Google Shape;266;p18"/>
          <p:cNvPicPr preferRelativeResize="0"/>
          <p:nvPr/>
        </p:nvPicPr>
        <p:blipFill rotWithShape="1">
          <a:blip r:embed="rId4">
            <a:alphaModFix/>
          </a:blip>
          <a:srcRect l="7166" t="27787" r="6693"/>
          <a:stretch/>
        </p:blipFill>
        <p:spPr>
          <a:xfrm>
            <a:off x="6153484" y="3368300"/>
            <a:ext cx="2352794" cy="1326400"/>
          </a:xfrm>
          <a:prstGeom prst="rect">
            <a:avLst/>
          </a:prstGeom>
          <a:noFill/>
          <a:ln>
            <a:noFill/>
          </a:ln>
        </p:spPr>
      </p:pic>
      <p:pic>
        <p:nvPicPr>
          <p:cNvPr id="267" name="Google Shape;267;p18"/>
          <p:cNvPicPr preferRelativeResize="0"/>
          <p:nvPr/>
        </p:nvPicPr>
        <p:blipFill rotWithShape="1">
          <a:blip r:embed="rId5">
            <a:alphaModFix/>
          </a:blip>
          <a:srcRect l="52202" r="6313"/>
          <a:stretch/>
        </p:blipFill>
        <p:spPr>
          <a:xfrm>
            <a:off x="5431563" y="2032200"/>
            <a:ext cx="1339625" cy="1383900"/>
          </a:xfrm>
          <a:prstGeom prst="rect">
            <a:avLst/>
          </a:prstGeom>
          <a:noFill/>
          <a:ln>
            <a:noFill/>
          </a:ln>
        </p:spPr>
      </p:pic>
      <p:sp>
        <p:nvSpPr>
          <p:cNvPr id="268" name="Google Shape;268;p18"/>
          <p:cNvSpPr txBox="1"/>
          <p:nvPr/>
        </p:nvSpPr>
        <p:spPr>
          <a:xfrm>
            <a:off x="5431563" y="4804800"/>
            <a:ext cx="3712562" cy="338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 sz="1000" b="0" i="1" u="none" strike="noStrike" cap="none" dirty="0">
                <a:solidFill>
                  <a:srgbClr val="000000"/>
                </a:solidFill>
                <a:latin typeface="Lato"/>
                <a:ea typeface="Lato"/>
                <a:cs typeface="Lato"/>
                <a:sym typeface="Lato"/>
              </a:rPr>
              <a:t>Images of regressions, decision tree, and SVM from scikit-learn.org</a:t>
            </a:r>
            <a:endParaRPr sz="1000" b="0" i="1" u="none" strike="noStrike" cap="none" dirty="0">
              <a:solidFill>
                <a:srgbClr val="000000"/>
              </a:solidFill>
              <a:latin typeface="Lato"/>
              <a:ea typeface="Lato"/>
              <a:cs typeface="Lato"/>
              <a:sym typeface="Lato"/>
            </a:endParaRPr>
          </a:p>
        </p:txBody>
      </p:sp>
      <p:pic>
        <p:nvPicPr>
          <p:cNvPr id="269" name="Google Shape;269;p18"/>
          <p:cNvPicPr preferRelativeResize="0"/>
          <p:nvPr/>
        </p:nvPicPr>
        <p:blipFill rotWithShape="1">
          <a:blip r:embed="rId6">
            <a:alphaModFix/>
          </a:blip>
          <a:srcRect l="3857" t="8659" r="10620"/>
          <a:stretch/>
        </p:blipFill>
        <p:spPr>
          <a:xfrm>
            <a:off x="5138150" y="710050"/>
            <a:ext cx="1774050" cy="1326401"/>
          </a:xfrm>
          <a:prstGeom prst="rect">
            <a:avLst/>
          </a:prstGeom>
          <a:noFill/>
          <a:ln>
            <a:noFill/>
          </a:ln>
        </p:spPr>
      </p:pic>
      <p:pic>
        <p:nvPicPr>
          <p:cNvPr id="270" name="Google Shape;270;p18"/>
          <p:cNvPicPr preferRelativeResize="0"/>
          <p:nvPr/>
        </p:nvPicPr>
        <p:blipFill rotWithShape="1">
          <a:blip r:embed="rId7">
            <a:alphaModFix/>
          </a:blip>
          <a:srcRect/>
          <a:stretch/>
        </p:blipFill>
        <p:spPr>
          <a:xfrm>
            <a:off x="7084250" y="481450"/>
            <a:ext cx="1951699" cy="1701651"/>
          </a:xfrm>
          <a:prstGeom prst="rect">
            <a:avLst/>
          </a:prstGeom>
          <a:noFill/>
          <a:ln>
            <a:noFill/>
          </a:ln>
        </p:spPr>
      </p:pic>
      <p:sp>
        <p:nvSpPr>
          <p:cNvPr id="2" name="Slide Number Placeholder 1">
            <a:extLst>
              <a:ext uri="{FF2B5EF4-FFF2-40B4-BE49-F238E27FC236}">
                <a16:creationId xmlns:a16="http://schemas.microsoft.com/office/drawing/2014/main" id="{D999A220-7711-4307-17BF-94629E8BEF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9"/>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Artificial vs Biological NNs</a:t>
            </a:r>
            <a:endParaRPr/>
          </a:p>
        </p:txBody>
      </p:sp>
      <p:pic>
        <p:nvPicPr>
          <p:cNvPr id="276" name="Google Shape;276;p19"/>
          <p:cNvPicPr preferRelativeResize="0"/>
          <p:nvPr/>
        </p:nvPicPr>
        <p:blipFill rotWithShape="1">
          <a:blip r:embed="rId3">
            <a:alphaModFix/>
          </a:blip>
          <a:srcRect/>
          <a:stretch/>
        </p:blipFill>
        <p:spPr>
          <a:xfrm>
            <a:off x="6135312" y="578087"/>
            <a:ext cx="2919925" cy="2016325"/>
          </a:xfrm>
          <a:prstGeom prst="rect">
            <a:avLst/>
          </a:prstGeom>
          <a:noFill/>
          <a:ln>
            <a:noFill/>
          </a:ln>
        </p:spPr>
      </p:pic>
      <p:sp>
        <p:nvSpPr>
          <p:cNvPr id="277" name="Google Shape;277;p19"/>
          <p:cNvSpPr txBox="1">
            <a:spLocks noGrp="1"/>
          </p:cNvSpPr>
          <p:nvPr>
            <p:ph type="body" idx="1"/>
          </p:nvPr>
        </p:nvSpPr>
        <p:spPr>
          <a:xfrm>
            <a:off x="729450" y="2006250"/>
            <a:ext cx="7275600" cy="30063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115000"/>
              </a:lnSpc>
              <a:spcBef>
                <a:spcPts val="0"/>
              </a:spcBef>
              <a:spcAft>
                <a:spcPts val="0"/>
              </a:spcAft>
              <a:buSzPts val="1300"/>
              <a:buNone/>
            </a:pPr>
            <a:r>
              <a:rPr lang="en" b="1" dirty="0"/>
              <a:t>ANNs initially inspired by the brain:</a:t>
            </a:r>
            <a:br>
              <a:rPr lang="en" b="1" dirty="0"/>
            </a:br>
            <a:r>
              <a:rPr lang="en" b="1" dirty="0"/>
              <a:t>	Alexander Bain (1873), William James (1890)</a:t>
            </a:r>
            <a:br>
              <a:rPr lang="en" dirty="0"/>
            </a:br>
            <a:r>
              <a:rPr lang="en" dirty="0"/>
              <a:t>		Electrical connections/flow of neurons result in thought </a:t>
            </a:r>
            <a:br>
              <a:rPr lang="en" dirty="0"/>
            </a:br>
            <a:r>
              <a:rPr lang="en" dirty="0"/>
              <a:t>		and movement</a:t>
            </a:r>
            <a:br>
              <a:rPr lang="en" dirty="0"/>
            </a:br>
            <a:r>
              <a:rPr lang="en" dirty="0"/>
              <a:t>	</a:t>
            </a:r>
            <a:r>
              <a:rPr lang="en" b="1" dirty="0"/>
              <a:t>McColloch &amp; Pitts (1943)</a:t>
            </a:r>
            <a:br>
              <a:rPr lang="en" b="1" dirty="0"/>
            </a:br>
            <a:r>
              <a:rPr lang="en" b="1" dirty="0"/>
              <a:t>		</a:t>
            </a:r>
            <a:r>
              <a:rPr lang="en" dirty="0"/>
              <a:t>Modern mathematical “artificial” NN models</a:t>
            </a:r>
            <a:br>
              <a:rPr lang="en" dirty="0"/>
            </a:br>
            <a:r>
              <a:rPr lang="en" dirty="0"/>
              <a:t>	</a:t>
            </a:r>
            <a:r>
              <a:rPr lang="en" b="1" dirty="0"/>
              <a:t>Rosenblatt (1958)</a:t>
            </a:r>
            <a:br>
              <a:rPr lang="en" b="1" dirty="0"/>
            </a:br>
            <a:r>
              <a:rPr lang="en" b="1" dirty="0"/>
              <a:t>		</a:t>
            </a:r>
            <a:r>
              <a:rPr lang="en" dirty="0"/>
              <a:t>Description of the </a:t>
            </a:r>
            <a:r>
              <a:rPr lang="en" i="1" dirty="0"/>
              <a:t>perceptron</a:t>
            </a:r>
            <a:br>
              <a:rPr lang="en" i="1" dirty="0"/>
            </a:br>
            <a:r>
              <a:rPr lang="en" i="1" dirty="0"/>
              <a:t>	</a:t>
            </a:r>
            <a:r>
              <a:rPr lang="en" b="1" dirty="0"/>
              <a:t>Rumelhart, Hinton &amp; Williams (1986)</a:t>
            </a:r>
            <a:br>
              <a:rPr lang="en" b="1" dirty="0"/>
            </a:br>
            <a:r>
              <a:rPr lang="en" b="1" dirty="0"/>
              <a:t>		</a:t>
            </a:r>
            <a:r>
              <a:rPr lang="en" i="1" dirty="0"/>
              <a:t>Multi-layer</a:t>
            </a:r>
            <a:r>
              <a:rPr lang="en" dirty="0"/>
              <a:t> perceptrons and error backpropagation (learning principle)</a:t>
            </a:r>
            <a:endParaRPr dirty="0"/>
          </a:p>
          <a:p>
            <a:pPr marL="0" lvl="0" indent="0">
              <a:buNone/>
            </a:pPr>
            <a:r>
              <a:rPr lang="en" b="1" dirty="0"/>
              <a:t>Modern:</a:t>
            </a:r>
            <a:br>
              <a:rPr lang="en" b="1" dirty="0"/>
            </a:br>
            <a:r>
              <a:rPr lang="en" dirty="0"/>
              <a:t>	- ANNs used </a:t>
            </a:r>
            <a:r>
              <a:rPr lang="en" i="1" dirty="0"/>
              <a:t>everywhere</a:t>
            </a:r>
            <a:r>
              <a:rPr lang="en" dirty="0"/>
              <a:t> for </a:t>
            </a:r>
            <a:r>
              <a:rPr lang="en" i="1" dirty="0"/>
              <a:t>everything!</a:t>
            </a:r>
            <a:br>
              <a:rPr lang="en" b="1" dirty="0"/>
            </a:br>
            <a:r>
              <a:rPr lang="en" b="1" dirty="0"/>
              <a:t>	</a:t>
            </a:r>
            <a:r>
              <a:rPr lang="en" dirty="0"/>
              <a:t>- Simplified, abstracted version of biological neurons</a:t>
            </a:r>
            <a:br>
              <a:rPr lang="en" dirty="0"/>
            </a:br>
            <a:r>
              <a:rPr lang="en" dirty="0"/>
              <a:t>	- Biologically implausible</a:t>
            </a:r>
            <a:r>
              <a:rPr lang="en" altLang="zh-CN" dirty="0"/>
              <a:t> </a:t>
            </a:r>
          </a:p>
          <a:p>
            <a:pPr marL="0" lvl="0" indent="0">
              <a:buNone/>
            </a:pPr>
            <a:r>
              <a:rPr lang="en" altLang="zh-CN" dirty="0"/>
              <a:t>                       - Yann LeCunn calls them “units” instead of “neurons”</a:t>
            </a:r>
            <a:endParaRPr dirty="0"/>
          </a:p>
        </p:txBody>
      </p:sp>
      <p:sp>
        <p:nvSpPr>
          <p:cNvPr id="278" name="Google Shape;278;p19"/>
          <p:cNvSpPr txBox="1"/>
          <p:nvPr/>
        </p:nvSpPr>
        <p:spPr>
          <a:xfrm>
            <a:off x="6968622" y="2516739"/>
            <a:ext cx="1842030" cy="30774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800" b="0" i="1" u="none" strike="noStrike" cap="none" dirty="0">
                <a:solidFill>
                  <a:srgbClr val="000000"/>
                </a:solidFill>
                <a:latin typeface="Lato"/>
                <a:ea typeface="Lato"/>
                <a:cs typeface="Lato"/>
                <a:sym typeface="Lato"/>
              </a:rPr>
              <a:t>linkedin.com/company/deeplearningai</a:t>
            </a:r>
            <a:endParaRPr sz="800" b="0" i="1"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F4F1FDCB-D35A-EEBA-DE5D-31A0701AB3C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
        <p:nvSpPr>
          <p:cNvPr id="3" name="Rectangle 2">
            <a:extLst>
              <a:ext uri="{FF2B5EF4-FFF2-40B4-BE49-F238E27FC236}">
                <a16:creationId xmlns:a16="http://schemas.microsoft.com/office/drawing/2014/main" id="{24471E97-CFB7-742C-05EF-32C0F7ACB840}"/>
              </a:ext>
            </a:extLst>
          </p:cNvPr>
          <p:cNvSpPr/>
          <p:nvPr/>
        </p:nvSpPr>
        <p:spPr>
          <a:xfrm>
            <a:off x="6275275" y="536387"/>
            <a:ext cx="2638395" cy="4707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0"/>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600"/>
              <a:buNone/>
            </a:pPr>
            <a:r>
              <a:rPr lang="en" dirty="0"/>
              <a:t>Building a Neural Network</a:t>
            </a:r>
            <a:endParaRPr dirty="0"/>
          </a:p>
          <a:p>
            <a:pPr marL="0" lvl="0" indent="0" algn="l" rtl="0">
              <a:lnSpc>
                <a:spcPct val="100000"/>
              </a:lnSpc>
              <a:spcBef>
                <a:spcPts val="0"/>
              </a:spcBef>
              <a:spcAft>
                <a:spcPts val="0"/>
              </a:spcAft>
              <a:buSzPts val="3600"/>
              <a:buNone/>
            </a:pPr>
            <a:r>
              <a:rPr lang="en" dirty="0"/>
              <a:t>From Scratch</a:t>
            </a:r>
            <a:endParaRPr b="0" dirty="0"/>
          </a:p>
        </p:txBody>
      </p:sp>
      <p:sp>
        <p:nvSpPr>
          <p:cNvPr id="2" name="Slide Number Placeholder 1">
            <a:extLst>
              <a:ext uri="{FF2B5EF4-FFF2-40B4-BE49-F238E27FC236}">
                <a16:creationId xmlns:a16="http://schemas.microsoft.com/office/drawing/2014/main" id="{147B3AE2-828E-88CD-2D8C-C192DEC31A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p26"/>
          <p:cNvPicPr preferRelativeResize="0"/>
          <p:nvPr/>
        </p:nvPicPr>
        <p:blipFill rotWithShape="1">
          <a:blip r:embed="rId3">
            <a:alphaModFix/>
          </a:blip>
          <a:srcRect/>
          <a:stretch/>
        </p:blipFill>
        <p:spPr>
          <a:xfrm>
            <a:off x="144534" y="1452800"/>
            <a:ext cx="4651901" cy="3141307"/>
          </a:xfrm>
          <a:prstGeom prst="rect">
            <a:avLst/>
          </a:prstGeom>
          <a:noFill/>
          <a:ln>
            <a:noFill/>
          </a:ln>
        </p:spPr>
      </p:pic>
      <p:sp>
        <p:nvSpPr>
          <p:cNvPr id="328" name="Google Shape;328;p26"/>
          <p:cNvSpPr txBox="1">
            <a:spLocks noGrp="1"/>
          </p:cNvSpPr>
          <p:nvPr>
            <p:ph type="title"/>
          </p:nvPr>
        </p:nvSpPr>
        <p:spPr>
          <a:xfrm>
            <a:off x="237351" y="371211"/>
            <a:ext cx="76887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Perceptron</a:t>
            </a:r>
            <a:endParaRPr b="0" dirty="0"/>
          </a:p>
        </p:txBody>
      </p:sp>
      <p:sp>
        <p:nvSpPr>
          <p:cNvPr id="329" name="Google Shape;329;p26"/>
          <p:cNvSpPr txBox="1"/>
          <p:nvPr/>
        </p:nvSpPr>
        <p:spPr>
          <a:xfrm>
            <a:off x="58998" y="4395851"/>
            <a:ext cx="5033400" cy="7080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000000"/>
              </a:buClr>
              <a:buSzPts val="1700"/>
              <a:buFont typeface="Lato"/>
              <a:buChar char="-"/>
            </a:pPr>
            <a:r>
              <a:rPr lang="en" sz="1700" b="0" i="0" u="none" strike="noStrike" cap="none" dirty="0">
                <a:solidFill>
                  <a:srgbClr val="000000"/>
                </a:solidFill>
                <a:latin typeface="Lato"/>
                <a:ea typeface="Lato"/>
                <a:cs typeface="Lato"/>
                <a:sym typeface="Lato"/>
              </a:rPr>
              <a:t>A single “neuron”</a:t>
            </a:r>
            <a:endParaRPr sz="1700" b="0" i="0" u="none" strike="noStrike" cap="none" dirty="0">
              <a:solidFill>
                <a:srgbClr val="000000"/>
              </a:solidFill>
              <a:latin typeface="Lato"/>
              <a:ea typeface="Lato"/>
              <a:cs typeface="Lato"/>
              <a:sym typeface="Lato"/>
            </a:endParaRPr>
          </a:p>
          <a:p>
            <a:pPr marL="457200" marR="0" lvl="0" indent="-336550" algn="l" rtl="0">
              <a:lnSpc>
                <a:spcPct val="100000"/>
              </a:lnSpc>
              <a:spcBef>
                <a:spcPts val="0"/>
              </a:spcBef>
              <a:spcAft>
                <a:spcPts val="0"/>
              </a:spcAft>
              <a:buClr>
                <a:srgbClr val="000000"/>
              </a:buClr>
              <a:buSzPts val="1700"/>
              <a:buFont typeface="Lato"/>
              <a:buChar char="-"/>
            </a:pPr>
            <a:r>
              <a:rPr lang="en" sz="1700" b="0" i="0" u="none" strike="noStrike" cap="none" dirty="0">
                <a:solidFill>
                  <a:srgbClr val="000000"/>
                </a:solidFill>
                <a:latin typeface="Lato"/>
                <a:ea typeface="Lato"/>
                <a:cs typeface="Lato"/>
                <a:sym typeface="Lato"/>
              </a:rPr>
              <a:t>Only works on </a:t>
            </a:r>
            <a:r>
              <a:rPr lang="en" sz="1700" b="0" i="0" u="none" strike="noStrike" cap="none" dirty="0">
                <a:solidFill>
                  <a:srgbClr val="C00000"/>
                </a:solidFill>
                <a:latin typeface="Lato"/>
                <a:ea typeface="Lato"/>
                <a:cs typeface="Lato"/>
                <a:sym typeface="Lato"/>
              </a:rPr>
              <a:t>linearly separable </a:t>
            </a:r>
            <a:r>
              <a:rPr lang="en" sz="1700" b="0" i="0" u="none" strike="noStrike" cap="none" dirty="0">
                <a:solidFill>
                  <a:srgbClr val="000000"/>
                </a:solidFill>
                <a:latin typeface="Lato"/>
                <a:ea typeface="Lato"/>
                <a:cs typeface="Lato"/>
                <a:sym typeface="Lato"/>
              </a:rPr>
              <a:t>classes</a:t>
            </a:r>
            <a:endParaRPr sz="1700" b="0" i="0" u="none" strike="noStrike" cap="none" dirty="0">
              <a:solidFill>
                <a:srgbClr val="000000"/>
              </a:solidFill>
              <a:latin typeface="Lato"/>
              <a:ea typeface="Lato"/>
              <a:cs typeface="Lato"/>
              <a:sym typeface="Lato"/>
            </a:endParaRPr>
          </a:p>
        </p:txBody>
      </p:sp>
      <p:sp>
        <p:nvSpPr>
          <p:cNvPr id="330" name="Google Shape;330;p26"/>
          <p:cNvSpPr txBox="1"/>
          <p:nvPr/>
        </p:nvSpPr>
        <p:spPr>
          <a:xfrm>
            <a:off x="2849507" y="2423153"/>
            <a:ext cx="1850829"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u="none" strike="noStrike" cap="none" dirty="0">
                <a:solidFill>
                  <a:srgbClr val="000000"/>
                </a:solidFill>
                <a:latin typeface="Lato"/>
                <a:ea typeface="Lato"/>
                <a:cs typeface="Lato"/>
                <a:sym typeface="Lato"/>
              </a:rPr>
              <a:t>Activation function</a:t>
            </a:r>
            <a:endParaRPr sz="1400" b="0"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C52B8813-0043-C48A-249A-44166E34BE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pic>
        <p:nvPicPr>
          <p:cNvPr id="2050" name="Picture 2" descr="regular-perceptron">
            <a:extLst>
              <a:ext uri="{FF2B5EF4-FFF2-40B4-BE49-F238E27FC236}">
                <a16:creationId xmlns:a16="http://schemas.microsoft.com/office/drawing/2014/main" id="{B581FB45-D3B6-99E0-F227-7EB6E005A9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8193" y="1348225"/>
            <a:ext cx="4216809" cy="25500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C40D596-871D-B760-D31B-0200543DAA66}"/>
              </a:ext>
            </a:extLst>
          </p:cNvPr>
          <p:cNvSpPr txBox="1"/>
          <p:nvPr/>
        </p:nvSpPr>
        <p:spPr>
          <a:xfrm>
            <a:off x="5527589" y="3764358"/>
            <a:ext cx="3113902" cy="738664"/>
          </a:xfrm>
          <a:prstGeom prst="rect">
            <a:avLst/>
          </a:prstGeom>
          <a:noFill/>
        </p:spPr>
        <p:txBody>
          <a:bodyPr wrap="square" rtlCol="0">
            <a:spAutoFit/>
          </a:bodyPr>
          <a:lstStyle/>
          <a:p>
            <a:r>
              <a:rPr lang="en-US" altLang="zh-CN" dirty="0"/>
              <a:t>An example of perceptron w/ 2 inputs and binary threshold activation function.</a:t>
            </a:r>
            <a:endParaRPr lang="zh-CN" altLang="en-US" dirty="0"/>
          </a:p>
        </p:txBody>
      </p:sp>
      <p:pic>
        <p:nvPicPr>
          <p:cNvPr id="3" name="Google Shape;322;p25">
            <a:extLst>
              <a:ext uri="{FF2B5EF4-FFF2-40B4-BE49-F238E27FC236}">
                <a16:creationId xmlns:a16="http://schemas.microsoft.com/office/drawing/2014/main" id="{2E2E567E-506B-5602-6043-86B877FA087A}"/>
              </a:ext>
            </a:extLst>
          </p:cNvPr>
          <p:cNvPicPr preferRelativeResize="0"/>
          <p:nvPr/>
        </p:nvPicPr>
        <p:blipFill rotWithShape="1">
          <a:blip r:embed="rId5">
            <a:alphaModFix/>
          </a:blip>
          <a:srcRect/>
          <a:stretch/>
        </p:blipFill>
        <p:spPr>
          <a:xfrm>
            <a:off x="237351" y="1028108"/>
            <a:ext cx="4721670" cy="320117"/>
          </a:xfrm>
          <a:prstGeom prst="rect">
            <a:avLst/>
          </a:prstGeom>
          <a:solidFill>
            <a:schemeClr val="bg1"/>
          </a:solidFill>
          <a:ln>
            <a:noFill/>
          </a:ln>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599C1B-D03D-F006-2F8A-938260375FB9}"/>
                  </a:ext>
                </a:extLst>
              </p:cNvPr>
              <p:cNvSpPr txBox="1"/>
              <p:nvPr/>
            </p:nvSpPr>
            <p:spPr>
              <a:xfrm>
                <a:off x="751265" y="978733"/>
                <a:ext cx="227498" cy="369332"/>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𝜎</m:t>
                      </m:r>
                    </m:oMath>
                  </m:oMathPara>
                </a14:m>
                <a:endParaRPr lang="zh-CN" altLang="en-US" sz="2400" dirty="0"/>
              </a:p>
            </p:txBody>
          </p:sp>
        </mc:Choice>
        <mc:Fallback xmlns="">
          <p:sp>
            <p:nvSpPr>
              <p:cNvPr id="5" name="TextBox 4">
                <a:extLst>
                  <a:ext uri="{FF2B5EF4-FFF2-40B4-BE49-F238E27FC236}">
                    <a16:creationId xmlns:a16="http://schemas.microsoft.com/office/drawing/2014/main" id="{CC599C1B-D03D-F006-2F8A-938260375FB9}"/>
                  </a:ext>
                </a:extLst>
              </p:cNvPr>
              <p:cNvSpPr txBox="1">
                <a:spLocks noRot="1" noChangeAspect="1" noMove="1" noResize="1" noEditPoints="1" noAdjustHandles="1" noChangeArrowheads="1" noChangeShapeType="1" noTextEdit="1"/>
              </p:cNvSpPr>
              <p:nvPr/>
            </p:nvSpPr>
            <p:spPr>
              <a:xfrm>
                <a:off x="751265" y="978733"/>
                <a:ext cx="227498" cy="369332"/>
              </a:xfrm>
              <a:prstGeom prst="rect">
                <a:avLst/>
              </a:prstGeom>
              <a:blipFill>
                <a:blip r:embed="rId6"/>
                <a:stretch>
                  <a:fillRect l="-23684" r="-18421" b="-1667"/>
                </a:stretch>
              </a:blipFill>
            </p:spPr>
            <p:txBody>
              <a:bodyPr/>
              <a:lstStyle/>
              <a:p>
                <a:r>
                  <a:rPr lang="zh-CN" altLang="en-US">
                    <a:noFill/>
                  </a:rPr>
                  <a:t> </a:t>
                </a:r>
              </a:p>
            </p:txBody>
          </p:sp>
        </mc:Fallback>
      </mc:AlternateContent>
      <p:pic>
        <p:nvPicPr>
          <p:cNvPr id="6" name="Google Shape;313;p24">
            <a:extLst>
              <a:ext uri="{FF2B5EF4-FFF2-40B4-BE49-F238E27FC236}">
                <a16:creationId xmlns:a16="http://schemas.microsoft.com/office/drawing/2014/main" id="{6C39EE59-0D2E-BDC7-157C-7A159D3471C7}"/>
              </a:ext>
            </a:extLst>
          </p:cNvPr>
          <p:cNvPicPr preferRelativeResize="0"/>
          <p:nvPr/>
        </p:nvPicPr>
        <p:blipFill rotWithShape="1">
          <a:blip r:embed="rId7">
            <a:alphaModFix/>
          </a:blip>
          <a:srcRect/>
          <a:stretch/>
        </p:blipFill>
        <p:spPr>
          <a:xfrm>
            <a:off x="6476618" y="4340095"/>
            <a:ext cx="1544436" cy="5577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22"/>
          <p:cNvPicPr preferRelativeResize="0"/>
          <p:nvPr/>
        </p:nvPicPr>
        <p:blipFill rotWithShape="1">
          <a:blip r:embed="rId3">
            <a:alphaModFix/>
          </a:blip>
          <a:srcRect/>
          <a:stretch/>
        </p:blipFill>
        <p:spPr>
          <a:xfrm>
            <a:off x="312831" y="793844"/>
            <a:ext cx="3868877" cy="3774845"/>
          </a:xfrm>
          <a:prstGeom prst="rect">
            <a:avLst/>
          </a:prstGeom>
          <a:noFill/>
          <a:ln>
            <a:noFill/>
          </a:ln>
        </p:spPr>
      </p:pic>
      <p:sp>
        <p:nvSpPr>
          <p:cNvPr id="295" name="Google Shape;295;p22"/>
          <p:cNvSpPr/>
          <p:nvPr/>
        </p:nvSpPr>
        <p:spPr>
          <a:xfrm>
            <a:off x="883269"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96" name="Google Shape;296;p22"/>
          <p:cNvPicPr preferRelativeResize="0"/>
          <p:nvPr/>
        </p:nvPicPr>
        <p:blipFill rotWithShape="1">
          <a:blip r:embed="rId4">
            <a:alphaModFix/>
          </a:blip>
          <a:srcRect/>
          <a:stretch/>
        </p:blipFill>
        <p:spPr>
          <a:xfrm>
            <a:off x="312819" y="690721"/>
            <a:ext cx="3868877" cy="3868877"/>
          </a:xfrm>
          <a:prstGeom prst="rect">
            <a:avLst/>
          </a:prstGeom>
          <a:noFill/>
          <a:ln>
            <a:noFill/>
          </a:ln>
        </p:spPr>
      </p:pic>
      <p:sp>
        <p:nvSpPr>
          <p:cNvPr id="297" name="Google Shape;297;p22"/>
          <p:cNvSpPr txBox="1"/>
          <p:nvPr/>
        </p:nvSpPr>
        <p:spPr>
          <a:xfrm>
            <a:off x="591960" y="4456383"/>
            <a:ext cx="31983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altLang="zh-CN" sz="1600" b="0" i="0" u="none" strike="noStrike" cap="none" dirty="0">
                <a:solidFill>
                  <a:srgbClr val="000000"/>
                </a:solidFill>
                <a:latin typeface="Lato"/>
                <a:ea typeface="Lato"/>
                <a:cs typeface="Lato"/>
                <a:sym typeface="Lato"/>
              </a:rPr>
              <a:t>Two </a:t>
            </a:r>
            <a:r>
              <a:rPr lang="en" sz="1600" b="0" i="0" u="none" strike="noStrike" cap="none" dirty="0">
                <a:solidFill>
                  <a:srgbClr val="000000"/>
                </a:solidFill>
                <a:latin typeface="Lato"/>
                <a:ea typeface="Lato"/>
                <a:cs typeface="Lato"/>
                <a:sym typeface="Lato"/>
              </a:rPr>
              <a:t>classes are </a:t>
            </a:r>
            <a:r>
              <a:rPr lang="en" sz="1600" b="0" i="1" u="none" strike="noStrike" cap="none" dirty="0">
                <a:solidFill>
                  <a:srgbClr val="000000"/>
                </a:solidFill>
                <a:latin typeface="Lato"/>
                <a:ea typeface="Lato"/>
                <a:cs typeface="Lato"/>
                <a:sym typeface="Lato"/>
              </a:rPr>
              <a:t>linearly separable</a:t>
            </a:r>
            <a:endParaRPr sz="1600" b="0" i="1" u="none" strike="noStrike" cap="none" dirty="0">
              <a:solidFill>
                <a:srgbClr val="000000"/>
              </a:solidFill>
              <a:latin typeface="Lato"/>
              <a:ea typeface="Lato"/>
              <a:cs typeface="Lato"/>
              <a:sym typeface="Lato"/>
            </a:endParaRPr>
          </a:p>
        </p:txBody>
      </p:sp>
      <p:sp>
        <p:nvSpPr>
          <p:cNvPr id="298" name="Google Shape;298;p22"/>
          <p:cNvSpPr/>
          <p:nvPr/>
        </p:nvSpPr>
        <p:spPr>
          <a:xfrm>
            <a:off x="3286356" y="903021"/>
            <a:ext cx="327300" cy="318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7812126A-CE2F-1FB4-F0EC-D4D5E12C6E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pic>
        <p:nvPicPr>
          <p:cNvPr id="3" name="Google Shape;355;g253186c61bb_0_41">
            <a:extLst>
              <a:ext uri="{FF2B5EF4-FFF2-40B4-BE49-F238E27FC236}">
                <a16:creationId xmlns:a16="http://schemas.microsoft.com/office/drawing/2014/main" id="{BB9F2BE3-B293-18F4-9A71-61EAA6E63B40}"/>
              </a:ext>
            </a:extLst>
          </p:cNvPr>
          <p:cNvPicPr preferRelativeResize="0"/>
          <p:nvPr/>
        </p:nvPicPr>
        <p:blipFill>
          <a:blip r:embed="rId5">
            <a:alphaModFix/>
          </a:blip>
          <a:stretch>
            <a:fillRect/>
          </a:stretch>
        </p:blipFill>
        <p:spPr>
          <a:xfrm>
            <a:off x="4708426" y="793844"/>
            <a:ext cx="3876350" cy="3698949"/>
          </a:xfrm>
          <a:prstGeom prst="rect">
            <a:avLst/>
          </a:prstGeom>
          <a:noFill/>
          <a:ln>
            <a:noFill/>
          </a:ln>
        </p:spPr>
      </p:pic>
      <p:sp>
        <p:nvSpPr>
          <p:cNvPr id="4" name="TextBox 3">
            <a:extLst>
              <a:ext uri="{FF2B5EF4-FFF2-40B4-BE49-F238E27FC236}">
                <a16:creationId xmlns:a16="http://schemas.microsoft.com/office/drawing/2014/main" id="{443FCEB2-ECF6-DED6-7D1D-E841545C23FC}"/>
              </a:ext>
            </a:extLst>
          </p:cNvPr>
          <p:cNvSpPr txBox="1"/>
          <p:nvPr/>
        </p:nvSpPr>
        <p:spPr>
          <a:xfrm>
            <a:off x="5152505" y="4379424"/>
            <a:ext cx="3876350" cy="584775"/>
          </a:xfrm>
          <a:prstGeom prst="rect">
            <a:avLst/>
          </a:prstGeom>
          <a:noFill/>
        </p:spPr>
        <p:txBody>
          <a:bodyPr wrap="square" rtlCol="0">
            <a:spAutoFit/>
          </a:bodyPr>
          <a:lstStyle/>
          <a:p>
            <a:r>
              <a:rPr lang="en-US" altLang="zh-CN" sz="1600" dirty="0"/>
              <a:t>Two classes are </a:t>
            </a:r>
            <a:r>
              <a:rPr lang="en-US" altLang="zh-CN" sz="1600" i="1" dirty="0"/>
              <a:t>not linearly separable</a:t>
            </a:r>
            <a:r>
              <a:rPr lang="en-US" altLang="zh-CN" sz="1600" dirty="0"/>
              <a:t>:</a:t>
            </a:r>
            <a:r>
              <a:rPr lang="zh-CN" altLang="en-US" sz="1600" dirty="0"/>
              <a:t> </a:t>
            </a:r>
            <a:r>
              <a:rPr lang="en-US" altLang="zh-CN" sz="1600" dirty="0"/>
              <a:t>no single straight line can separate them</a:t>
            </a:r>
            <a:endParaRPr lang="zh-CN" altLang="en-US" sz="1600" baseline="30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27"/>
          <p:cNvPicPr preferRelativeResize="0"/>
          <p:nvPr/>
        </p:nvPicPr>
        <p:blipFill rotWithShape="1">
          <a:blip r:embed="rId3">
            <a:alphaModFix/>
          </a:blip>
          <a:srcRect/>
          <a:stretch/>
        </p:blipFill>
        <p:spPr>
          <a:xfrm>
            <a:off x="223152" y="793450"/>
            <a:ext cx="3783370" cy="3875327"/>
          </a:xfrm>
          <a:prstGeom prst="rect">
            <a:avLst/>
          </a:prstGeom>
          <a:noFill/>
          <a:ln>
            <a:noFill/>
          </a:ln>
        </p:spPr>
      </p:pic>
      <p:sp>
        <p:nvSpPr>
          <p:cNvPr id="337" name="Google Shape;337;p27"/>
          <p:cNvSpPr/>
          <p:nvPr/>
        </p:nvSpPr>
        <p:spPr>
          <a:xfrm>
            <a:off x="570450" y="71052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C68B3BFB-F6EB-DE1C-C1A6-5E100E18A9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pic>
        <p:nvPicPr>
          <p:cNvPr id="343" name="Google Shape;343;p28"/>
          <p:cNvPicPr preferRelativeResize="0"/>
          <p:nvPr/>
        </p:nvPicPr>
        <p:blipFill rotWithShape="1">
          <a:blip r:embed="rId4">
            <a:alphaModFix/>
          </a:blip>
          <a:srcRect/>
          <a:stretch/>
        </p:blipFill>
        <p:spPr>
          <a:xfrm>
            <a:off x="4453854" y="756078"/>
            <a:ext cx="3925974" cy="3912699"/>
          </a:xfrm>
          <a:prstGeom prst="rect">
            <a:avLst/>
          </a:prstGeom>
          <a:noFill/>
          <a:ln>
            <a:noFill/>
          </a:ln>
        </p:spPr>
      </p:pic>
      <p:sp>
        <p:nvSpPr>
          <p:cNvPr id="3" name="TextBox 2">
            <a:extLst>
              <a:ext uri="{FF2B5EF4-FFF2-40B4-BE49-F238E27FC236}">
                <a16:creationId xmlns:a16="http://schemas.microsoft.com/office/drawing/2014/main" id="{041032E0-E20D-E3B3-42AA-4AE2BCB3806D}"/>
              </a:ext>
            </a:extLst>
          </p:cNvPr>
          <p:cNvSpPr txBox="1"/>
          <p:nvPr/>
        </p:nvSpPr>
        <p:spPr>
          <a:xfrm>
            <a:off x="2357237" y="4668777"/>
            <a:ext cx="4410389" cy="338554"/>
          </a:xfrm>
          <a:prstGeom prst="rect">
            <a:avLst/>
          </a:prstGeom>
          <a:noFill/>
        </p:spPr>
        <p:txBody>
          <a:bodyPr wrap="square" rtlCol="0">
            <a:spAutoFit/>
          </a:bodyPr>
          <a:lstStyle/>
          <a:p>
            <a:r>
              <a:rPr lang="en-US" altLang="zh-CN" sz="1600" dirty="0"/>
              <a:t>More cases of non-linearly-separable datasets</a:t>
            </a:r>
            <a:endParaRPr lang="zh-CN" altLang="en-US" sz="1600" baseline="30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9" name="Google Shape;376;p32">
            <a:extLst>
              <a:ext uri="{FF2B5EF4-FFF2-40B4-BE49-F238E27FC236}">
                <a16:creationId xmlns:a16="http://schemas.microsoft.com/office/drawing/2014/main" id="{A1FD41F1-9756-E146-46BD-572BB004551A}"/>
              </a:ext>
            </a:extLst>
          </p:cNvPr>
          <p:cNvSpPr txBox="1">
            <a:spLocks noGrp="1"/>
          </p:cNvSpPr>
          <p:nvPr>
            <p:ph type="title"/>
          </p:nvPr>
        </p:nvSpPr>
        <p:spPr>
          <a:xfrm>
            <a:off x="4301095" y="306371"/>
            <a:ext cx="3246716"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sz="2000" i="1" dirty="0"/>
              <a:t>Multi-layer</a:t>
            </a:r>
            <a:r>
              <a:rPr lang="en" sz="1800" dirty="0"/>
              <a:t> Perceptron (MLP)</a:t>
            </a:r>
            <a:endParaRPr sz="1800" dirty="0"/>
          </a:p>
        </p:txBody>
      </p:sp>
      <p:sp>
        <p:nvSpPr>
          <p:cNvPr id="4" name="Google Shape;354;g253186c61bb_0_41">
            <a:extLst>
              <a:ext uri="{FF2B5EF4-FFF2-40B4-BE49-F238E27FC236}">
                <a16:creationId xmlns:a16="http://schemas.microsoft.com/office/drawing/2014/main" id="{2F8BB831-D352-602B-30FA-EC6E8A5B1571}"/>
              </a:ext>
            </a:extLst>
          </p:cNvPr>
          <p:cNvSpPr/>
          <p:nvPr/>
        </p:nvSpPr>
        <p:spPr>
          <a:xfrm>
            <a:off x="570450"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3" name="Google Shape;363;p30"/>
          <p:cNvPicPr preferRelativeResize="0"/>
          <p:nvPr/>
        </p:nvPicPr>
        <p:blipFill rotWithShape="1">
          <a:blip r:embed="rId3">
            <a:alphaModFix/>
          </a:blip>
          <a:srcRect/>
          <a:stretch/>
        </p:blipFill>
        <p:spPr>
          <a:xfrm>
            <a:off x="679982" y="1857822"/>
            <a:ext cx="2140792" cy="1330017"/>
          </a:xfrm>
          <a:prstGeom prst="rect">
            <a:avLst/>
          </a:prstGeom>
          <a:noFill/>
          <a:ln>
            <a:noFill/>
          </a:ln>
        </p:spPr>
      </p:pic>
      <p:pic>
        <p:nvPicPr>
          <p:cNvPr id="364" name="Google Shape;364;p30"/>
          <p:cNvPicPr preferRelativeResize="0"/>
          <p:nvPr/>
        </p:nvPicPr>
        <p:blipFill rotWithShape="1">
          <a:blip r:embed="rId3">
            <a:alphaModFix/>
          </a:blip>
          <a:srcRect/>
          <a:stretch/>
        </p:blipFill>
        <p:spPr>
          <a:xfrm>
            <a:off x="679982" y="3649013"/>
            <a:ext cx="2140792" cy="1330017"/>
          </a:xfrm>
          <a:prstGeom prst="rect">
            <a:avLst/>
          </a:prstGeom>
          <a:noFill/>
          <a:ln>
            <a:noFill/>
          </a:ln>
        </p:spPr>
      </p:pic>
      <p:sp>
        <p:nvSpPr>
          <p:cNvPr id="365" name="Google Shape;365;p30"/>
          <p:cNvSpPr txBox="1"/>
          <p:nvPr/>
        </p:nvSpPr>
        <p:spPr>
          <a:xfrm rot="5400000">
            <a:off x="1637125" y="3083205"/>
            <a:ext cx="531300" cy="60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700"/>
              <a:buFont typeface="Arial"/>
              <a:buNone/>
            </a:pPr>
            <a:r>
              <a:rPr lang="en" sz="2700" b="0" i="0" u="none" strike="noStrike" cap="none">
                <a:solidFill>
                  <a:srgbClr val="000000"/>
                </a:solidFill>
                <a:latin typeface="Lato"/>
                <a:ea typeface="Lato"/>
                <a:cs typeface="Lato"/>
                <a:sym typeface="Lato"/>
              </a:rPr>
              <a:t>… </a:t>
            </a:r>
            <a:endParaRPr sz="2700" b="0" i="0" u="none" strike="noStrike" cap="none">
              <a:solidFill>
                <a:srgbClr val="000000"/>
              </a:solidFill>
              <a:latin typeface="Lato"/>
              <a:ea typeface="Lato"/>
              <a:cs typeface="Lato"/>
              <a:sym typeface="Lato"/>
            </a:endParaRPr>
          </a:p>
        </p:txBody>
      </p:sp>
      <p:sp>
        <p:nvSpPr>
          <p:cNvPr id="5" name="TextBox 4">
            <a:extLst>
              <a:ext uri="{FF2B5EF4-FFF2-40B4-BE49-F238E27FC236}">
                <a16:creationId xmlns:a16="http://schemas.microsoft.com/office/drawing/2014/main" id="{7467EEA3-C36B-F814-E74E-5FE914896013}"/>
              </a:ext>
            </a:extLst>
          </p:cNvPr>
          <p:cNvSpPr txBox="1"/>
          <p:nvPr/>
        </p:nvSpPr>
        <p:spPr>
          <a:xfrm>
            <a:off x="3500122" y="4264319"/>
            <a:ext cx="5507519" cy="738664"/>
          </a:xfrm>
          <a:prstGeom prst="rect">
            <a:avLst/>
          </a:prstGeom>
          <a:noFill/>
        </p:spPr>
        <p:txBody>
          <a:bodyPr wrap="square">
            <a:spAutoFit/>
          </a:bodyPr>
          <a:lstStyle/>
          <a:p>
            <a:r>
              <a:rPr lang="en-US" altLang="zh-CN" dirty="0"/>
              <a:t>If we put multiple </a:t>
            </a:r>
            <a:r>
              <a:rPr lang="en-US" altLang="zh-CN" dirty="0" err="1"/>
              <a:t>perceptrons</a:t>
            </a:r>
            <a:r>
              <a:rPr lang="en-US" altLang="zh-CN" dirty="0"/>
              <a:t> together, with one or more hidden layers, then we can approximate a complex function as a piecewise linear function,</a:t>
            </a:r>
            <a:r>
              <a:rPr lang="zh-CN" altLang="en-US" dirty="0"/>
              <a:t> </a:t>
            </a:r>
            <a:r>
              <a:rPr lang="en-US" altLang="zh-CN" dirty="0"/>
              <a:t>making it work for</a:t>
            </a:r>
            <a:r>
              <a:rPr lang="zh-CN" altLang="en-US" dirty="0"/>
              <a:t> </a:t>
            </a:r>
            <a:r>
              <a:rPr lang="nl-NL" altLang="zh-CN" dirty="0"/>
              <a:t>non-linearly-separable datasets</a:t>
            </a:r>
            <a:r>
              <a:rPr lang="en-US" altLang="zh-CN" dirty="0"/>
              <a:t>.</a:t>
            </a:r>
            <a:endParaRPr lang="zh-CN" altLang="en-US" dirty="0"/>
          </a:p>
        </p:txBody>
      </p:sp>
      <p:sp>
        <p:nvSpPr>
          <p:cNvPr id="6" name="Slide Number Placeholder 5">
            <a:extLst>
              <a:ext uri="{FF2B5EF4-FFF2-40B4-BE49-F238E27FC236}">
                <a16:creationId xmlns:a16="http://schemas.microsoft.com/office/drawing/2014/main" id="{29D048E1-7D35-D478-C968-5BCE501469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2" name="Google Shape;377;p32">
            <a:extLst>
              <a:ext uri="{FF2B5EF4-FFF2-40B4-BE49-F238E27FC236}">
                <a16:creationId xmlns:a16="http://schemas.microsoft.com/office/drawing/2014/main" id="{5BECCF17-B99D-D1E7-C628-9D3BAAC156B3}"/>
              </a:ext>
            </a:extLst>
          </p:cNvPr>
          <p:cNvPicPr preferRelativeResize="0"/>
          <p:nvPr/>
        </p:nvPicPr>
        <p:blipFill rotWithShape="1">
          <a:blip r:embed="rId4">
            <a:alphaModFix/>
          </a:blip>
          <a:srcRect/>
          <a:stretch/>
        </p:blipFill>
        <p:spPr>
          <a:xfrm>
            <a:off x="3675668" y="607580"/>
            <a:ext cx="5331973" cy="3694349"/>
          </a:xfrm>
          <a:prstGeom prst="rect">
            <a:avLst/>
          </a:prstGeom>
          <a:noFill/>
          <a:ln>
            <a:noFill/>
          </a:ln>
        </p:spPr>
      </p:pic>
      <p:sp>
        <p:nvSpPr>
          <p:cNvPr id="3" name="Arrow: Right 2">
            <a:extLst>
              <a:ext uri="{FF2B5EF4-FFF2-40B4-BE49-F238E27FC236}">
                <a16:creationId xmlns:a16="http://schemas.microsoft.com/office/drawing/2014/main" id="{C95184CF-1415-1BC0-00B2-23E0D319D9A5}"/>
              </a:ext>
            </a:extLst>
          </p:cNvPr>
          <p:cNvSpPr/>
          <p:nvPr/>
        </p:nvSpPr>
        <p:spPr>
          <a:xfrm>
            <a:off x="3139193" y="2522830"/>
            <a:ext cx="627135" cy="376990"/>
          </a:xfrm>
          <a:prstGeom prst="right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1" name="Google Shape;361;p30"/>
          <p:cNvSpPr/>
          <p:nvPr/>
        </p:nvSpPr>
        <p:spPr>
          <a:xfrm>
            <a:off x="474600" y="607580"/>
            <a:ext cx="2436300" cy="4441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0" name="Google Shape;360;p30"/>
          <p:cNvPicPr preferRelativeResize="0"/>
          <p:nvPr/>
        </p:nvPicPr>
        <p:blipFill rotWithShape="1">
          <a:blip r:embed="rId3">
            <a:alphaModFix/>
          </a:blip>
          <a:srcRect/>
          <a:stretch/>
        </p:blipFill>
        <p:spPr>
          <a:xfrm>
            <a:off x="679982" y="648130"/>
            <a:ext cx="2140792" cy="133001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6"/>
          <p:cNvSpPr/>
          <p:nvPr/>
        </p:nvSpPr>
        <p:spPr>
          <a:xfrm>
            <a:off x="570450"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15" name="Google Shape;415;p36"/>
          <p:cNvPicPr preferRelativeResize="0"/>
          <p:nvPr/>
        </p:nvPicPr>
        <p:blipFill rotWithShape="1">
          <a:blip r:embed="rId3">
            <a:alphaModFix/>
          </a:blip>
          <a:srcRect/>
          <a:stretch/>
        </p:blipFill>
        <p:spPr>
          <a:xfrm>
            <a:off x="4920003" y="1212987"/>
            <a:ext cx="3922176" cy="2717552"/>
          </a:xfrm>
          <a:prstGeom prst="rect">
            <a:avLst/>
          </a:prstGeom>
          <a:noFill/>
          <a:ln>
            <a:noFill/>
          </a:ln>
        </p:spPr>
      </p:pic>
      <p:sp>
        <p:nvSpPr>
          <p:cNvPr id="416" name="Google Shape;416;p36"/>
          <p:cNvSpPr txBox="1"/>
          <p:nvPr/>
        </p:nvSpPr>
        <p:spPr>
          <a:xfrm>
            <a:off x="-76550" y="1062600"/>
            <a:ext cx="1618200" cy="831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Activation/</a:t>
            </a:r>
            <a:br>
              <a:rPr lang="en" sz="1400" b="0" i="0" u="none" strike="noStrike" cap="none">
                <a:solidFill>
                  <a:srgbClr val="000000"/>
                </a:solidFill>
                <a:latin typeface="Lato"/>
                <a:ea typeface="Lato"/>
                <a:cs typeface="Lato"/>
                <a:sym typeface="Lato"/>
              </a:rPr>
            </a:br>
            <a:r>
              <a:rPr lang="en" sz="1400" b="0" i="0" u="none" strike="noStrike" cap="none">
                <a:solidFill>
                  <a:srgbClr val="000000"/>
                </a:solidFill>
                <a:latin typeface="Lato"/>
                <a:ea typeface="Lato"/>
                <a:cs typeface="Lato"/>
                <a:sym typeface="Lato"/>
              </a:rPr>
              <a:t>output </a:t>
            </a:r>
            <a:br>
              <a:rPr lang="en" sz="1400" b="0" i="0" u="none" strike="noStrike" cap="none">
                <a:solidFill>
                  <a:srgbClr val="000000"/>
                </a:solidFill>
                <a:latin typeface="Lato"/>
                <a:ea typeface="Lato"/>
                <a:cs typeface="Lato"/>
                <a:sym typeface="Lato"/>
              </a:rPr>
            </a:br>
            <a:r>
              <a:rPr lang="en" sz="1400" b="0" i="0" u="none" strike="noStrike" cap="none">
                <a:solidFill>
                  <a:srgbClr val="000000"/>
                </a:solidFill>
                <a:latin typeface="Lato"/>
                <a:ea typeface="Lato"/>
                <a:cs typeface="Lato"/>
                <a:sym typeface="Lato"/>
              </a:rPr>
              <a:t>of neuron </a:t>
            </a:r>
            <a:r>
              <a:rPr lang="en" sz="1400" b="0" i="1" u="none" strike="noStrike" cap="none">
                <a:solidFill>
                  <a:srgbClr val="000000"/>
                </a:solidFill>
                <a:latin typeface="Lato"/>
                <a:ea typeface="Lato"/>
                <a:cs typeface="Lato"/>
                <a:sym typeface="Lato"/>
              </a:rPr>
              <a:t>k</a:t>
            </a:r>
            <a:endParaRPr sz="1400" b="0" i="1" u="none" strike="noStrike" cap="none">
              <a:solidFill>
                <a:srgbClr val="000000"/>
              </a:solidFill>
              <a:latin typeface="Arial"/>
              <a:ea typeface="Arial"/>
              <a:cs typeface="Arial"/>
              <a:sym typeface="Arial"/>
            </a:endParaRPr>
          </a:p>
        </p:txBody>
      </p:sp>
      <p:cxnSp>
        <p:nvCxnSpPr>
          <p:cNvPr id="417" name="Google Shape;417;p36"/>
          <p:cNvCxnSpPr>
            <a:stCxn id="416" idx="2"/>
          </p:cNvCxnSpPr>
          <p:nvPr/>
        </p:nvCxnSpPr>
        <p:spPr>
          <a:xfrm flipH="1">
            <a:off x="731950" y="1893900"/>
            <a:ext cx="600" cy="354600"/>
          </a:xfrm>
          <a:prstGeom prst="straightConnector1">
            <a:avLst/>
          </a:prstGeom>
          <a:noFill/>
          <a:ln w="9525" cap="flat" cmpd="sng">
            <a:solidFill>
              <a:schemeClr val="dk2"/>
            </a:solidFill>
            <a:prstDash val="solid"/>
            <a:round/>
            <a:headEnd type="none" w="sm" len="sm"/>
            <a:tailEnd type="triangle" w="med" len="med"/>
          </a:ln>
        </p:spPr>
      </p:cxnSp>
      <p:sp>
        <p:nvSpPr>
          <p:cNvPr id="418" name="Google Shape;418;p36"/>
          <p:cNvSpPr txBox="1"/>
          <p:nvPr/>
        </p:nvSpPr>
        <p:spPr>
          <a:xfrm>
            <a:off x="6293075" y="4285650"/>
            <a:ext cx="16557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1" u="none" strike="noStrike" cap="none">
                <a:solidFill>
                  <a:srgbClr val="000000"/>
                </a:solidFill>
                <a:latin typeface="Lato"/>
                <a:ea typeface="Lato"/>
                <a:cs typeface="Lato"/>
                <a:sym typeface="Lato"/>
              </a:rPr>
              <a:t>K </a:t>
            </a:r>
            <a:r>
              <a:rPr lang="en" sz="1400" b="0" i="1" u="none" strike="noStrike" cap="none">
                <a:solidFill>
                  <a:srgbClr val="000000"/>
                </a:solidFill>
                <a:latin typeface="Lato"/>
                <a:ea typeface="Lato"/>
                <a:cs typeface="Lato"/>
                <a:sym typeface="Lato"/>
              </a:rPr>
              <a:t>"hidden” </a:t>
            </a:r>
            <a:r>
              <a:rPr lang="en" sz="1400" b="0" i="0" u="none" strike="noStrike" cap="none">
                <a:solidFill>
                  <a:srgbClr val="000000"/>
                </a:solidFill>
                <a:latin typeface="Lato"/>
                <a:ea typeface="Lato"/>
                <a:cs typeface="Lato"/>
                <a:sym typeface="Lato"/>
              </a:rPr>
              <a:t>neurons</a:t>
            </a:r>
            <a:br>
              <a:rPr lang="en" sz="1400" b="0" i="0" u="none" strike="noStrike" cap="none">
                <a:solidFill>
                  <a:srgbClr val="000000"/>
                </a:solidFill>
                <a:latin typeface="Lato"/>
                <a:ea typeface="Lato"/>
                <a:cs typeface="Lato"/>
                <a:sym typeface="Lato"/>
              </a:rPr>
            </a:br>
            <a:r>
              <a:rPr lang="en" sz="1400" b="0" i="0" u="none" strike="noStrike" cap="none">
                <a:solidFill>
                  <a:srgbClr val="000000"/>
                </a:solidFill>
                <a:latin typeface="Lato"/>
                <a:ea typeface="Lato"/>
                <a:cs typeface="Lato"/>
                <a:sym typeface="Lato"/>
              </a:rPr>
              <a:t>in layer </a:t>
            </a:r>
            <a:r>
              <a:rPr lang="en" sz="1400" b="1" i="0" u="none" strike="noStrike" cap="none">
                <a:solidFill>
                  <a:srgbClr val="000000"/>
                </a:solidFill>
                <a:latin typeface="Lato"/>
                <a:ea typeface="Lato"/>
                <a:cs typeface="Lato"/>
                <a:sym typeface="Lato"/>
              </a:rPr>
              <a:t>L</a:t>
            </a:r>
            <a:endParaRPr sz="1400" b="1" i="0" u="none" strike="noStrike" cap="none">
              <a:solidFill>
                <a:srgbClr val="000000"/>
              </a:solidFill>
              <a:latin typeface="Lato"/>
              <a:ea typeface="Lato"/>
              <a:cs typeface="Lato"/>
              <a:sym typeface="Lato"/>
            </a:endParaRPr>
          </a:p>
        </p:txBody>
      </p:sp>
      <p:cxnSp>
        <p:nvCxnSpPr>
          <p:cNvPr id="419" name="Google Shape;419;p36"/>
          <p:cNvCxnSpPr>
            <a:stCxn id="418" idx="0"/>
            <a:endCxn id="415" idx="2"/>
          </p:cNvCxnSpPr>
          <p:nvPr/>
        </p:nvCxnSpPr>
        <p:spPr>
          <a:xfrm rot="10800000">
            <a:off x="6881225" y="3930450"/>
            <a:ext cx="239700" cy="355200"/>
          </a:xfrm>
          <a:prstGeom prst="straightConnector1">
            <a:avLst/>
          </a:prstGeom>
          <a:noFill/>
          <a:ln w="9525" cap="flat" cmpd="sng">
            <a:solidFill>
              <a:schemeClr val="dk2"/>
            </a:solidFill>
            <a:prstDash val="solid"/>
            <a:round/>
            <a:headEnd type="none" w="sm" len="sm"/>
            <a:tailEnd type="triangle" w="med" len="med"/>
          </a:ln>
        </p:spPr>
      </p:cxnSp>
      <p:pic>
        <p:nvPicPr>
          <p:cNvPr id="420" name="Google Shape;420;p36"/>
          <p:cNvPicPr preferRelativeResize="0"/>
          <p:nvPr/>
        </p:nvPicPr>
        <p:blipFill rotWithShape="1">
          <a:blip r:embed="rId4">
            <a:alphaModFix/>
          </a:blip>
          <a:srcRect/>
          <a:stretch/>
        </p:blipFill>
        <p:spPr>
          <a:xfrm>
            <a:off x="680725" y="1801350"/>
            <a:ext cx="3617500" cy="1540775"/>
          </a:xfrm>
          <a:prstGeom prst="rect">
            <a:avLst/>
          </a:prstGeom>
          <a:noFill/>
          <a:ln>
            <a:noFill/>
          </a:ln>
        </p:spPr>
      </p:pic>
      <p:sp>
        <p:nvSpPr>
          <p:cNvPr id="2" name="Slide Number Placeholder 1">
            <a:extLst>
              <a:ext uri="{FF2B5EF4-FFF2-40B4-BE49-F238E27FC236}">
                <a16:creationId xmlns:a16="http://schemas.microsoft.com/office/drawing/2014/main" id="{E1F56248-053D-C332-11CC-93E08089D4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
        <p:nvSpPr>
          <p:cNvPr id="3" name="Google Shape;399;p35">
            <a:extLst>
              <a:ext uri="{FF2B5EF4-FFF2-40B4-BE49-F238E27FC236}">
                <a16:creationId xmlns:a16="http://schemas.microsoft.com/office/drawing/2014/main" id="{F3346910-5CC1-62A6-C6B7-91C6943C59B9}"/>
              </a:ext>
            </a:extLst>
          </p:cNvPr>
          <p:cNvSpPr txBox="1"/>
          <p:nvPr/>
        </p:nvSpPr>
        <p:spPr>
          <a:xfrm>
            <a:off x="1498941" y="3680700"/>
            <a:ext cx="14964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Lato"/>
                <a:ea typeface="Lato"/>
                <a:cs typeface="Lato"/>
                <a:sym typeface="Lato"/>
              </a:rPr>
              <a:t>“Weight vector”</a:t>
            </a:r>
            <a:endParaRPr sz="1400" b="0" i="1" u="none" strike="noStrike" cap="none">
              <a:solidFill>
                <a:srgbClr val="000000"/>
              </a:solidFill>
              <a:latin typeface="Lato"/>
              <a:ea typeface="Lato"/>
              <a:cs typeface="Lato"/>
              <a:sym typeface="Lato"/>
            </a:endParaRPr>
          </a:p>
        </p:txBody>
      </p:sp>
      <p:sp>
        <p:nvSpPr>
          <p:cNvPr id="4" name="Google Shape;400;p35">
            <a:extLst>
              <a:ext uri="{FF2B5EF4-FFF2-40B4-BE49-F238E27FC236}">
                <a16:creationId xmlns:a16="http://schemas.microsoft.com/office/drawing/2014/main" id="{EEB865AF-758B-695C-C957-3C4361649487}"/>
              </a:ext>
            </a:extLst>
          </p:cNvPr>
          <p:cNvSpPr txBox="1"/>
          <p:nvPr/>
        </p:nvSpPr>
        <p:spPr>
          <a:xfrm>
            <a:off x="3263716" y="3680700"/>
            <a:ext cx="14964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Lato"/>
                <a:ea typeface="Lato"/>
                <a:cs typeface="Lato"/>
                <a:sym typeface="Lato"/>
              </a:rPr>
              <a:t>“Feature vector”</a:t>
            </a:r>
            <a:endParaRPr sz="1400" b="0" i="1" u="none" strike="noStrike" cap="none">
              <a:solidFill>
                <a:srgbClr val="000000"/>
              </a:solidFill>
              <a:latin typeface="Lato"/>
              <a:ea typeface="Lato"/>
              <a:cs typeface="Lato"/>
              <a:sym typeface="Lato"/>
            </a:endParaRPr>
          </a:p>
        </p:txBody>
      </p:sp>
      <p:cxnSp>
        <p:nvCxnSpPr>
          <p:cNvPr id="5" name="Google Shape;401;p35">
            <a:extLst>
              <a:ext uri="{FF2B5EF4-FFF2-40B4-BE49-F238E27FC236}">
                <a16:creationId xmlns:a16="http://schemas.microsoft.com/office/drawing/2014/main" id="{0F7626D0-B8C9-218B-BFCC-9B4BEB4A342E}"/>
              </a:ext>
            </a:extLst>
          </p:cNvPr>
          <p:cNvCxnSpPr/>
          <p:nvPr/>
        </p:nvCxnSpPr>
        <p:spPr>
          <a:xfrm rot="10800000">
            <a:off x="2247141" y="3456000"/>
            <a:ext cx="0" cy="300900"/>
          </a:xfrm>
          <a:prstGeom prst="straightConnector1">
            <a:avLst/>
          </a:prstGeom>
          <a:noFill/>
          <a:ln w="9525" cap="flat" cmpd="sng">
            <a:solidFill>
              <a:schemeClr val="dk2"/>
            </a:solidFill>
            <a:prstDash val="solid"/>
            <a:round/>
            <a:headEnd type="none" w="sm" len="sm"/>
            <a:tailEnd type="triangle" w="med" len="med"/>
          </a:ln>
        </p:spPr>
      </p:cxnSp>
      <p:cxnSp>
        <p:nvCxnSpPr>
          <p:cNvPr id="6" name="Google Shape;402;p35">
            <a:extLst>
              <a:ext uri="{FF2B5EF4-FFF2-40B4-BE49-F238E27FC236}">
                <a16:creationId xmlns:a16="http://schemas.microsoft.com/office/drawing/2014/main" id="{4E07E833-CE71-3788-445A-B11B6A4E61C4}"/>
              </a:ext>
            </a:extLst>
          </p:cNvPr>
          <p:cNvCxnSpPr/>
          <p:nvPr/>
        </p:nvCxnSpPr>
        <p:spPr>
          <a:xfrm rot="10800000">
            <a:off x="4009767" y="3456000"/>
            <a:ext cx="0" cy="300900"/>
          </a:xfrm>
          <a:prstGeom prst="straightConnector1">
            <a:avLst/>
          </a:prstGeom>
          <a:noFill/>
          <a:ln w="9525" cap="flat" cmpd="sng">
            <a:solidFill>
              <a:schemeClr val="dk2"/>
            </a:solidFill>
            <a:prstDash val="solid"/>
            <a:round/>
            <a:headEnd type="none" w="sm" len="sm"/>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9"/>
          <p:cNvSpPr/>
          <p:nvPr/>
        </p:nvSpPr>
        <p:spPr>
          <a:xfrm>
            <a:off x="570450"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39" name="Google Shape;439;p39"/>
          <p:cNvPicPr preferRelativeResize="0"/>
          <p:nvPr/>
        </p:nvPicPr>
        <p:blipFill rotWithShape="1">
          <a:blip r:embed="rId3">
            <a:alphaModFix/>
          </a:blip>
          <a:srcRect/>
          <a:stretch/>
        </p:blipFill>
        <p:spPr>
          <a:xfrm>
            <a:off x="477762" y="520325"/>
            <a:ext cx="2892575" cy="1244850"/>
          </a:xfrm>
          <a:prstGeom prst="rect">
            <a:avLst/>
          </a:prstGeom>
          <a:noFill/>
          <a:ln>
            <a:noFill/>
          </a:ln>
        </p:spPr>
      </p:pic>
      <p:pic>
        <p:nvPicPr>
          <p:cNvPr id="440" name="Google Shape;440;p39"/>
          <p:cNvPicPr preferRelativeResize="0"/>
          <p:nvPr/>
        </p:nvPicPr>
        <p:blipFill rotWithShape="1">
          <a:blip r:embed="rId4">
            <a:alphaModFix/>
          </a:blip>
          <a:srcRect/>
          <a:stretch/>
        </p:blipFill>
        <p:spPr>
          <a:xfrm>
            <a:off x="477750" y="1765175"/>
            <a:ext cx="2892575" cy="1244830"/>
          </a:xfrm>
          <a:prstGeom prst="rect">
            <a:avLst/>
          </a:prstGeom>
          <a:noFill/>
          <a:ln>
            <a:noFill/>
          </a:ln>
        </p:spPr>
      </p:pic>
      <p:pic>
        <p:nvPicPr>
          <p:cNvPr id="441" name="Google Shape;441;p39"/>
          <p:cNvPicPr preferRelativeResize="0"/>
          <p:nvPr/>
        </p:nvPicPr>
        <p:blipFill rotWithShape="1">
          <a:blip r:embed="rId5">
            <a:alphaModFix/>
          </a:blip>
          <a:srcRect/>
          <a:stretch/>
        </p:blipFill>
        <p:spPr>
          <a:xfrm>
            <a:off x="477762" y="3843162"/>
            <a:ext cx="2892575" cy="1232013"/>
          </a:xfrm>
          <a:prstGeom prst="rect">
            <a:avLst/>
          </a:prstGeom>
          <a:noFill/>
          <a:ln>
            <a:noFill/>
          </a:ln>
        </p:spPr>
      </p:pic>
      <p:pic>
        <p:nvPicPr>
          <p:cNvPr id="442" name="Google Shape;442;p39"/>
          <p:cNvPicPr preferRelativeResize="0"/>
          <p:nvPr/>
        </p:nvPicPr>
        <p:blipFill rotWithShape="1">
          <a:blip r:embed="rId5">
            <a:alphaModFix/>
          </a:blip>
          <a:srcRect l="89167" t="48378" r="4592" b="27291"/>
          <a:stretch/>
        </p:blipFill>
        <p:spPr>
          <a:xfrm>
            <a:off x="1853850" y="3152425"/>
            <a:ext cx="382927" cy="636000"/>
          </a:xfrm>
          <a:prstGeom prst="rect">
            <a:avLst/>
          </a:prstGeom>
          <a:noFill/>
          <a:ln>
            <a:noFill/>
          </a:ln>
        </p:spPr>
      </p:pic>
      <p:sp>
        <p:nvSpPr>
          <p:cNvPr id="2" name="Slide Number Placeholder 1">
            <a:extLst>
              <a:ext uri="{FF2B5EF4-FFF2-40B4-BE49-F238E27FC236}">
                <a16:creationId xmlns:a16="http://schemas.microsoft.com/office/drawing/2014/main" id="{6E109E51-B4E2-D644-F828-E0B043ADCF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pic>
        <p:nvPicPr>
          <p:cNvPr id="455" name="Google Shape;455;p41"/>
          <p:cNvPicPr preferRelativeResize="0"/>
          <p:nvPr/>
        </p:nvPicPr>
        <p:blipFill rotWithShape="1">
          <a:blip r:embed="rId6">
            <a:alphaModFix/>
          </a:blip>
          <a:srcRect l="-2239" t="83717" r="60771" b="-2780"/>
          <a:stretch/>
        </p:blipFill>
        <p:spPr>
          <a:xfrm>
            <a:off x="5481622" y="3862125"/>
            <a:ext cx="2085450" cy="461225"/>
          </a:xfrm>
          <a:prstGeom prst="rect">
            <a:avLst/>
          </a:prstGeom>
          <a:noFill/>
          <a:ln>
            <a:noFill/>
          </a:ln>
        </p:spPr>
      </p:pic>
      <p:sp>
        <p:nvSpPr>
          <p:cNvPr id="456" name="Google Shape;456;p41"/>
          <p:cNvSpPr/>
          <p:nvPr/>
        </p:nvSpPr>
        <p:spPr>
          <a:xfrm>
            <a:off x="5176822" y="1335500"/>
            <a:ext cx="752100" cy="23463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41"/>
          <p:cNvSpPr/>
          <p:nvPr/>
        </p:nvSpPr>
        <p:spPr>
          <a:xfrm>
            <a:off x="8307742" y="1542050"/>
            <a:ext cx="519300" cy="5514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41"/>
          <p:cNvSpPr/>
          <p:nvPr/>
        </p:nvSpPr>
        <p:spPr>
          <a:xfrm>
            <a:off x="5744297" y="1068300"/>
            <a:ext cx="2792005" cy="408575"/>
          </a:xfrm>
          <a:custGeom>
            <a:avLst/>
            <a:gdLst/>
            <a:ahLst/>
            <a:cxnLst/>
            <a:rect l="l" t="t" r="r" b="b"/>
            <a:pathLst>
              <a:path w="128738" h="16343" extrusionOk="0">
                <a:moveTo>
                  <a:pt x="0" y="11530"/>
                </a:moveTo>
                <a:cubicBezTo>
                  <a:pt x="2273" y="10394"/>
                  <a:pt x="7019" y="6584"/>
                  <a:pt x="13636" y="4712"/>
                </a:cubicBezTo>
                <a:cubicBezTo>
                  <a:pt x="20254" y="2841"/>
                  <a:pt x="29478" y="903"/>
                  <a:pt x="39705" y="301"/>
                </a:cubicBezTo>
                <a:cubicBezTo>
                  <a:pt x="49932" y="-300"/>
                  <a:pt x="64570" y="435"/>
                  <a:pt x="74997" y="1103"/>
                </a:cubicBezTo>
                <a:cubicBezTo>
                  <a:pt x="85424" y="1771"/>
                  <a:pt x="94983" y="3175"/>
                  <a:pt x="102269" y="4311"/>
                </a:cubicBezTo>
                <a:cubicBezTo>
                  <a:pt x="109555" y="5447"/>
                  <a:pt x="114635" y="6584"/>
                  <a:pt x="118712" y="7921"/>
                </a:cubicBezTo>
                <a:cubicBezTo>
                  <a:pt x="122789" y="9258"/>
                  <a:pt x="125062" y="10928"/>
                  <a:pt x="126733" y="12332"/>
                </a:cubicBezTo>
                <a:cubicBezTo>
                  <a:pt x="128404" y="13736"/>
                  <a:pt x="128404" y="15675"/>
                  <a:pt x="128738" y="16343"/>
                </a:cubicBezTo>
              </a:path>
            </a:pathLst>
          </a:cu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9" name="Google Shape;459;p41"/>
          <p:cNvPicPr preferRelativeResize="0"/>
          <p:nvPr/>
        </p:nvPicPr>
        <p:blipFill rotWithShape="1">
          <a:blip r:embed="rId7">
            <a:alphaModFix/>
          </a:blip>
          <a:srcRect/>
          <a:stretch/>
        </p:blipFill>
        <p:spPr>
          <a:xfrm>
            <a:off x="4130772" y="1456538"/>
            <a:ext cx="4787125" cy="2154225"/>
          </a:xfrm>
          <a:prstGeom prst="rect">
            <a:avLst/>
          </a:prstGeom>
          <a:noFill/>
          <a:ln>
            <a:noFill/>
          </a:ln>
        </p:spPr>
      </p:pic>
      <p:sp>
        <p:nvSpPr>
          <p:cNvPr id="3" name="Arrow: Right 2">
            <a:extLst>
              <a:ext uri="{FF2B5EF4-FFF2-40B4-BE49-F238E27FC236}">
                <a16:creationId xmlns:a16="http://schemas.microsoft.com/office/drawing/2014/main" id="{7F89BE91-43B7-341F-2357-0D3AE7A96BF0}"/>
              </a:ext>
            </a:extLst>
          </p:cNvPr>
          <p:cNvSpPr/>
          <p:nvPr/>
        </p:nvSpPr>
        <p:spPr>
          <a:xfrm>
            <a:off x="3478298" y="2633015"/>
            <a:ext cx="544500" cy="376990"/>
          </a:xfrm>
          <a:prstGeom prst="right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 grpId="0" animBg="1"/>
      <p:bldP spid="457" grpId="0" animBg="1"/>
      <p:bldP spid="458" grpId="0" animBg="1"/>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2"/>
          <p:cNvSpPr/>
          <p:nvPr/>
        </p:nvSpPr>
        <p:spPr>
          <a:xfrm>
            <a:off x="570450"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65" name="Google Shape;465;p42"/>
          <p:cNvPicPr preferRelativeResize="0"/>
          <p:nvPr/>
        </p:nvPicPr>
        <p:blipFill rotWithShape="1">
          <a:blip r:embed="rId3">
            <a:alphaModFix/>
          </a:blip>
          <a:srcRect l="-769" t="81313" r="64629" b="-3899"/>
          <a:stretch/>
        </p:blipFill>
        <p:spPr>
          <a:xfrm>
            <a:off x="3745661" y="2914812"/>
            <a:ext cx="2357950" cy="561475"/>
          </a:xfrm>
          <a:prstGeom prst="rect">
            <a:avLst/>
          </a:prstGeom>
          <a:noFill/>
          <a:ln>
            <a:noFill/>
          </a:ln>
        </p:spPr>
      </p:pic>
      <p:cxnSp>
        <p:nvCxnSpPr>
          <p:cNvPr id="466" name="Google Shape;466;p42"/>
          <p:cNvCxnSpPr>
            <a:cxnSpLocks/>
          </p:cNvCxnSpPr>
          <p:nvPr/>
        </p:nvCxnSpPr>
        <p:spPr>
          <a:xfrm flipV="1">
            <a:off x="6103611" y="2628818"/>
            <a:ext cx="1564014" cy="535569"/>
          </a:xfrm>
          <a:prstGeom prst="straightConnector1">
            <a:avLst/>
          </a:prstGeom>
          <a:noFill/>
          <a:ln w="9525" cap="flat" cmpd="sng">
            <a:solidFill>
              <a:schemeClr val="dk2"/>
            </a:solidFill>
            <a:prstDash val="solid"/>
            <a:round/>
            <a:headEnd type="none" w="sm" len="sm"/>
            <a:tailEnd type="triangle" w="med" len="med"/>
          </a:ln>
        </p:spPr>
      </p:cxnSp>
      <p:cxnSp>
        <p:nvCxnSpPr>
          <p:cNvPr id="467" name="Google Shape;467;p42"/>
          <p:cNvCxnSpPr>
            <a:cxnSpLocks/>
          </p:cNvCxnSpPr>
          <p:nvPr/>
        </p:nvCxnSpPr>
        <p:spPr>
          <a:xfrm flipV="1">
            <a:off x="5437772" y="2540433"/>
            <a:ext cx="738206" cy="462611"/>
          </a:xfrm>
          <a:prstGeom prst="straightConnector1">
            <a:avLst/>
          </a:prstGeom>
          <a:noFill/>
          <a:ln w="9525" cap="flat" cmpd="sng">
            <a:solidFill>
              <a:schemeClr val="dk2"/>
            </a:solidFill>
            <a:prstDash val="solid"/>
            <a:round/>
            <a:headEnd type="none" w="sm" len="sm"/>
            <a:tailEnd type="triangle" w="med" len="med"/>
          </a:ln>
        </p:spPr>
      </p:cxnSp>
      <p:cxnSp>
        <p:nvCxnSpPr>
          <p:cNvPr id="468" name="Google Shape;468;p42"/>
          <p:cNvCxnSpPr>
            <a:cxnSpLocks/>
          </p:cNvCxnSpPr>
          <p:nvPr/>
        </p:nvCxnSpPr>
        <p:spPr>
          <a:xfrm rot="10800000">
            <a:off x="4924636" y="2581843"/>
            <a:ext cx="0" cy="421200"/>
          </a:xfrm>
          <a:prstGeom prst="straightConnector1">
            <a:avLst/>
          </a:prstGeom>
          <a:noFill/>
          <a:ln w="9525" cap="flat" cmpd="sng">
            <a:solidFill>
              <a:schemeClr val="dk2"/>
            </a:solidFill>
            <a:prstDash val="solid"/>
            <a:round/>
            <a:headEnd type="none" w="sm" len="sm"/>
            <a:tailEnd type="triangle" w="med" len="med"/>
          </a:ln>
        </p:spPr>
      </p:cxnSp>
      <p:pic>
        <p:nvPicPr>
          <p:cNvPr id="469" name="Google Shape;469;p42"/>
          <p:cNvPicPr preferRelativeResize="0"/>
          <p:nvPr/>
        </p:nvPicPr>
        <p:blipFill rotWithShape="1">
          <a:blip r:embed="rId4">
            <a:alphaModFix/>
          </a:blip>
          <a:srcRect b="17715"/>
          <a:stretch/>
        </p:blipFill>
        <p:spPr>
          <a:xfrm>
            <a:off x="1771013" y="468881"/>
            <a:ext cx="6306824" cy="2191100"/>
          </a:xfrm>
          <a:prstGeom prst="rect">
            <a:avLst/>
          </a:prstGeom>
          <a:noFill/>
          <a:ln>
            <a:noFill/>
          </a:ln>
        </p:spPr>
      </p:pic>
      <p:sp>
        <p:nvSpPr>
          <p:cNvPr id="2" name="Slide Number Placeholder 1">
            <a:extLst>
              <a:ext uri="{FF2B5EF4-FFF2-40B4-BE49-F238E27FC236}">
                <a16:creationId xmlns:a16="http://schemas.microsoft.com/office/drawing/2014/main" id="{139B09A5-617E-BD30-907B-EC0F4C3510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pic>
        <p:nvPicPr>
          <p:cNvPr id="3" name="Google Shape;483;p44">
            <a:extLst>
              <a:ext uri="{FF2B5EF4-FFF2-40B4-BE49-F238E27FC236}">
                <a16:creationId xmlns:a16="http://schemas.microsoft.com/office/drawing/2014/main" id="{34CFE49E-4F24-0B6D-A367-ADB702EC1DAE}"/>
              </a:ext>
            </a:extLst>
          </p:cNvPr>
          <p:cNvPicPr preferRelativeResize="0"/>
          <p:nvPr/>
        </p:nvPicPr>
        <p:blipFill rotWithShape="1">
          <a:blip r:embed="rId5">
            <a:alphaModFix/>
          </a:blip>
          <a:srcRect/>
          <a:stretch/>
        </p:blipFill>
        <p:spPr>
          <a:xfrm>
            <a:off x="2877925" y="4103950"/>
            <a:ext cx="6222025" cy="421825"/>
          </a:xfrm>
          <a:prstGeom prst="rect">
            <a:avLst/>
          </a:prstGeom>
          <a:noFill/>
          <a:ln>
            <a:noFill/>
          </a:ln>
        </p:spPr>
      </p:pic>
      <p:sp>
        <p:nvSpPr>
          <p:cNvPr id="4" name="Google Shape;403;p35">
            <a:extLst>
              <a:ext uri="{FF2B5EF4-FFF2-40B4-BE49-F238E27FC236}">
                <a16:creationId xmlns:a16="http://schemas.microsoft.com/office/drawing/2014/main" id="{11E6745D-6272-DAD5-17A1-F14D64CBD5B8}"/>
              </a:ext>
            </a:extLst>
          </p:cNvPr>
          <p:cNvSpPr txBox="1"/>
          <p:nvPr/>
        </p:nvSpPr>
        <p:spPr>
          <a:xfrm>
            <a:off x="3387716" y="3501001"/>
            <a:ext cx="14964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Lato"/>
                <a:ea typeface="Lato"/>
                <a:cs typeface="Lato"/>
                <a:sym typeface="Lato"/>
              </a:rPr>
              <a:t>“Bias”</a:t>
            </a:r>
            <a:endParaRPr sz="1400" b="0" i="1" u="none" strike="noStrike" cap="none">
              <a:solidFill>
                <a:srgbClr val="000000"/>
              </a:solidFill>
              <a:latin typeface="Lato"/>
              <a:ea typeface="Lato"/>
              <a:cs typeface="Lato"/>
              <a:sym typeface="Lato"/>
            </a:endParaRPr>
          </a:p>
        </p:txBody>
      </p:sp>
      <p:cxnSp>
        <p:nvCxnSpPr>
          <p:cNvPr id="5" name="Google Shape;404;p35">
            <a:extLst>
              <a:ext uri="{FF2B5EF4-FFF2-40B4-BE49-F238E27FC236}">
                <a16:creationId xmlns:a16="http://schemas.microsoft.com/office/drawing/2014/main" id="{BFCC1B24-A37E-F662-6C9E-752CA2086B51}"/>
              </a:ext>
            </a:extLst>
          </p:cNvPr>
          <p:cNvCxnSpPr/>
          <p:nvPr/>
        </p:nvCxnSpPr>
        <p:spPr>
          <a:xfrm>
            <a:off x="4135916" y="3859326"/>
            <a:ext cx="0" cy="279000"/>
          </a:xfrm>
          <a:prstGeom prst="straightConnector1">
            <a:avLst/>
          </a:prstGeom>
          <a:noFill/>
          <a:ln w="9525" cap="flat" cmpd="sng">
            <a:solidFill>
              <a:schemeClr val="dk2"/>
            </a:solidFill>
            <a:prstDash val="solid"/>
            <a:round/>
            <a:headEnd type="none" w="sm" len="sm"/>
            <a:tailEnd type="triangle" w="med" len="med"/>
          </a:ln>
        </p:spPr>
      </p:cxnSp>
      <p:sp>
        <p:nvSpPr>
          <p:cNvPr id="6" name="Google Shape;405;p35">
            <a:extLst>
              <a:ext uri="{FF2B5EF4-FFF2-40B4-BE49-F238E27FC236}">
                <a16:creationId xmlns:a16="http://schemas.microsoft.com/office/drawing/2014/main" id="{494B7498-9FE8-2C29-D4E3-05BE12382BBF}"/>
              </a:ext>
            </a:extLst>
          </p:cNvPr>
          <p:cNvSpPr txBox="1"/>
          <p:nvPr/>
        </p:nvSpPr>
        <p:spPr>
          <a:xfrm>
            <a:off x="2894052" y="4778079"/>
            <a:ext cx="1814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Lato"/>
                <a:ea typeface="Lato"/>
                <a:cs typeface="Lato"/>
                <a:sym typeface="Lato"/>
              </a:rPr>
              <a:t>“Activation function”</a:t>
            </a:r>
            <a:endParaRPr sz="1400" b="0" i="1" u="none" strike="noStrike" cap="none">
              <a:solidFill>
                <a:srgbClr val="000000"/>
              </a:solidFill>
              <a:latin typeface="Lato"/>
              <a:ea typeface="Lato"/>
              <a:cs typeface="Lato"/>
              <a:sym typeface="Lato"/>
            </a:endParaRPr>
          </a:p>
        </p:txBody>
      </p:sp>
      <p:cxnSp>
        <p:nvCxnSpPr>
          <p:cNvPr id="7" name="Google Shape;406;p35">
            <a:extLst>
              <a:ext uri="{FF2B5EF4-FFF2-40B4-BE49-F238E27FC236}">
                <a16:creationId xmlns:a16="http://schemas.microsoft.com/office/drawing/2014/main" id="{38023882-24AD-645C-FD9B-87C96BB7E299}"/>
              </a:ext>
            </a:extLst>
          </p:cNvPr>
          <p:cNvCxnSpPr/>
          <p:nvPr/>
        </p:nvCxnSpPr>
        <p:spPr>
          <a:xfrm rot="10800000">
            <a:off x="3715102" y="4507279"/>
            <a:ext cx="0" cy="351000"/>
          </a:xfrm>
          <a:prstGeom prst="straightConnector1">
            <a:avLst/>
          </a:prstGeom>
          <a:noFill/>
          <a:ln w="9525" cap="flat" cmpd="sng">
            <a:solidFill>
              <a:schemeClr val="dk2"/>
            </a:solidFill>
            <a:prstDash val="solid"/>
            <a:round/>
            <a:headEnd type="none" w="sm" len="sm"/>
            <a:tailEnd type="triangle" w="med" len="med"/>
          </a:ln>
        </p:spPr>
      </p:cxnSp>
      <p:sp>
        <p:nvSpPr>
          <p:cNvPr id="8" name="Google Shape;407;p35">
            <a:extLst>
              <a:ext uri="{FF2B5EF4-FFF2-40B4-BE49-F238E27FC236}">
                <a16:creationId xmlns:a16="http://schemas.microsoft.com/office/drawing/2014/main" id="{0A8A8F4C-3A9E-7FDC-56AE-BAC6D43CA441}"/>
              </a:ext>
            </a:extLst>
          </p:cNvPr>
          <p:cNvSpPr txBox="1"/>
          <p:nvPr/>
        </p:nvSpPr>
        <p:spPr>
          <a:xfrm>
            <a:off x="2448966" y="3501001"/>
            <a:ext cx="1122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1" u="none" strike="noStrike" cap="none" dirty="0">
                <a:solidFill>
                  <a:srgbClr val="000000"/>
                </a:solidFill>
                <a:latin typeface="Lato"/>
                <a:ea typeface="Lato"/>
                <a:cs typeface="Lato"/>
                <a:sym typeface="Lato"/>
              </a:rPr>
              <a:t>“Activation”</a:t>
            </a:r>
            <a:endParaRPr sz="1400" b="0" i="0" u="none" strike="noStrike" cap="none" dirty="0">
              <a:solidFill>
                <a:srgbClr val="000000"/>
              </a:solidFill>
              <a:latin typeface="Arial"/>
              <a:ea typeface="Arial"/>
              <a:cs typeface="Arial"/>
              <a:sym typeface="Arial"/>
            </a:endParaRPr>
          </a:p>
        </p:txBody>
      </p:sp>
      <p:cxnSp>
        <p:nvCxnSpPr>
          <p:cNvPr id="9" name="Google Shape;408;p35">
            <a:extLst>
              <a:ext uri="{FF2B5EF4-FFF2-40B4-BE49-F238E27FC236}">
                <a16:creationId xmlns:a16="http://schemas.microsoft.com/office/drawing/2014/main" id="{5679BEF5-9404-221E-F0ED-C685D0822BEB}"/>
              </a:ext>
            </a:extLst>
          </p:cNvPr>
          <p:cNvCxnSpPr/>
          <p:nvPr/>
        </p:nvCxnSpPr>
        <p:spPr>
          <a:xfrm>
            <a:off x="3010116" y="3825149"/>
            <a:ext cx="0" cy="277200"/>
          </a:xfrm>
          <a:prstGeom prst="straightConnector1">
            <a:avLst/>
          </a:prstGeom>
          <a:noFill/>
          <a:ln w="9525" cap="flat" cmpd="sng">
            <a:solidFill>
              <a:schemeClr val="dk2"/>
            </a:solidFill>
            <a:prstDash val="solid"/>
            <a:round/>
            <a:headEnd type="none" w="sm" len="sm"/>
            <a:tailEnd type="triangle" w="med" len="med"/>
          </a:ln>
        </p:spPr>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9A00E7D-C539-4984-8FBB-26FE22F0AFDC}"/>
                  </a:ext>
                </a:extLst>
              </p:cNvPr>
              <p:cNvSpPr txBox="1"/>
              <p:nvPr/>
            </p:nvSpPr>
            <p:spPr>
              <a:xfrm>
                <a:off x="7205777" y="2896602"/>
                <a:ext cx="1894173"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3200" b="0" i="1" smtClean="0">
                              <a:latin typeface="Cambria Math" panose="02040503050406030204" pitchFamily="18" charset="0"/>
                            </a:rPr>
                          </m:ctrlPr>
                        </m:accPr>
                        <m:e>
                          <m:r>
                            <a:rPr lang="en-US" altLang="zh-CN" sz="3200" b="0" i="1" smtClean="0">
                              <a:latin typeface="Cambria Math" panose="02040503050406030204" pitchFamily="18" charset="0"/>
                            </a:rPr>
                            <m:t>𝑦</m:t>
                          </m:r>
                        </m:e>
                      </m:acc>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𝜎</m:t>
                      </m:r>
                      <m:r>
                        <a:rPr lang="en-US" altLang="zh-CN" sz="3200" b="0" i="1" smtClean="0">
                          <a:latin typeface="Cambria Math" panose="02040503050406030204" pitchFamily="18" charset="0"/>
                        </a:rPr>
                        <m:t>(</m:t>
                      </m:r>
                      <m:sSup>
                        <m:sSupPr>
                          <m:ctrlPr>
                            <a:rPr lang="en-US" altLang="zh-CN" sz="3200" b="0" i="1" smtClean="0">
                              <a:latin typeface="Cambria Math" panose="02040503050406030204" pitchFamily="18" charset="0"/>
                            </a:rPr>
                          </m:ctrlPr>
                        </m:sSupPr>
                        <m:e>
                          <m:r>
                            <a:rPr lang="en-US" altLang="zh-CN" sz="3200" b="0" i="1" smtClean="0">
                              <a:latin typeface="Cambria Math" panose="02040503050406030204" pitchFamily="18" charset="0"/>
                            </a:rPr>
                            <m:t>𝑜</m:t>
                          </m:r>
                        </m:e>
                        <m:sup>
                          <m:r>
                            <a:rPr lang="en-US" altLang="zh-CN" sz="3200" b="0" i="1" smtClean="0">
                              <a:latin typeface="Cambria Math" panose="02040503050406030204" pitchFamily="18" charset="0"/>
                            </a:rPr>
                            <m:t>𝐿</m:t>
                          </m:r>
                        </m:sup>
                      </m:sSup>
                      <m:r>
                        <a:rPr lang="en-US" altLang="zh-CN" sz="3200" b="0" i="1" smtClean="0">
                          <a:latin typeface="Cambria Math" panose="02040503050406030204" pitchFamily="18" charset="0"/>
                        </a:rPr>
                        <m:t>)</m:t>
                      </m:r>
                    </m:oMath>
                  </m:oMathPara>
                </a14:m>
                <a:endParaRPr lang="zh-CN" altLang="en-US" sz="3200" dirty="0"/>
              </a:p>
            </p:txBody>
          </p:sp>
        </mc:Choice>
        <mc:Fallback xmlns="">
          <p:sp>
            <p:nvSpPr>
              <p:cNvPr id="11" name="TextBox 10">
                <a:extLst>
                  <a:ext uri="{FF2B5EF4-FFF2-40B4-BE49-F238E27FC236}">
                    <a16:creationId xmlns:a16="http://schemas.microsoft.com/office/drawing/2014/main" id="{A9A00E7D-C539-4984-8FBB-26FE22F0AFDC}"/>
                  </a:ext>
                </a:extLst>
              </p:cNvPr>
              <p:cNvSpPr txBox="1">
                <a:spLocks noRot="1" noChangeAspect="1" noMove="1" noResize="1" noEditPoints="1" noAdjustHandles="1" noChangeArrowheads="1" noChangeShapeType="1" noTextEdit="1"/>
              </p:cNvSpPr>
              <p:nvPr/>
            </p:nvSpPr>
            <p:spPr>
              <a:xfrm>
                <a:off x="7205777" y="2896602"/>
                <a:ext cx="1894173" cy="492443"/>
              </a:xfrm>
              <a:prstGeom prst="rect">
                <a:avLst/>
              </a:prstGeom>
              <a:blipFill>
                <a:blip r:embed="rId6"/>
                <a:stretch>
                  <a:fillRect/>
                </a:stretch>
              </a:blipFill>
            </p:spPr>
            <p:txBody>
              <a:bodyPr/>
              <a:lstStyle/>
              <a:p>
                <a:r>
                  <a:rPr lang="zh-CN" altLang="en-US">
                    <a:noFill/>
                  </a:rPr>
                  <a:t> </a:t>
                </a:r>
              </a:p>
            </p:txBody>
          </p:sp>
        </mc:Fallback>
      </mc:AlternateContent>
      <p:sp>
        <p:nvSpPr>
          <p:cNvPr id="16" name="Google Shape;498;p46">
            <a:extLst>
              <a:ext uri="{FF2B5EF4-FFF2-40B4-BE49-F238E27FC236}">
                <a16:creationId xmlns:a16="http://schemas.microsoft.com/office/drawing/2014/main" id="{63B4BB19-6B01-E642-6E1E-F7325FCE53E9}"/>
              </a:ext>
            </a:extLst>
          </p:cNvPr>
          <p:cNvSpPr txBox="1"/>
          <p:nvPr/>
        </p:nvSpPr>
        <p:spPr>
          <a:xfrm>
            <a:off x="81991" y="1960720"/>
            <a:ext cx="2327843" cy="2954625"/>
          </a:xfrm>
          <a:prstGeom prst="rect">
            <a:avLst/>
          </a:prstGeom>
          <a:solidFill>
            <a:schemeClr val="bg1">
              <a:lumMod val="95000"/>
            </a:schemeClr>
          </a:solidFill>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t" anchorCtr="0">
            <a:spAutoFit/>
          </a:bodyPr>
          <a:lstStyle/>
          <a:p>
            <a:pPr marL="0" marR="0" lvl="0" indent="0" rtl="0">
              <a:lnSpc>
                <a:spcPct val="100000"/>
              </a:lnSpc>
              <a:spcBef>
                <a:spcPts val="0"/>
              </a:spcBef>
              <a:spcAft>
                <a:spcPts val="0"/>
              </a:spcAft>
              <a:buClr>
                <a:srgbClr val="000000"/>
              </a:buClr>
              <a:buSzPts val="1700"/>
              <a:buFont typeface="Arial"/>
              <a:buNone/>
            </a:pPr>
            <a:r>
              <a:rPr lang="en" sz="2000" b="1" i="0" u="none" strike="noStrike" cap="none" dirty="0">
                <a:solidFill>
                  <a:srgbClr val="000000"/>
                </a:solidFill>
                <a:latin typeface="Lato"/>
                <a:ea typeface="Lato"/>
                <a:cs typeface="Lato"/>
                <a:sym typeface="Lato"/>
              </a:rPr>
              <a:t>Output </a:t>
            </a:r>
            <a:r>
              <a:rPr lang="en" sz="2000" b="0" i="0" u="none" strike="noStrike" cap="none" dirty="0">
                <a:solidFill>
                  <a:srgbClr val="000000"/>
                </a:solidFill>
                <a:latin typeface="Lato"/>
                <a:ea typeface="Lato"/>
                <a:cs typeface="Lato"/>
                <a:sym typeface="Lato"/>
              </a:rPr>
              <a:t>of each layer is </a:t>
            </a:r>
            <a:r>
              <a:rPr lang="en" sz="2000" dirty="0">
                <a:solidFill>
                  <a:srgbClr val="000000"/>
                </a:solidFill>
                <a:latin typeface="Lato"/>
                <a:ea typeface="Lato"/>
                <a:cs typeface="Lato"/>
                <a:sym typeface="Lato"/>
              </a:rPr>
              <a:t>the </a:t>
            </a:r>
            <a:r>
              <a:rPr lang="en" sz="2000" b="0" i="0" u="none" strike="noStrike" cap="none" dirty="0">
                <a:solidFill>
                  <a:srgbClr val="000000"/>
                </a:solidFill>
                <a:latin typeface="Lato"/>
                <a:ea typeface="Lato"/>
                <a:cs typeface="Lato"/>
                <a:sym typeface="Lato"/>
              </a:rPr>
              <a:t>product of its </a:t>
            </a:r>
            <a:r>
              <a:rPr lang="en" sz="2000" b="1" i="0" u="none" strike="noStrike" cap="none" dirty="0">
                <a:solidFill>
                  <a:srgbClr val="000000"/>
                </a:solidFill>
                <a:latin typeface="Lato"/>
                <a:ea typeface="Lato"/>
                <a:cs typeface="Lato"/>
                <a:sym typeface="Lato"/>
              </a:rPr>
              <a:t>weight matrix</a:t>
            </a:r>
            <a:r>
              <a:rPr lang="en" sz="2000" b="0" i="0" u="none" strike="noStrike" cap="none" dirty="0">
                <a:solidFill>
                  <a:srgbClr val="000000"/>
                </a:solidFill>
                <a:latin typeface="Lato"/>
                <a:ea typeface="Lato"/>
                <a:cs typeface="Lato"/>
                <a:sym typeface="Lato"/>
              </a:rPr>
              <a:t> and the </a:t>
            </a:r>
            <a:r>
              <a:rPr lang="en" sz="2000" b="1" i="0" u="none" strike="noStrike" cap="none" dirty="0">
                <a:solidFill>
                  <a:srgbClr val="000000"/>
                </a:solidFill>
                <a:latin typeface="Lato"/>
                <a:ea typeface="Lato"/>
                <a:cs typeface="Lato"/>
                <a:sym typeface="Lato"/>
              </a:rPr>
              <a:t>input vector</a:t>
            </a:r>
            <a:r>
              <a:rPr lang="en" sz="2000" b="0" i="0" u="none" strike="noStrike" cap="none" dirty="0">
                <a:solidFill>
                  <a:srgbClr val="000000"/>
                </a:solidFill>
                <a:latin typeface="Lato"/>
                <a:ea typeface="Lato"/>
                <a:cs typeface="Lato"/>
                <a:sym typeface="Lato"/>
              </a:rPr>
              <a:t> plus its </a:t>
            </a:r>
            <a:r>
              <a:rPr lang="en" sz="2000" b="1" i="0" u="none" strike="noStrike" cap="none" dirty="0">
                <a:solidFill>
                  <a:srgbClr val="000000"/>
                </a:solidFill>
                <a:latin typeface="Lato"/>
                <a:ea typeface="Lato"/>
                <a:cs typeface="Lato"/>
                <a:sym typeface="Lato"/>
              </a:rPr>
              <a:t>bias vector</a:t>
            </a:r>
            <a:r>
              <a:rPr lang="en" sz="2000" b="0" i="0" u="none" strike="noStrike" cap="none" dirty="0">
                <a:solidFill>
                  <a:srgbClr val="000000"/>
                </a:solidFill>
                <a:latin typeface="Lato"/>
                <a:ea typeface="Lato"/>
                <a:cs typeface="Lato"/>
                <a:sym typeface="Lato"/>
              </a:rPr>
              <a:t>, followed by a </a:t>
            </a:r>
            <a:r>
              <a:rPr lang="en" sz="2000" b="1" i="0" u="none" strike="noStrike" cap="none" dirty="0">
                <a:solidFill>
                  <a:srgbClr val="000000"/>
                </a:solidFill>
                <a:latin typeface="Lato"/>
                <a:ea typeface="Lato"/>
                <a:cs typeface="Lato"/>
                <a:sym typeface="Lato"/>
              </a:rPr>
              <a:t>non-linear activation function</a:t>
            </a:r>
            <a:r>
              <a:rPr lang="en" sz="2000" b="0" i="0" u="none" strike="noStrike" cap="none" dirty="0">
                <a:solidFill>
                  <a:srgbClr val="000000"/>
                </a:solidFill>
                <a:latin typeface="Lato"/>
                <a:ea typeface="Lato"/>
                <a:cs typeface="Lato"/>
                <a:sym typeface="Lato"/>
              </a:rPr>
              <a:t>.</a:t>
            </a:r>
            <a:endParaRPr sz="2000" b="0" i="0" u="none" strike="noStrike" cap="none" dirty="0">
              <a:solidFill>
                <a:srgbClr val="000000"/>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1" grpId="0"/>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54"/>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548" name="Google Shape;548;p54"/>
          <p:cNvPicPr preferRelativeResize="0"/>
          <p:nvPr/>
        </p:nvPicPr>
        <p:blipFill rotWithShape="1">
          <a:blip r:embed="rId3">
            <a:alphaModFix/>
          </a:blip>
          <a:srcRect l="30186" r="26283" b="31851"/>
          <a:stretch/>
        </p:blipFill>
        <p:spPr>
          <a:xfrm>
            <a:off x="190475" y="1005637"/>
            <a:ext cx="4451700" cy="3593480"/>
          </a:xfrm>
          <a:prstGeom prst="rect">
            <a:avLst/>
          </a:prstGeom>
          <a:noFill/>
          <a:ln>
            <a:noFill/>
          </a:ln>
        </p:spPr>
      </p:pic>
      <p:sp>
        <p:nvSpPr>
          <p:cNvPr id="549" name="Google Shape;549;p54"/>
          <p:cNvSpPr txBox="1"/>
          <p:nvPr/>
        </p:nvSpPr>
        <p:spPr>
          <a:xfrm>
            <a:off x="4642175" y="1225225"/>
            <a:ext cx="4010700" cy="1293000"/>
          </a:xfrm>
          <a:prstGeom prst="rect">
            <a:avLst/>
          </a:prstGeom>
          <a:noFill/>
          <a:ln>
            <a:noFill/>
          </a:ln>
        </p:spPr>
        <p:txBody>
          <a:bodyPr spcFirstLastPara="1" wrap="square" lIns="91425" tIns="91425" rIns="91425" bIns="91425" anchor="t" anchorCtr="0">
            <a:spAutoFit/>
          </a:bodyPr>
          <a:lstStyle/>
          <a:p>
            <a:pPr marL="0" marR="0" lvl="0" indent="0" rtl="0">
              <a:lnSpc>
                <a:spcPct val="100000"/>
              </a:lnSpc>
              <a:spcBef>
                <a:spcPts val="0"/>
              </a:spcBef>
              <a:spcAft>
                <a:spcPts val="0"/>
              </a:spcAft>
              <a:buClr>
                <a:srgbClr val="000000"/>
              </a:buClr>
              <a:buSzPts val="1800"/>
              <a:buFont typeface="Arial"/>
              <a:buNone/>
            </a:pPr>
            <a:r>
              <a:rPr lang="en" sz="1800" b="0" i="0" u="none" strike="noStrike" cap="none" dirty="0">
                <a:solidFill>
                  <a:srgbClr val="000000"/>
                </a:solidFill>
                <a:latin typeface="+mj-lt"/>
                <a:ea typeface="Lato"/>
                <a:cs typeface="Lato"/>
                <a:sym typeface="Lato"/>
              </a:rPr>
              <a:t>A multi-layer perceptron is a series of affine transformations of an input vector, each of which is wrapped in a </a:t>
            </a:r>
            <a:r>
              <a:rPr lang="en" sz="1800" b="0" i="0" u="none" strike="noStrike" cap="none" dirty="0">
                <a:solidFill>
                  <a:srgbClr val="C00000"/>
                </a:solidFill>
                <a:latin typeface="+mj-lt"/>
                <a:ea typeface="Lato"/>
                <a:cs typeface="Lato"/>
                <a:sym typeface="Lato"/>
              </a:rPr>
              <a:t>non-linear activation function</a:t>
            </a:r>
            <a:r>
              <a:rPr lang="en" sz="1800" b="0" i="0" u="none" strike="noStrike" cap="none" dirty="0">
                <a:solidFill>
                  <a:srgbClr val="000000"/>
                </a:solidFill>
                <a:latin typeface="+mj-lt"/>
                <a:ea typeface="Lato"/>
                <a:cs typeface="Lato"/>
                <a:sym typeface="Lato"/>
              </a:rPr>
              <a:t>.</a:t>
            </a:r>
            <a:endParaRPr sz="1800" b="0" i="0" u="none" strike="noStrike" cap="none" dirty="0">
              <a:solidFill>
                <a:srgbClr val="000000"/>
              </a:solidFill>
              <a:latin typeface="+mj-lt"/>
              <a:ea typeface="Lato"/>
              <a:cs typeface="Lato"/>
              <a:sym typeface="Lato"/>
            </a:endParaRPr>
          </a:p>
        </p:txBody>
      </p:sp>
      <p:pic>
        <p:nvPicPr>
          <p:cNvPr id="551" name="Google Shape;551;p54"/>
          <p:cNvPicPr preferRelativeResize="0"/>
          <p:nvPr/>
        </p:nvPicPr>
        <p:blipFill rotWithShape="1">
          <a:blip r:embed="rId4">
            <a:alphaModFix/>
          </a:blip>
          <a:srcRect/>
          <a:stretch/>
        </p:blipFill>
        <p:spPr>
          <a:xfrm>
            <a:off x="6732993" y="2922712"/>
            <a:ext cx="1161875" cy="236225"/>
          </a:xfrm>
          <a:prstGeom prst="rect">
            <a:avLst/>
          </a:prstGeom>
          <a:noFill/>
          <a:ln>
            <a:noFill/>
          </a:ln>
        </p:spPr>
      </p:pic>
      <p:pic>
        <p:nvPicPr>
          <p:cNvPr id="552" name="Google Shape;552;p54"/>
          <p:cNvPicPr preferRelativeResize="0"/>
          <p:nvPr/>
        </p:nvPicPr>
        <p:blipFill rotWithShape="1">
          <a:blip r:embed="rId5">
            <a:alphaModFix/>
          </a:blip>
          <a:srcRect/>
          <a:stretch/>
        </p:blipFill>
        <p:spPr>
          <a:xfrm>
            <a:off x="5400181" y="2434563"/>
            <a:ext cx="2465275" cy="381425"/>
          </a:xfrm>
          <a:prstGeom prst="rect">
            <a:avLst/>
          </a:prstGeom>
          <a:noFill/>
          <a:ln>
            <a:noFill/>
          </a:ln>
        </p:spPr>
      </p:pic>
      <p:sp>
        <p:nvSpPr>
          <p:cNvPr id="2" name="Slide Number Placeholder 1">
            <a:extLst>
              <a:ext uri="{FF2B5EF4-FFF2-40B4-BE49-F238E27FC236}">
                <a16:creationId xmlns:a16="http://schemas.microsoft.com/office/drawing/2014/main" id="{ADA4B609-CD63-E02A-290D-E594835E3F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
        <p:nvSpPr>
          <p:cNvPr id="3" name="Google Shape;549;p54">
            <a:extLst>
              <a:ext uri="{FF2B5EF4-FFF2-40B4-BE49-F238E27FC236}">
                <a16:creationId xmlns:a16="http://schemas.microsoft.com/office/drawing/2014/main" id="{D4F037FF-88DD-6396-725D-013D6ED43C1B}"/>
              </a:ext>
            </a:extLst>
          </p:cNvPr>
          <p:cNvSpPr txBox="1"/>
          <p:nvPr/>
        </p:nvSpPr>
        <p:spPr>
          <a:xfrm>
            <a:off x="4642175" y="3249173"/>
            <a:ext cx="4010700" cy="1777379"/>
          </a:xfrm>
          <a:prstGeom prst="rect">
            <a:avLst/>
          </a:prstGeom>
          <a:noFill/>
          <a:ln>
            <a:noFill/>
          </a:ln>
        </p:spPr>
        <p:txBody>
          <a:bodyPr spcFirstLastPara="1" wrap="square" lIns="91425" tIns="91425" rIns="91425" bIns="91425" anchor="t" anchorCtr="0">
            <a:spAutoFit/>
          </a:bodyPr>
          <a:lstStyle/>
          <a:p>
            <a:pPr lvl="0">
              <a:lnSpc>
                <a:spcPct val="115000"/>
              </a:lnSpc>
              <a:buSzPts val="1300"/>
            </a:pPr>
            <a:r>
              <a:rPr lang="en-US" altLang="zh-CN" sz="1800" dirty="0"/>
              <a:t>Without a non-linear activation function, a series of linear transformations would result in just a linear transformation of the input to the output.</a:t>
            </a:r>
          </a:p>
        </p:txBody>
      </p:sp>
    </p:spTree>
    <p:extLst>
      <p:ext uri="{BB962C8B-B14F-4D97-AF65-F5344CB8AC3E}">
        <p14:creationId xmlns:p14="http://schemas.microsoft.com/office/powerpoint/2010/main" val="559439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49"/>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518" name="Google Shape;518;p49"/>
          <p:cNvPicPr preferRelativeResize="0"/>
          <p:nvPr/>
        </p:nvPicPr>
        <p:blipFill rotWithShape="1">
          <a:blip r:embed="rId3">
            <a:alphaModFix/>
          </a:blip>
          <a:srcRect/>
          <a:stretch/>
        </p:blipFill>
        <p:spPr>
          <a:xfrm>
            <a:off x="137160" y="504925"/>
            <a:ext cx="7814400" cy="4275598"/>
          </a:xfrm>
          <a:prstGeom prst="rect">
            <a:avLst/>
          </a:prstGeom>
          <a:noFill/>
          <a:ln>
            <a:noFill/>
          </a:ln>
        </p:spPr>
      </p:pic>
      <p:sp>
        <p:nvSpPr>
          <p:cNvPr id="2" name="Slide Number Placeholder 1">
            <a:extLst>
              <a:ext uri="{FF2B5EF4-FFF2-40B4-BE49-F238E27FC236}">
                <a16:creationId xmlns:a16="http://schemas.microsoft.com/office/drawing/2014/main" id="{B2D473B8-EEA0-8350-BEE0-5B95C6F090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0"/>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524" name="Google Shape;524;p50"/>
          <p:cNvPicPr preferRelativeResize="0"/>
          <p:nvPr/>
        </p:nvPicPr>
        <p:blipFill rotWithShape="1">
          <a:blip r:embed="rId3">
            <a:alphaModFix/>
          </a:blip>
          <a:srcRect/>
          <a:stretch/>
        </p:blipFill>
        <p:spPr>
          <a:xfrm>
            <a:off x="135563" y="502920"/>
            <a:ext cx="7818122" cy="4267774"/>
          </a:xfrm>
          <a:prstGeom prst="rect">
            <a:avLst/>
          </a:prstGeom>
          <a:noFill/>
          <a:ln>
            <a:noFill/>
          </a:ln>
        </p:spPr>
      </p:pic>
      <p:sp>
        <p:nvSpPr>
          <p:cNvPr id="2" name="Slide Number Placeholder 1">
            <a:extLst>
              <a:ext uri="{FF2B5EF4-FFF2-40B4-BE49-F238E27FC236}">
                <a16:creationId xmlns:a16="http://schemas.microsoft.com/office/drawing/2014/main" id="{9D68DD15-D777-3397-1411-6CBAB63F49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51"/>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530" name="Google Shape;530;p51"/>
          <p:cNvPicPr preferRelativeResize="0"/>
          <p:nvPr/>
        </p:nvPicPr>
        <p:blipFill rotWithShape="1">
          <a:blip r:embed="rId3">
            <a:alphaModFix/>
          </a:blip>
          <a:srcRect/>
          <a:stretch/>
        </p:blipFill>
        <p:spPr>
          <a:xfrm>
            <a:off x="137160" y="502920"/>
            <a:ext cx="7818122" cy="4286168"/>
          </a:xfrm>
          <a:prstGeom prst="rect">
            <a:avLst/>
          </a:prstGeom>
          <a:noFill/>
          <a:ln>
            <a:noFill/>
          </a:ln>
        </p:spPr>
      </p:pic>
      <p:sp>
        <p:nvSpPr>
          <p:cNvPr id="2" name="Slide Number Placeholder 1">
            <a:extLst>
              <a:ext uri="{FF2B5EF4-FFF2-40B4-BE49-F238E27FC236}">
                <a16:creationId xmlns:a16="http://schemas.microsoft.com/office/drawing/2014/main" id="{25376067-C667-FCC1-E799-4F11733162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52"/>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536" name="Google Shape;536;p52"/>
          <p:cNvPicPr preferRelativeResize="0"/>
          <p:nvPr/>
        </p:nvPicPr>
        <p:blipFill rotWithShape="1">
          <a:blip r:embed="rId3">
            <a:alphaModFix/>
          </a:blip>
          <a:srcRect/>
          <a:stretch/>
        </p:blipFill>
        <p:spPr>
          <a:xfrm>
            <a:off x="137160" y="502920"/>
            <a:ext cx="7818122" cy="4290194"/>
          </a:xfrm>
          <a:prstGeom prst="rect">
            <a:avLst/>
          </a:prstGeom>
          <a:noFill/>
          <a:ln>
            <a:noFill/>
          </a:ln>
        </p:spPr>
      </p:pic>
      <p:sp>
        <p:nvSpPr>
          <p:cNvPr id="2" name="Slide Number Placeholder 1">
            <a:extLst>
              <a:ext uri="{FF2B5EF4-FFF2-40B4-BE49-F238E27FC236}">
                <a16:creationId xmlns:a16="http://schemas.microsoft.com/office/drawing/2014/main" id="{BCFFC765-5E94-E3C1-EB73-8B2AA4A598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53"/>
          <p:cNvSpPr/>
          <p:nvPr/>
        </p:nvSpPr>
        <p:spPr>
          <a:xfrm>
            <a:off x="570450" y="916475"/>
            <a:ext cx="1122300" cy="63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42" name="Google Shape;542;p53"/>
          <p:cNvPicPr preferRelativeResize="0"/>
          <p:nvPr/>
        </p:nvPicPr>
        <p:blipFill rotWithShape="1">
          <a:blip r:embed="rId3">
            <a:alphaModFix/>
          </a:blip>
          <a:srcRect t="27787"/>
          <a:stretch/>
        </p:blipFill>
        <p:spPr>
          <a:xfrm>
            <a:off x="118875" y="484200"/>
            <a:ext cx="8954952" cy="4348476"/>
          </a:xfrm>
          <a:prstGeom prst="rect">
            <a:avLst/>
          </a:prstGeom>
          <a:noFill/>
          <a:ln>
            <a:noFill/>
          </a:ln>
        </p:spPr>
      </p:pic>
      <p:sp>
        <p:nvSpPr>
          <p:cNvPr id="2" name="Slide Number Placeholder 1">
            <a:extLst>
              <a:ext uri="{FF2B5EF4-FFF2-40B4-BE49-F238E27FC236}">
                <a16:creationId xmlns:a16="http://schemas.microsoft.com/office/drawing/2014/main" id="{39B96A0A-36A6-2438-937A-B86FAF9D205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5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Common nonlinear functions</a:t>
            </a:r>
            <a:endParaRPr/>
          </a:p>
        </p:txBody>
      </p:sp>
      <p:pic>
        <p:nvPicPr>
          <p:cNvPr id="572" name="Google Shape;572;p56"/>
          <p:cNvPicPr preferRelativeResize="0"/>
          <p:nvPr/>
        </p:nvPicPr>
        <p:blipFill rotWithShape="1">
          <a:blip r:embed="rId3">
            <a:alphaModFix/>
          </a:blip>
          <a:srcRect/>
          <a:stretch/>
        </p:blipFill>
        <p:spPr>
          <a:xfrm>
            <a:off x="729450" y="1853850"/>
            <a:ext cx="3699427" cy="2984850"/>
          </a:xfrm>
          <a:prstGeom prst="rect">
            <a:avLst/>
          </a:prstGeom>
          <a:noFill/>
          <a:ln>
            <a:noFill/>
          </a:ln>
        </p:spPr>
      </p:pic>
      <p:pic>
        <p:nvPicPr>
          <p:cNvPr id="573" name="Google Shape;573;p56"/>
          <p:cNvPicPr preferRelativeResize="0"/>
          <p:nvPr/>
        </p:nvPicPr>
        <p:blipFill rotWithShape="1">
          <a:blip r:embed="rId4">
            <a:alphaModFix/>
          </a:blip>
          <a:srcRect/>
          <a:stretch/>
        </p:blipFill>
        <p:spPr>
          <a:xfrm>
            <a:off x="4630446" y="2786825"/>
            <a:ext cx="4198351" cy="535200"/>
          </a:xfrm>
          <a:prstGeom prst="rect">
            <a:avLst/>
          </a:prstGeom>
          <a:noFill/>
          <a:ln>
            <a:noFill/>
          </a:ln>
        </p:spPr>
      </p:pic>
      <p:pic>
        <p:nvPicPr>
          <p:cNvPr id="574" name="Google Shape;574;p56"/>
          <p:cNvPicPr preferRelativeResize="0"/>
          <p:nvPr/>
        </p:nvPicPr>
        <p:blipFill rotWithShape="1">
          <a:blip r:embed="rId5">
            <a:alphaModFix/>
          </a:blip>
          <a:srcRect r="50347"/>
          <a:stretch/>
        </p:blipFill>
        <p:spPr>
          <a:xfrm>
            <a:off x="4507249" y="3678701"/>
            <a:ext cx="2121584" cy="237385"/>
          </a:xfrm>
          <a:prstGeom prst="rect">
            <a:avLst/>
          </a:prstGeom>
          <a:noFill/>
          <a:ln>
            <a:noFill/>
          </a:ln>
        </p:spPr>
      </p:pic>
      <p:pic>
        <p:nvPicPr>
          <p:cNvPr id="575" name="Google Shape;575;p56"/>
          <p:cNvPicPr preferRelativeResize="0"/>
          <p:nvPr/>
        </p:nvPicPr>
        <p:blipFill rotWithShape="1">
          <a:blip r:embed="rId6">
            <a:alphaModFix/>
          </a:blip>
          <a:srcRect/>
          <a:stretch/>
        </p:blipFill>
        <p:spPr>
          <a:xfrm>
            <a:off x="6195134" y="1939855"/>
            <a:ext cx="2633663" cy="541340"/>
          </a:xfrm>
          <a:prstGeom prst="rect">
            <a:avLst/>
          </a:prstGeom>
          <a:noFill/>
          <a:ln>
            <a:noFill/>
          </a:ln>
        </p:spPr>
      </p:pic>
      <p:pic>
        <p:nvPicPr>
          <p:cNvPr id="576" name="Google Shape;576;p56"/>
          <p:cNvPicPr preferRelativeResize="0"/>
          <p:nvPr/>
        </p:nvPicPr>
        <p:blipFill rotWithShape="1">
          <a:blip r:embed="rId5">
            <a:alphaModFix/>
          </a:blip>
          <a:srcRect l="50347"/>
          <a:stretch/>
        </p:blipFill>
        <p:spPr>
          <a:xfrm>
            <a:off x="6707204" y="3678700"/>
            <a:ext cx="2121593" cy="237386"/>
          </a:xfrm>
          <a:prstGeom prst="rect">
            <a:avLst/>
          </a:prstGeom>
          <a:noFill/>
          <a:ln>
            <a:noFill/>
          </a:ln>
        </p:spPr>
      </p:pic>
      <p:sp>
        <p:nvSpPr>
          <p:cNvPr id="2" name="Slide Number Placeholder 1">
            <a:extLst>
              <a:ext uri="{FF2B5EF4-FFF2-40B4-BE49-F238E27FC236}">
                <a16:creationId xmlns:a16="http://schemas.microsoft.com/office/drawing/2014/main" id="{D7FC08C1-ABEB-DF44-040F-9574B329E2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pic>
        <p:nvPicPr>
          <p:cNvPr id="581" name="Google Shape;581;g2e7c7bc5007_0_13"/>
          <p:cNvPicPr preferRelativeResize="0"/>
          <p:nvPr/>
        </p:nvPicPr>
        <p:blipFill>
          <a:blip r:embed="rId3">
            <a:alphaModFix/>
          </a:blip>
          <a:srcRect/>
          <a:stretch/>
        </p:blipFill>
        <p:spPr>
          <a:xfrm>
            <a:off x="58998" y="369401"/>
            <a:ext cx="5819775" cy="4581163"/>
          </a:xfrm>
          <a:prstGeom prst="rect">
            <a:avLst/>
          </a:prstGeom>
          <a:noFill/>
          <a:ln>
            <a:noFill/>
          </a:ln>
        </p:spPr>
      </p:pic>
      <p:sp>
        <p:nvSpPr>
          <p:cNvPr id="582" name="Google Shape;582;g2e7c7bc5007_0_13"/>
          <p:cNvSpPr/>
          <p:nvPr/>
        </p:nvSpPr>
        <p:spPr>
          <a:xfrm>
            <a:off x="734025" y="929900"/>
            <a:ext cx="1032300" cy="55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 name="Slide Number Placeholder 1">
            <a:extLst>
              <a:ext uri="{FF2B5EF4-FFF2-40B4-BE49-F238E27FC236}">
                <a16:creationId xmlns:a16="http://schemas.microsoft.com/office/drawing/2014/main" id="{10CF6147-521C-FBEC-9113-18F50D3F50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pic>
        <p:nvPicPr>
          <p:cNvPr id="6" name="Picture 5" descr="The diagram shows a comparison of different activation functions (ReLU, Leaky ReLU, SELU, ELU) in terms of their impact on test error percentage for a CIFAR-10 image classification task, across a range of updates (1e3).&#10;&#10;AI-generated content may be incorrect.">
            <a:extLst>
              <a:ext uri="{FF2B5EF4-FFF2-40B4-BE49-F238E27FC236}">
                <a16:creationId xmlns:a16="http://schemas.microsoft.com/office/drawing/2014/main" id="{C94D2C21-D29B-E2DD-A90A-4B9231FFFDAB}"/>
              </a:ext>
            </a:extLst>
          </p:cNvPr>
          <p:cNvPicPr>
            <a:picLocks noChangeAspect="1"/>
          </p:cNvPicPr>
          <p:nvPr/>
        </p:nvPicPr>
        <p:blipFill>
          <a:blip r:embed="rId4"/>
          <a:stretch>
            <a:fillRect/>
          </a:stretch>
        </p:blipFill>
        <p:spPr>
          <a:xfrm>
            <a:off x="5733977" y="712883"/>
            <a:ext cx="3292034" cy="3573354"/>
          </a:xfrm>
          <a:prstGeom prst="rect">
            <a:avLst/>
          </a:prstGeom>
        </p:spPr>
      </p:pic>
      <p:sp>
        <p:nvSpPr>
          <p:cNvPr id="8" name="TextBox 7">
            <a:extLst>
              <a:ext uri="{FF2B5EF4-FFF2-40B4-BE49-F238E27FC236}">
                <a16:creationId xmlns:a16="http://schemas.microsoft.com/office/drawing/2014/main" id="{298F72F4-0DAB-B8D1-8CFC-4B6C259F576E}"/>
              </a:ext>
            </a:extLst>
          </p:cNvPr>
          <p:cNvSpPr txBox="1"/>
          <p:nvPr/>
        </p:nvSpPr>
        <p:spPr>
          <a:xfrm>
            <a:off x="5878773" y="4346487"/>
            <a:ext cx="3233036" cy="646331"/>
          </a:xfrm>
          <a:prstGeom prst="rect">
            <a:avLst/>
          </a:prstGeom>
          <a:noFill/>
        </p:spPr>
        <p:txBody>
          <a:bodyPr wrap="square">
            <a:spAutoFit/>
          </a:bodyPr>
          <a:lstStyle/>
          <a:p>
            <a:r>
              <a:rPr lang="en-US" altLang="zh-CN" sz="1200" dirty="0" err="1"/>
              <a:t>Clevert</a:t>
            </a:r>
            <a:r>
              <a:rPr lang="en-US" altLang="zh-CN" sz="1200" dirty="0"/>
              <a:t> et al. (2016): Training loss converges fastest with ELU; ELU yields lower test error than </a:t>
            </a:r>
            <a:r>
              <a:rPr lang="en-US" altLang="zh-CN" sz="1200" dirty="0" err="1"/>
              <a:t>ReLU</a:t>
            </a:r>
            <a:r>
              <a:rPr lang="en-US" altLang="zh-CN" sz="1200" dirty="0"/>
              <a:t> on CIFAR-10</a:t>
            </a:r>
            <a:endParaRPr lang="zh-CN" altLang="en-US" sz="1200" dirty="0"/>
          </a:p>
        </p:txBody>
      </p:sp>
      <p:sp>
        <p:nvSpPr>
          <p:cNvPr id="10" name="TextBox 9">
            <a:extLst>
              <a:ext uri="{FF2B5EF4-FFF2-40B4-BE49-F238E27FC236}">
                <a16:creationId xmlns:a16="http://schemas.microsoft.com/office/drawing/2014/main" id="{AA36C3CC-C4D1-3AE2-4EC4-2A8EF6D75AB5}"/>
              </a:ext>
            </a:extLst>
          </p:cNvPr>
          <p:cNvSpPr txBox="1"/>
          <p:nvPr/>
        </p:nvSpPr>
        <p:spPr>
          <a:xfrm>
            <a:off x="1003291" y="4937603"/>
            <a:ext cx="4049972" cy="215444"/>
          </a:xfrm>
          <a:prstGeom prst="rect">
            <a:avLst/>
          </a:prstGeom>
          <a:noFill/>
        </p:spPr>
        <p:txBody>
          <a:bodyPr wrap="square">
            <a:spAutoFit/>
          </a:bodyPr>
          <a:lstStyle/>
          <a:p>
            <a:r>
              <a:rPr lang="zh-CN" altLang="en-US" sz="800" dirty="0">
                <a:latin typeface="Lato" panose="020F0502020204030203" pitchFamily="34" charset="0"/>
                <a:cs typeface="Lato" panose="020F0502020204030203" pitchFamily="34" charset="0"/>
              </a:rPr>
              <a:t>https://sefiks.com/2020/02/02/dance-moves-of-deep-learning-activation-functions/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7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Universal Approximation Theorem</a:t>
            </a:r>
            <a:endParaRPr/>
          </a:p>
        </p:txBody>
      </p:sp>
      <p:pic>
        <p:nvPicPr>
          <p:cNvPr id="748" name="Google Shape;748;p73"/>
          <p:cNvPicPr preferRelativeResize="0"/>
          <p:nvPr/>
        </p:nvPicPr>
        <p:blipFill rotWithShape="1">
          <a:blip r:embed="rId3">
            <a:alphaModFix/>
          </a:blip>
          <a:srcRect/>
          <a:stretch/>
        </p:blipFill>
        <p:spPr>
          <a:xfrm>
            <a:off x="927450" y="2152291"/>
            <a:ext cx="7289102" cy="838909"/>
          </a:xfrm>
          <a:prstGeom prst="rect">
            <a:avLst/>
          </a:prstGeom>
          <a:noFill/>
          <a:ln>
            <a:noFill/>
          </a:ln>
        </p:spPr>
      </p:pic>
      <p:sp>
        <p:nvSpPr>
          <p:cNvPr id="749" name="Google Shape;749;p73"/>
          <p:cNvSpPr txBox="1"/>
          <p:nvPr/>
        </p:nvSpPr>
        <p:spPr>
          <a:xfrm>
            <a:off x="729450" y="3358675"/>
            <a:ext cx="7289100" cy="70785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dirty="0">
                <a:solidFill>
                  <a:srgbClr val="000000"/>
                </a:solidFill>
                <a:latin typeface="Lato"/>
                <a:ea typeface="Lato"/>
                <a:cs typeface="Lato"/>
                <a:sym typeface="Lato"/>
              </a:rPr>
              <a:t>⇒ We can approximate </a:t>
            </a:r>
            <a:r>
              <a:rPr lang="en" sz="1700" b="0" i="1" u="none" strike="noStrike" cap="none" dirty="0">
                <a:solidFill>
                  <a:srgbClr val="000000"/>
                </a:solidFill>
                <a:latin typeface="Lato"/>
                <a:ea typeface="Lato"/>
                <a:cs typeface="Lato"/>
                <a:sym typeface="Lato"/>
              </a:rPr>
              <a:t>any</a:t>
            </a:r>
            <a:r>
              <a:rPr lang="en" sz="1700" b="0" i="0" u="none" strike="noStrike" cap="none" dirty="0">
                <a:solidFill>
                  <a:srgbClr val="000000"/>
                </a:solidFill>
                <a:latin typeface="Lato"/>
                <a:ea typeface="Lato"/>
                <a:cs typeface="Lato"/>
                <a:sym typeface="Lato"/>
              </a:rPr>
              <a:t> function we want with a </a:t>
            </a:r>
            <a:r>
              <a:rPr lang="en" sz="1700" b="0" i="1" u="none" strike="noStrike" cap="none" dirty="0">
                <a:solidFill>
                  <a:srgbClr val="000000"/>
                </a:solidFill>
                <a:latin typeface="Lato"/>
                <a:ea typeface="Lato"/>
                <a:cs typeface="Lato"/>
                <a:sym typeface="Lato"/>
              </a:rPr>
              <a:t>one</a:t>
            </a:r>
            <a:r>
              <a:rPr lang="en" sz="1700" b="0" i="0" u="none" strike="noStrike" cap="none" dirty="0">
                <a:solidFill>
                  <a:srgbClr val="000000"/>
                </a:solidFill>
                <a:latin typeface="Lato"/>
                <a:ea typeface="Lato"/>
                <a:cs typeface="Lato"/>
                <a:sym typeface="Lato"/>
              </a:rPr>
              <a:t>-layer MLP!</a:t>
            </a:r>
            <a:endParaRPr sz="17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700"/>
              <a:buFont typeface="Arial"/>
              <a:buNone/>
            </a:pPr>
            <a:r>
              <a:rPr lang="en" sz="1700" b="0" i="0" u="none" strike="noStrike" cap="none" dirty="0">
                <a:solidFill>
                  <a:srgbClr val="000000"/>
                </a:solidFill>
                <a:latin typeface="Lato"/>
                <a:ea typeface="Lato"/>
                <a:cs typeface="Lato"/>
                <a:sym typeface="Lato"/>
              </a:rPr>
              <a:t>	</a:t>
            </a:r>
            <a:r>
              <a:rPr lang="en" sz="1600" b="0" i="0" u="none" strike="noStrike" cap="none" dirty="0">
                <a:solidFill>
                  <a:srgbClr val="000000"/>
                </a:solidFill>
                <a:latin typeface="Lato"/>
                <a:ea typeface="Lato"/>
                <a:cs typeface="Lato"/>
                <a:sym typeface="Lato"/>
              </a:rPr>
              <a:t>More effective with more layers than just one (“deeper” networks) </a:t>
            </a:r>
            <a:endParaRPr sz="1600" b="0" i="0"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8AAE7891-AAE9-70D4-89EC-1EDC86DE95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Tree>
    <p:extLst>
      <p:ext uri="{BB962C8B-B14F-4D97-AF65-F5344CB8AC3E}">
        <p14:creationId xmlns:p14="http://schemas.microsoft.com/office/powerpoint/2010/main" val="2641198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2">
          <a:extLst>
            <a:ext uri="{FF2B5EF4-FFF2-40B4-BE49-F238E27FC236}">
              <a16:creationId xmlns:a16="http://schemas.microsoft.com/office/drawing/2014/main" id="{7B678343-555B-0838-B1C7-3E5420B7B15F}"/>
            </a:ext>
          </a:extLst>
        </p:cNvPr>
        <p:cNvGrpSpPr/>
        <p:nvPr/>
      </p:nvGrpSpPr>
      <p:grpSpPr>
        <a:xfrm>
          <a:off x="0" y="0"/>
          <a:ext cx="0" cy="0"/>
          <a:chOff x="0" y="0"/>
          <a:chExt cx="0" cy="0"/>
        </a:xfrm>
      </p:grpSpPr>
      <p:sp>
        <p:nvSpPr>
          <p:cNvPr id="283" name="Google Shape;283;p20">
            <a:extLst>
              <a:ext uri="{FF2B5EF4-FFF2-40B4-BE49-F238E27FC236}">
                <a16:creationId xmlns:a16="http://schemas.microsoft.com/office/drawing/2014/main" id="{6A4AA89A-3B7B-12FF-5AF6-E564F00D6561}"/>
              </a:ext>
            </a:extLst>
          </p:cNvPr>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600"/>
              <a:buNone/>
            </a:pPr>
            <a:r>
              <a:rPr lang="en-US" dirty="0"/>
              <a:t>Gradient Descent</a:t>
            </a:r>
            <a:endParaRPr b="0" dirty="0"/>
          </a:p>
        </p:txBody>
      </p:sp>
      <p:sp>
        <p:nvSpPr>
          <p:cNvPr id="2" name="Slide Number Placeholder 1">
            <a:extLst>
              <a:ext uri="{FF2B5EF4-FFF2-40B4-BE49-F238E27FC236}">
                <a16:creationId xmlns:a16="http://schemas.microsoft.com/office/drawing/2014/main" id="{C5F21DCF-5D26-9A75-039F-D49524AE1A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Tree>
    <p:extLst>
      <p:ext uri="{BB962C8B-B14F-4D97-AF65-F5344CB8AC3E}">
        <p14:creationId xmlns:p14="http://schemas.microsoft.com/office/powerpoint/2010/main" val="76282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DC462A-1DD0-61C1-8C0A-92C98CA755DB}"/>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25D03857-AD63-D5A6-DC2C-5E29F360C1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pic>
        <p:nvPicPr>
          <p:cNvPr id="6" name="Picture 5" descr="The image displays a flowchart illustrating the process of choosing a decision function and training it using Stochastic Gradient Descent (SGD) with a loss function, where the goal is to minimize the error between the predicted and actual values.&#10;&#10;AI-generated content may be incorrect.">
            <a:extLst>
              <a:ext uri="{FF2B5EF4-FFF2-40B4-BE49-F238E27FC236}">
                <a16:creationId xmlns:a16="http://schemas.microsoft.com/office/drawing/2014/main" id="{96455EAE-D705-07FE-9AF7-F1BAD364DF19}"/>
              </a:ext>
            </a:extLst>
          </p:cNvPr>
          <p:cNvPicPr>
            <a:picLocks noChangeAspect="1"/>
          </p:cNvPicPr>
          <p:nvPr/>
        </p:nvPicPr>
        <p:blipFill>
          <a:blip r:embed="rId2"/>
          <a:stretch>
            <a:fillRect/>
          </a:stretch>
        </p:blipFill>
        <p:spPr>
          <a:xfrm>
            <a:off x="1495425" y="1685492"/>
            <a:ext cx="6126757" cy="3248458"/>
          </a:xfrm>
          <a:prstGeom prst="rect">
            <a:avLst/>
          </a:prstGeom>
        </p:spPr>
      </p:pic>
      <p:sp>
        <p:nvSpPr>
          <p:cNvPr id="7" name="Google Shape;636;g2e7c7bc5007_0_26">
            <a:extLst>
              <a:ext uri="{FF2B5EF4-FFF2-40B4-BE49-F238E27FC236}">
                <a16:creationId xmlns:a16="http://schemas.microsoft.com/office/drawing/2014/main" id="{FDE7D580-28A4-8EF1-7609-2A9A24D373B5}"/>
              </a:ext>
            </a:extLst>
          </p:cNvPr>
          <p:cNvSpPr txBox="1">
            <a:spLocks/>
          </p:cNvSpPr>
          <p:nvPr/>
        </p:nvSpPr>
        <p:spPr>
          <a:xfrm>
            <a:off x="727650" y="1253122"/>
            <a:ext cx="7688700" cy="5352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altLang="zh-CN" dirty="0"/>
              <a:t>General ML Recipe</a:t>
            </a:r>
            <a:endParaRPr lang="nl-NL" dirty="0"/>
          </a:p>
        </p:txBody>
      </p:sp>
      <p:sp>
        <p:nvSpPr>
          <p:cNvPr id="9" name="TextBox 8">
            <a:extLst>
              <a:ext uri="{FF2B5EF4-FFF2-40B4-BE49-F238E27FC236}">
                <a16:creationId xmlns:a16="http://schemas.microsoft.com/office/drawing/2014/main" id="{A080CA99-F17D-2AC5-47CA-419707D8452E}"/>
              </a:ext>
            </a:extLst>
          </p:cNvPr>
          <p:cNvSpPr txBox="1"/>
          <p:nvPr/>
        </p:nvSpPr>
        <p:spPr>
          <a:xfrm>
            <a:off x="2419350" y="4928056"/>
            <a:ext cx="4572000" cy="215444"/>
          </a:xfrm>
          <a:prstGeom prst="rect">
            <a:avLst/>
          </a:prstGeom>
          <a:noFill/>
        </p:spPr>
        <p:txBody>
          <a:bodyPr wrap="square">
            <a:spAutoFit/>
          </a:bodyPr>
          <a:lstStyle/>
          <a:p>
            <a:r>
              <a:rPr lang="nl-NL" altLang="zh-CN" sz="800" b="0" i="0" dirty="0">
                <a:solidFill>
                  <a:srgbClr val="222222"/>
                </a:solidFill>
                <a:effectLst/>
                <a:latin typeface="Lato" panose="020F0502020204030203" pitchFamily="34" charset="0"/>
                <a:ea typeface="Lato" panose="020F0502020204030203" pitchFamily="34" charset="0"/>
                <a:cs typeface="Lato" panose="020F0502020204030203" pitchFamily="34" charset="0"/>
              </a:rPr>
              <a:t>https://www.cs.cmu.edu/~mgormley/courses/10601-s23/slides/lecture12-backprop.pdf</a:t>
            </a:r>
            <a:endParaRPr lang="zh-CN" altLang="en-US" sz="800"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031591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6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Loss functions</a:t>
            </a:r>
            <a:endParaRPr/>
          </a:p>
        </p:txBody>
      </p:sp>
      <p:sp>
        <p:nvSpPr>
          <p:cNvPr id="564" name="Google Shape;564;p65"/>
          <p:cNvSpPr txBox="1">
            <a:spLocks noGrp="1"/>
          </p:cNvSpPr>
          <p:nvPr>
            <p:ph type="body" idx="1"/>
          </p:nvPr>
        </p:nvSpPr>
        <p:spPr>
          <a:xfrm>
            <a:off x="729450" y="1878850"/>
            <a:ext cx="7688700" cy="306457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r>
              <a:rPr lang="en" sz="1900" b="1" i="1" u="sng" dirty="0"/>
              <a:t>Depends on the task</a:t>
            </a:r>
            <a:endParaRPr sz="1900" b="1" i="1" u="sng" dirty="0"/>
          </a:p>
          <a:p>
            <a:pPr marL="0" lvl="0" indent="0" algn="l" rtl="0">
              <a:lnSpc>
                <a:spcPct val="115000"/>
              </a:lnSpc>
              <a:spcBef>
                <a:spcPts val="1200"/>
              </a:spcBef>
              <a:spcAft>
                <a:spcPts val="0"/>
              </a:spcAft>
              <a:buSzPts val="1300"/>
              <a:buNone/>
            </a:pPr>
            <a:r>
              <a:rPr lang="en" sz="1700" b="1" dirty="0"/>
              <a:t>Mean Squared Error (MSE)</a:t>
            </a:r>
            <a:br>
              <a:rPr lang="en" sz="1700" dirty="0"/>
            </a:br>
            <a:r>
              <a:rPr lang="en" sz="1700" dirty="0"/>
              <a:t>	Used for regression</a:t>
            </a:r>
            <a:endParaRPr sz="1700" dirty="0"/>
          </a:p>
          <a:p>
            <a:pPr marL="0" lvl="0" indent="0" algn="l" rtl="0">
              <a:lnSpc>
                <a:spcPct val="115000"/>
              </a:lnSpc>
              <a:spcBef>
                <a:spcPts val="1200"/>
              </a:spcBef>
              <a:spcAft>
                <a:spcPts val="0"/>
              </a:spcAft>
              <a:buSzPts val="1300"/>
              <a:buNone/>
            </a:pPr>
            <a:r>
              <a:rPr lang="en" sz="1700" b="1" dirty="0"/>
              <a:t>Cross Entropy </a:t>
            </a:r>
            <a:br>
              <a:rPr lang="en" sz="1700" dirty="0"/>
            </a:br>
            <a:r>
              <a:rPr lang="en" sz="1700" dirty="0"/>
              <a:t>	Used for classification</a:t>
            </a:r>
            <a:endParaRPr sz="1700" dirty="0"/>
          </a:p>
          <a:p>
            <a:pPr marL="0" lvl="0" indent="0" algn="l" rtl="0">
              <a:lnSpc>
                <a:spcPct val="115000"/>
              </a:lnSpc>
              <a:spcBef>
                <a:spcPts val="1200"/>
              </a:spcBef>
              <a:buSzPts val="1300"/>
              <a:buNone/>
            </a:pPr>
            <a:r>
              <a:rPr lang="en-US" altLang="zh-CN" sz="1700" b="1" dirty="0"/>
              <a:t>Many others</a:t>
            </a:r>
            <a:br>
              <a:rPr lang="en" sz="1700" dirty="0"/>
            </a:br>
            <a:r>
              <a:rPr lang="en" sz="1700" dirty="0"/>
              <a:t>	Note: Must be differentiable for gradient descent based optimization</a:t>
            </a:r>
          </a:p>
          <a:p>
            <a:pPr marL="0" indent="0">
              <a:spcBef>
                <a:spcPts val="1200"/>
              </a:spcBef>
              <a:spcAft>
                <a:spcPts val="1200"/>
              </a:spcAft>
              <a:buNone/>
            </a:pPr>
            <a:r>
              <a:rPr lang="en-US" altLang="zh-CN" sz="1700" b="1" dirty="0"/>
              <a:t>Regularization loss</a:t>
            </a:r>
            <a:r>
              <a:rPr lang="en" altLang="zh-CN" sz="1700" dirty="0"/>
              <a:t>: constrain weights to be sparse or small </a:t>
            </a:r>
          </a:p>
          <a:p>
            <a:pPr marL="0" lvl="0" indent="0" algn="l" rtl="0">
              <a:lnSpc>
                <a:spcPct val="115000"/>
              </a:lnSpc>
              <a:spcBef>
                <a:spcPts val="1200"/>
              </a:spcBef>
              <a:spcAft>
                <a:spcPts val="1200"/>
              </a:spcAft>
              <a:buSzPts val="1300"/>
              <a:buNone/>
            </a:pPr>
            <a:endParaRPr lang="en" sz="1700" dirty="0"/>
          </a:p>
          <a:p>
            <a:pPr marL="0" lvl="0" indent="0" algn="l" rtl="0">
              <a:lnSpc>
                <a:spcPct val="115000"/>
              </a:lnSpc>
              <a:spcBef>
                <a:spcPts val="1200"/>
              </a:spcBef>
              <a:spcAft>
                <a:spcPts val="1200"/>
              </a:spcAft>
              <a:buSzPts val="1300"/>
              <a:buNone/>
            </a:pPr>
            <a:endParaRPr sz="1700" dirty="0"/>
          </a:p>
        </p:txBody>
      </p:sp>
      <p:pic>
        <p:nvPicPr>
          <p:cNvPr id="565" name="Google Shape;565;p65"/>
          <p:cNvPicPr preferRelativeResize="0"/>
          <p:nvPr/>
        </p:nvPicPr>
        <p:blipFill>
          <a:blip r:embed="rId3">
            <a:alphaModFix/>
          </a:blip>
          <a:stretch>
            <a:fillRect/>
          </a:stretch>
        </p:blipFill>
        <p:spPr>
          <a:xfrm>
            <a:off x="5149154" y="3471629"/>
            <a:ext cx="3224124" cy="681050"/>
          </a:xfrm>
          <a:prstGeom prst="rect">
            <a:avLst/>
          </a:prstGeom>
          <a:noFill/>
          <a:ln>
            <a:noFill/>
          </a:ln>
        </p:spPr>
      </p:pic>
      <p:pic>
        <p:nvPicPr>
          <p:cNvPr id="566" name="Google Shape;566;p65"/>
          <p:cNvPicPr preferRelativeResize="0"/>
          <p:nvPr/>
        </p:nvPicPr>
        <p:blipFill>
          <a:blip r:embed="rId4">
            <a:alphaModFix/>
          </a:blip>
          <a:stretch>
            <a:fillRect/>
          </a:stretch>
        </p:blipFill>
        <p:spPr>
          <a:xfrm>
            <a:off x="5534846" y="2662374"/>
            <a:ext cx="2452727" cy="681050"/>
          </a:xfrm>
          <a:prstGeom prst="rect">
            <a:avLst/>
          </a:prstGeom>
          <a:noFill/>
          <a:ln>
            <a:noFill/>
          </a:ln>
        </p:spPr>
      </p:pic>
      <p:sp>
        <p:nvSpPr>
          <p:cNvPr id="2" name="Slide Number Placeholder 1">
            <a:extLst>
              <a:ext uri="{FF2B5EF4-FFF2-40B4-BE49-F238E27FC236}">
                <a16:creationId xmlns:a16="http://schemas.microsoft.com/office/drawing/2014/main" id="{79840DAE-4F67-E59E-F8FD-EC8E6BDD8B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
        <p:nvSpPr>
          <p:cNvPr id="3" name="object 7">
            <a:extLst>
              <a:ext uri="{FF2B5EF4-FFF2-40B4-BE49-F238E27FC236}">
                <a16:creationId xmlns:a16="http://schemas.microsoft.com/office/drawing/2014/main" id="{3A60DC7B-EF39-51FC-216F-B8A8A6E7CF87}"/>
              </a:ext>
            </a:extLst>
          </p:cNvPr>
          <p:cNvSpPr/>
          <p:nvPr/>
        </p:nvSpPr>
        <p:spPr>
          <a:xfrm>
            <a:off x="4374042" y="603275"/>
            <a:ext cx="4497831" cy="1877851"/>
          </a:xfrm>
          <a:prstGeom prst="rect">
            <a:avLst/>
          </a:prstGeom>
          <a:blipFill>
            <a:blip r:embed="rId5"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262993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8D321-A8A5-F9BE-CF7B-1AB95CD0542E}"/>
              </a:ext>
            </a:extLst>
          </p:cNvPr>
          <p:cNvSpPr>
            <a:spLocks noGrp="1"/>
          </p:cNvSpPr>
          <p:nvPr>
            <p:ph type="title"/>
          </p:nvPr>
        </p:nvSpPr>
        <p:spPr/>
        <p:txBody>
          <a:bodyPr>
            <a:normAutofit fontScale="90000"/>
          </a:bodyPr>
          <a:lstStyle/>
          <a:p>
            <a:endParaRPr lang="zh-CN" altLang="en-US"/>
          </a:p>
        </p:txBody>
      </p:sp>
      <p:sp>
        <p:nvSpPr>
          <p:cNvPr id="3" name="Text Placeholder 2">
            <a:extLst>
              <a:ext uri="{FF2B5EF4-FFF2-40B4-BE49-F238E27FC236}">
                <a16:creationId xmlns:a16="http://schemas.microsoft.com/office/drawing/2014/main" id="{8D2D7331-A3BA-9360-5F74-2E5803CDC6D3}"/>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2200F514-BAF7-8360-CBF2-48F78E2CB0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pic>
        <p:nvPicPr>
          <p:cNvPr id="6" name="Picture 5" descr="The diagram illustrates a neural network's architecture, showcasing various layers including input, hidden (sigmoid and linear), and output layers, with mathematical expressions for each layer's transformation.&#10;&#10;AI-generated content may be incorrect.">
            <a:extLst>
              <a:ext uri="{FF2B5EF4-FFF2-40B4-BE49-F238E27FC236}">
                <a16:creationId xmlns:a16="http://schemas.microsoft.com/office/drawing/2014/main" id="{18A9432D-5E89-F5C8-F69E-77689C541349}"/>
              </a:ext>
            </a:extLst>
          </p:cNvPr>
          <p:cNvPicPr>
            <a:picLocks noChangeAspect="1"/>
          </p:cNvPicPr>
          <p:nvPr/>
        </p:nvPicPr>
        <p:blipFill>
          <a:blip r:embed="rId2"/>
          <a:stretch>
            <a:fillRect/>
          </a:stretch>
        </p:blipFill>
        <p:spPr>
          <a:xfrm>
            <a:off x="147020" y="1316274"/>
            <a:ext cx="5768005" cy="3023701"/>
          </a:xfrm>
          <a:prstGeom prst="rect">
            <a:avLst/>
          </a:prstGeom>
        </p:spPr>
      </p:pic>
      <p:pic>
        <p:nvPicPr>
          <p:cNvPr id="8" name="Picture 7" descr="The diagram illustrates a neural network architecture with an input layer, two hidden layers (one sigmoid and one linear), and an output layer, with mathematical expressions describing the transformations at each layer.&#10;&#10;AI-generated content may be incorrect.">
            <a:extLst>
              <a:ext uri="{FF2B5EF4-FFF2-40B4-BE49-F238E27FC236}">
                <a16:creationId xmlns:a16="http://schemas.microsoft.com/office/drawing/2014/main" id="{1561E6E5-46BC-17E1-4260-8C908BCBDB4B}"/>
              </a:ext>
            </a:extLst>
          </p:cNvPr>
          <p:cNvPicPr>
            <a:picLocks noChangeAspect="1"/>
          </p:cNvPicPr>
          <p:nvPr/>
        </p:nvPicPr>
        <p:blipFill>
          <a:blip r:embed="rId3"/>
          <a:stretch>
            <a:fillRect/>
          </a:stretch>
        </p:blipFill>
        <p:spPr>
          <a:xfrm>
            <a:off x="6269272" y="1906082"/>
            <a:ext cx="2364353" cy="2433893"/>
          </a:xfrm>
          <a:prstGeom prst="rect">
            <a:avLst/>
          </a:prstGeom>
        </p:spPr>
      </p:pic>
      <p:sp>
        <p:nvSpPr>
          <p:cNvPr id="10" name="TextBox 9">
            <a:extLst>
              <a:ext uri="{FF2B5EF4-FFF2-40B4-BE49-F238E27FC236}">
                <a16:creationId xmlns:a16="http://schemas.microsoft.com/office/drawing/2014/main" id="{D8F93490-6638-47E9-1F85-55AD3C309984}"/>
              </a:ext>
            </a:extLst>
          </p:cNvPr>
          <p:cNvSpPr txBox="1"/>
          <p:nvPr/>
        </p:nvSpPr>
        <p:spPr>
          <a:xfrm>
            <a:off x="6565623" y="4512768"/>
            <a:ext cx="1771650" cy="307777"/>
          </a:xfrm>
          <a:prstGeom prst="rect">
            <a:avLst/>
          </a:prstGeom>
          <a:solidFill>
            <a:schemeClr val="bg1"/>
          </a:solidFill>
          <a:ln>
            <a:solidFill>
              <a:schemeClr val="bg1"/>
            </a:solidFill>
          </a:ln>
        </p:spPr>
        <p:txBody>
          <a:bodyPr wrap="square">
            <a:spAutoFit/>
          </a:bodyPr>
          <a:lstStyle/>
          <a:p>
            <a:r>
              <a:rPr lang="en-US" altLang="zh-CN" dirty="0"/>
              <a:t>NN </a:t>
            </a:r>
            <a:r>
              <a:rPr lang="nl-NL" altLang="zh-CN" dirty="0"/>
              <a:t>for Regression</a:t>
            </a:r>
            <a:endParaRPr lang="zh-CN" altLang="en-US" dirty="0"/>
          </a:p>
        </p:txBody>
      </p:sp>
      <p:sp>
        <p:nvSpPr>
          <p:cNvPr id="11" name="TextBox 10">
            <a:extLst>
              <a:ext uri="{FF2B5EF4-FFF2-40B4-BE49-F238E27FC236}">
                <a16:creationId xmlns:a16="http://schemas.microsoft.com/office/drawing/2014/main" id="{3FA47C57-C2AD-555F-2798-5356DCAC0833}"/>
              </a:ext>
            </a:extLst>
          </p:cNvPr>
          <p:cNvSpPr txBox="1"/>
          <p:nvPr/>
        </p:nvSpPr>
        <p:spPr>
          <a:xfrm>
            <a:off x="3657600" y="4512768"/>
            <a:ext cx="2400300" cy="307777"/>
          </a:xfrm>
          <a:prstGeom prst="rect">
            <a:avLst/>
          </a:prstGeom>
          <a:solidFill>
            <a:schemeClr val="bg1"/>
          </a:solidFill>
          <a:ln>
            <a:solidFill>
              <a:schemeClr val="bg1"/>
            </a:solidFill>
          </a:ln>
        </p:spPr>
        <p:txBody>
          <a:bodyPr wrap="square">
            <a:spAutoFit/>
          </a:bodyPr>
          <a:lstStyle/>
          <a:p>
            <a:r>
              <a:rPr lang="en-US" altLang="zh-CN" dirty="0"/>
              <a:t>NN </a:t>
            </a:r>
            <a:r>
              <a:rPr lang="nl-NL" altLang="zh-CN" dirty="0"/>
              <a:t>for Binary Classification</a:t>
            </a:r>
            <a:endParaRPr lang="zh-CN" altLang="en-US" dirty="0"/>
          </a:p>
        </p:txBody>
      </p:sp>
      <p:sp>
        <p:nvSpPr>
          <p:cNvPr id="13" name="TextBox 12">
            <a:extLst>
              <a:ext uri="{FF2B5EF4-FFF2-40B4-BE49-F238E27FC236}">
                <a16:creationId xmlns:a16="http://schemas.microsoft.com/office/drawing/2014/main" id="{0430F71A-BA05-F619-9A2B-0956E300403E}"/>
              </a:ext>
            </a:extLst>
          </p:cNvPr>
          <p:cNvSpPr txBox="1"/>
          <p:nvPr/>
        </p:nvSpPr>
        <p:spPr>
          <a:xfrm>
            <a:off x="3657600" y="956265"/>
            <a:ext cx="2257425" cy="307777"/>
          </a:xfrm>
          <a:prstGeom prst="rect">
            <a:avLst/>
          </a:prstGeom>
          <a:noFill/>
        </p:spPr>
        <p:txBody>
          <a:bodyPr wrap="square">
            <a:spAutoFit/>
          </a:bodyPr>
          <a:lstStyle/>
          <a:p>
            <a:r>
              <a:rPr lang="en" altLang="zh-CN" dirty="0"/>
              <a:t>Binary Cross Entropy loss</a:t>
            </a:r>
            <a:endParaRPr lang="zh-CN" altLang="en-US" dirty="0"/>
          </a:p>
        </p:txBody>
      </p:sp>
      <p:sp>
        <p:nvSpPr>
          <p:cNvPr id="14" name="TextBox 13">
            <a:extLst>
              <a:ext uri="{FF2B5EF4-FFF2-40B4-BE49-F238E27FC236}">
                <a16:creationId xmlns:a16="http://schemas.microsoft.com/office/drawing/2014/main" id="{9981C248-F8CB-4DDA-F3F5-C78096E43981}"/>
              </a:ext>
            </a:extLst>
          </p:cNvPr>
          <p:cNvSpPr txBox="1"/>
          <p:nvPr/>
        </p:nvSpPr>
        <p:spPr>
          <a:xfrm>
            <a:off x="7021331" y="1598305"/>
            <a:ext cx="1017770" cy="307777"/>
          </a:xfrm>
          <a:prstGeom prst="rect">
            <a:avLst/>
          </a:prstGeom>
          <a:noFill/>
        </p:spPr>
        <p:txBody>
          <a:bodyPr wrap="square">
            <a:spAutoFit/>
          </a:bodyPr>
          <a:lstStyle/>
          <a:p>
            <a:r>
              <a:rPr lang="en" altLang="zh-CN" dirty="0"/>
              <a:t>MSE loss</a:t>
            </a:r>
            <a:endParaRPr lang="zh-CN" altLang="en-US" dirty="0"/>
          </a:p>
        </p:txBody>
      </p:sp>
    </p:spTree>
    <p:extLst>
      <p:ext uri="{BB962C8B-B14F-4D97-AF65-F5344CB8AC3E}">
        <p14:creationId xmlns:p14="http://schemas.microsoft.com/office/powerpoint/2010/main" val="2432863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04640-E1FE-9AEF-ED87-48FE01B93FBC}"/>
              </a:ext>
            </a:extLst>
          </p:cNvPr>
          <p:cNvSpPr>
            <a:spLocks noGrp="1"/>
          </p:cNvSpPr>
          <p:nvPr>
            <p:ph type="title"/>
          </p:nvPr>
        </p:nvSpPr>
        <p:spPr/>
        <p:txBody>
          <a:bodyPr>
            <a:normAutofit fontScale="90000"/>
          </a:bodyPr>
          <a:lstStyle/>
          <a:p>
            <a:endParaRPr lang="zh-CN" altLang="en-US"/>
          </a:p>
        </p:txBody>
      </p:sp>
      <p:sp>
        <p:nvSpPr>
          <p:cNvPr id="3" name="Text Placeholder 2">
            <a:extLst>
              <a:ext uri="{FF2B5EF4-FFF2-40B4-BE49-F238E27FC236}">
                <a16:creationId xmlns:a16="http://schemas.microsoft.com/office/drawing/2014/main" id="{2704CD1E-2C4C-8D79-317C-256FDDFE9DB8}"/>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3CD5AA50-7849-3F5A-347B-890A106B32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pic>
        <p:nvPicPr>
          <p:cNvPr id="6" name="Picture 5" descr="The image illustrates a diagram of a neural network's architecture, showing layers from input to hidden to output, with equations and variables indicating different operations and connections.&#10;&#10;AI-generated content may be incorrect.">
            <a:extLst>
              <a:ext uri="{FF2B5EF4-FFF2-40B4-BE49-F238E27FC236}">
                <a16:creationId xmlns:a16="http://schemas.microsoft.com/office/drawing/2014/main" id="{BF75FCB5-D842-781F-E2EB-D6076B88B037}"/>
              </a:ext>
            </a:extLst>
          </p:cNvPr>
          <p:cNvPicPr>
            <a:picLocks noChangeAspect="1"/>
          </p:cNvPicPr>
          <p:nvPr/>
        </p:nvPicPr>
        <p:blipFill>
          <a:blip r:embed="rId2"/>
          <a:stretch>
            <a:fillRect/>
          </a:stretch>
        </p:blipFill>
        <p:spPr>
          <a:xfrm>
            <a:off x="1743075" y="726884"/>
            <a:ext cx="6324600" cy="4022967"/>
          </a:xfrm>
          <a:prstGeom prst="rect">
            <a:avLst/>
          </a:prstGeom>
        </p:spPr>
      </p:pic>
      <p:sp>
        <p:nvSpPr>
          <p:cNvPr id="7" name="TextBox 6">
            <a:extLst>
              <a:ext uri="{FF2B5EF4-FFF2-40B4-BE49-F238E27FC236}">
                <a16:creationId xmlns:a16="http://schemas.microsoft.com/office/drawing/2014/main" id="{10E13037-7AB5-C7C4-61B4-47534A42A66F}"/>
              </a:ext>
            </a:extLst>
          </p:cNvPr>
          <p:cNvSpPr txBox="1"/>
          <p:nvPr/>
        </p:nvSpPr>
        <p:spPr>
          <a:xfrm>
            <a:off x="5558789" y="4749851"/>
            <a:ext cx="2743200" cy="307777"/>
          </a:xfrm>
          <a:prstGeom prst="rect">
            <a:avLst/>
          </a:prstGeom>
          <a:solidFill>
            <a:schemeClr val="bg1"/>
          </a:solidFill>
          <a:ln>
            <a:solidFill>
              <a:schemeClr val="bg1"/>
            </a:solidFill>
          </a:ln>
        </p:spPr>
        <p:txBody>
          <a:bodyPr wrap="square">
            <a:spAutoFit/>
          </a:bodyPr>
          <a:lstStyle/>
          <a:p>
            <a:r>
              <a:rPr lang="en-US" altLang="zh-CN" dirty="0"/>
              <a:t>NN </a:t>
            </a:r>
            <a:r>
              <a:rPr lang="nl-NL" altLang="zh-CN" dirty="0"/>
              <a:t>for Multi-Class Classification</a:t>
            </a:r>
            <a:endParaRPr lang="zh-CN" altLang="en-US" dirty="0"/>
          </a:p>
        </p:txBody>
      </p:sp>
      <p:sp>
        <p:nvSpPr>
          <p:cNvPr id="9" name="TextBox 8">
            <a:extLst>
              <a:ext uri="{FF2B5EF4-FFF2-40B4-BE49-F238E27FC236}">
                <a16:creationId xmlns:a16="http://schemas.microsoft.com/office/drawing/2014/main" id="{7509A9CD-CA45-49F4-7902-80350EB0812C}"/>
              </a:ext>
            </a:extLst>
          </p:cNvPr>
          <p:cNvSpPr txBox="1"/>
          <p:nvPr/>
        </p:nvSpPr>
        <p:spPr>
          <a:xfrm>
            <a:off x="4333875" y="856984"/>
            <a:ext cx="1685925" cy="307777"/>
          </a:xfrm>
          <a:prstGeom prst="rect">
            <a:avLst/>
          </a:prstGeom>
          <a:noFill/>
        </p:spPr>
        <p:txBody>
          <a:bodyPr wrap="square">
            <a:spAutoFit/>
          </a:bodyPr>
          <a:lstStyle/>
          <a:p>
            <a:r>
              <a:rPr lang="en" altLang="zh-CN" dirty="0"/>
              <a:t>Cross Entropy loss</a:t>
            </a:r>
            <a:endParaRPr lang="zh-CN" altLang="en-US" dirty="0"/>
          </a:p>
        </p:txBody>
      </p:sp>
    </p:spTree>
    <p:extLst>
      <p:ext uri="{BB962C8B-B14F-4D97-AF65-F5344CB8AC3E}">
        <p14:creationId xmlns:p14="http://schemas.microsoft.com/office/powerpoint/2010/main" val="9414614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1C86F-B698-3BBA-B797-A92FDE503344}"/>
              </a:ext>
            </a:extLst>
          </p:cNvPr>
          <p:cNvSpPr>
            <a:spLocks noGrp="1"/>
          </p:cNvSpPr>
          <p:nvPr>
            <p:ph type="title"/>
          </p:nvPr>
        </p:nvSpPr>
        <p:spPr/>
        <p:txBody>
          <a:bodyPr>
            <a:normAutofit fontScale="90000"/>
          </a:bodyPr>
          <a:lstStyle/>
          <a:p>
            <a:r>
              <a:rPr lang="nl-NL" altLang="zh-CN" dirty="0"/>
              <a:t>Cross Entropy </a:t>
            </a:r>
            <a:r>
              <a:rPr lang="en-US" altLang="zh-CN" dirty="0"/>
              <a:t>Loss Example</a:t>
            </a:r>
            <a:endParaRPr lang="zh-CN" altLang="en-US" dirty="0"/>
          </a:p>
        </p:txBody>
      </p:sp>
      <p:sp>
        <p:nvSpPr>
          <p:cNvPr id="4" name="Slide Number Placeholder 3">
            <a:extLst>
              <a:ext uri="{FF2B5EF4-FFF2-40B4-BE49-F238E27FC236}">
                <a16:creationId xmlns:a16="http://schemas.microsoft.com/office/drawing/2014/main" id="{2041CC82-D79C-A969-EAED-37ACDD9E03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pic>
        <p:nvPicPr>
          <p:cNvPr id="6" name="Picture 5" descr="The image illustrates a comparison of true and predicted animal distributions (0% for all categories except Dog at 30% and Red Panda at 25%) and calculates the cross-entropy loss for a classification model.&#10;&#10;AI-generated content may be incorrect.">
            <a:extLst>
              <a:ext uri="{FF2B5EF4-FFF2-40B4-BE49-F238E27FC236}">
                <a16:creationId xmlns:a16="http://schemas.microsoft.com/office/drawing/2014/main" id="{99EE0D35-7B0A-4E21-5857-41FEF5C8EB78}"/>
              </a:ext>
            </a:extLst>
          </p:cNvPr>
          <p:cNvPicPr>
            <a:picLocks noChangeAspect="1"/>
          </p:cNvPicPr>
          <p:nvPr/>
        </p:nvPicPr>
        <p:blipFill>
          <a:blip r:embed="rId3"/>
          <a:stretch>
            <a:fillRect/>
          </a:stretch>
        </p:blipFill>
        <p:spPr>
          <a:xfrm>
            <a:off x="3178381" y="1776188"/>
            <a:ext cx="5596651" cy="3170463"/>
          </a:xfrm>
          <a:prstGeom prst="rect">
            <a:avLst/>
          </a:prstGeom>
        </p:spPr>
      </p:pic>
      <p:sp>
        <p:nvSpPr>
          <p:cNvPr id="9" name="Google Shape;589;p57">
            <a:extLst>
              <a:ext uri="{FF2B5EF4-FFF2-40B4-BE49-F238E27FC236}">
                <a16:creationId xmlns:a16="http://schemas.microsoft.com/office/drawing/2014/main" id="{CC30028C-6EF5-CB39-5B95-E61AC80B9AEE}"/>
              </a:ext>
            </a:extLst>
          </p:cNvPr>
          <p:cNvSpPr txBox="1"/>
          <p:nvPr/>
        </p:nvSpPr>
        <p:spPr>
          <a:xfrm>
            <a:off x="729450" y="1985212"/>
            <a:ext cx="2448931" cy="264684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Lato"/>
                <a:ea typeface="Lato"/>
                <a:cs typeface="Lato"/>
                <a:sym typeface="Lato"/>
              </a:rPr>
              <a:t>For a given training sample</a:t>
            </a:r>
            <a:r>
              <a:rPr lang="en" sz="1600" dirty="0">
                <a:latin typeface="Lato"/>
                <a:ea typeface="Lato"/>
                <a:cs typeface="Lato"/>
                <a:sym typeface="Lato"/>
              </a:rPr>
              <a:t>, CE loss measures how much the </a:t>
            </a:r>
            <a:r>
              <a:rPr lang="en" sz="1600" dirty="0">
                <a:solidFill>
                  <a:srgbClr val="C00000"/>
                </a:solidFill>
                <a:latin typeface="Lato"/>
                <a:ea typeface="Lato"/>
                <a:cs typeface="Lato"/>
                <a:sym typeface="Lato"/>
              </a:rPr>
              <a:t>predicted distribution </a:t>
            </a:r>
            <a:r>
              <a:rPr lang="en" sz="1600" dirty="0">
                <a:latin typeface="Lato"/>
                <a:ea typeface="Lato"/>
                <a:cs typeface="Lato"/>
                <a:sym typeface="Lato"/>
              </a:rPr>
              <a:t>diverges from the </a:t>
            </a:r>
            <a:r>
              <a:rPr lang="en" sz="1600" dirty="0">
                <a:solidFill>
                  <a:srgbClr val="C00000"/>
                </a:solidFill>
                <a:latin typeface="Lato"/>
                <a:ea typeface="Lato"/>
                <a:cs typeface="Lato"/>
                <a:sym typeface="Lato"/>
              </a:rPr>
              <a:t>true distribution</a:t>
            </a:r>
            <a:r>
              <a:rPr lang="en-US" sz="1600" dirty="0">
                <a:latin typeface="Lato"/>
                <a:ea typeface="Lato"/>
                <a:cs typeface="Lato"/>
                <a:sym typeface="Lato"/>
              </a:rPr>
              <a:t>, which is </a:t>
            </a:r>
            <a:r>
              <a:rPr lang="en" sz="1600" dirty="0">
                <a:latin typeface="Lato"/>
                <a:ea typeface="Lato"/>
                <a:cs typeface="Lato"/>
                <a:sym typeface="Lato"/>
              </a:rPr>
              <a:t>a one-hot vector: the entry corresponding to true label being 1 and all others 0.</a:t>
            </a:r>
            <a:endParaRPr sz="1600" b="0" i="0" u="none" strike="noStrike" cap="none" dirty="0">
              <a:solidFill>
                <a:srgbClr val="000000"/>
              </a:solidFill>
              <a:latin typeface="Lato"/>
              <a:ea typeface="Lato"/>
              <a:cs typeface="Lato"/>
              <a:sym typeface="Lato"/>
            </a:endParaRPr>
          </a:p>
        </p:txBody>
      </p:sp>
      <p:sp>
        <p:nvSpPr>
          <p:cNvPr id="11" name="TextBox 10">
            <a:extLst>
              <a:ext uri="{FF2B5EF4-FFF2-40B4-BE49-F238E27FC236}">
                <a16:creationId xmlns:a16="http://schemas.microsoft.com/office/drawing/2014/main" id="{D77ECEFF-D85C-D79C-EBE4-D7C30E35EB74}"/>
              </a:ext>
            </a:extLst>
          </p:cNvPr>
          <p:cNvSpPr txBox="1"/>
          <p:nvPr/>
        </p:nvSpPr>
        <p:spPr>
          <a:xfrm>
            <a:off x="4171969" y="4911581"/>
            <a:ext cx="3750585" cy="246221"/>
          </a:xfrm>
          <a:prstGeom prst="rect">
            <a:avLst/>
          </a:prstGeom>
          <a:noFill/>
        </p:spPr>
        <p:txBody>
          <a:bodyPr wrap="square">
            <a:spAutoFit/>
          </a:bodyPr>
          <a:lstStyle/>
          <a:p>
            <a:r>
              <a:rPr lang="en-US" altLang="zh-CN" sz="1000" i="1" u="none" strike="noStrike" cap="none" dirty="0">
                <a:solidFill>
                  <a:srgbClr val="000000"/>
                </a:solidFill>
                <a:effectLst/>
                <a:latin typeface="Lato" panose="020F0502020204030203" pitchFamily="34" charset="0"/>
                <a:ea typeface="Lato" panose="020F0502020204030203" pitchFamily="34" charset="0"/>
                <a:cs typeface="Lato" panose="020F0502020204030203" pitchFamily="34" charset="0"/>
                <a:sym typeface="Arial"/>
              </a:rPr>
              <a:t>A Short Introduction to Entropy, Cross-Entropy and KL-Divergence</a:t>
            </a:r>
          </a:p>
        </p:txBody>
      </p:sp>
      <p:sp>
        <p:nvSpPr>
          <p:cNvPr id="12" name="Rectangle 11">
            <a:extLst>
              <a:ext uri="{FF2B5EF4-FFF2-40B4-BE49-F238E27FC236}">
                <a16:creationId xmlns:a16="http://schemas.microsoft.com/office/drawing/2014/main" id="{2F05E841-7987-CF6C-4CF6-10C1F6A88B53}"/>
              </a:ext>
            </a:extLst>
          </p:cNvPr>
          <p:cNvSpPr/>
          <p:nvPr/>
        </p:nvSpPr>
        <p:spPr>
          <a:xfrm>
            <a:off x="3178381" y="4580021"/>
            <a:ext cx="1987177" cy="3573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12">
            <a:extLst>
              <a:ext uri="{FF2B5EF4-FFF2-40B4-BE49-F238E27FC236}">
                <a16:creationId xmlns:a16="http://schemas.microsoft.com/office/drawing/2014/main" id="{E3BD1E3C-29BB-0295-5BD1-AAEEEEE44E3B}"/>
              </a:ext>
            </a:extLst>
          </p:cNvPr>
          <p:cNvSpPr/>
          <p:nvPr/>
        </p:nvSpPr>
        <p:spPr>
          <a:xfrm>
            <a:off x="6946232" y="1776188"/>
            <a:ext cx="826168" cy="72638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17059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57"/>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Implementing learning: Gradient Descent</a:t>
            </a:r>
            <a:endParaRPr/>
          </a:p>
        </p:txBody>
      </p:sp>
      <p:pic>
        <p:nvPicPr>
          <p:cNvPr id="588" name="Google Shape;588;p57"/>
          <p:cNvPicPr preferRelativeResize="0"/>
          <p:nvPr/>
        </p:nvPicPr>
        <p:blipFill rotWithShape="1">
          <a:blip r:embed="rId3">
            <a:alphaModFix/>
          </a:blip>
          <a:srcRect/>
          <a:stretch/>
        </p:blipFill>
        <p:spPr>
          <a:xfrm>
            <a:off x="2990850" y="3671625"/>
            <a:ext cx="3162300" cy="676275"/>
          </a:xfrm>
          <a:prstGeom prst="rect">
            <a:avLst/>
          </a:prstGeom>
          <a:noFill/>
          <a:ln>
            <a:noFill/>
          </a:ln>
        </p:spPr>
      </p:pic>
      <p:sp>
        <p:nvSpPr>
          <p:cNvPr id="589" name="Google Shape;589;p57"/>
          <p:cNvSpPr txBox="1"/>
          <p:nvPr/>
        </p:nvSpPr>
        <p:spPr>
          <a:xfrm>
            <a:off x="1223200" y="2466475"/>
            <a:ext cx="5775300" cy="190818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Lato"/>
                <a:ea typeface="Lato"/>
                <a:cs typeface="Lato"/>
                <a:sym typeface="Lato"/>
              </a:rPr>
              <a:t>Given:</a:t>
            </a:r>
            <a:endParaRPr sz="1600" b="0" i="0" u="none" strike="noStrike" cap="none" dirty="0">
              <a:solidFill>
                <a:srgbClr val="000000"/>
              </a:solidFill>
              <a:latin typeface="Lato"/>
              <a:ea typeface="Lato"/>
              <a:cs typeface="Lato"/>
              <a:sym typeface="Lato"/>
            </a:endParaRPr>
          </a:p>
          <a:p>
            <a:pPr marL="457200" marR="0" lvl="0" indent="-330200" algn="l" rtl="0">
              <a:lnSpc>
                <a:spcPct val="100000"/>
              </a:lnSpc>
              <a:spcBef>
                <a:spcPts val="0"/>
              </a:spcBef>
              <a:spcAft>
                <a:spcPts val="0"/>
              </a:spcAft>
              <a:buClr>
                <a:srgbClr val="000000"/>
              </a:buClr>
              <a:buSzPts val="1600"/>
              <a:buFont typeface="Lato"/>
              <a:buChar char="-"/>
            </a:pPr>
            <a:r>
              <a:rPr lang="en" sz="1600" b="0" i="0" u="none" strike="noStrike" cap="none" dirty="0">
                <a:solidFill>
                  <a:srgbClr val="000000"/>
                </a:solidFill>
                <a:latin typeface="Lato"/>
                <a:ea typeface="Lato"/>
                <a:cs typeface="Lato"/>
                <a:sym typeface="Lato"/>
              </a:rPr>
              <a:t>Family of parameters        (e.g. possible weights of a NN)</a:t>
            </a:r>
            <a:endParaRPr sz="1600" b="0" i="0" u="none" strike="noStrike" cap="none" dirty="0">
              <a:solidFill>
                <a:srgbClr val="000000"/>
              </a:solidFill>
              <a:latin typeface="Lato"/>
              <a:ea typeface="Lato"/>
              <a:cs typeface="Lato"/>
              <a:sym typeface="Lato"/>
            </a:endParaRPr>
          </a:p>
          <a:p>
            <a:pPr marL="457200" marR="0" lvl="0" indent="-330200" algn="l" rtl="0">
              <a:lnSpc>
                <a:spcPct val="100000"/>
              </a:lnSpc>
              <a:spcBef>
                <a:spcPts val="0"/>
              </a:spcBef>
              <a:spcAft>
                <a:spcPts val="0"/>
              </a:spcAft>
              <a:buClr>
                <a:srgbClr val="000000"/>
              </a:buClr>
              <a:buSzPts val="1600"/>
              <a:buFont typeface="Lato"/>
              <a:buChar char="-"/>
            </a:pPr>
            <a:r>
              <a:rPr lang="en" sz="1600" b="0" i="0" u="none" strike="noStrike" cap="none" dirty="0">
                <a:solidFill>
                  <a:srgbClr val="000000"/>
                </a:solidFill>
                <a:latin typeface="Lato"/>
                <a:ea typeface="Lato"/>
                <a:cs typeface="Lato"/>
                <a:sym typeface="Lato"/>
              </a:rPr>
              <a:t>Differentiable risk function (loss function computed over a set of samples) </a:t>
            </a:r>
            <a:endParaRPr sz="16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600"/>
              <a:buFont typeface="Arial"/>
              <a:buNone/>
            </a:pPr>
            <a:br>
              <a:rPr lang="en" sz="1600" b="0" i="0" u="none" strike="noStrike" cap="none" dirty="0">
                <a:solidFill>
                  <a:srgbClr val="000000"/>
                </a:solidFill>
                <a:latin typeface="Lato"/>
                <a:ea typeface="Lato"/>
                <a:cs typeface="Lato"/>
                <a:sym typeface="Lato"/>
              </a:rPr>
            </a:br>
            <a:r>
              <a:rPr lang="en" sz="1600" b="0" i="0" u="none" strike="noStrike" cap="none" dirty="0">
                <a:solidFill>
                  <a:srgbClr val="000000"/>
                </a:solidFill>
                <a:latin typeface="Lato"/>
                <a:ea typeface="Lato"/>
                <a:cs typeface="Lato"/>
                <a:sym typeface="Lato"/>
              </a:rPr>
              <a:t>Goal:</a:t>
            </a:r>
            <a:endParaRPr sz="1600" b="0" i="0" u="none" strike="noStrike" cap="none" dirty="0">
              <a:solidFill>
                <a:srgbClr val="000000"/>
              </a:solidFill>
              <a:latin typeface="Lato"/>
              <a:ea typeface="Lato"/>
              <a:cs typeface="Lato"/>
              <a:sym typeface="Lato"/>
            </a:endParaRPr>
          </a:p>
        </p:txBody>
      </p:sp>
      <p:pic>
        <p:nvPicPr>
          <p:cNvPr id="590" name="Google Shape;590;p57"/>
          <p:cNvPicPr preferRelativeResize="0"/>
          <p:nvPr/>
        </p:nvPicPr>
        <p:blipFill rotWithShape="1">
          <a:blip r:embed="rId3">
            <a:alphaModFix/>
          </a:blip>
          <a:srcRect l="54319" t="61118" r="37754"/>
          <a:stretch/>
        </p:blipFill>
        <p:spPr>
          <a:xfrm>
            <a:off x="3709750" y="2796700"/>
            <a:ext cx="230596" cy="241912"/>
          </a:xfrm>
          <a:prstGeom prst="rect">
            <a:avLst/>
          </a:prstGeom>
          <a:noFill/>
          <a:ln>
            <a:noFill/>
          </a:ln>
        </p:spPr>
      </p:pic>
      <p:pic>
        <p:nvPicPr>
          <p:cNvPr id="591" name="Google Shape;591;p57"/>
          <p:cNvPicPr preferRelativeResize="0"/>
          <p:nvPr/>
        </p:nvPicPr>
        <p:blipFill rotWithShape="1">
          <a:blip r:embed="rId3">
            <a:alphaModFix/>
          </a:blip>
          <a:srcRect l="73531" b="31675"/>
          <a:stretch/>
        </p:blipFill>
        <p:spPr>
          <a:xfrm>
            <a:off x="3308611" y="3309267"/>
            <a:ext cx="476332" cy="295494"/>
          </a:xfrm>
          <a:prstGeom prst="rect">
            <a:avLst/>
          </a:prstGeom>
          <a:noFill/>
          <a:ln>
            <a:noFill/>
          </a:ln>
        </p:spPr>
      </p:pic>
      <p:sp>
        <p:nvSpPr>
          <p:cNvPr id="2" name="Slide Number Placeholder 1">
            <a:extLst>
              <a:ext uri="{FF2B5EF4-FFF2-40B4-BE49-F238E27FC236}">
                <a16:creationId xmlns:a16="http://schemas.microsoft.com/office/drawing/2014/main" id="{9837E989-66FC-0E0B-C59E-65AAE1C66F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58"/>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Backprop: Gradient descent</a:t>
            </a:r>
            <a:endParaRPr/>
          </a:p>
        </p:txBody>
      </p:sp>
      <p:pic>
        <p:nvPicPr>
          <p:cNvPr id="597" name="Google Shape;597;p58"/>
          <p:cNvPicPr preferRelativeResize="0"/>
          <p:nvPr/>
        </p:nvPicPr>
        <p:blipFill rotWithShape="1">
          <a:blip r:embed="rId3">
            <a:alphaModFix/>
          </a:blip>
          <a:srcRect/>
          <a:stretch/>
        </p:blipFill>
        <p:spPr>
          <a:xfrm>
            <a:off x="2072613" y="1853850"/>
            <a:ext cx="4116480" cy="2984850"/>
          </a:xfrm>
          <a:prstGeom prst="rect">
            <a:avLst/>
          </a:prstGeom>
          <a:noFill/>
          <a:ln>
            <a:noFill/>
          </a:ln>
        </p:spPr>
      </p:pic>
      <p:sp>
        <p:nvSpPr>
          <p:cNvPr id="2" name="Slide Number Placeholder 1">
            <a:extLst>
              <a:ext uri="{FF2B5EF4-FFF2-40B4-BE49-F238E27FC236}">
                <a16:creationId xmlns:a16="http://schemas.microsoft.com/office/drawing/2014/main" id="{C8DF428B-193D-235E-C7EB-BC603CFBE1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9"/>
          <p:cNvSpPr txBox="1">
            <a:spLocks noGrp="1"/>
          </p:cNvSpPr>
          <p:nvPr>
            <p:ph type="title"/>
          </p:nvPr>
        </p:nvSpPr>
        <p:spPr>
          <a:xfrm>
            <a:off x="727650" y="947675"/>
            <a:ext cx="135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603" name="Google Shape;603;p59"/>
          <p:cNvPicPr preferRelativeResize="0"/>
          <p:nvPr/>
        </p:nvPicPr>
        <p:blipFill rotWithShape="1">
          <a:blip r:embed="rId3">
            <a:alphaModFix/>
          </a:blip>
          <a:srcRect/>
          <a:stretch/>
        </p:blipFill>
        <p:spPr>
          <a:xfrm>
            <a:off x="365760" y="731520"/>
            <a:ext cx="5989320" cy="4349168"/>
          </a:xfrm>
          <a:prstGeom prst="rect">
            <a:avLst/>
          </a:prstGeom>
          <a:noFill/>
          <a:ln>
            <a:noFill/>
          </a:ln>
        </p:spPr>
      </p:pic>
      <p:sp>
        <p:nvSpPr>
          <p:cNvPr id="604" name="Google Shape;604;p59"/>
          <p:cNvSpPr txBox="1"/>
          <p:nvPr/>
        </p:nvSpPr>
        <p:spPr>
          <a:xfrm>
            <a:off x="1959175" y="4612076"/>
            <a:ext cx="9222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“Guess”</a:t>
            </a:r>
            <a:endParaRPr sz="1400" b="0" i="0" u="none" strike="noStrike" cap="none">
              <a:solidFill>
                <a:srgbClr val="000000"/>
              </a:solidFill>
              <a:latin typeface="Lato"/>
              <a:ea typeface="Lato"/>
              <a:cs typeface="Lato"/>
              <a:sym typeface="Lato"/>
            </a:endParaRPr>
          </a:p>
        </p:txBody>
      </p:sp>
      <p:sp>
        <p:nvSpPr>
          <p:cNvPr id="605" name="Google Shape;605;p59"/>
          <p:cNvSpPr/>
          <p:nvPr/>
        </p:nvSpPr>
        <p:spPr>
          <a:xfrm>
            <a:off x="2797347" y="4511850"/>
            <a:ext cx="651700" cy="320825"/>
          </a:xfrm>
          <a:custGeom>
            <a:avLst/>
            <a:gdLst/>
            <a:ahLst/>
            <a:cxnLst/>
            <a:rect l="l" t="t" r="r" b="b"/>
            <a:pathLst>
              <a:path w="26068" h="12833" extrusionOk="0">
                <a:moveTo>
                  <a:pt x="0" y="12833"/>
                </a:moveTo>
                <a:cubicBezTo>
                  <a:pt x="3676" y="12499"/>
                  <a:pt x="17713" y="12967"/>
                  <a:pt x="22058" y="10828"/>
                </a:cubicBezTo>
                <a:cubicBezTo>
                  <a:pt x="26403" y="8689"/>
                  <a:pt x="25400" y="1805"/>
                  <a:pt x="26068" y="0"/>
                </a:cubicBezTo>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6" name="Google Shape;606;p59"/>
          <p:cNvPicPr preferRelativeResize="0"/>
          <p:nvPr/>
        </p:nvPicPr>
        <p:blipFill rotWithShape="1">
          <a:blip r:embed="rId4">
            <a:alphaModFix/>
          </a:blip>
          <a:srcRect/>
          <a:stretch/>
        </p:blipFill>
        <p:spPr>
          <a:xfrm>
            <a:off x="6727675" y="2417375"/>
            <a:ext cx="2343650" cy="644675"/>
          </a:xfrm>
          <a:prstGeom prst="rect">
            <a:avLst/>
          </a:prstGeom>
          <a:noFill/>
          <a:ln>
            <a:noFill/>
          </a:ln>
        </p:spPr>
      </p:pic>
      <p:sp>
        <p:nvSpPr>
          <p:cNvPr id="607" name="Google Shape;607;p59"/>
          <p:cNvSpPr txBox="1"/>
          <p:nvPr/>
        </p:nvSpPr>
        <p:spPr>
          <a:xfrm>
            <a:off x="6990000" y="1704575"/>
            <a:ext cx="19233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Lato"/>
                <a:ea typeface="Lato"/>
                <a:cs typeface="Lato"/>
                <a:sym typeface="Lato"/>
              </a:rPr>
              <a:t>“</a:t>
            </a:r>
            <a:r>
              <a:rPr lang="en" sz="1600" b="0" i="1" u="none" strike="noStrike" cap="none">
                <a:solidFill>
                  <a:srgbClr val="000000"/>
                </a:solidFill>
                <a:latin typeface="Lato"/>
                <a:ea typeface="Lato"/>
                <a:cs typeface="Lato"/>
                <a:sym typeface="Lato"/>
              </a:rPr>
              <a:t>Learning rate</a:t>
            </a:r>
            <a:r>
              <a:rPr lang="en" sz="1600" b="0" i="0" u="none" strike="noStrike" cap="none">
                <a:solidFill>
                  <a:srgbClr val="000000"/>
                </a:solidFill>
                <a:latin typeface="Lato"/>
                <a:ea typeface="Lato"/>
                <a:cs typeface="Lato"/>
                <a:sym typeface="Lato"/>
              </a:rPr>
              <a:t>”</a:t>
            </a:r>
            <a:endParaRPr sz="1600" b="0" i="0" u="none" strike="noStrike" cap="none">
              <a:solidFill>
                <a:srgbClr val="000000"/>
              </a:solidFill>
              <a:latin typeface="Lato"/>
              <a:ea typeface="Lato"/>
              <a:cs typeface="Lato"/>
              <a:sym typeface="Lato"/>
            </a:endParaRPr>
          </a:p>
        </p:txBody>
      </p:sp>
      <p:cxnSp>
        <p:nvCxnSpPr>
          <p:cNvPr id="608" name="Google Shape;608;p59"/>
          <p:cNvCxnSpPr/>
          <p:nvPr/>
        </p:nvCxnSpPr>
        <p:spPr>
          <a:xfrm flipH="1">
            <a:off x="7898900" y="2065475"/>
            <a:ext cx="7800" cy="530400"/>
          </a:xfrm>
          <a:prstGeom prst="straightConnector1">
            <a:avLst/>
          </a:prstGeom>
          <a:noFill/>
          <a:ln w="9525" cap="flat" cmpd="sng">
            <a:solidFill>
              <a:schemeClr val="dk2"/>
            </a:solidFill>
            <a:prstDash val="solid"/>
            <a:round/>
            <a:headEnd type="none" w="sm" len="sm"/>
            <a:tailEnd type="triangle" w="med" len="med"/>
          </a:ln>
        </p:spPr>
      </p:cxnSp>
      <p:sp>
        <p:nvSpPr>
          <p:cNvPr id="2" name="Slide Number Placeholder 1">
            <a:extLst>
              <a:ext uri="{FF2B5EF4-FFF2-40B4-BE49-F238E27FC236}">
                <a16:creationId xmlns:a16="http://schemas.microsoft.com/office/drawing/2014/main" id="{EA4BA1CD-C534-B7DA-DDDA-7E07A2DB0B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60"/>
          <p:cNvSpPr txBox="1">
            <a:spLocks noGrp="1"/>
          </p:cNvSpPr>
          <p:nvPr>
            <p:ph type="title"/>
          </p:nvPr>
        </p:nvSpPr>
        <p:spPr>
          <a:xfrm>
            <a:off x="727650" y="947675"/>
            <a:ext cx="135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614" name="Google Shape;614;p60"/>
          <p:cNvPicPr preferRelativeResize="0"/>
          <p:nvPr/>
        </p:nvPicPr>
        <p:blipFill rotWithShape="1">
          <a:blip r:embed="rId3">
            <a:alphaModFix/>
          </a:blip>
          <a:srcRect/>
          <a:stretch/>
        </p:blipFill>
        <p:spPr>
          <a:xfrm>
            <a:off x="365760" y="731520"/>
            <a:ext cx="5989320" cy="4355869"/>
          </a:xfrm>
          <a:prstGeom prst="rect">
            <a:avLst/>
          </a:prstGeom>
          <a:noFill/>
          <a:ln>
            <a:noFill/>
          </a:ln>
        </p:spPr>
      </p:pic>
      <p:pic>
        <p:nvPicPr>
          <p:cNvPr id="615" name="Google Shape;615;p60"/>
          <p:cNvPicPr preferRelativeResize="0"/>
          <p:nvPr/>
        </p:nvPicPr>
        <p:blipFill rotWithShape="1">
          <a:blip r:embed="rId4">
            <a:alphaModFix/>
          </a:blip>
          <a:srcRect/>
          <a:stretch/>
        </p:blipFill>
        <p:spPr>
          <a:xfrm>
            <a:off x="6727675" y="2417375"/>
            <a:ext cx="2343650" cy="644675"/>
          </a:xfrm>
          <a:prstGeom prst="rect">
            <a:avLst/>
          </a:prstGeom>
          <a:noFill/>
          <a:ln>
            <a:noFill/>
          </a:ln>
        </p:spPr>
      </p:pic>
      <p:sp>
        <p:nvSpPr>
          <p:cNvPr id="2" name="Slide Number Placeholder 1">
            <a:extLst>
              <a:ext uri="{FF2B5EF4-FFF2-40B4-BE49-F238E27FC236}">
                <a16:creationId xmlns:a16="http://schemas.microsoft.com/office/drawing/2014/main" id="{284825E1-7D88-25DC-4ACD-32B9B907E0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61"/>
          <p:cNvSpPr txBox="1">
            <a:spLocks noGrp="1"/>
          </p:cNvSpPr>
          <p:nvPr>
            <p:ph type="title"/>
          </p:nvPr>
        </p:nvSpPr>
        <p:spPr>
          <a:xfrm>
            <a:off x="727650" y="947675"/>
            <a:ext cx="135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621" name="Google Shape;621;p61"/>
          <p:cNvPicPr preferRelativeResize="0"/>
          <p:nvPr/>
        </p:nvPicPr>
        <p:blipFill rotWithShape="1">
          <a:blip r:embed="rId3">
            <a:alphaModFix/>
          </a:blip>
          <a:srcRect/>
          <a:stretch/>
        </p:blipFill>
        <p:spPr>
          <a:xfrm>
            <a:off x="365760" y="731520"/>
            <a:ext cx="5989320" cy="4339953"/>
          </a:xfrm>
          <a:prstGeom prst="rect">
            <a:avLst/>
          </a:prstGeom>
          <a:noFill/>
          <a:ln>
            <a:noFill/>
          </a:ln>
        </p:spPr>
      </p:pic>
      <p:pic>
        <p:nvPicPr>
          <p:cNvPr id="622" name="Google Shape;622;p61"/>
          <p:cNvPicPr preferRelativeResize="0"/>
          <p:nvPr/>
        </p:nvPicPr>
        <p:blipFill rotWithShape="1">
          <a:blip r:embed="rId4">
            <a:alphaModFix/>
          </a:blip>
          <a:srcRect/>
          <a:stretch/>
        </p:blipFill>
        <p:spPr>
          <a:xfrm>
            <a:off x="6727675" y="2417375"/>
            <a:ext cx="2343650" cy="644675"/>
          </a:xfrm>
          <a:prstGeom prst="rect">
            <a:avLst/>
          </a:prstGeom>
          <a:noFill/>
          <a:ln>
            <a:noFill/>
          </a:ln>
        </p:spPr>
      </p:pic>
      <p:sp>
        <p:nvSpPr>
          <p:cNvPr id="2" name="Slide Number Placeholder 1">
            <a:extLst>
              <a:ext uri="{FF2B5EF4-FFF2-40B4-BE49-F238E27FC236}">
                <a16:creationId xmlns:a16="http://schemas.microsoft.com/office/drawing/2014/main" id="{5D241BB8-77E1-FE0E-4D22-5B0EBA1433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62"/>
          <p:cNvSpPr txBox="1">
            <a:spLocks noGrp="1"/>
          </p:cNvSpPr>
          <p:nvPr>
            <p:ph type="title"/>
          </p:nvPr>
        </p:nvSpPr>
        <p:spPr>
          <a:xfrm>
            <a:off x="727650" y="947675"/>
            <a:ext cx="135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pic>
        <p:nvPicPr>
          <p:cNvPr id="628" name="Google Shape;628;p62"/>
          <p:cNvPicPr preferRelativeResize="0"/>
          <p:nvPr/>
        </p:nvPicPr>
        <p:blipFill rotWithShape="1">
          <a:blip r:embed="rId3">
            <a:alphaModFix/>
          </a:blip>
          <a:srcRect/>
          <a:stretch/>
        </p:blipFill>
        <p:spPr>
          <a:xfrm>
            <a:off x="365760" y="731520"/>
            <a:ext cx="5989320" cy="4339953"/>
          </a:xfrm>
          <a:prstGeom prst="rect">
            <a:avLst/>
          </a:prstGeom>
          <a:noFill/>
          <a:ln>
            <a:noFill/>
          </a:ln>
        </p:spPr>
      </p:pic>
      <p:sp>
        <p:nvSpPr>
          <p:cNvPr id="629" name="Google Shape;629;p62"/>
          <p:cNvSpPr txBox="1"/>
          <p:nvPr/>
        </p:nvSpPr>
        <p:spPr>
          <a:xfrm>
            <a:off x="5684950" y="3239350"/>
            <a:ext cx="2727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Converges to local minima</a:t>
            </a:r>
            <a:endParaRPr sz="1400" b="0" i="0" u="none" strike="noStrike" cap="none">
              <a:solidFill>
                <a:srgbClr val="000000"/>
              </a:solidFill>
              <a:latin typeface="Lato"/>
              <a:ea typeface="Lato"/>
              <a:cs typeface="Lato"/>
              <a:sym typeface="Lato"/>
            </a:endParaRPr>
          </a:p>
        </p:txBody>
      </p:sp>
      <p:sp>
        <p:nvSpPr>
          <p:cNvPr id="630" name="Google Shape;630;p62"/>
          <p:cNvSpPr/>
          <p:nvPr/>
        </p:nvSpPr>
        <p:spPr>
          <a:xfrm>
            <a:off x="4602075" y="3579400"/>
            <a:ext cx="1313450" cy="294100"/>
          </a:xfrm>
          <a:custGeom>
            <a:avLst/>
            <a:gdLst/>
            <a:ahLst/>
            <a:cxnLst/>
            <a:rect l="l" t="t" r="r" b="b"/>
            <a:pathLst>
              <a:path w="52538" h="11764" extrusionOk="0">
                <a:moveTo>
                  <a:pt x="52538" y="0"/>
                </a:moveTo>
                <a:cubicBezTo>
                  <a:pt x="48461" y="1938"/>
                  <a:pt x="36830" y="11095"/>
                  <a:pt x="28074" y="11630"/>
                </a:cubicBezTo>
                <a:cubicBezTo>
                  <a:pt x="19318" y="12165"/>
                  <a:pt x="4679" y="4612"/>
                  <a:pt x="0" y="3208"/>
                </a:cubicBezTo>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31" name="Google Shape;631;p62"/>
          <p:cNvPicPr preferRelativeResize="0"/>
          <p:nvPr/>
        </p:nvPicPr>
        <p:blipFill rotWithShape="1">
          <a:blip r:embed="rId4">
            <a:alphaModFix/>
          </a:blip>
          <a:srcRect/>
          <a:stretch/>
        </p:blipFill>
        <p:spPr>
          <a:xfrm>
            <a:off x="6727675" y="2417375"/>
            <a:ext cx="2343650" cy="644675"/>
          </a:xfrm>
          <a:prstGeom prst="rect">
            <a:avLst/>
          </a:prstGeom>
          <a:noFill/>
          <a:ln>
            <a:noFill/>
          </a:ln>
        </p:spPr>
      </p:pic>
      <p:sp>
        <p:nvSpPr>
          <p:cNvPr id="2" name="Slide Number Placeholder 1">
            <a:extLst>
              <a:ext uri="{FF2B5EF4-FFF2-40B4-BE49-F238E27FC236}">
                <a16:creationId xmlns:a16="http://schemas.microsoft.com/office/drawing/2014/main" id="{6286A175-EC25-93C4-0136-1EA64A4F18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pic>
        <p:nvPicPr>
          <p:cNvPr id="671" name="Google Shape;671;p64"/>
          <p:cNvPicPr preferRelativeResize="0"/>
          <p:nvPr/>
        </p:nvPicPr>
        <p:blipFill rotWithShape="1">
          <a:blip r:embed="rId3">
            <a:alphaModFix/>
          </a:blip>
          <a:srcRect/>
          <a:stretch/>
        </p:blipFill>
        <p:spPr>
          <a:xfrm>
            <a:off x="3076450" y="1273325"/>
            <a:ext cx="5676525" cy="3231675"/>
          </a:xfrm>
          <a:prstGeom prst="rect">
            <a:avLst/>
          </a:prstGeom>
          <a:noFill/>
          <a:ln>
            <a:noFill/>
          </a:ln>
        </p:spPr>
      </p:pic>
      <p:sp>
        <p:nvSpPr>
          <p:cNvPr id="672" name="Google Shape;672;p64"/>
          <p:cNvSpPr txBox="1">
            <a:spLocks noGrp="1"/>
          </p:cNvSpPr>
          <p:nvPr>
            <p:ph type="title"/>
          </p:nvPr>
        </p:nvSpPr>
        <p:spPr>
          <a:xfrm>
            <a:off x="727650" y="847400"/>
            <a:ext cx="1297800" cy="535200"/>
          </a:xfrm>
          <a:prstGeom prst="rect">
            <a:avLst/>
          </a:prstGeom>
          <a:solidFill>
            <a:schemeClr val="lt1"/>
          </a:solid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 </a:t>
            </a:r>
            <a:endParaRPr/>
          </a:p>
        </p:txBody>
      </p:sp>
      <p:sp>
        <p:nvSpPr>
          <p:cNvPr id="673" name="Google Shape;673;p64"/>
          <p:cNvSpPr txBox="1"/>
          <p:nvPr/>
        </p:nvSpPr>
        <p:spPr>
          <a:xfrm>
            <a:off x="245925" y="847400"/>
            <a:ext cx="3639600" cy="969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000000"/>
                </a:solidFill>
                <a:latin typeface="Lato"/>
                <a:ea typeface="Lato"/>
                <a:cs typeface="Lato"/>
                <a:sym typeface="Lato"/>
              </a:rPr>
              <a:t>A “real” loss landscape:</a:t>
            </a:r>
            <a:endParaRPr sz="1700" b="0" i="0" u="none" strike="noStrike" cap="none">
              <a:solidFill>
                <a:srgbClr val="000000"/>
              </a:solidFill>
              <a:latin typeface="Lato"/>
              <a:ea typeface="Lato"/>
              <a:cs typeface="Lato"/>
              <a:sym typeface="Lato"/>
            </a:endParaRPr>
          </a:p>
          <a:p>
            <a:pPr marL="457200" marR="0" lvl="0" indent="-336550" algn="l" rtl="0">
              <a:lnSpc>
                <a:spcPct val="100000"/>
              </a:lnSpc>
              <a:spcBef>
                <a:spcPts val="0"/>
              </a:spcBef>
              <a:spcAft>
                <a:spcPts val="0"/>
              </a:spcAft>
              <a:buClr>
                <a:srgbClr val="000000"/>
              </a:buClr>
              <a:buSzPts val="1700"/>
              <a:buFont typeface="Lato"/>
              <a:buChar char="-"/>
            </a:pPr>
            <a:r>
              <a:rPr lang="en" sz="1700" b="0" i="0" u="none" strike="noStrike" cap="none">
                <a:solidFill>
                  <a:srgbClr val="000000"/>
                </a:solidFill>
                <a:latin typeface="Lato"/>
                <a:ea typeface="Lato"/>
                <a:cs typeface="Lato"/>
                <a:sym typeface="Lato"/>
              </a:rPr>
              <a:t>Many (many many) local minima</a:t>
            </a:r>
            <a:endParaRPr sz="1700" b="0" i="0" u="none" strike="noStrike" cap="none">
              <a:solidFill>
                <a:srgbClr val="000000"/>
              </a:solidFill>
              <a:latin typeface="Lato"/>
              <a:ea typeface="Lato"/>
              <a:cs typeface="Lato"/>
              <a:sym typeface="Lato"/>
            </a:endParaRPr>
          </a:p>
          <a:p>
            <a:pPr marL="457200" marR="0" lvl="0" indent="-336550" algn="l" rtl="0">
              <a:lnSpc>
                <a:spcPct val="100000"/>
              </a:lnSpc>
              <a:spcBef>
                <a:spcPts val="0"/>
              </a:spcBef>
              <a:spcAft>
                <a:spcPts val="0"/>
              </a:spcAft>
              <a:buClr>
                <a:srgbClr val="000000"/>
              </a:buClr>
              <a:buSzPts val="1700"/>
              <a:buFont typeface="Lato"/>
              <a:buChar char="-"/>
            </a:pPr>
            <a:r>
              <a:rPr lang="en" sz="1700" b="0" i="0" u="none" strike="noStrike" cap="none">
                <a:solidFill>
                  <a:srgbClr val="000000"/>
                </a:solidFill>
                <a:latin typeface="Lato"/>
                <a:ea typeface="Lato"/>
                <a:cs typeface="Lato"/>
                <a:sym typeface="Lato"/>
              </a:rPr>
              <a:t>Saddle points</a:t>
            </a:r>
            <a:endParaRPr sz="1700" b="0" i="0" u="none" strike="noStrike" cap="none">
              <a:solidFill>
                <a:srgbClr val="000000"/>
              </a:solidFill>
              <a:latin typeface="Lato"/>
              <a:ea typeface="Lato"/>
              <a:cs typeface="Lato"/>
              <a:sym typeface="Lato"/>
            </a:endParaRPr>
          </a:p>
        </p:txBody>
      </p:sp>
      <p:sp>
        <p:nvSpPr>
          <p:cNvPr id="674" name="Google Shape;674;p64"/>
          <p:cNvSpPr txBox="1"/>
          <p:nvPr/>
        </p:nvSpPr>
        <p:spPr>
          <a:xfrm>
            <a:off x="3717063" y="4391175"/>
            <a:ext cx="4395300" cy="307746"/>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 sz="800" b="0" i="1" u="none" strike="noStrike" cap="none" dirty="0">
                <a:solidFill>
                  <a:srgbClr val="000000"/>
                </a:solidFill>
                <a:latin typeface="Lato"/>
                <a:ea typeface="Lato"/>
                <a:cs typeface="Lato"/>
                <a:sym typeface="Lato"/>
              </a:rPr>
              <a:t>http://www.telesens.co/2019/01/16/neural-network-loss-visualization/</a:t>
            </a:r>
            <a:endParaRPr sz="800" b="0" i="1"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06EF8E44-CA19-C0B4-D1E8-C17C7E4241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g253186c61bb_0_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Backprop: Efficient NN GD</a:t>
            </a:r>
            <a:endParaRPr/>
          </a:p>
        </p:txBody>
      </p:sp>
      <p:sp>
        <p:nvSpPr>
          <p:cNvPr id="653" name="Google Shape;653;g253186c61bb_0_17"/>
          <p:cNvSpPr txBox="1">
            <a:spLocks noGrp="1"/>
          </p:cNvSpPr>
          <p:nvPr>
            <p:ph type="body" idx="1"/>
          </p:nvPr>
        </p:nvSpPr>
        <p:spPr>
          <a:xfrm>
            <a:off x="729450" y="2078875"/>
            <a:ext cx="7688700" cy="2874000"/>
          </a:xfrm>
          <a:prstGeom prst="rect">
            <a:avLst/>
          </a:prstGeom>
        </p:spPr>
        <p:txBody>
          <a:bodyPr spcFirstLastPara="1" wrap="square" lIns="91425" tIns="91425" rIns="91425" bIns="91425" anchor="t" anchorCtr="0">
            <a:normAutofit lnSpcReduction="10000"/>
          </a:bodyPr>
          <a:lstStyle/>
          <a:p>
            <a:pPr marL="457200" lvl="0" indent="-330200" algn="l" rtl="0">
              <a:spcBef>
                <a:spcPts val="0"/>
              </a:spcBef>
              <a:spcAft>
                <a:spcPts val="0"/>
              </a:spcAft>
              <a:buSzPts val="1600"/>
              <a:buChar char="-"/>
            </a:pPr>
            <a:r>
              <a:rPr lang="en" sz="1600"/>
              <a:t>Goal: change optimization from                   to  </a:t>
            </a:r>
            <a:endParaRPr sz="1600"/>
          </a:p>
          <a:p>
            <a:pPr marL="457200" lvl="0" indent="-330200" algn="l" rtl="0">
              <a:spcBef>
                <a:spcPts val="0"/>
              </a:spcBef>
              <a:spcAft>
                <a:spcPts val="0"/>
              </a:spcAft>
              <a:buSzPts val="1600"/>
              <a:buChar char="-"/>
            </a:pPr>
            <a:r>
              <a:rPr lang="en" sz="1600"/>
              <a:t>Recall an MLP:</a:t>
            </a: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a:p>
            <a:pPr marL="457200" lvl="0" indent="0" algn="l" rtl="0">
              <a:spcBef>
                <a:spcPts val="0"/>
              </a:spcBef>
              <a:spcAft>
                <a:spcPts val="0"/>
              </a:spcAft>
              <a:buNone/>
            </a:pP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Use the chain rule to compute the derivatives from output to input</a:t>
            </a:r>
            <a:endParaRPr sz="1600"/>
          </a:p>
          <a:p>
            <a:pPr marL="914400" lvl="0" indent="0" algn="l" rtl="0">
              <a:spcBef>
                <a:spcPts val="0"/>
              </a:spcBef>
              <a:spcAft>
                <a:spcPts val="0"/>
              </a:spcAft>
              <a:buNone/>
            </a:pPr>
            <a:r>
              <a:rPr lang="en" sz="1600"/>
              <a:t>“Backpropagation of errors”</a:t>
            </a:r>
            <a:endParaRPr sz="1600"/>
          </a:p>
        </p:txBody>
      </p:sp>
      <p:pic>
        <p:nvPicPr>
          <p:cNvPr id="654" name="Google Shape;654;g253186c61bb_0_17"/>
          <p:cNvPicPr preferRelativeResize="0"/>
          <p:nvPr/>
        </p:nvPicPr>
        <p:blipFill>
          <a:blip r:embed="rId3">
            <a:alphaModFix/>
          </a:blip>
          <a:stretch>
            <a:fillRect/>
          </a:stretch>
        </p:blipFill>
        <p:spPr>
          <a:xfrm>
            <a:off x="5058051" y="2224050"/>
            <a:ext cx="475800" cy="194417"/>
          </a:xfrm>
          <a:prstGeom prst="rect">
            <a:avLst/>
          </a:prstGeom>
          <a:noFill/>
          <a:ln>
            <a:noFill/>
          </a:ln>
        </p:spPr>
      </p:pic>
      <p:pic>
        <p:nvPicPr>
          <p:cNvPr id="655" name="Google Shape;655;g253186c61bb_0_17"/>
          <p:cNvPicPr preferRelativeResize="0"/>
          <p:nvPr/>
        </p:nvPicPr>
        <p:blipFill>
          <a:blip r:embed="rId4">
            <a:alphaModFix/>
          </a:blip>
          <a:stretch>
            <a:fillRect/>
          </a:stretch>
        </p:blipFill>
        <p:spPr>
          <a:xfrm>
            <a:off x="1912988" y="2747300"/>
            <a:ext cx="5318024" cy="352650"/>
          </a:xfrm>
          <a:prstGeom prst="rect">
            <a:avLst/>
          </a:prstGeom>
          <a:noFill/>
          <a:ln>
            <a:noFill/>
          </a:ln>
        </p:spPr>
      </p:pic>
      <p:pic>
        <p:nvPicPr>
          <p:cNvPr id="656" name="Google Shape;656;g253186c61bb_0_17"/>
          <p:cNvPicPr preferRelativeResize="0"/>
          <p:nvPr/>
        </p:nvPicPr>
        <p:blipFill>
          <a:blip r:embed="rId5">
            <a:alphaModFix/>
          </a:blip>
          <a:stretch>
            <a:fillRect/>
          </a:stretch>
        </p:blipFill>
        <p:spPr>
          <a:xfrm>
            <a:off x="1204438" y="3541975"/>
            <a:ext cx="1379550" cy="313250"/>
          </a:xfrm>
          <a:prstGeom prst="rect">
            <a:avLst/>
          </a:prstGeom>
          <a:noFill/>
          <a:ln>
            <a:noFill/>
          </a:ln>
        </p:spPr>
      </p:pic>
      <p:pic>
        <p:nvPicPr>
          <p:cNvPr id="657" name="Google Shape;657;g253186c61bb_0_17"/>
          <p:cNvPicPr preferRelativeResize="0"/>
          <p:nvPr/>
        </p:nvPicPr>
        <p:blipFill>
          <a:blip r:embed="rId6">
            <a:alphaModFix/>
          </a:blip>
          <a:stretch>
            <a:fillRect/>
          </a:stretch>
        </p:blipFill>
        <p:spPr>
          <a:xfrm>
            <a:off x="3404435" y="3431000"/>
            <a:ext cx="1234710" cy="535200"/>
          </a:xfrm>
          <a:prstGeom prst="rect">
            <a:avLst/>
          </a:prstGeom>
          <a:noFill/>
          <a:ln w="9525" cap="flat" cmpd="sng">
            <a:solidFill>
              <a:srgbClr val="FF0000"/>
            </a:solidFill>
            <a:prstDash val="solid"/>
            <a:round/>
            <a:headEnd type="none" w="sm" len="sm"/>
            <a:tailEnd type="none" w="sm" len="sm"/>
          </a:ln>
        </p:spPr>
      </p:pic>
      <p:pic>
        <p:nvPicPr>
          <p:cNvPr id="658" name="Google Shape;658;g253186c61bb_0_17"/>
          <p:cNvPicPr preferRelativeResize="0"/>
          <p:nvPr/>
        </p:nvPicPr>
        <p:blipFill>
          <a:blip r:embed="rId7">
            <a:alphaModFix/>
          </a:blip>
          <a:stretch>
            <a:fillRect/>
          </a:stretch>
        </p:blipFill>
        <p:spPr>
          <a:xfrm>
            <a:off x="5459598" y="3431000"/>
            <a:ext cx="2483565" cy="535200"/>
          </a:xfrm>
          <a:prstGeom prst="rect">
            <a:avLst/>
          </a:prstGeom>
          <a:noFill/>
          <a:ln>
            <a:noFill/>
          </a:ln>
        </p:spPr>
      </p:pic>
      <p:cxnSp>
        <p:nvCxnSpPr>
          <p:cNvPr id="659" name="Google Shape;659;g253186c61bb_0_17"/>
          <p:cNvCxnSpPr/>
          <p:nvPr/>
        </p:nvCxnSpPr>
        <p:spPr>
          <a:xfrm flipH="1">
            <a:off x="1810200" y="3133250"/>
            <a:ext cx="475800" cy="332400"/>
          </a:xfrm>
          <a:prstGeom prst="straightConnector1">
            <a:avLst/>
          </a:prstGeom>
          <a:noFill/>
          <a:ln w="19050" cap="flat" cmpd="sng">
            <a:solidFill>
              <a:schemeClr val="dk2"/>
            </a:solidFill>
            <a:prstDash val="solid"/>
            <a:round/>
            <a:headEnd type="none" w="med" len="med"/>
            <a:tailEnd type="stealth" w="med" len="med"/>
          </a:ln>
        </p:spPr>
      </p:cxnSp>
      <p:cxnSp>
        <p:nvCxnSpPr>
          <p:cNvPr id="660" name="Google Shape;660;g253186c61bb_0_17"/>
          <p:cNvCxnSpPr/>
          <p:nvPr/>
        </p:nvCxnSpPr>
        <p:spPr>
          <a:xfrm rot="10800000" flipH="1">
            <a:off x="2655013" y="3697175"/>
            <a:ext cx="564000" cy="1500"/>
          </a:xfrm>
          <a:prstGeom prst="straightConnector1">
            <a:avLst/>
          </a:prstGeom>
          <a:noFill/>
          <a:ln w="19050" cap="flat" cmpd="sng">
            <a:solidFill>
              <a:schemeClr val="dk2"/>
            </a:solidFill>
            <a:prstDash val="solid"/>
            <a:round/>
            <a:headEnd type="none" w="med" len="med"/>
            <a:tailEnd type="stealth" w="med" len="med"/>
          </a:ln>
        </p:spPr>
      </p:cxnSp>
      <p:cxnSp>
        <p:nvCxnSpPr>
          <p:cNvPr id="661" name="Google Shape;661;g253186c61bb_0_17"/>
          <p:cNvCxnSpPr/>
          <p:nvPr/>
        </p:nvCxnSpPr>
        <p:spPr>
          <a:xfrm rot="10800000" flipH="1">
            <a:off x="4767363" y="3697850"/>
            <a:ext cx="564000" cy="1500"/>
          </a:xfrm>
          <a:prstGeom prst="straightConnector1">
            <a:avLst/>
          </a:prstGeom>
          <a:noFill/>
          <a:ln w="19050" cap="flat" cmpd="sng">
            <a:solidFill>
              <a:schemeClr val="dk2"/>
            </a:solidFill>
            <a:prstDash val="solid"/>
            <a:round/>
            <a:headEnd type="none" w="med" len="med"/>
            <a:tailEnd type="stealth" w="med" len="med"/>
          </a:ln>
        </p:spPr>
      </p:cxnSp>
      <p:cxnSp>
        <p:nvCxnSpPr>
          <p:cNvPr id="662" name="Google Shape;662;g253186c61bb_0_17"/>
          <p:cNvCxnSpPr/>
          <p:nvPr/>
        </p:nvCxnSpPr>
        <p:spPr>
          <a:xfrm rot="10800000">
            <a:off x="6999000" y="3138125"/>
            <a:ext cx="544500" cy="235800"/>
          </a:xfrm>
          <a:prstGeom prst="straightConnector1">
            <a:avLst/>
          </a:prstGeom>
          <a:noFill/>
          <a:ln w="19050" cap="flat" cmpd="sng">
            <a:solidFill>
              <a:schemeClr val="dk2"/>
            </a:solidFill>
            <a:prstDash val="solid"/>
            <a:round/>
            <a:headEnd type="none" w="med" len="med"/>
            <a:tailEnd type="stealth" w="med" len="med"/>
          </a:ln>
        </p:spPr>
      </p:cxnSp>
      <p:pic>
        <p:nvPicPr>
          <p:cNvPr id="663" name="Google Shape;663;g253186c61bb_0_17"/>
          <p:cNvPicPr preferRelativeResize="0"/>
          <p:nvPr/>
        </p:nvPicPr>
        <p:blipFill>
          <a:blip r:embed="rId8">
            <a:alphaModFix/>
          </a:blip>
          <a:stretch>
            <a:fillRect/>
          </a:stretch>
        </p:blipFill>
        <p:spPr>
          <a:xfrm>
            <a:off x="4126625" y="2203350"/>
            <a:ext cx="610761" cy="235800"/>
          </a:xfrm>
          <a:prstGeom prst="rect">
            <a:avLst/>
          </a:prstGeom>
          <a:noFill/>
          <a:ln>
            <a:noFill/>
          </a:ln>
        </p:spPr>
      </p:pic>
      <p:pic>
        <p:nvPicPr>
          <p:cNvPr id="664" name="Google Shape;664;g253186c61bb_0_17"/>
          <p:cNvPicPr preferRelativeResize="0"/>
          <p:nvPr/>
        </p:nvPicPr>
        <p:blipFill>
          <a:blip r:embed="rId9">
            <a:alphaModFix/>
          </a:blip>
          <a:stretch>
            <a:fillRect/>
          </a:stretch>
        </p:blipFill>
        <p:spPr>
          <a:xfrm>
            <a:off x="4048350" y="457596"/>
            <a:ext cx="5017374" cy="861058"/>
          </a:xfrm>
          <a:prstGeom prst="rect">
            <a:avLst/>
          </a:prstGeom>
          <a:noFill/>
          <a:ln w="9525" cap="flat" cmpd="sng">
            <a:solidFill>
              <a:schemeClr val="dk2"/>
            </a:solidFill>
            <a:prstDash val="solid"/>
            <a:round/>
            <a:headEnd type="none" w="sm" len="sm"/>
            <a:tailEnd type="none" w="sm" len="sm"/>
          </a:ln>
        </p:spPr>
      </p:pic>
      <p:cxnSp>
        <p:nvCxnSpPr>
          <p:cNvPr id="665" name="Google Shape;665;g253186c61bb_0_17"/>
          <p:cNvCxnSpPr/>
          <p:nvPr/>
        </p:nvCxnSpPr>
        <p:spPr>
          <a:xfrm rot="10800000" flipH="1">
            <a:off x="4333737" y="1476754"/>
            <a:ext cx="2055600" cy="1861800"/>
          </a:xfrm>
          <a:prstGeom prst="straightConnector1">
            <a:avLst/>
          </a:prstGeom>
          <a:noFill/>
          <a:ln w="9525" cap="flat" cmpd="sng">
            <a:solidFill>
              <a:schemeClr val="accent3"/>
            </a:solidFill>
            <a:prstDash val="solid"/>
            <a:round/>
            <a:headEnd type="none" w="med" len="med"/>
            <a:tailEnd type="stealth" w="med" len="med"/>
          </a:ln>
        </p:spPr>
      </p:cxnSp>
      <p:sp>
        <p:nvSpPr>
          <p:cNvPr id="666" name="Google Shape;666;g253186c61bb_0_17"/>
          <p:cNvSpPr txBox="1"/>
          <p:nvPr/>
        </p:nvSpPr>
        <p:spPr>
          <a:xfrm>
            <a:off x="7086200" y="1371000"/>
            <a:ext cx="1949700" cy="31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i="1">
                <a:solidFill>
                  <a:schemeClr val="accent1"/>
                </a:solidFill>
                <a:latin typeface="Lato"/>
                <a:ea typeface="Lato"/>
                <a:cs typeface="Lato"/>
                <a:sym typeface="Lato"/>
              </a:rPr>
              <a:t>Apologies for different notation</a:t>
            </a:r>
            <a:endParaRPr sz="900" i="1">
              <a:solidFill>
                <a:schemeClr val="accent1"/>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32D6B9E5-2BD5-76A5-856B-25A5617F54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11700" y="92098"/>
            <a:ext cx="8520600" cy="604845"/>
          </a:xfrm>
          <a:prstGeom prst="rect">
            <a:avLst/>
          </a:prstGeom>
        </p:spPr>
        <p:txBody>
          <a:bodyPr vert="horz" wrap="square" lIns="0" tIns="141795" rIns="0" bIns="0" rtlCol="0">
            <a:spAutoFit/>
          </a:bodyPr>
          <a:lstStyle/>
          <a:p>
            <a:pPr marL="2564130">
              <a:lnSpc>
                <a:spcPct val="100000"/>
              </a:lnSpc>
            </a:pPr>
            <a:r>
              <a:rPr sz="3000" spc="-5" dirty="0">
                <a:solidFill>
                  <a:schemeClr val="bg2"/>
                </a:solidFill>
              </a:rPr>
              <a:t>Gradient</a:t>
            </a:r>
            <a:r>
              <a:rPr sz="3000" spc="-45" dirty="0">
                <a:solidFill>
                  <a:schemeClr val="bg2"/>
                </a:solidFill>
              </a:rPr>
              <a:t> </a:t>
            </a:r>
            <a:r>
              <a:rPr sz="3000" spc="-5" dirty="0">
                <a:solidFill>
                  <a:schemeClr val="bg2"/>
                </a:solidFill>
              </a:rPr>
              <a:t>Descent</a:t>
            </a:r>
            <a:endParaRPr sz="3000" dirty="0">
              <a:solidFill>
                <a:schemeClr val="bg2"/>
              </a:solidFill>
            </a:endParaRPr>
          </a:p>
        </p:txBody>
      </p:sp>
      <p:sp>
        <p:nvSpPr>
          <p:cNvPr id="5" name="object 5"/>
          <p:cNvSpPr/>
          <p:nvPr/>
        </p:nvSpPr>
        <p:spPr>
          <a:xfrm>
            <a:off x="2414112" y="1003433"/>
            <a:ext cx="3638542" cy="857248"/>
          </a:xfrm>
          <a:prstGeom prst="rect">
            <a:avLst/>
          </a:prstGeom>
          <a:blipFill>
            <a:blip r:embed="rId3" cstate="print"/>
            <a:stretch>
              <a:fillRect/>
            </a:stretch>
          </a:blip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6" name="object 6"/>
              <p:cNvSpPr txBox="1"/>
              <p:nvPr/>
            </p:nvSpPr>
            <p:spPr>
              <a:xfrm>
                <a:off x="385012" y="2016468"/>
                <a:ext cx="4788567" cy="2238113"/>
              </a:xfrm>
              <a:prstGeom prst="rect">
                <a:avLst/>
              </a:prstGeom>
            </p:spPr>
            <p:txBody>
              <a:bodyPr vert="horz" wrap="square" lIns="0" tIns="0" rIns="0" bIns="0" rtlCol="0">
                <a:spAutoFit/>
              </a:bodyPr>
              <a:lstStyle/>
              <a:p>
                <a:pPr marL="12700">
                  <a:lnSpc>
                    <a:spcPts val="2865"/>
                  </a:lnSpc>
                </a:pPr>
                <a:r>
                  <a:rPr lang="en-US" sz="1800" dirty="0"/>
                  <a:t>PyTorch builds a </a:t>
                </a:r>
                <a:r>
                  <a:rPr lang="en-US" sz="1800" dirty="0">
                    <a:solidFill>
                      <a:srgbClr val="C00000"/>
                    </a:solidFill>
                  </a:rPr>
                  <a:t>computational graph </a:t>
                </a:r>
                <a:r>
                  <a:rPr lang="en-US" sz="1800" dirty="0"/>
                  <a:t>during the forward pass; then </a:t>
                </a:r>
                <a:r>
                  <a:rPr lang="en-US" sz="1800" dirty="0" err="1"/>
                  <a:t>loss.backward</a:t>
                </a:r>
                <a:r>
                  <a:rPr lang="en-US" sz="1800" dirty="0"/>
                  <a:t>() uses chain rule to compute analytic gradient ​exactly.</a:t>
                </a:r>
              </a:p>
              <a:p>
                <a:pPr marL="12700">
                  <a:lnSpc>
                    <a:spcPts val="2865"/>
                  </a:lnSpc>
                </a:pPr>
                <a:r>
                  <a:rPr lang="en-US" sz="1800" dirty="0"/>
                  <a:t>Example: For the function </a:t>
                </a:r>
                <a14:m>
                  <m:oMath xmlns:m="http://schemas.openxmlformats.org/officeDocument/2006/math">
                    <m:r>
                      <a:rPr lang="en-US" altLang="zh-CN" sz="1800" i="1">
                        <a:latin typeface="Cambria Math" panose="02040503050406030204" pitchFamily="18" charset="0"/>
                      </a:rPr>
                      <m:t>𝑦</m:t>
                    </m:r>
                    <m:r>
                      <a:rPr lang="en-US" altLang="zh-CN" sz="1800" i="1">
                        <a:latin typeface="Cambria Math" panose="02040503050406030204" pitchFamily="18" charset="0"/>
                      </a:rPr>
                      <m:t>=</m:t>
                    </m:r>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𝑥</m:t>
                        </m:r>
                      </m:e>
                      <m:sup>
                        <m:r>
                          <a:rPr lang="en-US" altLang="zh-CN" sz="1800" i="1">
                            <a:latin typeface="Cambria Math" panose="02040503050406030204" pitchFamily="18" charset="0"/>
                          </a:rPr>
                          <m:t>2</m:t>
                        </m:r>
                      </m:sup>
                    </m:sSup>
                    <m:r>
                      <a:rPr lang="en-US" altLang="zh-CN" sz="1800" i="1">
                        <a:latin typeface="Cambria Math" panose="02040503050406030204" pitchFamily="18" charset="0"/>
                      </a:rPr>
                      <m:t>+</m:t>
                    </m:r>
                    <m:r>
                      <a:rPr lang="en-US" altLang="zh-CN" sz="1800" i="1">
                        <a:latin typeface="Cambria Math" panose="02040503050406030204" pitchFamily="18" charset="0"/>
                      </a:rPr>
                      <m:t>3</m:t>
                    </m:r>
                    <m:r>
                      <a:rPr lang="en-US" altLang="zh-CN" sz="1800" i="1">
                        <a:latin typeface="Cambria Math" panose="02040503050406030204" pitchFamily="18" charset="0"/>
                      </a:rPr>
                      <m:t>𝑥</m:t>
                    </m:r>
                  </m:oMath>
                </a14:m>
                <a:r>
                  <a:rPr lang="en-US" sz="1800" dirty="0"/>
                  <a:t>, </a:t>
                </a:r>
                <a:r>
                  <a:rPr lang="en-US" sz="1800" dirty="0" err="1"/>
                  <a:t>PyTorch</a:t>
                </a:r>
                <a:r>
                  <a:rPr lang="en-US" sz="1800" dirty="0"/>
                  <a:t> computes </a:t>
                </a:r>
                <a14:m>
                  <m:oMath xmlns:m="http://schemas.openxmlformats.org/officeDocument/2006/math">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𝑑𝑦</m:t>
                        </m:r>
                      </m:num>
                      <m:den>
                        <m:r>
                          <a:rPr lang="en-US" altLang="zh-CN" sz="1800" b="0" i="1" smtClean="0">
                            <a:latin typeface="Cambria Math" panose="02040503050406030204" pitchFamily="18" charset="0"/>
                          </a:rPr>
                          <m:t>𝑑𝑥</m:t>
                        </m:r>
                      </m:den>
                    </m:f>
                    <m:r>
                      <a:rPr lang="en-US" altLang="zh-CN" sz="1800" i="1">
                        <a:latin typeface="Cambria Math" panose="02040503050406030204" pitchFamily="18" charset="0"/>
                      </a:rPr>
                      <m:t>=</m:t>
                    </m:r>
                    <m:r>
                      <a:rPr lang="en-US" altLang="zh-CN" sz="1800" b="0" i="1" smtClean="0">
                        <a:latin typeface="Cambria Math" panose="02040503050406030204" pitchFamily="18" charset="0"/>
                      </a:rPr>
                      <m:t>2</m:t>
                    </m:r>
                    <m:r>
                      <a:rPr lang="en-US" altLang="zh-CN" sz="1800" b="0" i="1" smtClean="0">
                        <a:latin typeface="Cambria Math" panose="02040503050406030204" pitchFamily="18" charset="0"/>
                      </a:rPr>
                      <m:t>𝑥</m:t>
                    </m:r>
                    <m:r>
                      <a:rPr lang="en-US" altLang="zh-CN" sz="1800" i="1">
                        <a:latin typeface="Cambria Math" panose="02040503050406030204" pitchFamily="18" charset="0"/>
                      </a:rPr>
                      <m:t>+</m:t>
                    </m:r>
                    <m:r>
                      <a:rPr lang="en-US" altLang="zh-CN" sz="1800" i="1">
                        <a:latin typeface="Cambria Math" panose="02040503050406030204" pitchFamily="18" charset="0"/>
                      </a:rPr>
                      <m:t>3</m:t>
                    </m:r>
                  </m:oMath>
                </a14:m>
                <a:r>
                  <a:rPr lang="en-US" sz="1800" dirty="0"/>
                  <a:t>. With </a:t>
                </a:r>
                <a14:m>
                  <m:oMath xmlns:m="http://schemas.openxmlformats.org/officeDocument/2006/math">
                    <m:r>
                      <a:rPr lang="en-US" sz="1800" b="0" i="1" smtClean="0">
                        <a:latin typeface="Cambria Math" panose="02040503050406030204" pitchFamily="18" charset="0"/>
                      </a:rPr>
                      <m:t>𝑥</m:t>
                    </m:r>
                    <m:r>
                      <a:rPr lang="en-US" sz="1800" b="0" i="1" smtClean="0">
                        <a:latin typeface="Cambria Math" panose="02040503050406030204" pitchFamily="18" charset="0"/>
                      </a:rPr>
                      <m:t>=</m:t>
                    </m:r>
                    <m:r>
                      <a:rPr lang="en-US" sz="1800" b="0" i="1" smtClean="0">
                        <a:latin typeface="Cambria Math" panose="02040503050406030204" pitchFamily="18" charset="0"/>
                      </a:rPr>
                      <m:t>2</m:t>
                    </m:r>
                  </m:oMath>
                </a14:m>
                <a:r>
                  <a:rPr lang="en-US" sz="1800" dirty="0"/>
                  <a:t>, </a:t>
                </a:r>
                <a14:m>
                  <m:oMath xmlns:m="http://schemas.openxmlformats.org/officeDocument/2006/math">
                    <m:r>
                      <m:rPr>
                        <m:sty m:val="p"/>
                      </m:rPr>
                      <a:rPr lang="en-US" altLang="zh-CN" sz="1800" b="0" i="0" smtClean="0">
                        <a:latin typeface="Cambria Math" panose="02040503050406030204" pitchFamily="18" charset="0"/>
                      </a:rPr>
                      <m:t>x</m:t>
                    </m:r>
                    <m:r>
                      <a:rPr lang="en-US" altLang="zh-CN" sz="1800" b="0" i="0" smtClean="0">
                        <a:latin typeface="Cambria Math" panose="02040503050406030204" pitchFamily="18" charset="0"/>
                      </a:rPr>
                      <m:t>.</m:t>
                    </m:r>
                    <m:r>
                      <m:rPr>
                        <m:sty m:val="p"/>
                      </m:rPr>
                      <a:rPr lang="en-US" altLang="zh-CN" sz="1800" b="0" i="0" smtClean="0">
                        <a:latin typeface="Cambria Math" panose="02040503050406030204" pitchFamily="18" charset="0"/>
                      </a:rPr>
                      <m:t>grad</m:t>
                    </m:r>
                    <m:r>
                      <a:rPr lang="en-US" altLang="zh-CN" sz="1800" b="0" i="0" smtClean="0">
                        <a:latin typeface="Cambria Math" panose="02040503050406030204" pitchFamily="18" charset="0"/>
                      </a:rPr>
                      <m:t>= </m:t>
                    </m:r>
                    <m:f>
                      <m:fPr>
                        <m:ctrlPr>
                          <a:rPr lang="en-US" altLang="zh-CN" sz="1800" i="1">
                            <a:latin typeface="Cambria Math" panose="02040503050406030204" pitchFamily="18" charset="0"/>
                          </a:rPr>
                        </m:ctrlPr>
                      </m:fPr>
                      <m:num>
                        <m:r>
                          <a:rPr lang="en-US" altLang="zh-CN" sz="1800" i="1">
                            <a:latin typeface="Cambria Math" panose="02040503050406030204" pitchFamily="18" charset="0"/>
                          </a:rPr>
                          <m:t>𝑑𝑦</m:t>
                        </m:r>
                      </m:num>
                      <m:den>
                        <m:r>
                          <a:rPr lang="en-US" altLang="zh-CN" sz="1800" i="1">
                            <a:latin typeface="Cambria Math" panose="02040503050406030204" pitchFamily="18" charset="0"/>
                          </a:rPr>
                          <m:t>𝑑𝑥</m:t>
                        </m:r>
                      </m:den>
                    </m:f>
                    <m:r>
                      <a:rPr lang="en-US" altLang="zh-CN" sz="1800" i="1">
                        <a:latin typeface="Cambria Math" panose="02040503050406030204" pitchFamily="18" charset="0"/>
                      </a:rPr>
                      <m:t>=</m:t>
                    </m:r>
                    <m:r>
                      <a:rPr lang="en-US" altLang="zh-CN" sz="1800" b="0" i="1" smtClean="0">
                        <a:latin typeface="Cambria Math" panose="02040503050406030204" pitchFamily="18" charset="0"/>
                      </a:rPr>
                      <m:t>7</m:t>
                    </m:r>
                  </m:oMath>
                </a14:m>
                <a:r>
                  <a:rPr lang="en-US" sz="1800" dirty="0"/>
                  <a:t>. </a:t>
                </a:r>
                <a:endParaRPr lang="en-US" sz="1800" dirty="0">
                  <a:latin typeface="Arial"/>
                  <a:cs typeface="Arial"/>
                </a:endParaRPr>
              </a:p>
            </p:txBody>
          </p:sp>
        </mc:Choice>
        <mc:Fallback>
          <p:sp>
            <p:nvSpPr>
              <p:cNvPr id="6" name="object 6"/>
              <p:cNvSpPr txBox="1">
                <a:spLocks noRot="1" noChangeAspect="1" noMove="1" noResize="1" noEditPoints="1" noAdjustHandles="1" noChangeArrowheads="1" noChangeShapeType="1" noTextEdit="1"/>
              </p:cNvSpPr>
              <p:nvPr/>
            </p:nvSpPr>
            <p:spPr>
              <a:xfrm>
                <a:off x="385012" y="2016468"/>
                <a:ext cx="4788567" cy="2238113"/>
              </a:xfrm>
              <a:prstGeom prst="rect">
                <a:avLst/>
              </a:prstGeom>
              <a:blipFill>
                <a:blip r:embed="rId4"/>
                <a:stretch>
                  <a:fillRect l="-2672" t="-1090" r="-2545" b="-2452"/>
                </a:stretch>
              </a:blipFill>
            </p:spPr>
            <p:txBody>
              <a:bodyPr/>
              <a:lstStyle/>
              <a:p>
                <a:r>
                  <a:rPr lang="zh-CN" altLang="en-US">
                    <a:noFill/>
                  </a:rPr>
                  <a:t> </a:t>
                </a:r>
              </a:p>
            </p:txBody>
          </p:sp>
        </mc:Fallback>
      </mc:AlternateContent>
      <p:sp>
        <p:nvSpPr>
          <p:cNvPr id="8" name="Slide Number Placeholder 7">
            <a:extLst>
              <a:ext uri="{FF2B5EF4-FFF2-40B4-BE49-F238E27FC236}">
                <a16:creationId xmlns:a16="http://schemas.microsoft.com/office/drawing/2014/main" id="{40ED80C7-303F-C925-2918-3675B4BAA684}"/>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40</a:t>
            </a:fld>
            <a:endParaRPr lang="en-US" altLang="zh-CN" spc="-5" dirty="0"/>
          </a:p>
        </p:txBody>
      </p:sp>
      <p:sp>
        <p:nvSpPr>
          <p:cNvPr id="2" name="Slide Number Placeholder 1">
            <a:extLst>
              <a:ext uri="{FF2B5EF4-FFF2-40B4-BE49-F238E27FC236}">
                <a16:creationId xmlns:a16="http://schemas.microsoft.com/office/drawing/2014/main" id="{A3F1CCA6-2168-8D62-5D8B-BF2F09C825A6}"/>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40</a:t>
            </a:fld>
            <a:endParaRPr lang="en" sz="1000" dirty="0">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C4082F35-E301-E4FB-E914-7B84031ABFD2}"/>
              </a:ext>
            </a:extLst>
          </p:cNvPr>
          <p:cNvSpPr txBox="1"/>
          <p:nvPr/>
        </p:nvSpPr>
        <p:spPr>
          <a:xfrm>
            <a:off x="5286994" y="2443026"/>
            <a:ext cx="3545306" cy="138499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r>
              <a:rPr lang="zh-CN" altLang="en-US" dirty="0">
                <a:solidFill>
                  <a:schemeClr val="bg2"/>
                </a:solidFill>
              </a:rPr>
              <a:t>import torch</a:t>
            </a:r>
          </a:p>
          <a:p>
            <a:r>
              <a:rPr lang="zh-CN" altLang="en-US" dirty="0">
                <a:solidFill>
                  <a:schemeClr val="bg2"/>
                </a:solidFill>
              </a:rPr>
              <a:t>x = torch.tensor(2.0, requires_grad=True)</a:t>
            </a:r>
          </a:p>
          <a:p>
            <a:r>
              <a:rPr lang="zh-CN" altLang="en-US" dirty="0">
                <a:solidFill>
                  <a:schemeClr val="bg2"/>
                </a:solidFill>
              </a:rPr>
              <a:t>y = x**2 + 3*x</a:t>
            </a:r>
          </a:p>
          <a:p>
            <a:r>
              <a:rPr lang="zh-CN" altLang="en-US" dirty="0">
                <a:solidFill>
                  <a:schemeClr val="bg2"/>
                </a:solidFill>
              </a:rPr>
              <a:t>y.backward()</a:t>
            </a:r>
          </a:p>
          <a:p>
            <a:r>
              <a:rPr lang="zh-CN" altLang="en-US" dirty="0">
                <a:solidFill>
                  <a:schemeClr val="bg2"/>
                </a:solidFill>
              </a:rPr>
              <a:t>print(x.grad)</a:t>
            </a:r>
            <a:endParaRPr lang="en-US" altLang="zh-CN" dirty="0">
              <a:solidFill>
                <a:schemeClr val="bg2"/>
              </a:solidFill>
            </a:endParaRPr>
          </a:p>
          <a:p>
            <a:r>
              <a:rPr lang="en-US" altLang="zh-CN" dirty="0">
                <a:solidFill>
                  <a:schemeClr val="bg2"/>
                </a:solidFill>
              </a:rPr>
              <a:t># </a:t>
            </a:r>
            <a:r>
              <a:rPr lang="en-US" altLang="zh-CN" dirty="0" err="1">
                <a:solidFill>
                  <a:schemeClr val="bg2"/>
                </a:solidFill>
              </a:rPr>
              <a:t>Output:tensor</a:t>
            </a:r>
            <a:r>
              <a:rPr lang="en-US" altLang="zh-CN" dirty="0">
                <a:solidFill>
                  <a:schemeClr val="bg2"/>
                </a:solidFill>
              </a:rPr>
              <a:t>(7.)</a:t>
            </a:r>
            <a:endParaRPr lang="zh-CN" altLang="en-US" dirty="0">
              <a:solidFill>
                <a:schemeClr val="bg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04956" y="4305"/>
            <a:ext cx="8520600" cy="585938"/>
          </a:xfrm>
          <a:prstGeom prst="rect">
            <a:avLst/>
          </a:prstGeom>
        </p:spPr>
        <p:txBody>
          <a:bodyPr vert="horz" wrap="square" lIns="0" tIns="123071" rIns="0" bIns="0" rtlCol="0">
            <a:spAutoFit/>
          </a:bodyPr>
          <a:lstStyle/>
          <a:p>
            <a:pPr marL="2181225">
              <a:lnSpc>
                <a:spcPct val="100000"/>
              </a:lnSpc>
            </a:pPr>
            <a:r>
              <a:rPr sz="3000" spc="-5" dirty="0">
                <a:solidFill>
                  <a:schemeClr val="bg2"/>
                </a:solidFill>
              </a:rPr>
              <a:t>Computational</a:t>
            </a:r>
            <a:r>
              <a:rPr sz="3000" spc="-30" dirty="0">
                <a:solidFill>
                  <a:schemeClr val="bg2"/>
                </a:solidFill>
              </a:rPr>
              <a:t> </a:t>
            </a:r>
            <a:r>
              <a:rPr sz="3000" spc="-5" dirty="0">
                <a:solidFill>
                  <a:schemeClr val="bg2"/>
                </a:solidFill>
              </a:rPr>
              <a:t>Graph</a:t>
            </a:r>
            <a:r>
              <a:rPr lang="en-US" sz="3000" spc="-5" dirty="0">
                <a:solidFill>
                  <a:schemeClr val="bg2"/>
                </a:solidFill>
              </a:rPr>
              <a:t> Example</a:t>
            </a:r>
            <a:endParaRPr sz="3000" dirty="0">
              <a:solidFill>
                <a:schemeClr val="bg2"/>
              </a:solidFill>
            </a:endParaRPr>
          </a:p>
        </p:txBody>
      </p:sp>
      <p:sp>
        <p:nvSpPr>
          <p:cNvPr id="5" name="object 5"/>
          <p:cNvSpPr/>
          <p:nvPr/>
        </p:nvSpPr>
        <p:spPr>
          <a:xfrm>
            <a:off x="1791233" y="1267297"/>
            <a:ext cx="1495422" cy="495298"/>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1781708" y="1257772"/>
            <a:ext cx="1514475" cy="514350"/>
          </a:xfrm>
          <a:custGeom>
            <a:avLst/>
            <a:gdLst/>
            <a:ahLst/>
            <a:cxnLst/>
            <a:rect l="l" t="t" r="r" b="b"/>
            <a:pathLst>
              <a:path w="1514475" h="514350">
                <a:moveTo>
                  <a:pt x="0" y="0"/>
                </a:moveTo>
                <a:lnTo>
                  <a:pt x="1514484" y="0"/>
                </a:lnTo>
                <a:lnTo>
                  <a:pt x="1514484" y="514348"/>
                </a:lnTo>
                <a:lnTo>
                  <a:pt x="0" y="514348"/>
                </a:lnTo>
                <a:lnTo>
                  <a:pt x="0" y="0"/>
                </a:lnTo>
                <a:close/>
              </a:path>
            </a:pathLst>
          </a:custGeom>
          <a:ln w="19049">
            <a:solidFill>
              <a:srgbClr val="0000FF"/>
            </a:solidFill>
          </a:ln>
        </p:spPr>
        <p:txBody>
          <a:bodyPr wrap="square" lIns="0" tIns="0" rIns="0" bIns="0" rtlCol="0"/>
          <a:lstStyle/>
          <a:p>
            <a:endParaRPr/>
          </a:p>
        </p:txBody>
      </p:sp>
      <p:sp>
        <p:nvSpPr>
          <p:cNvPr id="7" name="object 7"/>
          <p:cNvSpPr txBox="1"/>
          <p:nvPr/>
        </p:nvSpPr>
        <p:spPr>
          <a:xfrm>
            <a:off x="842973" y="1462947"/>
            <a:ext cx="375285" cy="958215"/>
          </a:xfrm>
          <a:prstGeom prst="rect">
            <a:avLst/>
          </a:prstGeom>
          <a:solidFill>
            <a:srgbClr val="F2F2F2"/>
          </a:solidFill>
          <a:ln w="9524">
            <a:solidFill>
              <a:srgbClr val="000000"/>
            </a:solidFill>
          </a:ln>
        </p:spPr>
        <p:txBody>
          <a:bodyPr vert="horz" wrap="square" lIns="0" tIns="0" rIns="0" bIns="0" rtlCol="0">
            <a:spAutoFit/>
          </a:bodyPr>
          <a:lstStyle/>
          <a:p>
            <a:pPr>
              <a:lnSpc>
                <a:spcPct val="100000"/>
              </a:lnSpc>
            </a:pPr>
            <a:endParaRPr sz="1400">
              <a:latin typeface="Times New Roman"/>
              <a:cs typeface="Times New Roman"/>
            </a:endParaRPr>
          </a:p>
          <a:p>
            <a:pPr algn="ctr">
              <a:lnSpc>
                <a:spcPct val="100000"/>
              </a:lnSpc>
              <a:spcBef>
                <a:spcPts val="1240"/>
              </a:spcBef>
            </a:pPr>
            <a:r>
              <a:rPr sz="1400" dirty="0">
                <a:latin typeface="Arial"/>
                <a:cs typeface="Arial"/>
              </a:rPr>
              <a:t>x</a:t>
            </a:r>
            <a:endParaRPr sz="1400">
              <a:latin typeface="Arial"/>
              <a:cs typeface="Arial"/>
            </a:endParaRPr>
          </a:p>
        </p:txBody>
      </p:sp>
      <p:sp>
        <p:nvSpPr>
          <p:cNvPr id="8" name="object 8"/>
          <p:cNvSpPr/>
          <p:nvPr/>
        </p:nvSpPr>
        <p:spPr>
          <a:xfrm>
            <a:off x="1446997" y="1901796"/>
            <a:ext cx="543560" cy="307340"/>
          </a:xfrm>
          <a:custGeom>
            <a:avLst/>
            <a:gdLst/>
            <a:ahLst/>
            <a:cxnLst/>
            <a:rect l="l" t="t" r="r" b="b"/>
            <a:pathLst>
              <a:path w="543560" h="307339">
                <a:moveTo>
                  <a:pt x="0" y="0"/>
                </a:moveTo>
                <a:lnTo>
                  <a:pt x="543046" y="306976"/>
                </a:lnTo>
              </a:path>
            </a:pathLst>
          </a:custGeom>
          <a:ln w="9524">
            <a:solidFill>
              <a:srgbClr val="666666"/>
            </a:solidFill>
          </a:ln>
        </p:spPr>
        <p:txBody>
          <a:bodyPr wrap="square" lIns="0" tIns="0" rIns="0" bIns="0" rtlCol="0"/>
          <a:lstStyle/>
          <a:p>
            <a:endParaRPr/>
          </a:p>
        </p:txBody>
      </p:sp>
      <p:sp>
        <p:nvSpPr>
          <p:cNvPr id="9" name="object 9"/>
          <p:cNvSpPr/>
          <p:nvPr/>
        </p:nvSpPr>
        <p:spPr>
          <a:xfrm>
            <a:off x="1982303" y="2195075"/>
            <a:ext cx="45720" cy="35560"/>
          </a:xfrm>
          <a:custGeom>
            <a:avLst/>
            <a:gdLst/>
            <a:ahLst/>
            <a:cxnLst/>
            <a:rect l="l" t="t" r="r" b="b"/>
            <a:pathLst>
              <a:path w="45719" h="35560">
                <a:moveTo>
                  <a:pt x="0" y="27392"/>
                </a:moveTo>
                <a:lnTo>
                  <a:pt x="45369" y="34967"/>
                </a:lnTo>
                <a:lnTo>
                  <a:pt x="15482" y="0"/>
                </a:lnTo>
                <a:lnTo>
                  <a:pt x="0" y="27392"/>
                </a:lnTo>
                <a:close/>
              </a:path>
            </a:pathLst>
          </a:custGeom>
          <a:ln w="9524">
            <a:solidFill>
              <a:srgbClr val="666666"/>
            </a:solidFill>
          </a:ln>
        </p:spPr>
        <p:txBody>
          <a:bodyPr wrap="square" lIns="0" tIns="0" rIns="0" bIns="0" rtlCol="0"/>
          <a:lstStyle/>
          <a:p>
            <a:endParaRPr/>
          </a:p>
        </p:txBody>
      </p:sp>
      <p:sp>
        <p:nvSpPr>
          <p:cNvPr id="10" name="object 10"/>
          <p:cNvSpPr txBox="1"/>
          <p:nvPr/>
        </p:nvSpPr>
        <p:spPr>
          <a:xfrm>
            <a:off x="284449" y="2548894"/>
            <a:ext cx="934085" cy="958215"/>
          </a:xfrm>
          <a:prstGeom prst="rect">
            <a:avLst/>
          </a:prstGeom>
          <a:solidFill>
            <a:srgbClr val="F2F2F2"/>
          </a:solidFill>
          <a:ln w="9524">
            <a:solidFill>
              <a:srgbClr val="000000"/>
            </a:solidFill>
          </a:ln>
        </p:spPr>
        <p:txBody>
          <a:bodyPr vert="horz" wrap="square" lIns="0" tIns="0" rIns="0" bIns="0" rtlCol="0">
            <a:spAutoFit/>
          </a:bodyPr>
          <a:lstStyle/>
          <a:p>
            <a:pPr>
              <a:lnSpc>
                <a:spcPct val="100000"/>
              </a:lnSpc>
            </a:pPr>
            <a:endParaRPr sz="1400">
              <a:latin typeface="Times New Roman"/>
              <a:cs typeface="Times New Roman"/>
            </a:endParaRPr>
          </a:p>
          <a:p>
            <a:pPr algn="ctr">
              <a:lnSpc>
                <a:spcPct val="100000"/>
              </a:lnSpc>
              <a:spcBef>
                <a:spcPts val="1240"/>
              </a:spcBef>
            </a:pPr>
            <a:r>
              <a:rPr sz="1400" spc="-5" dirty="0">
                <a:latin typeface="Arial"/>
                <a:cs typeface="Arial"/>
              </a:rPr>
              <a:t>W</a:t>
            </a:r>
            <a:endParaRPr sz="1400">
              <a:latin typeface="Arial"/>
              <a:cs typeface="Arial"/>
            </a:endParaRPr>
          </a:p>
        </p:txBody>
      </p:sp>
      <p:sp>
        <p:nvSpPr>
          <p:cNvPr id="11" name="object 11"/>
          <p:cNvSpPr/>
          <p:nvPr/>
        </p:nvSpPr>
        <p:spPr>
          <a:xfrm>
            <a:off x="1393459" y="2582769"/>
            <a:ext cx="633095" cy="484505"/>
          </a:xfrm>
          <a:custGeom>
            <a:avLst/>
            <a:gdLst/>
            <a:ahLst/>
            <a:cxnLst/>
            <a:rect l="l" t="t" r="r" b="b"/>
            <a:pathLst>
              <a:path w="633094" h="484505">
                <a:moveTo>
                  <a:pt x="0" y="483974"/>
                </a:moveTo>
                <a:lnTo>
                  <a:pt x="632901" y="0"/>
                </a:lnTo>
              </a:path>
            </a:pathLst>
          </a:custGeom>
          <a:ln w="9524">
            <a:solidFill>
              <a:srgbClr val="666666"/>
            </a:solidFill>
          </a:ln>
        </p:spPr>
        <p:txBody>
          <a:bodyPr wrap="square" lIns="0" tIns="0" rIns="0" bIns="0" rtlCol="0"/>
          <a:lstStyle/>
          <a:p>
            <a:endParaRPr/>
          </a:p>
        </p:txBody>
      </p:sp>
      <p:sp>
        <p:nvSpPr>
          <p:cNvPr id="12" name="object 12"/>
          <p:cNvSpPr/>
          <p:nvPr/>
        </p:nvSpPr>
        <p:spPr>
          <a:xfrm>
            <a:off x="2016803" y="2556494"/>
            <a:ext cx="44450" cy="39370"/>
          </a:xfrm>
          <a:custGeom>
            <a:avLst/>
            <a:gdLst/>
            <a:ahLst/>
            <a:cxnLst/>
            <a:rect l="l" t="t" r="r" b="b"/>
            <a:pathLst>
              <a:path w="44450" h="39369">
                <a:moveTo>
                  <a:pt x="19114" y="38774"/>
                </a:moveTo>
                <a:lnTo>
                  <a:pt x="43894" y="0"/>
                </a:lnTo>
                <a:lnTo>
                  <a:pt x="0" y="13774"/>
                </a:lnTo>
                <a:lnTo>
                  <a:pt x="19114" y="38774"/>
                </a:lnTo>
                <a:close/>
              </a:path>
            </a:pathLst>
          </a:custGeom>
          <a:ln w="9524">
            <a:solidFill>
              <a:srgbClr val="666666"/>
            </a:solidFill>
          </a:ln>
        </p:spPr>
        <p:txBody>
          <a:bodyPr wrap="square" lIns="0" tIns="0" rIns="0" bIns="0" rtlCol="0"/>
          <a:lstStyle/>
          <a:p>
            <a:endParaRPr/>
          </a:p>
        </p:txBody>
      </p:sp>
      <p:sp>
        <p:nvSpPr>
          <p:cNvPr id="13" name="object 13"/>
          <p:cNvSpPr/>
          <p:nvPr/>
        </p:nvSpPr>
        <p:spPr>
          <a:xfrm>
            <a:off x="2191445" y="2090520"/>
            <a:ext cx="622935" cy="622935"/>
          </a:xfrm>
          <a:custGeom>
            <a:avLst/>
            <a:gdLst/>
            <a:ahLst/>
            <a:cxnLst/>
            <a:rect l="l" t="t" r="r" b="b"/>
            <a:pathLst>
              <a:path w="622935" h="622935">
                <a:moveTo>
                  <a:pt x="0" y="311249"/>
                </a:moveTo>
                <a:lnTo>
                  <a:pt x="3374" y="265255"/>
                </a:lnTo>
                <a:lnTo>
                  <a:pt x="13178" y="221356"/>
                </a:lnTo>
                <a:lnTo>
                  <a:pt x="28928" y="180034"/>
                </a:lnTo>
                <a:lnTo>
                  <a:pt x="50144" y="141771"/>
                </a:lnTo>
                <a:lnTo>
                  <a:pt x="76344" y="107047"/>
                </a:lnTo>
                <a:lnTo>
                  <a:pt x="107047" y="76344"/>
                </a:lnTo>
                <a:lnTo>
                  <a:pt x="141771" y="50144"/>
                </a:lnTo>
                <a:lnTo>
                  <a:pt x="180034" y="28928"/>
                </a:lnTo>
                <a:lnTo>
                  <a:pt x="221356" y="13178"/>
                </a:lnTo>
                <a:lnTo>
                  <a:pt x="265255" y="3374"/>
                </a:lnTo>
                <a:lnTo>
                  <a:pt x="311249" y="0"/>
                </a:lnTo>
                <a:lnTo>
                  <a:pt x="360234" y="3877"/>
                </a:lnTo>
                <a:lnTo>
                  <a:pt x="407572" y="15278"/>
                </a:lnTo>
                <a:lnTo>
                  <a:pt x="452424" y="33857"/>
                </a:lnTo>
                <a:lnTo>
                  <a:pt x="493954" y="59267"/>
                </a:lnTo>
                <a:lnTo>
                  <a:pt x="531323" y="91162"/>
                </a:lnTo>
                <a:lnTo>
                  <a:pt x="563222" y="128541"/>
                </a:lnTo>
                <a:lnTo>
                  <a:pt x="588635" y="170076"/>
                </a:lnTo>
                <a:lnTo>
                  <a:pt x="607217" y="214929"/>
                </a:lnTo>
                <a:lnTo>
                  <a:pt x="618620" y="262265"/>
                </a:lnTo>
                <a:lnTo>
                  <a:pt x="622498" y="311249"/>
                </a:lnTo>
                <a:lnTo>
                  <a:pt x="619124" y="357243"/>
                </a:lnTo>
                <a:lnTo>
                  <a:pt x="609320" y="401142"/>
                </a:lnTo>
                <a:lnTo>
                  <a:pt x="593570" y="442464"/>
                </a:lnTo>
                <a:lnTo>
                  <a:pt x="572354" y="480728"/>
                </a:lnTo>
                <a:lnTo>
                  <a:pt x="546154" y="515452"/>
                </a:lnTo>
                <a:lnTo>
                  <a:pt x="515452" y="546154"/>
                </a:lnTo>
                <a:lnTo>
                  <a:pt x="480728" y="572354"/>
                </a:lnTo>
                <a:lnTo>
                  <a:pt x="442464" y="593570"/>
                </a:lnTo>
                <a:lnTo>
                  <a:pt x="401142" y="609320"/>
                </a:lnTo>
                <a:lnTo>
                  <a:pt x="357243" y="619124"/>
                </a:lnTo>
                <a:lnTo>
                  <a:pt x="311249" y="622498"/>
                </a:lnTo>
                <a:lnTo>
                  <a:pt x="265255" y="619124"/>
                </a:lnTo>
                <a:lnTo>
                  <a:pt x="221356" y="609320"/>
                </a:lnTo>
                <a:lnTo>
                  <a:pt x="180034" y="593570"/>
                </a:lnTo>
                <a:lnTo>
                  <a:pt x="141771" y="572354"/>
                </a:lnTo>
                <a:lnTo>
                  <a:pt x="107047" y="546154"/>
                </a:lnTo>
                <a:lnTo>
                  <a:pt x="76344" y="515452"/>
                </a:lnTo>
                <a:lnTo>
                  <a:pt x="50144" y="480728"/>
                </a:lnTo>
                <a:lnTo>
                  <a:pt x="28928" y="442464"/>
                </a:lnTo>
                <a:lnTo>
                  <a:pt x="13178" y="401142"/>
                </a:lnTo>
                <a:lnTo>
                  <a:pt x="3374" y="357243"/>
                </a:lnTo>
                <a:lnTo>
                  <a:pt x="0" y="311249"/>
                </a:lnTo>
                <a:close/>
              </a:path>
            </a:pathLst>
          </a:custGeom>
          <a:ln/>
        </p:spPr>
        <p:style>
          <a:lnRef idx="1">
            <a:schemeClr val="accent1"/>
          </a:lnRef>
          <a:fillRef idx="2">
            <a:schemeClr val="accent1"/>
          </a:fillRef>
          <a:effectRef idx="1">
            <a:schemeClr val="accent1"/>
          </a:effectRef>
          <a:fontRef idx="minor">
            <a:schemeClr val="dk1"/>
          </a:fontRef>
        </p:style>
        <p:txBody>
          <a:bodyPr wrap="square" lIns="0" tIns="0" rIns="0" bIns="0" rtlCol="0"/>
          <a:lstStyle/>
          <a:p>
            <a:endParaRPr/>
          </a:p>
        </p:txBody>
      </p:sp>
      <p:sp>
        <p:nvSpPr>
          <p:cNvPr id="14" name="object 14"/>
          <p:cNvSpPr txBox="1"/>
          <p:nvPr/>
        </p:nvSpPr>
        <p:spPr>
          <a:xfrm>
            <a:off x="2415855" y="2271933"/>
            <a:ext cx="156139" cy="461665"/>
          </a:xfrm>
          <a:prstGeom prst="rect">
            <a:avLst/>
          </a:prstGeom>
        </p:spPr>
        <p:txBody>
          <a:bodyPr vert="horz" wrap="square" lIns="0" tIns="0" rIns="0" bIns="0" rtlCol="0">
            <a:spAutoFit/>
          </a:bodyPr>
          <a:lstStyle/>
          <a:p>
            <a:pPr marL="12700">
              <a:lnSpc>
                <a:spcPct val="100000"/>
              </a:lnSpc>
            </a:pPr>
            <a:r>
              <a:rPr sz="3000" spc="-5" dirty="0">
                <a:latin typeface="Arial"/>
                <a:cs typeface="Arial"/>
              </a:rPr>
              <a:t>*</a:t>
            </a:r>
            <a:endParaRPr sz="3000" dirty="0">
              <a:latin typeface="Arial"/>
              <a:cs typeface="Arial"/>
            </a:endParaRPr>
          </a:p>
        </p:txBody>
      </p:sp>
      <p:sp>
        <p:nvSpPr>
          <p:cNvPr id="15" name="object 15"/>
          <p:cNvSpPr/>
          <p:nvPr/>
        </p:nvSpPr>
        <p:spPr>
          <a:xfrm>
            <a:off x="2942419" y="2401770"/>
            <a:ext cx="1189355" cy="0"/>
          </a:xfrm>
          <a:custGeom>
            <a:avLst/>
            <a:gdLst/>
            <a:ahLst/>
            <a:cxnLst/>
            <a:rect l="l" t="t" r="r" b="b"/>
            <a:pathLst>
              <a:path w="1189354">
                <a:moveTo>
                  <a:pt x="0" y="0"/>
                </a:moveTo>
                <a:lnTo>
                  <a:pt x="1189347" y="0"/>
                </a:lnTo>
              </a:path>
            </a:pathLst>
          </a:custGeom>
          <a:ln w="9524">
            <a:solidFill>
              <a:srgbClr val="666666"/>
            </a:solidFill>
          </a:ln>
        </p:spPr>
        <p:txBody>
          <a:bodyPr wrap="square" lIns="0" tIns="0" rIns="0" bIns="0" rtlCol="0"/>
          <a:lstStyle/>
          <a:p>
            <a:endParaRPr/>
          </a:p>
        </p:txBody>
      </p:sp>
      <p:sp>
        <p:nvSpPr>
          <p:cNvPr id="16" name="object 16"/>
          <p:cNvSpPr/>
          <p:nvPr/>
        </p:nvSpPr>
        <p:spPr>
          <a:xfrm>
            <a:off x="4131766" y="2386037"/>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17" name="object 17"/>
          <p:cNvSpPr/>
          <p:nvPr/>
        </p:nvSpPr>
        <p:spPr>
          <a:xfrm>
            <a:off x="3677417" y="1264259"/>
            <a:ext cx="4459815" cy="478124"/>
          </a:xfrm>
          <a:prstGeom prst="rect">
            <a:avLst/>
          </a:prstGeom>
          <a:blipFill>
            <a:blip r:embed="rId3" cstate="print"/>
            <a:stretch>
              <a:fillRect/>
            </a:stretch>
          </a:blipFill>
        </p:spPr>
        <p:txBody>
          <a:bodyPr wrap="square" lIns="0" tIns="0" rIns="0" bIns="0" rtlCol="0"/>
          <a:lstStyle/>
          <a:p>
            <a:endParaRPr/>
          </a:p>
        </p:txBody>
      </p:sp>
      <p:sp>
        <p:nvSpPr>
          <p:cNvPr id="18" name="object 18"/>
          <p:cNvSpPr/>
          <p:nvPr/>
        </p:nvSpPr>
        <p:spPr>
          <a:xfrm>
            <a:off x="3667892" y="1254734"/>
            <a:ext cx="4479290" cy="497205"/>
          </a:xfrm>
          <a:custGeom>
            <a:avLst/>
            <a:gdLst/>
            <a:ahLst/>
            <a:cxnLst/>
            <a:rect l="l" t="t" r="r" b="b"/>
            <a:pathLst>
              <a:path w="4479290" h="497205">
                <a:moveTo>
                  <a:pt x="0" y="0"/>
                </a:moveTo>
                <a:lnTo>
                  <a:pt x="4478865" y="0"/>
                </a:lnTo>
                <a:lnTo>
                  <a:pt x="4478865" y="497173"/>
                </a:lnTo>
                <a:lnTo>
                  <a:pt x="0" y="497173"/>
                </a:lnTo>
                <a:lnTo>
                  <a:pt x="0" y="0"/>
                </a:lnTo>
                <a:close/>
              </a:path>
            </a:pathLst>
          </a:custGeom>
          <a:ln w="19049">
            <a:solidFill>
              <a:srgbClr val="FF0000"/>
            </a:solidFill>
          </a:ln>
        </p:spPr>
        <p:txBody>
          <a:bodyPr wrap="square" lIns="0" tIns="0" rIns="0" bIns="0" rtlCol="0"/>
          <a:lstStyle/>
          <a:p>
            <a:endParaRPr/>
          </a:p>
        </p:txBody>
      </p:sp>
      <p:sp>
        <p:nvSpPr>
          <p:cNvPr id="19" name="object 19"/>
          <p:cNvSpPr/>
          <p:nvPr/>
        </p:nvSpPr>
        <p:spPr>
          <a:xfrm>
            <a:off x="4261791" y="2090520"/>
            <a:ext cx="622935" cy="622935"/>
          </a:xfrm>
          <a:custGeom>
            <a:avLst/>
            <a:gdLst/>
            <a:ahLst/>
            <a:cxnLst/>
            <a:rect l="l" t="t" r="r" b="b"/>
            <a:pathLst>
              <a:path w="622935" h="622935">
                <a:moveTo>
                  <a:pt x="0" y="311249"/>
                </a:moveTo>
                <a:lnTo>
                  <a:pt x="3374" y="265255"/>
                </a:lnTo>
                <a:lnTo>
                  <a:pt x="13177" y="221356"/>
                </a:lnTo>
                <a:lnTo>
                  <a:pt x="28928" y="180034"/>
                </a:lnTo>
                <a:lnTo>
                  <a:pt x="50143" y="141771"/>
                </a:lnTo>
                <a:lnTo>
                  <a:pt x="76343" y="107047"/>
                </a:lnTo>
                <a:lnTo>
                  <a:pt x="107046" y="76344"/>
                </a:lnTo>
                <a:lnTo>
                  <a:pt x="141770" y="50144"/>
                </a:lnTo>
                <a:lnTo>
                  <a:pt x="180033" y="28928"/>
                </a:lnTo>
                <a:lnTo>
                  <a:pt x="221355" y="13178"/>
                </a:lnTo>
                <a:lnTo>
                  <a:pt x="265254" y="3374"/>
                </a:lnTo>
                <a:lnTo>
                  <a:pt x="311249" y="0"/>
                </a:lnTo>
                <a:lnTo>
                  <a:pt x="360234" y="3877"/>
                </a:lnTo>
                <a:lnTo>
                  <a:pt x="407572" y="15278"/>
                </a:lnTo>
                <a:lnTo>
                  <a:pt x="452424" y="33857"/>
                </a:lnTo>
                <a:lnTo>
                  <a:pt x="493954" y="59267"/>
                </a:lnTo>
                <a:lnTo>
                  <a:pt x="531323" y="91162"/>
                </a:lnTo>
                <a:lnTo>
                  <a:pt x="563222" y="128541"/>
                </a:lnTo>
                <a:lnTo>
                  <a:pt x="588635" y="170076"/>
                </a:lnTo>
                <a:lnTo>
                  <a:pt x="607217" y="214929"/>
                </a:lnTo>
                <a:lnTo>
                  <a:pt x="618620" y="262265"/>
                </a:lnTo>
                <a:lnTo>
                  <a:pt x="622498" y="311249"/>
                </a:lnTo>
                <a:lnTo>
                  <a:pt x="619124" y="357243"/>
                </a:lnTo>
                <a:lnTo>
                  <a:pt x="609320" y="401142"/>
                </a:lnTo>
                <a:lnTo>
                  <a:pt x="593570" y="442464"/>
                </a:lnTo>
                <a:lnTo>
                  <a:pt x="572354" y="480728"/>
                </a:lnTo>
                <a:lnTo>
                  <a:pt x="546154" y="515452"/>
                </a:lnTo>
                <a:lnTo>
                  <a:pt x="515452" y="546154"/>
                </a:lnTo>
                <a:lnTo>
                  <a:pt x="480728" y="572354"/>
                </a:lnTo>
                <a:lnTo>
                  <a:pt x="442464" y="593570"/>
                </a:lnTo>
                <a:lnTo>
                  <a:pt x="401142" y="609320"/>
                </a:lnTo>
                <a:lnTo>
                  <a:pt x="357243" y="619124"/>
                </a:lnTo>
                <a:lnTo>
                  <a:pt x="311249" y="622498"/>
                </a:lnTo>
                <a:lnTo>
                  <a:pt x="265254" y="619124"/>
                </a:lnTo>
                <a:lnTo>
                  <a:pt x="221355" y="609320"/>
                </a:lnTo>
                <a:lnTo>
                  <a:pt x="180033" y="593570"/>
                </a:lnTo>
                <a:lnTo>
                  <a:pt x="141770" y="572354"/>
                </a:lnTo>
                <a:lnTo>
                  <a:pt x="107046" y="546154"/>
                </a:lnTo>
                <a:lnTo>
                  <a:pt x="76343" y="515452"/>
                </a:lnTo>
                <a:lnTo>
                  <a:pt x="50143" y="480728"/>
                </a:lnTo>
                <a:lnTo>
                  <a:pt x="28928" y="442464"/>
                </a:lnTo>
                <a:lnTo>
                  <a:pt x="13177" y="401142"/>
                </a:lnTo>
                <a:lnTo>
                  <a:pt x="3374" y="357243"/>
                </a:lnTo>
                <a:lnTo>
                  <a:pt x="0" y="311249"/>
                </a:lnTo>
                <a:close/>
              </a:path>
            </a:pathLst>
          </a:custGeom>
          <a:ln/>
        </p:spPr>
        <p:style>
          <a:lnRef idx="1">
            <a:schemeClr val="accent2"/>
          </a:lnRef>
          <a:fillRef idx="2">
            <a:schemeClr val="accent2"/>
          </a:fillRef>
          <a:effectRef idx="1">
            <a:schemeClr val="accent2"/>
          </a:effectRef>
          <a:fontRef idx="minor">
            <a:schemeClr val="dk1"/>
          </a:fontRef>
        </p:style>
        <p:txBody>
          <a:bodyPr wrap="square" lIns="0" tIns="0" rIns="0" bIns="0" rtlCol="0"/>
          <a:lstStyle/>
          <a:p>
            <a:endParaRPr/>
          </a:p>
        </p:txBody>
      </p:sp>
      <p:sp>
        <p:nvSpPr>
          <p:cNvPr id="20" name="object 20"/>
          <p:cNvSpPr txBox="1"/>
          <p:nvPr/>
        </p:nvSpPr>
        <p:spPr>
          <a:xfrm>
            <a:off x="4362743" y="2235397"/>
            <a:ext cx="480211" cy="425437"/>
          </a:xfrm>
          <a:prstGeom prst="rect">
            <a:avLst/>
          </a:prstGeom>
        </p:spPr>
        <p:txBody>
          <a:bodyPr vert="horz" wrap="square" lIns="0" tIns="0" rIns="0" bIns="0" rtlCol="0">
            <a:spAutoFit/>
          </a:bodyPr>
          <a:lstStyle/>
          <a:p>
            <a:pPr marL="46355" marR="5080" indent="-34290">
              <a:lnSpc>
                <a:spcPct val="101600"/>
              </a:lnSpc>
            </a:pPr>
            <a:r>
              <a:rPr lang="en-US" sz="1400" spc="-5" dirty="0">
                <a:latin typeface="Arial"/>
                <a:cs typeface="Arial"/>
              </a:rPr>
              <a:t>Loss Func</a:t>
            </a:r>
            <a:endParaRPr sz="1400" dirty="0">
              <a:latin typeface="Arial"/>
              <a:cs typeface="Arial"/>
            </a:endParaRPr>
          </a:p>
        </p:txBody>
      </p:sp>
      <p:sp>
        <p:nvSpPr>
          <p:cNvPr id="23" name="object 23"/>
          <p:cNvSpPr/>
          <p:nvPr/>
        </p:nvSpPr>
        <p:spPr>
          <a:xfrm>
            <a:off x="1455997" y="2661719"/>
            <a:ext cx="4798695" cy="668655"/>
          </a:xfrm>
          <a:custGeom>
            <a:avLst/>
            <a:gdLst/>
            <a:ahLst/>
            <a:cxnLst/>
            <a:rect l="l" t="t" r="r" b="b"/>
            <a:pathLst>
              <a:path w="4798695" h="668654">
                <a:moveTo>
                  <a:pt x="0" y="668248"/>
                </a:moveTo>
                <a:lnTo>
                  <a:pt x="4798190" y="668248"/>
                </a:lnTo>
                <a:lnTo>
                  <a:pt x="4798190" y="0"/>
                </a:lnTo>
              </a:path>
            </a:pathLst>
          </a:custGeom>
          <a:ln w="9524">
            <a:solidFill>
              <a:srgbClr val="666666"/>
            </a:solidFill>
          </a:ln>
        </p:spPr>
        <p:txBody>
          <a:bodyPr wrap="square" lIns="0" tIns="0" rIns="0" bIns="0" rtlCol="0"/>
          <a:lstStyle/>
          <a:p>
            <a:endParaRPr/>
          </a:p>
        </p:txBody>
      </p:sp>
      <p:sp>
        <p:nvSpPr>
          <p:cNvPr id="24" name="object 24"/>
          <p:cNvSpPr/>
          <p:nvPr/>
        </p:nvSpPr>
        <p:spPr>
          <a:xfrm>
            <a:off x="6238462" y="2618494"/>
            <a:ext cx="31750" cy="43815"/>
          </a:xfrm>
          <a:custGeom>
            <a:avLst/>
            <a:gdLst/>
            <a:ahLst/>
            <a:cxnLst/>
            <a:rect l="l" t="t" r="r" b="b"/>
            <a:pathLst>
              <a:path w="31750" h="43814">
                <a:moveTo>
                  <a:pt x="31449" y="43224"/>
                </a:moveTo>
                <a:lnTo>
                  <a:pt x="15724" y="0"/>
                </a:lnTo>
                <a:lnTo>
                  <a:pt x="0" y="43224"/>
                </a:lnTo>
                <a:lnTo>
                  <a:pt x="31449" y="43224"/>
                </a:lnTo>
                <a:close/>
              </a:path>
            </a:pathLst>
          </a:custGeom>
          <a:ln w="9524">
            <a:solidFill>
              <a:srgbClr val="666666"/>
            </a:solidFill>
          </a:ln>
        </p:spPr>
        <p:txBody>
          <a:bodyPr wrap="square" lIns="0" tIns="0" rIns="0" bIns="0" rtlCol="0"/>
          <a:lstStyle/>
          <a:p>
            <a:endParaRPr/>
          </a:p>
        </p:txBody>
      </p:sp>
      <p:sp>
        <p:nvSpPr>
          <p:cNvPr id="25" name="object 25"/>
          <p:cNvSpPr/>
          <p:nvPr/>
        </p:nvSpPr>
        <p:spPr>
          <a:xfrm>
            <a:off x="4447640" y="2984968"/>
            <a:ext cx="622935" cy="622935"/>
          </a:xfrm>
          <a:custGeom>
            <a:avLst/>
            <a:gdLst/>
            <a:ahLst/>
            <a:cxnLst/>
            <a:rect l="l" t="t" r="r" b="b"/>
            <a:pathLst>
              <a:path w="622935" h="622935">
                <a:moveTo>
                  <a:pt x="0" y="311249"/>
                </a:moveTo>
                <a:lnTo>
                  <a:pt x="3374" y="265254"/>
                </a:lnTo>
                <a:lnTo>
                  <a:pt x="13177" y="221355"/>
                </a:lnTo>
                <a:lnTo>
                  <a:pt x="28928" y="180033"/>
                </a:lnTo>
                <a:lnTo>
                  <a:pt x="50143" y="141770"/>
                </a:lnTo>
                <a:lnTo>
                  <a:pt x="76343" y="107046"/>
                </a:lnTo>
                <a:lnTo>
                  <a:pt x="107046" y="76343"/>
                </a:lnTo>
                <a:lnTo>
                  <a:pt x="141770" y="50143"/>
                </a:lnTo>
                <a:lnTo>
                  <a:pt x="180033" y="28928"/>
                </a:lnTo>
                <a:lnTo>
                  <a:pt x="221355" y="13177"/>
                </a:lnTo>
                <a:lnTo>
                  <a:pt x="265254" y="3374"/>
                </a:lnTo>
                <a:lnTo>
                  <a:pt x="311249" y="0"/>
                </a:lnTo>
                <a:lnTo>
                  <a:pt x="360234" y="3878"/>
                </a:lnTo>
                <a:lnTo>
                  <a:pt x="407572" y="15281"/>
                </a:lnTo>
                <a:lnTo>
                  <a:pt x="452424" y="33863"/>
                </a:lnTo>
                <a:lnTo>
                  <a:pt x="493954" y="59276"/>
                </a:lnTo>
                <a:lnTo>
                  <a:pt x="531323" y="91174"/>
                </a:lnTo>
                <a:lnTo>
                  <a:pt x="563222" y="128544"/>
                </a:lnTo>
                <a:lnTo>
                  <a:pt x="588635" y="170073"/>
                </a:lnTo>
                <a:lnTo>
                  <a:pt x="607217" y="214926"/>
                </a:lnTo>
                <a:lnTo>
                  <a:pt x="618620" y="262264"/>
                </a:lnTo>
                <a:lnTo>
                  <a:pt x="622498" y="311249"/>
                </a:lnTo>
                <a:lnTo>
                  <a:pt x="619124" y="357243"/>
                </a:lnTo>
                <a:lnTo>
                  <a:pt x="609320" y="401142"/>
                </a:lnTo>
                <a:lnTo>
                  <a:pt x="593570" y="442464"/>
                </a:lnTo>
                <a:lnTo>
                  <a:pt x="572354" y="480728"/>
                </a:lnTo>
                <a:lnTo>
                  <a:pt x="546154" y="515452"/>
                </a:lnTo>
                <a:lnTo>
                  <a:pt x="515452" y="546154"/>
                </a:lnTo>
                <a:lnTo>
                  <a:pt x="480728" y="572354"/>
                </a:lnTo>
                <a:lnTo>
                  <a:pt x="442464" y="593570"/>
                </a:lnTo>
                <a:lnTo>
                  <a:pt x="401142" y="609320"/>
                </a:lnTo>
                <a:lnTo>
                  <a:pt x="357243" y="619124"/>
                </a:lnTo>
                <a:lnTo>
                  <a:pt x="311249" y="622498"/>
                </a:lnTo>
                <a:lnTo>
                  <a:pt x="265254" y="619124"/>
                </a:lnTo>
                <a:lnTo>
                  <a:pt x="221355" y="609320"/>
                </a:lnTo>
                <a:lnTo>
                  <a:pt x="180033" y="593570"/>
                </a:lnTo>
                <a:lnTo>
                  <a:pt x="141770" y="572354"/>
                </a:lnTo>
                <a:lnTo>
                  <a:pt x="107046" y="546154"/>
                </a:lnTo>
                <a:lnTo>
                  <a:pt x="76343" y="515452"/>
                </a:lnTo>
                <a:lnTo>
                  <a:pt x="50143" y="480728"/>
                </a:lnTo>
                <a:lnTo>
                  <a:pt x="28928" y="442464"/>
                </a:lnTo>
                <a:lnTo>
                  <a:pt x="13177" y="401142"/>
                </a:lnTo>
                <a:lnTo>
                  <a:pt x="3374" y="357243"/>
                </a:lnTo>
                <a:lnTo>
                  <a:pt x="0" y="311249"/>
                </a:lnTo>
                <a:close/>
              </a:path>
            </a:pathLst>
          </a:custGeom>
          <a:ln/>
        </p:spPr>
        <p:style>
          <a:lnRef idx="1">
            <a:schemeClr val="accent1"/>
          </a:lnRef>
          <a:fillRef idx="2">
            <a:schemeClr val="accent1"/>
          </a:fillRef>
          <a:effectRef idx="1">
            <a:schemeClr val="accent1"/>
          </a:effectRef>
          <a:fontRef idx="minor">
            <a:schemeClr val="dk1"/>
          </a:fontRef>
        </p:style>
        <p:txBody>
          <a:bodyPr wrap="square" lIns="0" tIns="0" rIns="0" bIns="0" rtlCol="0"/>
          <a:lstStyle/>
          <a:p>
            <a:endParaRPr/>
          </a:p>
        </p:txBody>
      </p:sp>
      <p:sp>
        <p:nvSpPr>
          <p:cNvPr id="26" name="object 26"/>
          <p:cNvSpPr txBox="1"/>
          <p:nvPr/>
        </p:nvSpPr>
        <p:spPr>
          <a:xfrm>
            <a:off x="4663648" y="3148960"/>
            <a:ext cx="190500"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R</a:t>
            </a:r>
            <a:endParaRPr sz="1800">
              <a:latin typeface="Arial"/>
              <a:cs typeface="Arial"/>
            </a:endParaRPr>
          </a:p>
        </p:txBody>
      </p:sp>
      <p:sp>
        <p:nvSpPr>
          <p:cNvPr id="27" name="object 27"/>
          <p:cNvSpPr/>
          <p:nvPr/>
        </p:nvSpPr>
        <p:spPr>
          <a:xfrm>
            <a:off x="5176189" y="3512568"/>
            <a:ext cx="811198" cy="405599"/>
          </a:xfrm>
          <a:prstGeom prst="rect">
            <a:avLst/>
          </a:prstGeom>
          <a:blipFill>
            <a:blip r:embed="rId4" cstate="print"/>
            <a:stretch>
              <a:fillRect/>
            </a:stretch>
          </a:blipFill>
        </p:spPr>
        <p:txBody>
          <a:bodyPr wrap="square" lIns="0" tIns="0" rIns="0" bIns="0" rtlCol="0"/>
          <a:lstStyle/>
          <a:p>
            <a:endParaRPr/>
          </a:p>
        </p:txBody>
      </p:sp>
      <p:sp>
        <p:nvSpPr>
          <p:cNvPr id="28" name="object 28"/>
          <p:cNvSpPr/>
          <p:nvPr/>
        </p:nvSpPr>
        <p:spPr>
          <a:xfrm>
            <a:off x="5166664" y="3503042"/>
            <a:ext cx="830580" cy="424815"/>
          </a:xfrm>
          <a:custGeom>
            <a:avLst/>
            <a:gdLst/>
            <a:ahLst/>
            <a:cxnLst/>
            <a:rect l="l" t="t" r="r" b="b"/>
            <a:pathLst>
              <a:path w="830579" h="424814">
                <a:moveTo>
                  <a:pt x="0" y="0"/>
                </a:moveTo>
                <a:lnTo>
                  <a:pt x="830248" y="0"/>
                </a:lnTo>
                <a:lnTo>
                  <a:pt x="830248" y="424649"/>
                </a:lnTo>
                <a:lnTo>
                  <a:pt x="0" y="424649"/>
                </a:lnTo>
                <a:lnTo>
                  <a:pt x="0" y="0"/>
                </a:lnTo>
                <a:close/>
              </a:path>
            </a:pathLst>
          </a:custGeom>
          <a:ln w="19049">
            <a:solidFill>
              <a:srgbClr val="38751C"/>
            </a:solidFill>
          </a:ln>
        </p:spPr>
        <p:txBody>
          <a:bodyPr wrap="square" lIns="0" tIns="0" rIns="0" bIns="0" rtlCol="0"/>
          <a:lstStyle/>
          <a:p>
            <a:endParaRPr/>
          </a:p>
        </p:txBody>
      </p:sp>
      <p:sp>
        <p:nvSpPr>
          <p:cNvPr id="29" name="object 29"/>
          <p:cNvSpPr/>
          <p:nvPr/>
        </p:nvSpPr>
        <p:spPr>
          <a:xfrm>
            <a:off x="6051387" y="2198970"/>
            <a:ext cx="405765" cy="405765"/>
          </a:xfrm>
          <a:custGeom>
            <a:avLst/>
            <a:gdLst/>
            <a:ahLst/>
            <a:cxnLst/>
            <a:rect l="l" t="t" r="r" b="b"/>
            <a:pathLst>
              <a:path w="405764" h="405764">
                <a:moveTo>
                  <a:pt x="0" y="202799"/>
                </a:moveTo>
                <a:lnTo>
                  <a:pt x="5356" y="156299"/>
                </a:lnTo>
                <a:lnTo>
                  <a:pt x="20613" y="113613"/>
                </a:lnTo>
                <a:lnTo>
                  <a:pt x="44553" y="75959"/>
                </a:lnTo>
                <a:lnTo>
                  <a:pt x="75960" y="44553"/>
                </a:lnTo>
                <a:lnTo>
                  <a:pt x="113614" y="20612"/>
                </a:lnTo>
                <a:lnTo>
                  <a:pt x="156300" y="5356"/>
                </a:lnTo>
                <a:lnTo>
                  <a:pt x="202799" y="0"/>
                </a:lnTo>
                <a:lnTo>
                  <a:pt x="242544" y="3932"/>
                </a:lnTo>
                <a:lnTo>
                  <a:pt x="280405" y="15437"/>
                </a:lnTo>
                <a:lnTo>
                  <a:pt x="315313" y="34073"/>
                </a:lnTo>
                <a:lnTo>
                  <a:pt x="346199" y="59399"/>
                </a:lnTo>
                <a:lnTo>
                  <a:pt x="371522" y="90286"/>
                </a:lnTo>
                <a:lnTo>
                  <a:pt x="390158" y="125191"/>
                </a:lnTo>
                <a:lnTo>
                  <a:pt x="401665" y="163050"/>
                </a:lnTo>
                <a:lnTo>
                  <a:pt x="405599" y="202799"/>
                </a:lnTo>
                <a:lnTo>
                  <a:pt x="400242" y="249298"/>
                </a:lnTo>
                <a:lnTo>
                  <a:pt x="384985" y="291984"/>
                </a:lnTo>
                <a:lnTo>
                  <a:pt x="361045" y="329638"/>
                </a:lnTo>
                <a:lnTo>
                  <a:pt x="329638" y="361045"/>
                </a:lnTo>
                <a:lnTo>
                  <a:pt x="291984" y="384985"/>
                </a:lnTo>
                <a:lnTo>
                  <a:pt x="249298" y="400242"/>
                </a:lnTo>
                <a:lnTo>
                  <a:pt x="202799" y="405599"/>
                </a:lnTo>
                <a:lnTo>
                  <a:pt x="156300" y="400242"/>
                </a:lnTo>
                <a:lnTo>
                  <a:pt x="113614" y="384985"/>
                </a:lnTo>
                <a:lnTo>
                  <a:pt x="75960" y="361045"/>
                </a:lnTo>
                <a:lnTo>
                  <a:pt x="44553" y="329638"/>
                </a:lnTo>
                <a:lnTo>
                  <a:pt x="20613" y="291984"/>
                </a:lnTo>
                <a:lnTo>
                  <a:pt x="5356" y="249298"/>
                </a:lnTo>
                <a:lnTo>
                  <a:pt x="0" y="202799"/>
                </a:lnTo>
                <a:close/>
              </a:path>
            </a:pathLst>
          </a:custGeom>
          <a:ln w="9524">
            <a:solidFill>
              <a:srgbClr val="666666"/>
            </a:solidFill>
          </a:ln>
        </p:spPr>
        <p:txBody>
          <a:bodyPr wrap="square" lIns="0" tIns="0" rIns="0" bIns="0" rtlCol="0"/>
          <a:lstStyle/>
          <a:p>
            <a:endParaRPr/>
          </a:p>
        </p:txBody>
      </p:sp>
      <p:sp>
        <p:nvSpPr>
          <p:cNvPr id="30" name="object 30"/>
          <p:cNvSpPr txBox="1"/>
          <p:nvPr/>
        </p:nvSpPr>
        <p:spPr>
          <a:xfrm>
            <a:off x="6208115" y="2271933"/>
            <a:ext cx="97284" cy="215444"/>
          </a:xfrm>
          <a:prstGeom prst="rect">
            <a:avLst/>
          </a:prstGeom>
        </p:spPr>
        <p:txBody>
          <a:bodyPr vert="horz" wrap="square" lIns="0" tIns="0" rIns="0" bIns="0" rtlCol="0">
            <a:spAutoFit/>
          </a:bodyPr>
          <a:lstStyle/>
          <a:p>
            <a:pPr marL="12700">
              <a:lnSpc>
                <a:spcPct val="100000"/>
              </a:lnSpc>
            </a:pPr>
            <a:r>
              <a:rPr sz="1400" spc="-5" dirty="0">
                <a:latin typeface="Arial"/>
                <a:cs typeface="Arial"/>
              </a:rPr>
              <a:t>+</a:t>
            </a:r>
            <a:endParaRPr sz="1400" dirty="0">
              <a:latin typeface="Arial"/>
              <a:cs typeface="Arial"/>
            </a:endParaRPr>
          </a:p>
        </p:txBody>
      </p:sp>
      <p:sp>
        <p:nvSpPr>
          <p:cNvPr id="31" name="object 31"/>
          <p:cNvSpPr/>
          <p:nvPr/>
        </p:nvSpPr>
        <p:spPr>
          <a:xfrm>
            <a:off x="6508912" y="2401770"/>
            <a:ext cx="754380" cy="0"/>
          </a:xfrm>
          <a:custGeom>
            <a:avLst/>
            <a:gdLst/>
            <a:ahLst/>
            <a:cxnLst/>
            <a:rect l="l" t="t" r="r" b="b"/>
            <a:pathLst>
              <a:path w="754379">
                <a:moveTo>
                  <a:pt x="0" y="0"/>
                </a:moveTo>
                <a:lnTo>
                  <a:pt x="754023" y="0"/>
                </a:lnTo>
              </a:path>
            </a:pathLst>
          </a:custGeom>
          <a:ln w="9524">
            <a:solidFill>
              <a:srgbClr val="666666"/>
            </a:solidFill>
          </a:ln>
        </p:spPr>
        <p:txBody>
          <a:bodyPr wrap="square" lIns="0" tIns="0" rIns="0" bIns="0" rtlCol="0"/>
          <a:lstStyle/>
          <a:p>
            <a:endParaRPr/>
          </a:p>
        </p:txBody>
      </p:sp>
      <p:sp>
        <p:nvSpPr>
          <p:cNvPr id="32" name="object 32"/>
          <p:cNvSpPr/>
          <p:nvPr/>
        </p:nvSpPr>
        <p:spPr>
          <a:xfrm>
            <a:off x="7262935" y="2386037"/>
            <a:ext cx="43815" cy="31750"/>
          </a:xfrm>
          <a:custGeom>
            <a:avLst/>
            <a:gdLst/>
            <a:ahLst/>
            <a:cxnLst/>
            <a:rect l="l" t="t" r="r" b="b"/>
            <a:pathLst>
              <a:path w="43815"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33" name="object 33"/>
          <p:cNvSpPr txBox="1"/>
          <p:nvPr/>
        </p:nvSpPr>
        <p:spPr>
          <a:xfrm>
            <a:off x="7510263" y="2275555"/>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L</a:t>
            </a:r>
            <a:endParaRPr sz="1800">
              <a:latin typeface="Arial"/>
              <a:cs typeface="Arial"/>
            </a:endParaRPr>
          </a:p>
        </p:txBody>
      </p:sp>
      <p:sp>
        <p:nvSpPr>
          <p:cNvPr id="34" name="object 34"/>
          <p:cNvSpPr txBox="1"/>
          <p:nvPr/>
        </p:nvSpPr>
        <p:spPr>
          <a:xfrm>
            <a:off x="3145821" y="2124654"/>
            <a:ext cx="815975" cy="224790"/>
          </a:xfrm>
          <a:prstGeom prst="rect">
            <a:avLst/>
          </a:prstGeom>
        </p:spPr>
        <p:txBody>
          <a:bodyPr vert="horz" wrap="square" lIns="0" tIns="0" rIns="0" bIns="0" rtlCol="0">
            <a:spAutoFit/>
          </a:bodyPr>
          <a:lstStyle/>
          <a:p>
            <a:pPr marL="12700">
              <a:lnSpc>
                <a:spcPct val="100000"/>
              </a:lnSpc>
            </a:pPr>
            <a:r>
              <a:rPr sz="1400" b="1" spc="-5" dirty="0">
                <a:latin typeface="Arial"/>
                <a:cs typeface="Arial"/>
              </a:rPr>
              <a:t>s</a:t>
            </a:r>
            <a:r>
              <a:rPr sz="1400" b="1" spc="-105" dirty="0">
                <a:latin typeface="Arial"/>
                <a:cs typeface="Arial"/>
              </a:rPr>
              <a:t> </a:t>
            </a:r>
            <a:r>
              <a:rPr sz="1400" dirty="0">
                <a:latin typeface="Arial"/>
                <a:cs typeface="Arial"/>
              </a:rPr>
              <a:t>(scores)</a:t>
            </a:r>
            <a:endParaRPr sz="1400">
              <a:latin typeface="Arial"/>
              <a:cs typeface="Arial"/>
            </a:endParaRPr>
          </a:p>
        </p:txBody>
      </p:sp>
      <p:sp>
        <p:nvSpPr>
          <p:cNvPr id="36" name="Slide Number Placeholder 35">
            <a:extLst>
              <a:ext uri="{FF2B5EF4-FFF2-40B4-BE49-F238E27FC236}">
                <a16:creationId xmlns:a16="http://schemas.microsoft.com/office/drawing/2014/main" id="{71456E0A-3471-C68E-7B73-14C3BEBDAB78}"/>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41</a:t>
            </a:fld>
            <a:endParaRPr lang="en-US" altLang="zh-CN" spc="-5" dirty="0"/>
          </a:p>
        </p:txBody>
      </p:sp>
      <p:sp>
        <p:nvSpPr>
          <p:cNvPr id="2" name="Slide Number Placeholder 1">
            <a:extLst>
              <a:ext uri="{FF2B5EF4-FFF2-40B4-BE49-F238E27FC236}">
                <a16:creationId xmlns:a16="http://schemas.microsoft.com/office/drawing/2014/main" id="{11A2F33F-5AC3-7E47-9524-9264C0F192DC}"/>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41</a:t>
            </a:fld>
            <a:endParaRPr lang="en" sz="1000" dirty="0">
              <a:latin typeface="Lato" panose="020F0502020204030203" pitchFamily="34" charset="0"/>
              <a:ea typeface="Lato" panose="020F0502020204030203" pitchFamily="34" charset="0"/>
              <a:cs typeface="Lato" panose="020F0502020204030203" pitchFamily="34" charset="0"/>
            </a:endParaRPr>
          </a:p>
        </p:txBody>
      </p:sp>
      <p:sp>
        <p:nvSpPr>
          <p:cNvPr id="3" name="TextBox 2">
            <a:extLst>
              <a:ext uri="{FF2B5EF4-FFF2-40B4-BE49-F238E27FC236}">
                <a16:creationId xmlns:a16="http://schemas.microsoft.com/office/drawing/2014/main" id="{850A62B5-576F-8346-5CAE-7B9415C955A6}"/>
              </a:ext>
            </a:extLst>
          </p:cNvPr>
          <p:cNvSpPr txBox="1"/>
          <p:nvPr/>
        </p:nvSpPr>
        <p:spPr>
          <a:xfrm>
            <a:off x="5132243" y="845575"/>
            <a:ext cx="1468672" cy="400110"/>
          </a:xfrm>
          <a:prstGeom prst="rect">
            <a:avLst/>
          </a:prstGeom>
          <a:noFill/>
        </p:spPr>
        <p:txBody>
          <a:bodyPr wrap="none" rtlCol="0">
            <a:spAutoFit/>
          </a:bodyPr>
          <a:lstStyle/>
          <a:p>
            <a:r>
              <a:rPr lang="en-US" altLang="zh-CN" sz="2000" dirty="0"/>
              <a:t>Hinge Loss</a:t>
            </a:r>
            <a:endParaRPr lang="zh-CN" altLang="en-US" sz="2000" dirty="0"/>
          </a:p>
        </p:txBody>
      </p:sp>
      <p:sp>
        <p:nvSpPr>
          <p:cNvPr id="35" name="TextBox 34">
            <a:extLst>
              <a:ext uri="{FF2B5EF4-FFF2-40B4-BE49-F238E27FC236}">
                <a16:creationId xmlns:a16="http://schemas.microsoft.com/office/drawing/2014/main" id="{4358E5E3-CA3D-EBE2-6D73-124A45766FD5}"/>
              </a:ext>
            </a:extLst>
          </p:cNvPr>
          <p:cNvSpPr txBox="1"/>
          <p:nvPr/>
        </p:nvSpPr>
        <p:spPr>
          <a:xfrm>
            <a:off x="1420513" y="845575"/>
            <a:ext cx="2209259" cy="400110"/>
          </a:xfrm>
          <a:prstGeom prst="rect">
            <a:avLst/>
          </a:prstGeom>
          <a:noFill/>
        </p:spPr>
        <p:txBody>
          <a:bodyPr wrap="none" rtlCol="0">
            <a:spAutoFit/>
          </a:bodyPr>
          <a:lstStyle/>
          <a:p>
            <a:r>
              <a:rPr lang="en-US" altLang="zh-CN" sz="2000" dirty="0"/>
              <a:t>Feature Encoding</a:t>
            </a:r>
            <a:endParaRPr lang="zh-CN" altLang="en-US" sz="2000" dirty="0"/>
          </a:p>
        </p:txBody>
      </p:sp>
      <p:sp>
        <p:nvSpPr>
          <p:cNvPr id="37" name="TextBox 36">
            <a:extLst>
              <a:ext uri="{FF2B5EF4-FFF2-40B4-BE49-F238E27FC236}">
                <a16:creationId xmlns:a16="http://schemas.microsoft.com/office/drawing/2014/main" id="{E289DC89-A74C-9E7D-C2A5-05A18C579F7C}"/>
              </a:ext>
            </a:extLst>
          </p:cNvPr>
          <p:cNvSpPr txBox="1"/>
          <p:nvPr/>
        </p:nvSpPr>
        <p:spPr>
          <a:xfrm>
            <a:off x="3701685" y="3939794"/>
            <a:ext cx="3874779" cy="400110"/>
          </a:xfrm>
          <a:prstGeom prst="rect">
            <a:avLst/>
          </a:prstGeom>
          <a:noFill/>
        </p:spPr>
        <p:txBody>
          <a:bodyPr wrap="none" rtlCol="0">
            <a:spAutoFit/>
          </a:bodyPr>
          <a:lstStyle/>
          <a:p>
            <a:r>
              <a:rPr lang="en-US" altLang="zh-CN" sz="2000" dirty="0"/>
              <a:t>Weight Regularization (L2 or L1)</a:t>
            </a:r>
            <a:endParaRPr lang="zh-CN" altLang="en-US" sz="2000" dirty="0"/>
          </a:p>
        </p:txBody>
      </p:sp>
      <p:sp>
        <p:nvSpPr>
          <p:cNvPr id="38" name="object 15">
            <a:extLst>
              <a:ext uri="{FF2B5EF4-FFF2-40B4-BE49-F238E27FC236}">
                <a16:creationId xmlns:a16="http://schemas.microsoft.com/office/drawing/2014/main" id="{B830B8A7-3597-6B1B-A96B-14F6B7E65CFF}"/>
              </a:ext>
            </a:extLst>
          </p:cNvPr>
          <p:cNvSpPr/>
          <p:nvPr/>
        </p:nvSpPr>
        <p:spPr>
          <a:xfrm flipV="1">
            <a:off x="5041454" y="2378506"/>
            <a:ext cx="860161" cy="45719"/>
          </a:xfrm>
          <a:custGeom>
            <a:avLst/>
            <a:gdLst/>
            <a:ahLst/>
            <a:cxnLst/>
            <a:rect l="l" t="t" r="r" b="b"/>
            <a:pathLst>
              <a:path w="1189354">
                <a:moveTo>
                  <a:pt x="0" y="0"/>
                </a:moveTo>
                <a:lnTo>
                  <a:pt x="1189347" y="0"/>
                </a:lnTo>
              </a:path>
            </a:pathLst>
          </a:custGeom>
          <a:ln w="9524">
            <a:solidFill>
              <a:srgbClr val="666666"/>
            </a:solidFill>
          </a:ln>
        </p:spPr>
        <p:txBody>
          <a:bodyPr wrap="square" lIns="0" tIns="0" rIns="0" bIns="0" rtlCol="0"/>
          <a:lstStyle/>
          <a:p>
            <a:endParaRPr/>
          </a:p>
        </p:txBody>
      </p:sp>
      <p:sp>
        <p:nvSpPr>
          <p:cNvPr id="39" name="object 16">
            <a:extLst>
              <a:ext uri="{FF2B5EF4-FFF2-40B4-BE49-F238E27FC236}">
                <a16:creationId xmlns:a16="http://schemas.microsoft.com/office/drawing/2014/main" id="{980E98A5-91CC-9E13-CCEB-4724714E7FD6}"/>
              </a:ext>
            </a:extLst>
          </p:cNvPr>
          <p:cNvSpPr/>
          <p:nvPr/>
        </p:nvSpPr>
        <p:spPr>
          <a:xfrm>
            <a:off x="5901607" y="2405636"/>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7" name="object 7"/>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8" name="object 8"/>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9" name="object 9"/>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8470558" y="1399922"/>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4702040" y="2011920"/>
            <a:ext cx="375285" cy="158115"/>
          </a:xfrm>
          <a:custGeom>
            <a:avLst/>
            <a:gdLst/>
            <a:ahLst/>
            <a:cxnLst/>
            <a:rect l="l" t="t" r="r" b="b"/>
            <a:pathLst>
              <a:path w="375285" h="158114">
                <a:moveTo>
                  <a:pt x="0" y="0"/>
                </a:moveTo>
                <a:lnTo>
                  <a:pt x="374999" y="0"/>
                </a:lnTo>
                <a:lnTo>
                  <a:pt x="374999" y="158099"/>
                </a:lnTo>
                <a:lnTo>
                  <a:pt x="0" y="158099"/>
                </a:lnTo>
                <a:lnTo>
                  <a:pt x="0" y="0"/>
                </a:lnTo>
                <a:close/>
              </a:path>
            </a:pathLst>
          </a:custGeom>
          <a:solidFill>
            <a:srgbClr val="FFFFFF"/>
          </a:solidFill>
        </p:spPr>
        <p:txBody>
          <a:bodyPr wrap="square" lIns="0" tIns="0" rIns="0" bIns="0" rtlCol="0"/>
          <a:lstStyle/>
          <a:p>
            <a:endParaRPr/>
          </a:p>
        </p:txBody>
      </p:sp>
      <p:sp>
        <p:nvSpPr>
          <p:cNvPr id="12" name="object 12"/>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3" name="object 13"/>
          <p:cNvSpPr/>
          <p:nvPr/>
        </p:nvSpPr>
        <p:spPr>
          <a:xfrm>
            <a:off x="6434287" y="517748"/>
            <a:ext cx="244475" cy="263525"/>
          </a:xfrm>
          <a:custGeom>
            <a:avLst/>
            <a:gdLst/>
            <a:ahLst/>
            <a:cxnLst/>
            <a:rect l="l" t="t" r="r" b="b"/>
            <a:pathLst>
              <a:path w="244475" h="263525">
                <a:moveTo>
                  <a:pt x="0" y="0"/>
                </a:moveTo>
                <a:lnTo>
                  <a:pt x="244199" y="0"/>
                </a:lnTo>
                <a:lnTo>
                  <a:pt x="244199" y="263399"/>
                </a:lnTo>
                <a:lnTo>
                  <a:pt x="0" y="263399"/>
                </a:lnTo>
                <a:lnTo>
                  <a:pt x="0" y="0"/>
                </a:lnTo>
                <a:close/>
              </a:path>
            </a:pathLst>
          </a:custGeom>
          <a:solidFill>
            <a:srgbClr val="FFFFFF"/>
          </a:solidFill>
        </p:spPr>
        <p:txBody>
          <a:bodyPr wrap="square" lIns="0" tIns="0" rIns="0" bIns="0" rtlCol="0"/>
          <a:lstStyle/>
          <a:p>
            <a:endParaRPr/>
          </a:p>
        </p:txBody>
      </p:sp>
      <p:sp>
        <p:nvSpPr>
          <p:cNvPr id="15" name="Slide Number Placeholder 14">
            <a:extLst>
              <a:ext uri="{FF2B5EF4-FFF2-40B4-BE49-F238E27FC236}">
                <a16:creationId xmlns:a16="http://schemas.microsoft.com/office/drawing/2014/main" id="{0B764664-52F3-EB3A-3572-6B84E34C79ED}"/>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42</a:t>
            </a:fld>
            <a:endParaRPr lang="en-US" altLang="zh-CN" spc="-5" dirty="0"/>
          </a:p>
        </p:txBody>
      </p:sp>
      <p:sp>
        <p:nvSpPr>
          <p:cNvPr id="2" name="Slide Number Placeholder 1">
            <a:extLst>
              <a:ext uri="{FF2B5EF4-FFF2-40B4-BE49-F238E27FC236}">
                <a16:creationId xmlns:a16="http://schemas.microsoft.com/office/drawing/2014/main" id="{068FEA5B-D97F-776A-F5CB-6C3E54CAA4B4}"/>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42</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8470558" y="1399922"/>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4702040" y="2011920"/>
            <a:ext cx="375285" cy="158115"/>
          </a:xfrm>
          <a:custGeom>
            <a:avLst/>
            <a:gdLst/>
            <a:ahLst/>
            <a:cxnLst/>
            <a:rect l="l" t="t" r="r" b="b"/>
            <a:pathLst>
              <a:path w="375285" h="158114">
                <a:moveTo>
                  <a:pt x="0" y="0"/>
                </a:moveTo>
                <a:lnTo>
                  <a:pt x="374999" y="0"/>
                </a:lnTo>
                <a:lnTo>
                  <a:pt x="374999" y="158099"/>
                </a:lnTo>
                <a:lnTo>
                  <a:pt x="0" y="158099"/>
                </a:lnTo>
                <a:lnTo>
                  <a:pt x="0" y="0"/>
                </a:lnTo>
                <a:close/>
              </a:path>
            </a:pathLst>
          </a:custGeom>
          <a:solidFill>
            <a:srgbClr val="FFFFFF"/>
          </a:solidFill>
        </p:spPr>
        <p:txBody>
          <a:bodyPr wrap="square" lIns="0" tIns="0" rIns="0" bIns="0" rtlCol="0"/>
          <a:lstStyle/>
          <a:p>
            <a:endParaRPr/>
          </a:p>
        </p:txBody>
      </p:sp>
      <p:sp>
        <p:nvSpPr>
          <p:cNvPr id="14" name="object 14"/>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5" name="object 15"/>
          <p:cNvSpPr/>
          <p:nvPr/>
        </p:nvSpPr>
        <p:spPr>
          <a:xfrm>
            <a:off x="207186" y="1769746"/>
            <a:ext cx="1409697" cy="390524"/>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252999" y="2663619"/>
            <a:ext cx="942973" cy="457199"/>
          </a:xfrm>
          <a:prstGeom prst="rect">
            <a:avLst/>
          </a:prstGeom>
          <a:blipFill>
            <a:blip r:embed="rId5" cstate="print"/>
            <a:stretch>
              <a:fillRect/>
            </a:stretch>
          </a:blipFill>
        </p:spPr>
        <p:txBody>
          <a:bodyPr wrap="square" lIns="0" tIns="0" rIns="0" bIns="0" rtlCol="0"/>
          <a:lstStyle/>
          <a:p>
            <a:endParaRPr/>
          </a:p>
        </p:txBody>
      </p:sp>
      <p:sp>
        <p:nvSpPr>
          <p:cNvPr id="17" name="object 17"/>
          <p:cNvSpPr/>
          <p:nvPr/>
        </p:nvSpPr>
        <p:spPr>
          <a:xfrm>
            <a:off x="2000570" y="2596944"/>
            <a:ext cx="2047870" cy="590548"/>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1971033" y="1655446"/>
            <a:ext cx="2085958" cy="619123"/>
          </a:xfrm>
          <a:prstGeom prst="rect">
            <a:avLst/>
          </a:prstGeom>
          <a:blipFill>
            <a:blip r:embed="rId7" cstate="print"/>
            <a:stretch>
              <a:fillRect/>
            </a:stretch>
          </a:blipFill>
        </p:spPr>
        <p:txBody>
          <a:bodyPr wrap="square" lIns="0" tIns="0" rIns="0" bIns="0" rtlCol="0"/>
          <a:lstStyle/>
          <a:p>
            <a:endParaRPr/>
          </a:p>
        </p:txBody>
      </p:sp>
      <p:sp>
        <p:nvSpPr>
          <p:cNvPr id="19" name="object 19"/>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20" name="object 20"/>
          <p:cNvSpPr/>
          <p:nvPr/>
        </p:nvSpPr>
        <p:spPr>
          <a:xfrm>
            <a:off x="1528596" y="3621417"/>
            <a:ext cx="1609916" cy="619198"/>
          </a:xfrm>
          <a:prstGeom prst="rect">
            <a:avLst/>
          </a:prstGeom>
          <a:blipFill>
            <a:blip r:embed="rId8" cstate="print"/>
            <a:stretch>
              <a:fillRect/>
            </a:stretch>
          </a:blipFill>
        </p:spPr>
        <p:txBody>
          <a:bodyPr wrap="square" lIns="0" tIns="0" rIns="0" bIns="0" rtlCol="0"/>
          <a:lstStyle/>
          <a:p>
            <a:endParaRPr/>
          </a:p>
        </p:txBody>
      </p:sp>
      <p:sp>
        <p:nvSpPr>
          <p:cNvPr id="22" name="Slide Number Placeholder 21">
            <a:extLst>
              <a:ext uri="{FF2B5EF4-FFF2-40B4-BE49-F238E27FC236}">
                <a16:creationId xmlns:a16="http://schemas.microsoft.com/office/drawing/2014/main" id="{DDE9A137-26E1-CB2B-3486-BA88241F3C41}"/>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43</a:t>
            </a:fld>
            <a:endParaRPr lang="en-US" altLang="zh-CN" spc="-5" dirty="0"/>
          </a:p>
        </p:txBody>
      </p:sp>
      <p:sp>
        <p:nvSpPr>
          <p:cNvPr id="2" name="Slide Number Placeholder 1">
            <a:extLst>
              <a:ext uri="{FF2B5EF4-FFF2-40B4-BE49-F238E27FC236}">
                <a16:creationId xmlns:a16="http://schemas.microsoft.com/office/drawing/2014/main" id="{9089D187-678B-8128-1584-6978E1FDF5B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43</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8470558" y="1399922"/>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4702040" y="2011920"/>
            <a:ext cx="375285" cy="158115"/>
          </a:xfrm>
          <a:custGeom>
            <a:avLst/>
            <a:gdLst/>
            <a:ahLst/>
            <a:cxnLst/>
            <a:rect l="l" t="t" r="r" b="b"/>
            <a:pathLst>
              <a:path w="375285" h="158114">
                <a:moveTo>
                  <a:pt x="0" y="0"/>
                </a:moveTo>
                <a:lnTo>
                  <a:pt x="374999" y="0"/>
                </a:lnTo>
                <a:lnTo>
                  <a:pt x="374999" y="158099"/>
                </a:lnTo>
                <a:lnTo>
                  <a:pt x="0" y="158099"/>
                </a:lnTo>
                <a:lnTo>
                  <a:pt x="0" y="0"/>
                </a:lnTo>
                <a:close/>
              </a:path>
            </a:pathLst>
          </a:custGeom>
          <a:solidFill>
            <a:srgbClr val="FFFFFF"/>
          </a:solidFill>
        </p:spPr>
        <p:txBody>
          <a:bodyPr wrap="square" lIns="0" tIns="0" rIns="0" bIns="0" rtlCol="0"/>
          <a:lstStyle/>
          <a:p>
            <a:endParaRPr/>
          </a:p>
        </p:txBody>
      </p:sp>
      <p:sp>
        <p:nvSpPr>
          <p:cNvPr id="14" name="object 14"/>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5" name="object 15"/>
          <p:cNvSpPr/>
          <p:nvPr/>
        </p:nvSpPr>
        <p:spPr>
          <a:xfrm>
            <a:off x="207186" y="1769746"/>
            <a:ext cx="1409697" cy="390524"/>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252999" y="2663619"/>
            <a:ext cx="942973" cy="457199"/>
          </a:xfrm>
          <a:prstGeom prst="rect">
            <a:avLst/>
          </a:prstGeom>
          <a:blipFill>
            <a:blip r:embed="rId5" cstate="print"/>
            <a:stretch>
              <a:fillRect/>
            </a:stretch>
          </a:blipFill>
        </p:spPr>
        <p:txBody>
          <a:bodyPr wrap="square" lIns="0" tIns="0" rIns="0" bIns="0" rtlCol="0"/>
          <a:lstStyle/>
          <a:p>
            <a:endParaRPr/>
          </a:p>
        </p:txBody>
      </p:sp>
      <p:sp>
        <p:nvSpPr>
          <p:cNvPr id="17" name="object 17"/>
          <p:cNvSpPr/>
          <p:nvPr/>
        </p:nvSpPr>
        <p:spPr>
          <a:xfrm>
            <a:off x="2000570" y="2596944"/>
            <a:ext cx="2047870" cy="590548"/>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1971033" y="1655446"/>
            <a:ext cx="2085958" cy="619123"/>
          </a:xfrm>
          <a:prstGeom prst="rect">
            <a:avLst/>
          </a:prstGeom>
          <a:blipFill>
            <a:blip r:embed="rId7" cstate="print"/>
            <a:stretch>
              <a:fillRect/>
            </a:stretch>
          </a:blipFill>
        </p:spPr>
        <p:txBody>
          <a:bodyPr wrap="square" lIns="0" tIns="0" rIns="0" bIns="0" rtlCol="0"/>
          <a:lstStyle/>
          <a:p>
            <a:endParaRPr/>
          </a:p>
        </p:txBody>
      </p:sp>
      <p:sp>
        <p:nvSpPr>
          <p:cNvPr id="19" name="object 19"/>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20" name="object 20"/>
          <p:cNvSpPr/>
          <p:nvPr/>
        </p:nvSpPr>
        <p:spPr>
          <a:xfrm>
            <a:off x="1528596" y="3621417"/>
            <a:ext cx="1609916" cy="619198"/>
          </a:xfrm>
          <a:prstGeom prst="rect">
            <a:avLst/>
          </a:prstGeom>
          <a:blipFill>
            <a:blip r:embed="rId8" cstate="print"/>
            <a:stretch>
              <a:fillRect/>
            </a:stretch>
          </a:blipFill>
        </p:spPr>
        <p:txBody>
          <a:bodyPr wrap="square" lIns="0" tIns="0" rIns="0" bIns="0" rtlCol="0"/>
          <a:lstStyle/>
          <a:p>
            <a:endParaRPr/>
          </a:p>
        </p:txBody>
      </p:sp>
      <p:sp>
        <p:nvSpPr>
          <p:cNvPr id="21" name="object 21"/>
          <p:cNvSpPr/>
          <p:nvPr/>
        </p:nvSpPr>
        <p:spPr>
          <a:xfrm>
            <a:off x="8282633" y="2436120"/>
            <a:ext cx="346946" cy="590548"/>
          </a:xfrm>
          <a:prstGeom prst="rect">
            <a:avLst/>
          </a:prstGeom>
          <a:blipFill>
            <a:blip r:embed="rId9" cstate="print"/>
            <a:stretch>
              <a:fillRect/>
            </a:stretch>
          </a:blipFill>
        </p:spPr>
        <p:txBody>
          <a:bodyPr wrap="square" lIns="0" tIns="0" rIns="0" bIns="0" rtlCol="0"/>
          <a:lstStyle/>
          <a:p>
            <a:endParaRPr/>
          </a:p>
        </p:txBody>
      </p:sp>
      <p:sp>
        <p:nvSpPr>
          <p:cNvPr id="22" name="object 22"/>
          <p:cNvSpPr/>
          <p:nvPr/>
        </p:nvSpPr>
        <p:spPr>
          <a:xfrm>
            <a:off x="8273108" y="2426595"/>
            <a:ext cx="366395" cy="609600"/>
          </a:xfrm>
          <a:custGeom>
            <a:avLst/>
            <a:gdLst/>
            <a:ahLst/>
            <a:cxnLst/>
            <a:rect l="l" t="t" r="r" b="b"/>
            <a:pathLst>
              <a:path w="366395" h="609600">
                <a:moveTo>
                  <a:pt x="0" y="0"/>
                </a:moveTo>
                <a:lnTo>
                  <a:pt x="365999" y="0"/>
                </a:lnTo>
                <a:lnTo>
                  <a:pt x="365999" y="609598"/>
                </a:lnTo>
                <a:lnTo>
                  <a:pt x="0" y="609598"/>
                </a:lnTo>
                <a:lnTo>
                  <a:pt x="0" y="0"/>
                </a:lnTo>
                <a:close/>
              </a:path>
            </a:pathLst>
          </a:custGeom>
          <a:ln w="19049">
            <a:solidFill>
              <a:srgbClr val="FF00FF"/>
            </a:solidFill>
          </a:ln>
        </p:spPr>
        <p:txBody>
          <a:bodyPr wrap="square" lIns="0" tIns="0" rIns="0" bIns="0" rtlCol="0"/>
          <a:lstStyle/>
          <a:p>
            <a:endParaRPr/>
          </a:p>
        </p:txBody>
      </p:sp>
      <p:sp>
        <p:nvSpPr>
          <p:cNvPr id="23" name="object 23"/>
          <p:cNvSpPr/>
          <p:nvPr/>
        </p:nvSpPr>
        <p:spPr>
          <a:xfrm>
            <a:off x="8456107" y="1773908"/>
            <a:ext cx="173355" cy="662305"/>
          </a:xfrm>
          <a:custGeom>
            <a:avLst/>
            <a:gdLst/>
            <a:ahLst/>
            <a:cxnLst/>
            <a:rect l="l" t="t" r="r" b="b"/>
            <a:pathLst>
              <a:path w="173354" h="662305">
                <a:moveTo>
                  <a:pt x="0" y="662211"/>
                </a:moveTo>
                <a:lnTo>
                  <a:pt x="172999" y="0"/>
                </a:lnTo>
              </a:path>
            </a:pathLst>
          </a:custGeom>
          <a:ln w="19049">
            <a:solidFill>
              <a:srgbClr val="FF00FF"/>
            </a:solidFill>
          </a:ln>
        </p:spPr>
        <p:txBody>
          <a:bodyPr wrap="square" lIns="0" tIns="0" rIns="0" bIns="0" rtlCol="0"/>
          <a:lstStyle/>
          <a:p>
            <a:endParaRPr/>
          </a:p>
        </p:txBody>
      </p:sp>
      <p:sp>
        <p:nvSpPr>
          <p:cNvPr id="24" name="object 24"/>
          <p:cNvSpPr/>
          <p:nvPr/>
        </p:nvSpPr>
        <p:spPr>
          <a:xfrm>
            <a:off x="8598657" y="1690266"/>
            <a:ext cx="60960" cy="92075"/>
          </a:xfrm>
          <a:custGeom>
            <a:avLst/>
            <a:gdLst/>
            <a:ahLst/>
            <a:cxnLst/>
            <a:rect l="l" t="t" r="r" b="b"/>
            <a:pathLst>
              <a:path w="60959" h="92075">
                <a:moveTo>
                  <a:pt x="60899" y="91597"/>
                </a:moveTo>
                <a:lnTo>
                  <a:pt x="52299" y="0"/>
                </a:lnTo>
                <a:lnTo>
                  <a:pt x="0" y="75689"/>
                </a:lnTo>
                <a:lnTo>
                  <a:pt x="60899" y="91597"/>
                </a:lnTo>
                <a:close/>
              </a:path>
            </a:pathLst>
          </a:custGeom>
          <a:ln w="19049">
            <a:solidFill>
              <a:srgbClr val="FF00FF"/>
            </a:solidFill>
          </a:ln>
        </p:spPr>
        <p:txBody>
          <a:bodyPr wrap="square" lIns="0" tIns="0" rIns="0" bIns="0" rtlCol="0"/>
          <a:lstStyle/>
          <a:p>
            <a:endParaRPr/>
          </a:p>
        </p:txBody>
      </p:sp>
      <p:sp>
        <p:nvSpPr>
          <p:cNvPr id="26" name="Slide Number Placeholder 25">
            <a:extLst>
              <a:ext uri="{FF2B5EF4-FFF2-40B4-BE49-F238E27FC236}">
                <a16:creationId xmlns:a16="http://schemas.microsoft.com/office/drawing/2014/main" id="{205C2C5D-BF2A-7A2F-1A3D-BBDC5FC65A83}"/>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44</a:t>
            </a:fld>
            <a:endParaRPr lang="en-US" altLang="zh-CN" spc="-5" dirty="0"/>
          </a:p>
        </p:txBody>
      </p:sp>
      <p:sp>
        <p:nvSpPr>
          <p:cNvPr id="2" name="Slide Number Placeholder 1">
            <a:extLst>
              <a:ext uri="{FF2B5EF4-FFF2-40B4-BE49-F238E27FC236}">
                <a16:creationId xmlns:a16="http://schemas.microsoft.com/office/drawing/2014/main" id="{F905F767-D327-528E-7A3F-D746E446EC28}"/>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44</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4702040" y="2011920"/>
            <a:ext cx="375285" cy="158115"/>
          </a:xfrm>
          <a:custGeom>
            <a:avLst/>
            <a:gdLst/>
            <a:ahLst/>
            <a:cxnLst/>
            <a:rect l="l" t="t" r="r" b="b"/>
            <a:pathLst>
              <a:path w="375285" h="158114">
                <a:moveTo>
                  <a:pt x="0" y="0"/>
                </a:moveTo>
                <a:lnTo>
                  <a:pt x="374999" y="0"/>
                </a:lnTo>
                <a:lnTo>
                  <a:pt x="374999" y="158099"/>
                </a:lnTo>
                <a:lnTo>
                  <a:pt x="0" y="158099"/>
                </a:lnTo>
                <a:lnTo>
                  <a:pt x="0" y="0"/>
                </a:lnTo>
                <a:close/>
              </a:path>
            </a:pathLst>
          </a:custGeom>
          <a:solidFill>
            <a:srgbClr val="FFFFFF"/>
          </a:solidFill>
        </p:spPr>
        <p:txBody>
          <a:bodyPr wrap="square" lIns="0" tIns="0" rIns="0" bIns="0" rtlCol="0"/>
          <a:lstStyle/>
          <a:p>
            <a:endParaRPr/>
          </a:p>
        </p:txBody>
      </p:sp>
      <p:sp>
        <p:nvSpPr>
          <p:cNvPr id="13" name="object 13"/>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4" name="object 14"/>
          <p:cNvSpPr/>
          <p:nvPr/>
        </p:nvSpPr>
        <p:spPr>
          <a:xfrm>
            <a:off x="207186" y="1769746"/>
            <a:ext cx="1409697" cy="390524"/>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252999" y="2663619"/>
            <a:ext cx="942973" cy="457199"/>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2000570" y="2596944"/>
            <a:ext cx="2047870" cy="590548"/>
          </a:xfrm>
          <a:prstGeom prst="rect">
            <a:avLst/>
          </a:prstGeom>
          <a:blipFill>
            <a:blip r:embed="rId6" cstate="print"/>
            <a:stretch>
              <a:fillRect/>
            </a:stretch>
          </a:blipFill>
        </p:spPr>
        <p:txBody>
          <a:bodyPr wrap="square" lIns="0" tIns="0" rIns="0" bIns="0" rtlCol="0"/>
          <a:lstStyle/>
          <a:p>
            <a:endParaRPr/>
          </a:p>
        </p:txBody>
      </p:sp>
      <p:sp>
        <p:nvSpPr>
          <p:cNvPr id="17" name="object 17"/>
          <p:cNvSpPr/>
          <p:nvPr/>
        </p:nvSpPr>
        <p:spPr>
          <a:xfrm>
            <a:off x="1971033" y="1655446"/>
            <a:ext cx="2085958" cy="619123"/>
          </a:xfrm>
          <a:prstGeom prst="rect">
            <a:avLst/>
          </a:prstGeom>
          <a:blipFill>
            <a:blip r:embed="rId7" cstate="print"/>
            <a:stretch>
              <a:fillRect/>
            </a:stretch>
          </a:blipFill>
        </p:spPr>
        <p:txBody>
          <a:bodyPr wrap="square" lIns="0" tIns="0" rIns="0" bIns="0" rtlCol="0"/>
          <a:lstStyle/>
          <a:p>
            <a:endParaRPr/>
          </a:p>
        </p:txBody>
      </p:sp>
      <p:sp>
        <p:nvSpPr>
          <p:cNvPr id="18" name="object 18"/>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9" name="object 19"/>
          <p:cNvSpPr/>
          <p:nvPr/>
        </p:nvSpPr>
        <p:spPr>
          <a:xfrm>
            <a:off x="1528596" y="3621417"/>
            <a:ext cx="1609916" cy="619198"/>
          </a:xfrm>
          <a:prstGeom prst="rect">
            <a:avLst/>
          </a:prstGeom>
          <a:blipFill>
            <a:blip r:embed="rId8" cstate="print"/>
            <a:stretch>
              <a:fillRect/>
            </a:stretch>
          </a:blipFill>
        </p:spPr>
        <p:txBody>
          <a:bodyPr wrap="square" lIns="0" tIns="0" rIns="0" bIns="0" rtlCol="0"/>
          <a:lstStyle/>
          <a:p>
            <a:endParaRPr/>
          </a:p>
        </p:txBody>
      </p:sp>
      <p:sp>
        <p:nvSpPr>
          <p:cNvPr id="20" name="object 20"/>
          <p:cNvSpPr/>
          <p:nvPr/>
        </p:nvSpPr>
        <p:spPr>
          <a:xfrm>
            <a:off x="8282633" y="2436120"/>
            <a:ext cx="346946" cy="590548"/>
          </a:xfrm>
          <a:prstGeom prst="rect">
            <a:avLst/>
          </a:prstGeom>
          <a:blipFill>
            <a:blip r:embed="rId9" cstate="print"/>
            <a:stretch>
              <a:fillRect/>
            </a:stretch>
          </a:blipFill>
        </p:spPr>
        <p:txBody>
          <a:bodyPr wrap="square" lIns="0" tIns="0" rIns="0" bIns="0" rtlCol="0"/>
          <a:lstStyle/>
          <a:p>
            <a:endParaRPr/>
          </a:p>
        </p:txBody>
      </p:sp>
      <p:sp>
        <p:nvSpPr>
          <p:cNvPr id="21" name="object 21"/>
          <p:cNvSpPr/>
          <p:nvPr/>
        </p:nvSpPr>
        <p:spPr>
          <a:xfrm>
            <a:off x="8273108" y="2426595"/>
            <a:ext cx="366395" cy="609600"/>
          </a:xfrm>
          <a:custGeom>
            <a:avLst/>
            <a:gdLst/>
            <a:ahLst/>
            <a:cxnLst/>
            <a:rect l="l" t="t" r="r" b="b"/>
            <a:pathLst>
              <a:path w="366395" h="609600">
                <a:moveTo>
                  <a:pt x="0" y="0"/>
                </a:moveTo>
                <a:lnTo>
                  <a:pt x="365999" y="0"/>
                </a:lnTo>
                <a:lnTo>
                  <a:pt x="365999" y="609598"/>
                </a:lnTo>
                <a:lnTo>
                  <a:pt x="0" y="609598"/>
                </a:lnTo>
                <a:lnTo>
                  <a:pt x="0" y="0"/>
                </a:lnTo>
                <a:close/>
              </a:path>
            </a:pathLst>
          </a:custGeom>
          <a:ln w="19049">
            <a:solidFill>
              <a:srgbClr val="FF00FF"/>
            </a:solidFill>
          </a:ln>
        </p:spPr>
        <p:txBody>
          <a:bodyPr wrap="square" lIns="0" tIns="0" rIns="0" bIns="0" rtlCol="0"/>
          <a:lstStyle/>
          <a:p>
            <a:endParaRPr/>
          </a:p>
        </p:txBody>
      </p:sp>
      <p:sp>
        <p:nvSpPr>
          <p:cNvPr id="22" name="object 22"/>
          <p:cNvSpPr/>
          <p:nvPr/>
        </p:nvSpPr>
        <p:spPr>
          <a:xfrm>
            <a:off x="8456107" y="1773908"/>
            <a:ext cx="173355" cy="662305"/>
          </a:xfrm>
          <a:custGeom>
            <a:avLst/>
            <a:gdLst/>
            <a:ahLst/>
            <a:cxnLst/>
            <a:rect l="l" t="t" r="r" b="b"/>
            <a:pathLst>
              <a:path w="173354" h="662305">
                <a:moveTo>
                  <a:pt x="0" y="662211"/>
                </a:moveTo>
                <a:lnTo>
                  <a:pt x="172999" y="0"/>
                </a:lnTo>
              </a:path>
            </a:pathLst>
          </a:custGeom>
          <a:ln w="19049">
            <a:solidFill>
              <a:srgbClr val="FF00FF"/>
            </a:solidFill>
          </a:ln>
        </p:spPr>
        <p:txBody>
          <a:bodyPr wrap="square" lIns="0" tIns="0" rIns="0" bIns="0" rtlCol="0"/>
          <a:lstStyle/>
          <a:p>
            <a:endParaRPr/>
          </a:p>
        </p:txBody>
      </p:sp>
      <p:sp>
        <p:nvSpPr>
          <p:cNvPr id="23" name="object 23"/>
          <p:cNvSpPr/>
          <p:nvPr/>
        </p:nvSpPr>
        <p:spPr>
          <a:xfrm>
            <a:off x="8598657" y="1690266"/>
            <a:ext cx="60960" cy="92075"/>
          </a:xfrm>
          <a:custGeom>
            <a:avLst/>
            <a:gdLst/>
            <a:ahLst/>
            <a:cxnLst/>
            <a:rect l="l" t="t" r="r" b="b"/>
            <a:pathLst>
              <a:path w="60959" h="92075">
                <a:moveTo>
                  <a:pt x="60899" y="91597"/>
                </a:moveTo>
                <a:lnTo>
                  <a:pt x="52299" y="0"/>
                </a:lnTo>
                <a:lnTo>
                  <a:pt x="0" y="75689"/>
                </a:lnTo>
                <a:lnTo>
                  <a:pt x="60899" y="91597"/>
                </a:lnTo>
                <a:close/>
              </a:path>
            </a:pathLst>
          </a:custGeom>
          <a:ln w="19049">
            <a:solidFill>
              <a:srgbClr val="FF00FF"/>
            </a:solidFill>
          </a:ln>
        </p:spPr>
        <p:txBody>
          <a:bodyPr wrap="square" lIns="0" tIns="0" rIns="0" bIns="0" rtlCol="0"/>
          <a:lstStyle/>
          <a:p>
            <a:endParaRPr/>
          </a:p>
        </p:txBody>
      </p:sp>
      <p:sp>
        <p:nvSpPr>
          <p:cNvPr id="25" name="Slide Number Placeholder 24">
            <a:extLst>
              <a:ext uri="{FF2B5EF4-FFF2-40B4-BE49-F238E27FC236}">
                <a16:creationId xmlns:a16="http://schemas.microsoft.com/office/drawing/2014/main" id="{4772AFAA-B2EE-5F38-2750-27840AA28DD0}"/>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45</a:t>
            </a:fld>
            <a:endParaRPr lang="en-US" altLang="zh-CN" spc="-5" dirty="0"/>
          </a:p>
        </p:txBody>
      </p:sp>
      <p:sp>
        <p:nvSpPr>
          <p:cNvPr id="2" name="Slide Number Placeholder 1">
            <a:extLst>
              <a:ext uri="{FF2B5EF4-FFF2-40B4-BE49-F238E27FC236}">
                <a16:creationId xmlns:a16="http://schemas.microsoft.com/office/drawing/2014/main" id="{7DB53F9F-9379-0152-F1D4-93CAE6168D10}"/>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45</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4702040" y="2011920"/>
            <a:ext cx="375285" cy="158115"/>
          </a:xfrm>
          <a:custGeom>
            <a:avLst/>
            <a:gdLst/>
            <a:ahLst/>
            <a:cxnLst/>
            <a:rect l="l" t="t" r="r" b="b"/>
            <a:pathLst>
              <a:path w="375285" h="158114">
                <a:moveTo>
                  <a:pt x="0" y="0"/>
                </a:moveTo>
                <a:lnTo>
                  <a:pt x="374999" y="0"/>
                </a:lnTo>
                <a:lnTo>
                  <a:pt x="374999" y="158099"/>
                </a:lnTo>
                <a:lnTo>
                  <a:pt x="0" y="158099"/>
                </a:lnTo>
                <a:lnTo>
                  <a:pt x="0" y="0"/>
                </a:lnTo>
                <a:close/>
              </a:path>
            </a:pathLst>
          </a:custGeom>
          <a:solidFill>
            <a:srgbClr val="FFFFFF"/>
          </a:solidFill>
        </p:spPr>
        <p:txBody>
          <a:bodyPr wrap="square" lIns="0" tIns="0" rIns="0" bIns="0" rtlCol="0"/>
          <a:lstStyle/>
          <a:p>
            <a:endParaRPr/>
          </a:p>
        </p:txBody>
      </p:sp>
      <p:sp>
        <p:nvSpPr>
          <p:cNvPr id="13" name="object 13"/>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4" name="object 14"/>
          <p:cNvSpPr/>
          <p:nvPr/>
        </p:nvSpPr>
        <p:spPr>
          <a:xfrm>
            <a:off x="207186" y="1769746"/>
            <a:ext cx="1409697" cy="390524"/>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252999" y="2663619"/>
            <a:ext cx="942973" cy="457199"/>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2000570" y="2596944"/>
            <a:ext cx="2047870" cy="590548"/>
          </a:xfrm>
          <a:prstGeom prst="rect">
            <a:avLst/>
          </a:prstGeom>
          <a:blipFill>
            <a:blip r:embed="rId6" cstate="print"/>
            <a:stretch>
              <a:fillRect/>
            </a:stretch>
          </a:blipFill>
        </p:spPr>
        <p:txBody>
          <a:bodyPr wrap="square" lIns="0" tIns="0" rIns="0" bIns="0" rtlCol="0"/>
          <a:lstStyle/>
          <a:p>
            <a:endParaRPr/>
          </a:p>
        </p:txBody>
      </p:sp>
      <p:sp>
        <p:nvSpPr>
          <p:cNvPr id="17" name="object 17"/>
          <p:cNvSpPr/>
          <p:nvPr/>
        </p:nvSpPr>
        <p:spPr>
          <a:xfrm>
            <a:off x="1971033" y="1655446"/>
            <a:ext cx="2085958" cy="619123"/>
          </a:xfrm>
          <a:prstGeom prst="rect">
            <a:avLst/>
          </a:prstGeom>
          <a:blipFill>
            <a:blip r:embed="rId7" cstate="print"/>
            <a:stretch>
              <a:fillRect/>
            </a:stretch>
          </a:blipFill>
        </p:spPr>
        <p:txBody>
          <a:bodyPr wrap="square" lIns="0" tIns="0" rIns="0" bIns="0" rtlCol="0"/>
          <a:lstStyle/>
          <a:p>
            <a:endParaRPr/>
          </a:p>
        </p:txBody>
      </p:sp>
      <p:sp>
        <p:nvSpPr>
          <p:cNvPr id="18" name="object 18"/>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9" name="object 19"/>
          <p:cNvSpPr/>
          <p:nvPr/>
        </p:nvSpPr>
        <p:spPr>
          <a:xfrm>
            <a:off x="1528596" y="3621417"/>
            <a:ext cx="1609916" cy="619198"/>
          </a:xfrm>
          <a:prstGeom prst="rect">
            <a:avLst/>
          </a:prstGeom>
          <a:blipFill>
            <a:blip r:embed="rId8" cstate="print"/>
            <a:stretch>
              <a:fillRect/>
            </a:stretch>
          </a:blipFill>
        </p:spPr>
        <p:txBody>
          <a:bodyPr wrap="square" lIns="0" tIns="0" rIns="0" bIns="0" rtlCol="0"/>
          <a:lstStyle/>
          <a:p>
            <a:endParaRPr/>
          </a:p>
        </p:txBody>
      </p:sp>
      <p:sp>
        <p:nvSpPr>
          <p:cNvPr id="20" name="object 20"/>
          <p:cNvSpPr/>
          <p:nvPr/>
        </p:nvSpPr>
        <p:spPr>
          <a:xfrm>
            <a:off x="5411564" y="2087620"/>
            <a:ext cx="3044825" cy="348615"/>
          </a:xfrm>
          <a:custGeom>
            <a:avLst/>
            <a:gdLst/>
            <a:ahLst/>
            <a:cxnLst/>
            <a:rect l="l" t="t" r="r" b="b"/>
            <a:pathLst>
              <a:path w="3044825" h="348614">
                <a:moveTo>
                  <a:pt x="3044543" y="348499"/>
                </a:moveTo>
                <a:lnTo>
                  <a:pt x="0" y="0"/>
                </a:lnTo>
              </a:path>
            </a:pathLst>
          </a:custGeom>
          <a:ln w="19049">
            <a:solidFill>
              <a:srgbClr val="FF00FF"/>
            </a:solidFill>
          </a:ln>
        </p:spPr>
        <p:txBody>
          <a:bodyPr wrap="square" lIns="0" tIns="0" rIns="0" bIns="0" rtlCol="0"/>
          <a:lstStyle/>
          <a:p>
            <a:endParaRPr/>
          </a:p>
        </p:txBody>
      </p:sp>
      <p:sp>
        <p:nvSpPr>
          <p:cNvPr id="21" name="object 21"/>
          <p:cNvSpPr/>
          <p:nvPr/>
        </p:nvSpPr>
        <p:spPr>
          <a:xfrm>
            <a:off x="5325689" y="2056358"/>
            <a:ext cx="89535" cy="62865"/>
          </a:xfrm>
          <a:custGeom>
            <a:avLst/>
            <a:gdLst/>
            <a:ahLst/>
            <a:cxnLst/>
            <a:rect l="l" t="t" r="r" b="b"/>
            <a:pathLst>
              <a:path w="89535" h="62864">
                <a:moveTo>
                  <a:pt x="89449" y="0"/>
                </a:moveTo>
                <a:lnTo>
                  <a:pt x="0" y="21429"/>
                </a:lnTo>
                <a:lnTo>
                  <a:pt x="82299" y="62522"/>
                </a:lnTo>
                <a:lnTo>
                  <a:pt x="89449" y="0"/>
                </a:lnTo>
                <a:close/>
              </a:path>
            </a:pathLst>
          </a:custGeom>
          <a:ln w="19049">
            <a:solidFill>
              <a:srgbClr val="FF00FF"/>
            </a:solidFill>
          </a:ln>
        </p:spPr>
        <p:txBody>
          <a:bodyPr wrap="square" lIns="0" tIns="0" rIns="0" bIns="0" rtlCol="0"/>
          <a:lstStyle/>
          <a:p>
            <a:endParaRPr/>
          </a:p>
        </p:txBody>
      </p:sp>
      <p:sp>
        <p:nvSpPr>
          <p:cNvPr id="22" name="object 22"/>
          <p:cNvSpPr/>
          <p:nvPr/>
        </p:nvSpPr>
        <p:spPr>
          <a:xfrm>
            <a:off x="8378007" y="2444225"/>
            <a:ext cx="466314" cy="619193"/>
          </a:xfrm>
          <a:prstGeom prst="rect">
            <a:avLst/>
          </a:prstGeom>
          <a:blipFill>
            <a:blip r:embed="rId9" cstate="print"/>
            <a:stretch>
              <a:fillRect/>
            </a:stretch>
          </a:blipFill>
        </p:spPr>
        <p:txBody>
          <a:bodyPr wrap="square" lIns="0" tIns="0" rIns="0" bIns="0" rtlCol="0"/>
          <a:lstStyle/>
          <a:p>
            <a:endParaRPr/>
          </a:p>
        </p:txBody>
      </p:sp>
      <p:sp>
        <p:nvSpPr>
          <p:cNvPr id="23" name="object 23"/>
          <p:cNvSpPr/>
          <p:nvPr/>
        </p:nvSpPr>
        <p:spPr>
          <a:xfrm>
            <a:off x="8368482" y="2434700"/>
            <a:ext cx="485775" cy="638810"/>
          </a:xfrm>
          <a:custGeom>
            <a:avLst/>
            <a:gdLst/>
            <a:ahLst/>
            <a:cxnLst/>
            <a:rect l="l" t="t" r="r" b="b"/>
            <a:pathLst>
              <a:path w="485775" h="638810">
                <a:moveTo>
                  <a:pt x="0" y="0"/>
                </a:moveTo>
                <a:lnTo>
                  <a:pt x="485374" y="0"/>
                </a:lnTo>
                <a:lnTo>
                  <a:pt x="485374" y="638243"/>
                </a:lnTo>
                <a:lnTo>
                  <a:pt x="0" y="638243"/>
                </a:lnTo>
                <a:lnTo>
                  <a:pt x="0" y="0"/>
                </a:lnTo>
                <a:close/>
              </a:path>
            </a:pathLst>
          </a:custGeom>
          <a:ln w="19049">
            <a:solidFill>
              <a:srgbClr val="FF00FF"/>
            </a:solidFill>
          </a:ln>
        </p:spPr>
        <p:txBody>
          <a:bodyPr wrap="square" lIns="0" tIns="0" rIns="0" bIns="0" rtlCol="0"/>
          <a:lstStyle/>
          <a:p>
            <a:endParaRPr/>
          </a:p>
        </p:txBody>
      </p:sp>
      <p:sp>
        <p:nvSpPr>
          <p:cNvPr id="25" name="Slide Number Placeholder 24">
            <a:extLst>
              <a:ext uri="{FF2B5EF4-FFF2-40B4-BE49-F238E27FC236}">
                <a16:creationId xmlns:a16="http://schemas.microsoft.com/office/drawing/2014/main" id="{3E4E1AC6-B73B-8CB7-B472-62AAF89ECF72}"/>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46</a:t>
            </a:fld>
            <a:endParaRPr lang="en-US" altLang="zh-CN" spc="-5" dirty="0"/>
          </a:p>
        </p:txBody>
      </p:sp>
      <p:sp>
        <p:nvSpPr>
          <p:cNvPr id="2" name="Slide Number Placeholder 1">
            <a:extLst>
              <a:ext uri="{FF2B5EF4-FFF2-40B4-BE49-F238E27FC236}">
                <a16:creationId xmlns:a16="http://schemas.microsoft.com/office/drawing/2014/main" id="{204BC3DA-C259-C16E-B972-D0F555592956}"/>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46</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3" name="object 13"/>
          <p:cNvSpPr/>
          <p:nvPr/>
        </p:nvSpPr>
        <p:spPr>
          <a:xfrm>
            <a:off x="207186" y="1769746"/>
            <a:ext cx="1409697" cy="390524"/>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252999" y="2663619"/>
            <a:ext cx="942973" cy="457199"/>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2000570" y="2596944"/>
            <a:ext cx="2047870" cy="590548"/>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1971033" y="1655446"/>
            <a:ext cx="2085958" cy="619123"/>
          </a:xfrm>
          <a:prstGeom prst="rect">
            <a:avLst/>
          </a:prstGeom>
          <a:blipFill>
            <a:blip r:embed="rId7" cstate="print"/>
            <a:stretch>
              <a:fillRect/>
            </a:stretch>
          </a:blipFill>
        </p:spPr>
        <p:txBody>
          <a:bodyPr wrap="square" lIns="0" tIns="0" rIns="0" bIns="0" rtlCol="0"/>
          <a:lstStyle/>
          <a:p>
            <a:endParaRPr/>
          </a:p>
        </p:txBody>
      </p:sp>
      <p:sp>
        <p:nvSpPr>
          <p:cNvPr id="17" name="object 17"/>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8" name="object 18"/>
          <p:cNvSpPr/>
          <p:nvPr/>
        </p:nvSpPr>
        <p:spPr>
          <a:xfrm>
            <a:off x="1528596" y="3621417"/>
            <a:ext cx="1609916" cy="619198"/>
          </a:xfrm>
          <a:prstGeom prst="rect">
            <a:avLst/>
          </a:prstGeom>
          <a:blipFill>
            <a:blip r:embed="rId8" cstate="print"/>
            <a:stretch>
              <a:fillRect/>
            </a:stretch>
          </a:blipFill>
        </p:spPr>
        <p:txBody>
          <a:bodyPr wrap="square" lIns="0" tIns="0" rIns="0" bIns="0" rtlCol="0"/>
          <a:lstStyle/>
          <a:p>
            <a:endParaRPr/>
          </a:p>
        </p:txBody>
      </p:sp>
      <p:sp>
        <p:nvSpPr>
          <p:cNvPr id="19" name="object 19"/>
          <p:cNvSpPr/>
          <p:nvPr/>
        </p:nvSpPr>
        <p:spPr>
          <a:xfrm>
            <a:off x="8378007" y="2444225"/>
            <a:ext cx="466314" cy="619193"/>
          </a:xfrm>
          <a:prstGeom prst="rect">
            <a:avLst/>
          </a:prstGeom>
          <a:blipFill>
            <a:blip r:embed="rId9" cstate="print"/>
            <a:stretch>
              <a:fillRect/>
            </a:stretch>
          </a:blipFill>
        </p:spPr>
        <p:txBody>
          <a:bodyPr wrap="square" lIns="0" tIns="0" rIns="0" bIns="0" rtlCol="0"/>
          <a:lstStyle/>
          <a:p>
            <a:endParaRPr/>
          </a:p>
        </p:txBody>
      </p:sp>
      <p:sp>
        <p:nvSpPr>
          <p:cNvPr id="20" name="object 20"/>
          <p:cNvSpPr/>
          <p:nvPr/>
        </p:nvSpPr>
        <p:spPr>
          <a:xfrm>
            <a:off x="8368482" y="2434700"/>
            <a:ext cx="485775" cy="638810"/>
          </a:xfrm>
          <a:custGeom>
            <a:avLst/>
            <a:gdLst/>
            <a:ahLst/>
            <a:cxnLst/>
            <a:rect l="l" t="t" r="r" b="b"/>
            <a:pathLst>
              <a:path w="485775" h="638810">
                <a:moveTo>
                  <a:pt x="0" y="0"/>
                </a:moveTo>
                <a:lnTo>
                  <a:pt x="485374" y="0"/>
                </a:lnTo>
                <a:lnTo>
                  <a:pt x="485374" y="638243"/>
                </a:lnTo>
                <a:lnTo>
                  <a:pt x="0" y="638243"/>
                </a:lnTo>
                <a:lnTo>
                  <a:pt x="0" y="0"/>
                </a:lnTo>
                <a:close/>
              </a:path>
            </a:pathLst>
          </a:custGeom>
          <a:ln w="19049">
            <a:solidFill>
              <a:srgbClr val="FF00FF"/>
            </a:solidFill>
          </a:ln>
        </p:spPr>
        <p:txBody>
          <a:bodyPr wrap="square" lIns="0" tIns="0" rIns="0" bIns="0" rtlCol="0"/>
          <a:lstStyle/>
          <a:p>
            <a:endParaRPr/>
          </a:p>
        </p:txBody>
      </p:sp>
      <p:sp>
        <p:nvSpPr>
          <p:cNvPr id="21" name="object 21"/>
          <p:cNvSpPr/>
          <p:nvPr/>
        </p:nvSpPr>
        <p:spPr>
          <a:xfrm>
            <a:off x="5411564" y="2087620"/>
            <a:ext cx="3044825" cy="348615"/>
          </a:xfrm>
          <a:custGeom>
            <a:avLst/>
            <a:gdLst/>
            <a:ahLst/>
            <a:cxnLst/>
            <a:rect l="l" t="t" r="r" b="b"/>
            <a:pathLst>
              <a:path w="3044825" h="348614">
                <a:moveTo>
                  <a:pt x="3044543" y="348499"/>
                </a:moveTo>
                <a:lnTo>
                  <a:pt x="0" y="0"/>
                </a:lnTo>
              </a:path>
            </a:pathLst>
          </a:custGeom>
          <a:ln w="19049">
            <a:solidFill>
              <a:srgbClr val="FF00FF"/>
            </a:solidFill>
          </a:ln>
        </p:spPr>
        <p:txBody>
          <a:bodyPr wrap="square" lIns="0" tIns="0" rIns="0" bIns="0" rtlCol="0"/>
          <a:lstStyle/>
          <a:p>
            <a:endParaRPr/>
          </a:p>
        </p:txBody>
      </p:sp>
      <p:sp>
        <p:nvSpPr>
          <p:cNvPr id="22" name="object 22"/>
          <p:cNvSpPr/>
          <p:nvPr/>
        </p:nvSpPr>
        <p:spPr>
          <a:xfrm>
            <a:off x="5325689" y="2056358"/>
            <a:ext cx="89535" cy="62865"/>
          </a:xfrm>
          <a:custGeom>
            <a:avLst/>
            <a:gdLst/>
            <a:ahLst/>
            <a:cxnLst/>
            <a:rect l="l" t="t" r="r" b="b"/>
            <a:pathLst>
              <a:path w="89535" h="62864">
                <a:moveTo>
                  <a:pt x="89449" y="0"/>
                </a:moveTo>
                <a:lnTo>
                  <a:pt x="0" y="21429"/>
                </a:lnTo>
                <a:lnTo>
                  <a:pt x="82299" y="62522"/>
                </a:lnTo>
                <a:lnTo>
                  <a:pt x="89449" y="0"/>
                </a:lnTo>
                <a:close/>
              </a:path>
            </a:pathLst>
          </a:custGeom>
          <a:ln w="19049">
            <a:solidFill>
              <a:srgbClr val="FF00FF"/>
            </a:solidFill>
          </a:ln>
        </p:spPr>
        <p:txBody>
          <a:bodyPr wrap="square" lIns="0" tIns="0" rIns="0" bIns="0" rtlCol="0"/>
          <a:lstStyle/>
          <a:p>
            <a:endParaRPr/>
          </a:p>
        </p:txBody>
      </p:sp>
      <p:sp>
        <p:nvSpPr>
          <p:cNvPr id="24" name="Slide Number Placeholder 23">
            <a:extLst>
              <a:ext uri="{FF2B5EF4-FFF2-40B4-BE49-F238E27FC236}">
                <a16:creationId xmlns:a16="http://schemas.microsoft.com/office/drawing/2014/main" id="{FB916EFD-0535-6AC3-5FCC-A792D04AF5D4}"/>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47</a:t>
            </a:fld>
            <a:endParaRPr lang="en-US" altLang="zh-CN" spc="-5" dirty="0"/>
          </a:p>
        </p:txBody>
      </p:sp>
      <p:sp>
        <p:nvSpPr>
          <p:cNvPr id="2" name="Slide Number Placeholder 1">
            <a:extLst>
              <a:ext uri="{FF2B5EF4-FFF2-40B4-BE49-F238E27FC236}">
                <a16:creationId xmlns:a16="http://schemas.microsoft.com/office/drawing/2014/main" id="{F287653A-CB38-889C-9B00-6C7D435978D7}"/>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47</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6642536" y="856548"/>
            <a:ext cx="375285" cy="263525"/>
          </a:xfrm>
          <a:custGeom>
            <a:avLst/>
            <a:gdLst/>
            <a:ahLst/>
            <a:cxnLst/>
            <a:rect l="l" t="t" r="r" b="b"/>
            <a:pathLst>
              <a:path w="375284"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2" name="object 12"/>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3" name="object 13"/>
          <p:cNvSpPr/>
          <p:nvPr/>
        </p:nvSpPr>
        <p:spPr>
          <a:xfrm>
            <a:off x="207186" y="1769746"/>
            <a:ext cx="1409697" cy="390524"/>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252999" y="2663619"/>
            <a:ext cx="942973" cy="457199"/>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2000570" y="2596944"/>
            <a:ext cx="2047870" cy="590548"/>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1971033" y="1655446"/>
            <a:ext cx="2085958" cy="619123"/>
          </a:xfrm>
          <a:prstGeom prst="rect">
            <a:avLst/>
          </a:prstGeom>
          <a:blipFill>
            <a:blip r:embed="rId7" cstate="print"/>
            <a:stretch>
              <a:fillRect/>
            </a:stretch>
          </a:blipFill>
        </p:spPr>
        <p:txBody>
          <a:bodyPr wrap="square" lIns="0" tIns="0" rIns="0" bIns="0" rtlCol="0"/>
          <a:lstStyle/>
          <a:p>
            <a:endParaRPr/>
          </a:p>
        </p:txBody>
      </p:sp>
      <p:sp>
        <p:nvSpPr>
          <p:cNvPr id="17" name="object 17"/>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8" name="object 18"/>
          <p:cNvSpPr/>
          <p:nvPr/>
        </p:nvSpPr>
        <p:spPr>
          <a:xfrm>
            <a:off x="1528596" y="3621417"/>
            <a:ext cx="1609916" cy="619198"/>
          </a:xfrm>
          <a:prstGeom prst="rect">
            <a:avLst/>
          </a:prstGeom>
          <a:blipFill>
            <a:blip r:embed="rId8" cstate="print"/>
            <a:stretch>
              <a:fillRect/>
            </a:stretch>
          </a:blipFill>
        </p:spPr>
        <p:txBody>
          <a:bodyPr wrap="square" lIns="0" tIns="0" rIns="0" bIns="0" rtlCol="0"/>
          <a:lstStyle/>
          <a:p>
            <a:endParaRPr/>
          </a:p>
        </p:txBody>
      </p:sp>
      <p:sp>
        <p:nvSpPr>
          <p:cNvPr id="19" name="object 19"/>
          <p:cNvSpPr/>
          <p:nvPr/>
        </p:nvSpPr>
        <p:spPr>
          <a:xfrm>
            <a:off x="8261108" y="2436120"/>
            <a:ext cx="457198" cy="742948"/>
          </a:xfrm>
          <a:prstGeom prst="rect">
            <a:avLst/>
          </a:prstGeom>
          <a:blipFill>
            <a:blip r:embed="rId9" cstate="print"/>
            <a:stretch>
              <a:fillRect/>
            </a:stretch>
          </a:blipFill>
        </p:spPr>
        <p:txBody>
          <a:bodyPr wrap="square" lIns="0" tIns="0" rIns="0" bIns="0" rtlCol="0"/>
          <a:lstStyle/>
          <a:p>
            <a:endParaRPr/>
          </a:p>
        </p:txBody>
      </p:sp>
      <p:sp>
        <p:nvSpPr>
          <p:cNvPr id="20" name="object 20"/>
          <p:cNvSpPr/>
          <p:nvPr/>
        </p:nvSpPr>
        <p:spPr>
          <a:xfrm>
            <a:off x="8251583" y="2426595"/>
            <a:ext cx="476250" cy="762000"/>
          </a:xfrm>
          <a:custGeom>
            <a:avLst/>
            <a:gdLst/>
            <a:ahLst/>
            <a:cxnLst/>
            <a:rect l="l" t="t" r="r" b="b"/>
            <a:pathLst>
              <a:path w="476250" h="762000">
                <a:moveTo>
                  <a:pt x="0" y="0"/>
                </a:moveTo>
                <a:lnTo>
                  <a:pt x="476249" y="0"/>
                </a:lnTo>
                <a:lnTo>
                  <a:pt x="476249" y="761998"/>
                </a:lnTo>
                <a:lnTo>
                  <a:pt x="0" y="761998"/>
                </a:lnTo>
                <a:lnTo>
                  <a:pt x="0" y="0"/>
                </a:lnTo>
                <a:close/>
              </a:path>
            </a:pathLst>
          </a:custGeom>
          <a:ln w="19049">
            <a:solidFill>
              <a:srgbClr val="FF00FF"/>
            </a:solidFill>
          </a:ln>
        </p:spPr>
        <p:txBody>
          <a:bodyPr wrap="square" lIns="0" tIns="0" rIns="0" bIns="0" rtlCol="0"/>
          <a:lstStyle/>
          <a:p>
            <a:endParaRPr/>
          </a:p>
        </p:txBody>
      </p:sp>
      <p:sp>
        <p:nvSpPr>
          <p:cNvPr id="21" name="object 21"/>
          <p:cNvSpPr/>
          <p:nvPr/>
        </p:nvSpPr>
        <p:spPr>
          <a:xfrm>
            <a:off x="7035335" y="1176935"/>
            <a:ext cx="1421130" cy="1259205"/>
          </a:xfrm>
          <a:custGeom>
            <a:avLst/>
            <a:gdLst/>
            <a:ahLst/>
            <a:cxnLst/>
            <a:rect l="l" t="t" r="r" b="b"/>
            <a:pathLst>
              <a:path w="1421129" h="1259205">
                <a:moveTo>
                  <a:pt x="1420772" y="1259184"/>
                </a:moveTo>
                <a:lnTo>
                  <a:pt x="0" y="0"/>
                </a:lnTo>
              </a:path>
            </a:pathLst>
          </a:custGeom>
          <a:ln w="19049">
            <a:solidFill>
              <a:srgbClr val="FF00FF"/>
            </a:solidFill>
          </a:ln>
        </p:spPr>
        <p:txBody>
          <a:bodyPr wrap="square" lIns="0" tIns="0" rIns="0" bIns="0" rtlCol="0"/>
          <a:lstStyle/>
          <a:p>
            <a:endParaRPr/>
          </a:p>
        </p:txBody>
      </p:sp>
      <p:sp>
        <p:nvSpPr>
          <p:cNvPr id="22" name="object 22"/>
          <p:cNvSpPr/>
          <p:nvPr/>
        </p:nvSpPr>
        <p:spPr>
          <a:xfrm>
            <a:off x="6970635" y="1119595"/>
            <a:ext cx="85725" cy="81280"/>
          </a:xfrm>
          <a:custGeom>
            <a:avLst/>
            <a:gdLst/>
            <a:ahLst/>
            <a:cxnLst/>
            <a:rect l="l" t="t" r="r" b="b"/>
            <a:pathLst>
              <a:path w="85725" h="81280">
                <a:moveTo>
                  <a:pt x="85574" y="33789"/>
                </a:moveTo>
                <a:lnTo>
                  <a:pt x="0" y="0"/>
                </a:lnTo>
                <a:lnTo>
                  <a:pt x="43849" y="80887"/>
                </a:lnTo>
                <a:lnTo>
                  <a:pt x="85574" y="33789"/>
                </a:lnTo>
                <a:close/>
              </a:path>
            </a:pathLst>
          </a:custGeom>
          <a:ln w="19049">
            <a:solidFill>
              <a:srgbClr val="FF00FF"/>
            </a:solidFill>
          </a:ln>
        </p:spPr>
        <p:txBody>
          <a:bodyPr wrap="square" lIns="0" tIns="0" rIns="0" bIns="0" rtlCol="0"/>
          <a:lstStyle/>
          <a:p>
            <a:endParaRPr/>
          </a:p>
        </p:txBody>
      </p:sp>
      <p:sp>
        <p:nvSpPr>
          <p:cNvPr id="24" name="Slide Number Placeholder 23">
            <a:extLst>
              <a:ext uri="{FF2B5EF4-FFF2-40B4-BE49-F238E27FC236}">
                <a16:creationId xmlns:a16="http://schemas.microsoft.com/office/drawing/2014/main" id="{F7E26458-4B0F-EA90-BCF9-C37508BAEDA2}"/>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48</a:t>
            </a:fld>
            <a:endParaRPr lang="en-US" altLang="zh-CN" spc="-5" dirty="0"/>
          </a:p>
        </p:txBody>
      </p:sp>
      <p:sp>
        <p:nvSpPr>
          <p:cNvPr id="2" name="Slide Number Placeholder 1">
            <a:extLst>
              <a:ext uri="{FF2B5EF4-FFF2-40B4-BE49-F238E27FC236}">
                <a16:creationId xmlns:a16="http://schemas.microsoft.com/office/drawing/2014/main" id="{931D9F8B-913D-F2D4-70F0-17D6F1994674}"/>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48</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2" name="object 12"/>
          <p:cNvSpPr/>
          <p:nvPr/>
        </p:nvSpPr>
        <p:spPr>
          <a:xfrm>
            <a:off x="207186" y="1769746"/>
            <a:ext cx="1409697" cy="3905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252999" y="2663619"/>
            <a:ext cx="942973" cy="457199"/>
          </a:xfrm>
          <a:prstGeom prst="rect">
            <a:avLst/>
          </a:prstGeom>
          <a:blipFill>
            <a:blip r:embed="rId5" cstate="print"/>
            <a:stretch>
              <a:fillRect/>
            </a:stretch>
          </a:blipFill>
        </p:spPr>
        <p:txBody>
          <a:bodyPr wrap="square" lIns="0" tIns="0" rIns="0" bIns="0" rtlCol="0"/>
          <a:lstStyle/>
          <a:p>
            <a:endParaRPr/>
          </a:p>
        </p:txBody>
      </p:sp>
      <p:sp>
        <p:nvSpPr>
          <p:cNvPr id="14" name="object 14"/>
          <p:cNvSpPr/>
          <p:nvPr/>
        </p:nvSpPr>
        <p:spPr>
          <a:xfrm>
            <a:off x="2000570" y="2596944"/>
            <a:ext cx="2047870" cy="590548"/>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1971033" y="1655446"/>
            <a:ext cx="2085958" cy="619123"/>
          </a:xfrm>
          <a:prstGeom prst="rect">
            <a:avLst/>
          </a:prstGeom>
          <a:blipFill>
            <a:blip r:embed="rId7" cstate="print"/>
            <a:stretch>
              <a:fillRect/>
            </a:stretch>
          </a:blipFill>
        </p:spPr>
        <p:txBody>
          <a:bodyPr wrap="square" lIns="0" tIns="0" rIns="0" bIns="0" rtlCol="0"/>
          <a:lstStyle/>
          <a:p>
            <a:endParaRPr/>
          </a:p>
        </p:txBody>
      </p:sp>
      <p:sp>
        <p:nvSpPr>
          <p:cNvPr id="16" name="object 16"/>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7" name="object 17"/>
          <p:cNvSpPr/>
          <p:nvPr/>
        </p:nvSpPr>
        <p:spPr>
          <a:xfrm>
            <a:off x="1528596" y="3621417"/>
            <a:ext cx="1609916" cy="619198"/>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7035335" y="1176935"/>
            <a:ext cx="1421130" cy="1259205"/>
          </a:xfrm>
          <a:custGeom>
            <a:avLst/>
            <a:gdLst/>
            <a:ahLst/>
            <a:cxnLst/>
            <a:rect l="l" t="t" r="r" b="b"/>
            <a:pathLst>
              <a:path w="1421129" h="1259205">
                <a:moveTo>
                  <a:pt x="1420772" y="1259184"/>
                </a:moveTo>
                <a:lnTo>
                  <a:pt x="0" y="0"/>
                </a:lnTo>
              </a:path>
            </a:pathLst>
          </a:custGeom>
          <a:ln w="19049">
            <a:solidFill>
              <a:srgbClr val="FF00FF"/>
            </a:solidFill>
          </a:ln>
        </p:spPr>
        <p:txBody>
          <a:bodyPr wrap="square" lIns="0" tIns="0" rIns="0" bIns="0" rtlCol="0"/>
          <a:lstStyle/>
          <a:p>
            <a:endParaRPr/>
          </a:p>
        </p:txBody>
      </p:sp>
      <p:sp>
        <p:nvSpPr>
          <p:cNvPr id="19" name="object 19"/>
          <p:cNvSpPr/>
          <p:nvPr/>
        </p:nvSpPr>
        <p:spPr>
          <a:xfrm>
            <a:off x="6970635" y="1119595"/>
            <a:ext cx="85725" cy="81280"/>
          </a:xfrm>
          <a:custGeom>
            <a:avLst/>
            <a:gdLst/>
            <a:ahLst/>
            <a:cxnLst/>
            <a:rect l="l" t="t" r="r" b="b"/>
            <a:pathLst>
              <a:path w="85725" h="81280">
                <a:moveTo>
                  <a:pt x="85574" y="33789"/>
                </a:moveTo>
                <a:lnTo>
                  <a:pt x="0" y="0"/>
                </a:lnTo>
                <a:lnTo>
                  <a:pt x="43849" y="80887"/>
                </a:lnTo>
                <a:lnTo>
                  <a:pt x="85574" y="33789"/>
                </a:lnTo>
                <a:close/>
              </a:path>
            </a:pathLst>
          </a:custGeom>
          <a:ln w="19049">
            <a:solidFill>
              <a:srgbClr val="FF00FF"/>
            </a:solidFill>
          </a:ln>
        </p:spPr>
        <p:txBody>
          <a:bodyPr wrap="square" lIns="0" tIns="0" rIns="0" bIns="0" rtlCol="0"/>
          <a:lstStyle/>
          <a:p>
            <a:endParaRPr/>
          </a:p>
        </p:txBody>
      </p:sp>
      <p:sp>
        <p:nvSpPr>
          <p:cNvPr id="20" name="object 20"/>
          <p:cNvSpPr/>
          <p:nvPr/>
        </p:nvSpPr>
        <p:spPr>
          <a:xfrm>
            <a:off x="8261108" y="2436120"/>
            <a:ext cx="457198" cy="742948"/>
          </a:xfrm>
          <a:prstGeom prst="rect">
            <a:avLst/>
          </a:prstGeom>
          <a:blipFill>
            <a:blip r:embed="rId9" cstate="print"/>
            <a:stretch>
              <a:fillRect/>
            </a:stretch>
          </a:blipFill>
        </p:spPr>
        <p:txBody>
          <a:bodyPr wrap="square" lIns="0" tIns="0" rIns="0" bIns="0" rtlCol="0"/>
          <a:lstStyle/>
          <a:p>
            <a:endParaRPr/>
          </a:p>
        </p:txBody>
      </p:sp>
      <p:sp>
        <p:nvSpPr>
          <p:cNvPr id="21" name="object 21"/>
          <p:cNvSpPr/>
          <p:nvPr/>
        </p:nvSpPr>
        <p:spPr>
          <a:xfrm>
            <a:off x="8251583" y="2426595"/>
            <a:ext cx="476250" cy="762000"/>
          </a:xfrm>
          <a:custGeom>
            <a:avLst/>
            <a:gdLst/>
            <a:ahLst/>
            <a:cxnLst/>
            <a:rect l="l" t="t" r="r" b="b"/>
            <a:pathLst>
              <a:path w="476250" h="762000">
                <a:moveTo>
                  <a:pt x="0" y="0"/>
                </a:moveTo>
                <a:lnTo>
                  <a:pt x="476249" y="0"/>
                </a:lnTo>
                <a:lnTo>
                  <a:pt x="476249" y="761998"/>
                </a:lnTo>
                <a:lnTo>
                  <a:pt x="0" y="761998"/>
                </a:lnTo>
                <a:lnTo>
                  <a:pt x="0" y="0"/>
                </a:lnTo>
                <a:close/>
              </a:path>
            </a:pathLst>
          </a:custGeom>
          <a:ln w="19049">
            <a:solidFill>
              <a:srgbClr val="FF00FF"/>
            </a:solidFill>
          </a:ln>
        </p:spPr>
        <p:txBody>
          <a:bodyPr wrap="square" lIns="0" tIns="0" rIns="0" bIns="0" rtlCol="0"/>
          <a:lstStyle/>
          <a:p>
            <a:endParaRPr/>
          </a:p>
        </p:txBody>
      </p:sp>
      <p:sp>
        <p:nvSpPr>
          <p:cNvPr id="23" name="Slide Number Placeholder 22">
            <a:extLst>
              <a:ext uri="{FF2B5EF4-FFF2-40B4-BE49-F238E27FC236}">
                <a16:creationId xmlns:a16="http://schemas.microsoft.com/office/drawing/2014/main" id="{10B523E2-A388-07CC-1351-1051496E5915}"/>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49</a:t>
            </a:fld>
            <a:endParaRPr lang="en-US" altLang="zh-CN" spc="-5" dirty="0"/>
          </a:p>
        </p:txBody>
      </p:sp>
      <p:sp>
        <p:nvSpPr>
          <p:cNvPr id="2" name="Slide Number Placeholder 1">
            <a:extLst>
              <a:ext uri="{FF2B5EF4-FFF2-40B4-BE49-F238E27FC236}">
                <a16:creationId xmlns:a16="http://schemas.microsoft.com/office/drawing/2014/main" id="{731E091B-FA3C-3E91-663D-0AD824DA115C}"/>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49</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774665" y="1214797"/>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1" name="object 11"/>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2" name="object 12"/>
          <p:cNvSpPr/>
          <p:nvPr/>
        </p:nvSpPr>
        <p:spPr>
          <a:xfrm>
            <a:off x="207186" y="1769746"/>
            <a:ext cx="1409697" cy="390524"/>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252999" y="2663619"/>
            <a:ext cx="942973" cy="457199"/>
          </a:xfrm>
          <a:prstGeom prst="rect">
            <a:avLst/>
          </a:prstGeom>
          <a:blipFill>
            <a:blip r:embed="rId5" cstate="print"/>
            <a:stretch>
              <a:fillRect/>
            </a:stretch>
          </a:blipFill>
        </p:spPr>
        <p:txBody>
          <a:bodyPr wrap="square" lIns="0" tIns="0" rIns="0" bIns="0" rtlCol="0"/>
          <a:lstStyle/>
          <a:p>
            <a:endParaRPr/>
          </a:p>
        </p:txBody>
      </p:sp>
      <p:sp>
        <p:nvSpPr>
          <p:cNvPr id="14" name="object 14"/>
          <p:cNvSpPr/>
          <p:nvPr/>
        </p:nvSpPr>
        <p:spPr>
          <a:xfrm>
            <a:off x="2000570" y="2596944"/>
            <a:ext cx="2047870" cy="590548"/>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1971033" y="1655446"/>
            <a:ext cx="2085958" cy="619123"/>
          </a:xfrm>
          <a:prstGeom prst="rect">
            <a:avLst/>
          </a:prstGeom>
          <a:blipFill>
            <a:blip r:embed="rId7" cstate="print"/>
            <a:stretch>
              <a:fillRect/>
            </a:stretch>
          </a:blipFill>
        </p:spPr>
        <p:txBody>
          <a:bodyPr wrap="square" lIns="0" tIns="0" rIns="0" bIns="0" rtlCol="0"/>
          <a:lstStyle/>
          <a:p>
            <a:endParaRPr/>
          </a:p>
        </p:txBody>
      </p:sp>
      <p:sp>
        <p:nvSpPr>
          <p:cNvPr id="16" name="object 16"/>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7" name="object 17"/>
          <p:cNvSpPr/>
          <p:nvPr/>
        </p:nvSpPr>
        <p:spPr>
          <a:xfrm>
            <a:off x="1528596" y="3621417"/>
            <a:ext cx="1609916" cy="619198"/>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5258214" y="1382272"/>
            <a:ext cx="3197860" cy="1054100"/>
          </a:xfrm>
          <a:custGeom>
            <a:avLst/>
            <a:gdLst/>
            <a:ahLst/>
            <a:cxnLst/>
            <a:rect l="l" t="t" r="r" b="b"/>
            <a:pathLst>
              <a:path w="3197859" h="1054100">
                <a:moveTo>
                  <a:pt x="3197743" y="1053822"/>
                </a:moveTo>
                <a:lnTo>
                  <a:pt x="0" y="0"/>
                </a:lnTo>
              </a:path>
            </a:pathLst>
          </a:custGeom>
          <a:ln w="19049">
            <a:solidFill>
              <a:srgbClr val="FF00FF"/>
            </a:solidFill>
          </a:ln>
        </p:spPr>
        <p:txBody>
          <a:bodyPr wrap="square" lIns="0" tIns="0" rIns="0" bIns="0" rtlCol="0"/>
          <a:lstStyle/>
          <a:p>
            <a:endParaRPr/>
          </a:p>
        </p:txBody>
      </p:sp>
      <p:sp>
        <p:nvSpPr>
          <p:cNvPr id="19" name="object 19"/>
          <p:cNvSpPr/>
          <p:nvPr/>
        </p:nvSpPr>
        <p:spPr>
          <a:xfrm>
            <a:off x="5176114" y="1352387"/>
            <a:ext cx="92075" cy="60325"/>
          </a:xfrm>
          <a:custGeom>
            <a:avLst/>
            <a:gdLst/>
            <a:ahLst/>
            <a:cxnLst/>
            <a:rect l="l" t="t" r="r" b="b"/>
            <a:pathLst>
              <a:path w="92075" h="60325">
                <a:moveTo>
                  <a:pt x="91949" y="0"/>
                </a:moveTo>
                <a:lnTo>
                  <a:pt x="0" y="2827"/>
                </a:lnTo>
                <a:lnTo>
                  <a:pt x="72249" y="59769"/>
                </a:lnTo>
                <a:lnTo>
                  <a:pt x="91949" y="0"/>
                </a:lnTo>
                <a:close/>
              </a:path>
            </a:pathLst>
          </a:custGeom>
          <a:ln w="19049">
            <a:solidFill>
              <a:srgbClr val="FF00FF"/>
            </a:solidFill>
          </a:ln>
        </p:spPr>
        <p:txBody>
          <a:bodyPr wrap="square" lIns="0" tIns="0" rIns="0" bIns="0" rtlCol="0"/>
          <a:lstStyle/>
          <a:p>
            <a:endParaRPr/>
          </a:p>
        </p:txBody>
      </p:sp>
      <p:sp>
        <p:nvSpPr>
          <p:cNvPr id="20" name="object 20"/>
          <p:cNvSpPr/>
          <p:nvPr/>
        </p:nvSpPr>
        <p:spPr>
          <a:xfrm>
            <a:off x="8271858" y="2436120"/>
            <a:ext cx="457199" cy="619198"/>
          </a:xfrm>
          <a:prstGeom prst="rect">
            <a:avLst/>
          </a:prstGeom>
          <a:blipFill>
            <a:blip r:embed="rId9" cstate="print"/>
            <a:stretch>
              <a:fillRect/>
            </a:stretch>
          </a:blipFill>
        </p:spPr>
        <p:txBody>
          <a:bodyPr wrap="square" lIns="0" tIns="0" rIns="0" bIns="0" rtlCol="0"/>
          <a:lstStyle/>
          <a:p>
            <a:endParaRPr/>
          </a:p>
        </p:txBody>
      </p:sp>
      <p:sp>
        <p:nvSpPr>
          <p:cNvPr id="21" name="object 21"/>
          <p:cNvSpPr/>
          <p:nvPr/>
        </p:nvSpPr>
        <p:spPr>
          <a:xfrm>
            <a:off x="8262333" y="2426595"/>
            <a:ext cx="476250" cy="638810"/>
          </a:xfrm>
          <a:custGeom>
            <a:avLst/>
            <a:gdLst/>
            <a:ahLst/>
            <a:cxnLst/>
            <a:rect l="l" t="t" r="r" b="b"/>
            <a:pathLst>
              <a:path w="476250" h="638810">
                <a:moveTo>
                  <a:pt x="0" y="0"/>
                </a:moveTo>
                <a:lnTo>
                  <a:pt x="476249" y="0"/>
                </a:lnTo>
                <a:lnTo>
                  <a:pt x="476249" y="638248"/>
                </a:lnTo>
                <a:lnTo>
                  <a:pt x="0" y="638248"/>
                </a:lnTo>
                <a:lnTo>
                  <a:pt x="0" y="0"/>
                </a:lnTo>
                <a:close/>
              </a:path>
            </a:pathLst>
          </a:custGeom>
          <a:ln w="19049">
            <a:solidFill>
              <a:srgbClr val="FF00FF"/>
            </a:solidFill>
          </a:ln>
        </p:spPr>
        <p:txBody>
          <a:bodyPr wrap="square" lIns="0" tIns="0" rIns="0" bIns="0" rtlCol="0"/>
          <a:lstStyle/>
          <a:p>
            <a:endParaRPr/>
          </a:p>
        </p:txBody>
      </p:sp>
      <p:sp>
        <p:nvSpPr>
          <p:cNvPr id="23" name="Slide Number Placeholder 22">
            <a:extLst>
              <a:ext uri="{FF2B5EF4-FFF2-40B4-BE49-F238E27FC236}">
                <a16:creationId xmlns:a16="http://schemas.microsoft.com/office/drawing/2014/main" id="{3298E2E6-C2E1-C764-211D-711DE4DC33C3}"/>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50</a:t>
            </a:fld>
            <a:endParaRPr lang="en-US" altLang="zh-CN" spc="-5" dirty="0"/>
          </a:p>
        </p:txBody>
      </p:sp>
      <p:sp>
        <p:nvSpPr>
          <p:cNvPr id="2" name="Slide Number Placeholder 1">
            <a:extLst>
              <a:ext uri="{FF2B5EF4-FFF2-40B4-BE49-F238E27FC236}">
                <a16:creationId xmlns:a16="http://schemas.microsoft.com/office/drawing/2014/main" id="{A6D8C111-1F11-6012-A93B-823977F5549F}"/>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50</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1" name="object 11"/>
          <p:cNvSpPr/>
          <p:nvPr/>
        </p:nvSpPr>
        <p:spPr>
          <a:xfrm>
            <a:off x="207186" y="1769746"/>
            <a:ext cx="1409697" cy="390524"/>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252999" y="2663619"/>
            <a:ext cx="942973" cy="457199"/>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2000570" y="2596944"/>
            <a:ext cx="2047870" cy="590548"/>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1971033" y="1655446"/>
            <a:ext cx="2085958" cy="619123"/>
          </a:xfrm>
          <a:prstGeom prst="rect">
            <a:avLst/>
          </a:prstGeom>
          <a:blipFill>
            <a:blip r:embed="rId7" cstate="print"/>
            <a:stretch>
              <a:fillRect/>
            </a:stretch>
          </a:blipFill>
        </p:spPr>
        <p:txBody>
          <a:bodyPr wrap="square" lIns="0" tIns="0" rIns="0" bIns="0" rtlCol="0"/>
          <a:lstStyle/>
          <a:p>
            <a:endParaRPr/>
          </a:p>
        </p:txBody>
      </p:sp>
      <p:sp>
        <p:nvSpPr>
          <p:cNvPr id="15" name="object 15"/>
          <p:cNvSpPr/>
          <p:nvPr/>
        </p:nvSpPr>
        <p:spPr>
          <a:xfrm>
            <a:off x="1528596" y="3621417"/>
            <a:ext cx="1609916" cy="619198"/>
          </a:xfrm>
          <a:prstGeom prst="rect">
            <a:avLst/>
          </a:prstGeom>
          <a:blipFill>
            <a:blip r:embed="rId8" cstate="print"/>
            <a:stretch>
              <a:fillRect/>
            </a:stretch>
          </a:blipFill>
        </p:spPr>
        <p:txBody>
          <a:bodyPr wrap="square" lIns="0" tIns="0" rIns="0" bIns="0" rtlCol="0"/>
          <a:lstStyle/>
          <a:p>
            <a:endParaRPr/>
          </a:p>
        </p:txBody>
      </p:sp>
      <p:sp>
        <p:nvSpPr>
          <p:cNvPr id="16" name="object 16"/>
          <p:cNvSpPr/>
          <p:nvPr/>
        </p:nvSpPr>
        <p:spPr>
          <a:xfrm>
            <a:off x="5455614" y="3147443"/>
            <a:ext cx="1956895" cy="747173"/>
          </a:xfrm>
          <a:prstGeom prst="rect">
            <a:avLst/>
          </a:prstGeom>
          <a:blipFill>
            <a:blip r:embed="rId9" cstate="print"/>
            <a:stretch>
              <a:fillRect/>
            </a:stretch>
          </a:blipFill>
        </p:spPr>
        <p:txBody>
          <a:bodyPr wrap="square" lIns="0" tIns="0" rIns="0" bIns="0" rtlCol="0"/>
          <a:lstStyle/>
          <a:p>
            <a:endParaRPr/>
          </a:p>
        </p:txBody>
      </p:sp>
      <p:sp>
        <p:nvSpPr>
          <p:cNvPr id="17" name="object 17"/>
          <p:cNvSpPr/>
          <p:nvPr/>
        </p:nvSpPr>
        <p:spPr>
          <a:xfrm>
            <a:off x="5446088" y="3137918"/>
            <a:ext cx="1976120" cy="766445"/>
          </a:xfrm>
          <a:custGeom>
            <a:avLst/>
            <a:gdLst/>
            <a:ahLst/>
            <a:cxnLst/>
            <a:rect l="l" t="t" r="r" b="b"/>
            <a:pathLst>
              <a:path w="1976120" h="766445">
                <a:moveTo>
                  <a:pt x="0" y="0"/>
                </a:moveTo>
                <a:lnTo>
                  <a:pt x="1975946" y="0"/>
                </a:lnTo>
                <a:lnTo>
                  <a:pt x="1975946" y="766223"/>
                </a:lnTo>
                <a:lnTo>
                  <a:pt x="0" y="766223"/>
                </a:lnTo>
                <a:lnTo>
                  <a:pt x="0" y="0"/>
                </a:lnTo>
                <a:close/>
              </a:path>
            </a:pathLst>
          </a:custGeom>
          <a:ln w="19049">
            <a:solidFill>
              <a:srgbClr val="38751C"/>
            </a:solidFill>
          </a:ln>
        </p:spPr>
        <p:txBody>
          <a:bodyPr wrap="square" lIns="0" tIns="0" rIns="0" bIns="0" rtlCol="0"/>
          <a:lstStyle/>
          <a:p>
            <a:endParaRPr/>
          </a:p>
        </p:txBody>
      </p:sp>
      <p:sp>
        <p:nvSpPr>
          <p:cNvPr id="18" name="object 18"/>
          <p:cNvSpPr txBox="1"/>
          <p:nvPr/>
        </p:nvSpPr>
        <p:spPr>
          <a:xfrm>
            <a:off x="423299" y="2744051"/>
            <a:ext cx="6690995" cy="1383665"/>
          </a:xfrm>
          <a:prstGeom prst="rect">
            <a:avLst/>
          </a:prstGeom>
        </p:spPr>
        <p:txBody>
          <a:bodyPr vert="horz" wrap="square" lIns="0" tIns="0" rIns="0" bIns="0" rtlCol="0">
            <a:spAutoFit/>
          </a:bodyPr>
          <a:lstStyle/>
          <a:p>
            <a:pPr marL="5204460">
              <a:lnSpc>
                <a:spcPct val="100000"/>
              </a:lnSpc>
            </a:pPr>
            <a:r>
              <a:rPr sz="2400" spc="-5" dirty="0">
                <a:solidFill>
                  <a:srgbClr val="38751C"/>
                </a:solidFill>
                <a:latin typeface="Arial"/>
                <a:cs typeface="Arial"/>
              </a:rPr>
              <a:t>Chain</a:t>
            </a:r>
            <a:r>
              <a:rPr sz="2400" spc="-65" dirty="0">
                <a:solidFill>
                  <a:srgbClr val="38751C"/>
                </a:solidFill>
                <a:latin typeface="Arial"/>
                <a:cs typeface="Arial"/>
              </a:rPr>
              <a:t> </a:t>
            </a:r>
            <a:r>
              <a:rPr sz="2400" spc="-5" dirty="0">
                <a:solidFill>
                  <a:srgbClr val="38751C"/>
                </a:solidFill>
                <a:latin typeface="Arial"/>
                <a:cs typeface="Arial"/>
              </a:rPr>
              <a:t>rule:</a:t>
            </a:r>
            <a:endParaRPr sz="2400" dirty="0">
              <a:latin typeface="Arial"/>
              <a:cs typeface="Arial"/>
            </a:endParaRPr>
          </a:p>
          <a:p>
            <a:pPr>
              <a:lnSpc>
                <a:spcPct val="100000"/>
              </a:lnSpc>
            </a:pPr>
            <a:endParaRPr sz="2400" dirty="0">
              <a:latin typeface="Times New Roman"/>
              <a:cs typeface="Times New Roman"/>
            </a:endParaRPr>
          </a:p>
          <a:p>
            <a:pPr>
              <a:lnSpc>
                <a:spcPct val="100000"/>
              </a:lnSpc>
              <a:spcBef>
                <a:spcPts val="50"/>
              </a:spcBef>
            </a:pPr>
            <a:endParaRPr sz="1950" dirty="0">
              <a:latin typeface="Times New Roman"/>
              <a:cs typeface="Times New Roman"/>
            </a:endParaRPr>
          </a:p>
          <a:p>
            <a:pPr marL="12700">
              <a:lnSpc>
                <a:spcPct val="100000"/>
              </a:lnSpc>
            </a:pPr>
            <a:r>
              <a:rPr sz="2400" spc="-5" dirty="0">
                <a:latin typeface="Arial"/>
                <a:cs typeface="Arial"/>
              </a:rPr>
              <a:t>Want:</a:t>
            </a:r>
            <a:endParaRPr sz="2400" dirty="0">
              <a:latin typeface="Arial"/>
              <a:cs typeface="Arial"/>
            </a:endParaRPr>
          </a:p>
        </p:txBody>
      </p:sp>
      <p:sp>
        <p:nvSpPr>
          <p:cNvPr id="19" name="object 19"/>
          <p:cNvSpPr/>
          <p:nvPr/>
        </p:nvSpPr>
        <p:spPr>
          <a:xfrm>
            <a:off x="5258214" y="1382272"/>
            <a:ext cx="3197860" cy="1054100"/>
          </a:xfrm>
          <a:custGeom>
            <a:avLst/>
            <a:gdLst/>
            <a:ahLst/>
            <a:cxnLst/>
            <a:rect l="l" t="t" r="r" b="b"/>
            <a:pathLst>
              <a:path w="3197859" h="1054100">
                <a:moveTo>
                  <a:pt x="3197743" y="1053822"/>
                </a:moveTo>
                <a:lnTo>
                  <a:pt x="0" y="0"/>
                </a:lnTo>
              </a:path>
            </a:pathLst>
          </a:custGeom>
          <a:ln w="19049">
            <a:solidFill>
              <a:srgbClr val="FF00FF"/>
            </a:solidFill>
          </a:ln>
        </p:spPr>
        <p:txBody>
          <a:bodyPr wrap="square" lIns="0" tIns="0" rIns="0" bIns="0" rtlCol="0"/>
          <a:lstStyle/>
          <a:p>
            <a:endParaRPr/>
          </a:p>
        </p:txBody>
      </p:sp>
      <p:sp>
        <p:nvSpPr>
          <p:cNvPr id="20" name="object 20"/>
          <p:cNvSpPr/>
          <p:nvPr/>
        </p:nvSpPr>
        <p:spPr>
          <a:xfrm>
            <a:off x="5176114" y="1352387"/>
            <a:ext cx="92075" cy="60325"/>
          </a:xfrm>
          <a:custGeom>
            <a:avLst/>
            <a:gdLst/>
            <a:ahLst/>
            <a:cxnLst/>
            <a:rect l="l" t="t" r="r" b="b"/>
            <a:pathLst>
              <a:path w="92075" h="60325">
                <a:moveTo>
                  <a:pt x="91949" y="0"/>
                </a:moveTo>
                <a:lnTo>
                  <a:pt x="0" y="2827"/>
                </a:lnTo>
                <a:lnTo>
                  <a:pt x="72249" y="59769"/>
                </a:lnTo>
                <a:lnTo>
                  <a:pt x="91949" y="0"/>
                </a:lnTo>
                <a:close/>
              </a:path>
            </a:pathLst>
          </a:custGeom>
          <a:ln w="19049">
            <a:solidFill>
              <a:srgbClr val="FF00FF"/>
            </a:solidFill>
          </a:ln>
        </p:spPr>
        <p:txBody>
          <a:bodyPr wrap="square" lIns="0" tIns="0" rIns="0" bIns="0" rtlCol="0"/>
          <a:lstStyle/>
          <a:p>
            <a:endParaRPr/>
          </a:p>
        </p:txBody>
      </p:sp>
      <p:sp>
        <p:nvSpPr>
          <p:cNvPr id="21" name="object 21"/>
          <p:cNvSpPr/>
          <p:nvPr/>
        </p:nvSpPr>
        <p:spPr>
          <a:xfrm>
            <a:off x="8271858" y="2436120"/>
            <a:ext cx="457199" cy="619198"/>
          </a:xfrm>
          <a:prstGeom prst="rect">
            <a:avLst/>
          </a:prstGeom>
          <a:blipFill>
            <a:blip r:embed="rId10" cstate="print"/>
            <a:stretch>
              <a:fillRect/>
            </a:stretch>
          </a:blipFill>
        </p:spPr>
        <p:txBody>
          <a:bodyPr wrap="square" lIns="0" tIns="0" rIns="0" bIns="0" rtlCol="0"/>
          <a:lstStyle/>
          <a:p>
            <a:endParaRPr/>
          </a:p>
        </p:txBody>
      </p:sp>
      <p:sp>
        <p:nvSpPr>
          <p:cNvPr id="22" name="object 22"/>
          <p:cNvSpPr/>
          <p:nvPr/>
        </p:nvSpPr>
        <p:spPr>
          <a:xfrm>
            <a:off x="8262333" y="2426595"/>
            <a:ext cx="476250" cy="638810"/>
          </a:xfrm>
          <a:custGeom>
            <a:avLst/>
            <a:gdLst/>
            <a:ahLst/>
            <a:cxnLst/>
            <a:rect l="l" t="t" r="r" b="b"/>
            <a:pathLst>
              <a:path w="476250" h="638810">
                <a:moveTo>
                  <a:pt x="0" y="0"/>
                </a:moveTo>
                <a:lnTo>
                  <a:pt x="476249" y="0"/>
                </a:lnTo>
                <a:lnTo>
                  <a:pt x="476249" y="638248"/>
                </a:lnTo>
                <a:lnTo>
                  <a:pt x="0" y="638248"/>
                </a:lnTo>
                <a:lnTo>
                  <a:pt x="0" y="0"/>
                </a:lnTo>
                <a:close/>
              </a:path>
            </a:pathLst>
          </a:custGeom>
          <a:ln w="19049">
            <a:solidFill>
              <a:srgbClr val="FF00FF"/>
            </a:solidFill>
          </a:ln>
        </p:spPr>
        <p:txBody>
          <a:bodyPr wrap="square" lIns="0" tIns="0" rIns="0" bIns="0" rtlCol="0"/>
          <a:lstStyle/>
          <a:p>
            <a:endParaRPr/>
          </a:p>
        </p:txBody>
      </p:sp>
      <p:sp>
        <p:nvSpPr>
          <p:cNvPr id="23" name="object 23"/>
          <p:cNvSpPr/>
          <p:nvPr/>
        </p:nvSpPr>
        <p:spPr>
          <a:xfrm>
            <a:off x="5510314" y="3171368"/>
            <a:ext cx="504448" cy="683198"/>
          </a:xfrm>
          <a:prstGeom prst="rect">
            <a:avLst/>
          </a:prstGeom>
          <a:blipFill>
            <a:blip r:embed="rId10" cstate="print"/>
            <a:stretch>
              <a:fillRect/>
            </a:stretch>
          </a:blipFill>
        </p:spPr>
        <p:txBody>
          <a:bodyPr wrap="square" lIns="0" tIns="0" rIns="0" bIns="0" rtlCol="0"/>
          <a:lstStyle/>
          <a:p>
            <a:endParaRPr/>
          </a:p>
        </p:txBody>
      </p:sp>
      <p:sp>
        <p:nvSpPr>
          <p:cNvPr id="24" name="object 24"/>
          <p:cNvSpPr/>
          <p:nvPr/>
        </p:nvSpPr>
        <p:spPr>
          <a:xfrm>
            <a:off x="6900085" y="3185918"/>
            <a:ext cx="504448" cy="683198"/>
          </a:xfrm>
          <a:prstGeom prst="rect">
            <a:avLst/>
          </a:prstGeom>
          <a:blipFill>
            <a:blip r:embed="rId11" cstate="print"/>
            <a:stretch>
              <a:fillRect/>
            </a:stretch>
          </a:blipFill>
        </p:spPr>
        <p:txBody>
          <a:bodyPr wrap="square" lIns="0" tIns="0" rIns="0" bIns="0" rtlCol="0"/>
          <a:lstStyle/>
          <a:p>
            <a:endParaRPr/>
          </a:p>
        </p:txBody>
      </p:sp>
      <p:sp>
        <p:nvSpPr>
          <p:cNvPr id="26" name="TextBox 25">
            <a:extLst>
              <a:ext uri="{FF2B5EF4-FFF2-40B4-BE49-F238E27FC236}">
                <a16:creationId xmlns:a16="http://schemas.microsoft.com/office/drawing/2014/main" id="{553BAD49-889B-E0B7-DFA9-BBDE33AD0E95}"/>
              </a:ext>
            </a:extLst>
          </p:cNvPr>
          <p:cNvSpPr txBox="1"/>
          <p:nvPr/>
        </p:nvSpPr>
        <p:spPr>
          <a:xfrm>
            <a:off x="6477000" y="4049530"/>
            <a:ext cx="393056" cy="400110"/>
          </a:xfrm>
          <a:prstGeom prst="rect">
            <a:avLst/>
          </a:prstGeom>
          <a:noFill/>
        </p:spPr>
        <p:txBody>
          <a:bodyPr wrap="none" rtlCol="0">
            <a:spAutoFit/>
          </a:bodyPr>
          <a:lstStyle/>
          <a:p>
            <a:r>
              <a:rPr lang="en-US" altLang="zh-CN" sz="2000" dirty="0">
                <a:solidFill>
                  <a:srgbClr val="C00000"/>
                </a:solidFill>
              </a:rPr>
              <a:t>-4</a:t>
            </a:r>
            <a:endParaRPr lang="zh-CN" altLang="en-US" sz="2000" dirty="0">
              <a:solidFill>
                <a:srgbClr val="C00000"/>
              </a:solidFill>
            </a:endParaRPr>
          </a:p>
        </p:txBody>
      </p:sp>
      <p:cxnSp>
        <p:nvCxnSpPr>
          <p:cNvPr id="29" name="Straight Arrow Connector 28">
            <a:extLst>
              <a:ext uri="{FF2B5EF4-FFF2-40B4-BE49-F238E27FC236}">
                <a16:creationId xmlns:a16="http://schemas.microsoft.com/office/drawing/2014/main" id="{6E021BB0-CE2D-8DB6-35E8-9A3E3BA61D6E}"/>
              </a:ext>
            </a:extLst>
          </p:cNvPr>
          <p:cNvCxnSpPr>
            <a:cxnSpLocks/>
          </p:cNvCxnSpPr>
          <p:nvPr/>
        </p:nvCxnSpPr>
        <p:spPr>
          <a:xfrm flipV="1">
            <a:off x="6705600" y="3904363"/>
            <a:ext cx="0" cy="22335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1" name="TextBox 30">
            <a:extLst>
              <a:ext uri="{FF2B5EF4-FFF2-40B4-BE49-F238E27FC236}">
                <a16:creationId xmlns:a16="http://schemas.microsoft.com/office/drawing/2014/main" id="{C49654E4-0A1C-2AE4-F253-297D3E587CD3}"/>
              </a:ext>
            </a:extLst>
          </p:cNvPr>
          <p:cNvSpPr txBox="1"/>
          <p:nvPr/>
        </p:nvSpPr>
        <p:spPr>
          <a:xfrm>
            <a:off x="7061900" y="4049530"/>
            <a:ext cx="314510" cy="400110"/>
          </a:xfrm>
          <a:prstGeom prst="rect">
            <a:avLst/>
          </a:prstGeom>
          <a:noFill/>
        </p:spPr>
        <p:txBody>
          <a:bodyPr wrap="none" rtlCol="0">
            <a:spAutoFit/>
          </a:bodyPr>
          <a:lstStyle/>
          <a:p>
            <a:r>
              <a:rPr lang="en-US" altLang="zh-CN" sz="2000" dirty="0">
                <a:solidFill>
                  <a:srgbClr val="C00000"/>
                </a:solidFill>
              </a:rPr>
              <a:t>1</a:t>
            </a:r>
            <a:endParaRPr lang="zh-CN" altLang="en-US" sz="2000" dirty="0">
              <a:solidFill>
                <a:srgbClr val="C00000"/>
              </a:solidFill>
            </a:endParaRPr>
          </a:p>
        </p:txBody>
      </p:sp>
      <p:cxnSp>
        <p:nvCxnSpPr>
          <p:cNvPr id="32" name="Straight Arrow Connector 31">
            <a:extLst>
              <a:ext uri="{FF2B5EF4-FFF2-40B4-BE49-F238E27FC236}">
                <a16:creationId xmlns:a16="http://schemas.microsoft.com/office/drawing/2014/main" id="{2E6E0589-55D8-68BD-84B3-28FCEDFA8377}"/>
              </a:ext>
            </a:extLst>
          </p:cNvPr>
          <p:cNvCxnSpPr>
            <a:cxnSpLocks/>
          </p:cNvCxnSpPr>
          <p:nvPr/>
        </p:nvCxnSpPr>
        <p:spPr>
          <a:xfrm flipV="1">
            <a:off x="7197391" y="3904363"/>
            <a:ext cx="0" cy="22335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8" name="Slide Number Placeholder 27">
            <a:extLst>
              <a:ext uri="{FF2B5EF4-FFF2-40B4-BE49-F238E27FC236}">
                <a16:creationId xmlns:a16="http://schemas.microsoft.com/office/drawing/2014/main" id="{B104CC5F-462F-B5C0-1AD9-DBFB0F4C152D}"/>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51</a:t>
            </a:fld>
            <a:endParaRPr lang="en-US" altLang="zh-CN" spc="-5" dirty="0"/>
          </a:p>
        </p:txBody>
      </p:sp>
      <p:sp>
        <p:nvSpPr>
          <p:cNvPr id="2" name="Slide Number Placeholder 1">
            <a:extLst>
              <a:ext uri="{FF2B5EF4-FFF2-40B4-BE49-F238E27FC236}">
                <a16:creationId xmlns:a16="http://schemas.microsoft.com/office/drawing/2014/main" id="{40CF3619-2E4D-4137-7DA9-9C7369F2FBB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51</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p:nvPr/>
        </p:nvSpPr>
        <p:spPr>
          <a:xfrm>
            <a:off x="4702040" y="455999"/>
            <a:ext cx="375285" cy="263525"/>
          </a:xfrm>
          <a:custGeom>
            <a:avLst/>
            <a:gdLst/>
            <a:ahLst/>
            <a:cxnLst/>
            <a:rect l="l" t="t" r="r" b="b"/>
            <a:pathLst>
              <a:path w="375285" h="263525">
                <a:moveTo>
                  <a:pt x="0" y="0"/>
                </a:moveTo>
                <a:lnTo>
                  <a:pt x="374999" y="0"/>
                </a:lnTo>
                <a:lnTo>
                  <a:pt x="374999" y="263399"/>
                </a:lnTo>
                <a:lnTo>
                  <a:pt x="0" y="263399"/>
                </a:lnTo>
                <a:lnTo>
                  <a:pt x="0" y="0"/>
                </a:lnTo>
                <a:close/>
              </a:path>
            </a:pathLst>
          </a:custGeom>
          <a:solidFill>
            <a:srgbClr val="FFFFFF"/>
          </a:solidFill>
        </p:spPr>
        <p:txBody>
          <a:bodyPr wrap="square" lIns="0" tIns="0" rIns="0" bIns="0" rtlCol="0"/>
          <a:lstStyle/>
          <a:p>
            <a:endParaRPr/>
          </a:p>
        </p:txBody>
      </p:sp>
      <p:sp>
        <p:nvSpPr>
          <p:cNvPr id="10" name="object 10"/>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1" name="object 11"/>
          <p:cNvSpPr/>
          <p:nvPr/>
        </p:nvSpPr>
        <p:spPr>
          <a:xfrm>
            <a:off x="207186" y="1769746"/>
            <a:ext cx="1409697" cy="390524"/>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252999" y="2663619"/>
            <a:ext cx="942973" cy="457199"/>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2000570" y="2596944"/>
            <a:ext cx="2047870" cy="590548"/>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1971033" y="1655446"/>
            <a:ext cx="2085958" cy="619123"/>
          </a:xfrm>
          <a:prstGeom prst="rect">
            <a:avLst/>
          </a:prstGeom>
          <a:blipFill>
            <a:blip r:embed="rId7" cstate="print"/>
            <a:stretch>
              <a:fillRect/>
            </a:stretch>
          </a:blipFill>
        </p:spPr>
        <p:txBody>
          <a:bodyPr wrap="square" lIns="0" tIns="0" rIns="0" bIns="0" rtlCol="0"/>
          <a:lstStyle/>
          <a:p>
            <a:endParaRPr/>
          </a:p>
        </p:txBody>
      </p:sp>
      <p:sp>
        <p:nvSpPr>
          <p:cNvPr id="15" name="object 15"/>
          <p:cNvSpPr txBox="1"/>
          <p:nvPr/>
        </p:nvSpPr>
        <p:spPr>
          <a:xfrm>
            <a:off x="423299" y="3751870"/>
            <a:ext cx="8210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Want:</a:t>
            </a:r>
            <a:endParaRPr sz="2400">
              <a:latin typeface="Arial"/>
              <a:cs typeface="Arial"/>
            </a:endParaRPr>
          </a:p>
        </p:txBody>
      </p:sp>
      <p:sp>
        <p:nvSpPr>
          <p:cNvPr id="16" name="object 16"/>
          <p:cNvSpPr/>
          <p:nvPr/>
        </p:nvSpPr>
        <p:spPr>
          <a:xfrm>
            <a:off x="1528596" y="3621417"/>
            <a:ext cx="1609916" cy="61919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5177314" y="642551"/>
            <a:ext cx="3279140" cy="1793875"/>
          </a:xfrm>
          <a:custGeom>
            <a:avLst/>
            <a:gdLst/>
            <a:ahLst/>
            <a:cxnLst/>
            <a:rect l="l" t="t" r="r" b="b"/>
            <a:pathLst>
              <a:path w="3279140" h="1793875">
                <a:moveTo>
                  <a:pt x="3278618" y="1793443"/>
                </a:moveTo>
                <a:lnTo>
                  <a:pt x="0" y="0"/>
                </a:lnTo>
              </a:path>
            </a:pathLst>
          </a:custGeom>
          <a:ln w="19049">
            <a:solidFill>
              <a:srgbClr val="FF00FF"/>
            </a:solidFill>
          </a:ln>
        </p:spPr>
        <p:txBody>
          <a:bodyPr wrap="square" lIns="0" tIns="0" rIns="0" bIns="0" rtlCol="0"/>
          <a:lstStyle/>
          <a:p>
            <a:endParaRPr/>
          </a:p>
        </p:txBody>
      </p:sp>
      <p:sp>
        <p:nvSpPr>
          <p:cNvPr id="18" name="object 18"/>
          <p:cNvSpPr/>
          <p:nvPr/>
        </p:nvSpPr>
        <p:spPr>
          <a:xfrm>
            <a:off x="5101464" y="601063"/>
            <a:ext cx="91440" cy="69215"/>
          </a:xfrm>
          <a:custGeom>
            <a:avLst/>
            <a:gdLst/>
            <a:ahLst/>
            <a:cxnLst/>
            <a:rect l="l" t="t" r="r" b="b"/>
            <a:pathLst>
              <a:path w="91439" h="69215">
                <a:moveTo>
                  <a:pt x="90949" y="13882"/>
                </a:moveTo>
                <a:lnTo>
                  <a:pt x="0" y="0"/>
                </a:lnTo>
                <a:lnTo>
                  <a:pt x="60749" y="69092"/>
                </a:lnTo>
                <a:lnTo>
                  <a:pt x="90949" y="13882"/>
                </a:lnTo>
                <a:close/>
              </a:path>
            </a:pathLst>
          </a:custGeom>
          <a:ln w="19049">
            <a:solidFill>
              <a:srgbClr val="FF00FF"/>
            </a:solidFill>
          </a:ln>
        </p:spPr>
        <p:txBody>
          <a:bodyPr wrap="square" lIns="0" tIns="0" rIns="0" bIns="0" rtlCol="0"/>
          <a:lstStyle/>
          <a:p>
            <a:endParaRPr/>
          </a:p>
        </p:txBody>
      </p:sp>
      <p:sp>
        <p:nvSpPr>
          <p:cNvPr id="19" name="object 19"/>
          <p:cNvSpPr/>
          <p:nvPr/>
        </p:nvSpPr>
        <p:spPr>
          <a:xfrm>
            <a:off x="8262683" y="2435995"/>
            <a:ext cx="426474" cy="619198"/>
          </a:xfrm>
          <a:prstGeom prst="rect">
            <a:avLst/>
          </a:prstGeom>
          <a:blipFill>
            <a:blip r:embed="rId9" cstate="print"/>
            <a:stretch>
              <a:fillRect/>
            </a:stretch>
          </a:blipFill>
        </p:spPr>
        <p:txBody>
          <a:bodyPr wrap="square" lIns="0" tIns="0" rIns="0" bIns="0" rtlCol="0"/>
          <a:lstStyle/>
          <a:p>
            <a:endParaRPr/>
          </a:p>
        </p:txBody>
      </p:sp>
      <p:sp>
        <p:nvSpPr>
          <p:cNvPr id="20" name="object 20"/>
          <p:cNvSpPr/>
          <p:nvPr/>
        </p:nvSpPr>
        <p:spPr>
          <a:xfrm>
            <a:off x="8253158" y="2426470"/>
            <a:ext cx="445770" cy="638810"/>
          </a:xfrm>
          <a:custGeom>
            <a:avLst/>
            <a:gdLst/>
            <a:ahLst/>
            <a:cxnLst/>
            <a:rect l="l" t="t" r="r" b="b"/>
            <a:pathLst>
              <a:path w="445770" h="638810">
                <a:moveTo>
                  <a:pt x="0" y="0"/>
                </a:moveTo>
                <a:lnTo>
                  <a:pt x="445524" y="0"/>
                </a:lnTo>
                <a:lnTo>
                  <a:pt x="445524" y="638248"/>
                </a:lnTo>
                <a:lnTo>
                  <a:pt x="0" y="638248"/>
                </a:lnTo>
                <a:lnTo>
                  <a:pt x="0" y="0"/>
                </a:lnTo>
                <a:close/>
              </a:path>
            </a:pathLst>
          </a:custGeom>
          <a:ln w="19049">
            <a:solidFill>
              <a:srgbClr val="FF00FF"/>
            </a:solidFill>
          </a:ln>
        </p:spPr>
        <p:txBody>
          <a:bodyPr wrap="square" lIns="0" tIns="0" rIns="0" bIns="0" rtlCol="0"/>
          <a:lstStyle/>
          <a:p>
            <a:endParaRPr/>
          </a:p>
        </p:txBody>
      </p:sp>
      <p:sp>
        <p:nvSpPr>
          <p:cNvPr id="22" name="Slide Number Placeholder 21">
            <a:extLst>
              <a:ext uri="{FF2B5EF4-FFF2-40B4-BE49-F238E27FC236}">
                <a16:creationId xmlns:a16="http://schemas.microsoft.com/office/drawing/2014/main" id="{5C405844-D632-91E4-C0B9-D00313164509}"/>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52</a:t>
            </a:fld>
            <a:endParaRPr lang="en-US" altLang="zh-CN" spc="-5" dirty="0"/>
          </a:p>
        </p:txBody>
      </p:sp>
      <p:sp>
        <p:nvSpPr>
          <p:cNvPr id="2" name="Slide Number Placeholder 1">
            <a:extLst>
              <a:ext uri="{FF2B5EF4-FFF2-40B4-BE49-F238E27FC236}">
                <a16:creationId xmlns:a16="http://schemas.microsoft.com/office/drawing/2014/main" id="{96C72D8F-004D-A1B8-EF61-1A7841C6D333}"/>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52</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599" y="2498144"/>
            <a:ext cx="4166235" cy="785495"/>
          </a:xfrm>
          <a:custGeom>
            <a:avLst/>
            <a:gdLst/>
            <a:ahLst/>
            <a:cxnLst/>
            <a:rect l="l" t="t" r="r" b="b"/>
            <a:pathLst>
              <a:path w="4166235" h="785495">
                <a:moveTo>
                  <a:pt x="0" y="0"/>
                </a:moveTo>
                <a:lnTo>
                  <a:pt x="4166091" y="0"/>
                </a:lnTo>
                <a:lnTo>
                  <a:pt x="4166091" y="785398"/>
                </a:lnTo>
                <a:lnTo>
                  <a:pt x="0" y="785398"/>
                </a:lnTo>
                <a:lnTo>
                  <a:pt x="0" y="0"/>
                </a:lnTo>
                <a:close/>
              </a:path>
            </a:pathLst>
          </a:custGeom>
          <a:ln w="19049">
            <a:solidFill>
              <a:srgbClr val="0000FF"/>
            </a:solidFill>
          </a:ln>
        </p:spPr>
        <p:txBody>
          <a:bodyPr wrap="square" lIns="0" tIns="0" rIns="0" bIns="0" rtlCol="0"/>
          <a:lstStyle/>
          <a:p>
            <a:endParaRPr/>
          </a:p>
        </p:txBody>
      </p:sp>
      <p:sp>
        <p:nvSpPr>
          <p:cNvPr id="5" name="object 5"/>
          <p:cNvSpPr/>
          <p:nvPr/>
        </p:nvSpPr>
        <p:spPr>
          <a:xfrm>
            <a:off x="90099" y="1590571"/>
            <a:ext cx="4166235" cy="785495"/>
          </a:xfrm>
          <a:custGeom>
            <a:avLst/>
            <a:gdLst/>
            <a:ahLst/>
            <a:cxnLst/>
            <a:rect l="l" t="t" r="r" b="b"/>
            <a:pathLst>
              <a:path w="4166235" h="785494">
                <a:moveTo>
                  <a:pt x="0" y="0"/>
                </a:moveTo>
                <a:lnTo>
                  <a:pt x="4166091" y="0"/>
                </a:lnTo>
                <a:lnTo>
                  <a:pt x="4166091" y="785398"/>
                </a:lnTo>
                <a:lnTo>
                  <a:pt x="0" y="785398"/>
                </a:lnTo>
                <a:lnTo>
                  <a:pt x="0" y="0"/>
                </a:lnTo>
                <a:close/>
              </a:path>
            </a:pathLst>
          </a:custGeom>
          <a:ln w="19049">
            <a:solidFill>
              <a:srgbClr val="FF0000"/>
            </a:solidFill>
          </a:ln>
        </p:spPr>
        <p:txBody>
          <a:bodyPr wrap="square" lIns="0" tIns="0" rIns="0" bIns="0" rtlCol="0"/>
          <a:lstStyle/>
          <a:p>
            <a:endParaRPr/>
          </a:p>
        </p:txBody>
      </p:sp>
      <p:sp>
        <p:nvSpPr>
          <p:cNvPr id="6" name="object 6"/>
          <p:cNvSpPr/>
          <p:nvPr/>
        </p:nvSpPr>
        <p:spPr>
          <a:xfrm>
            <a:off x="290549" y="308624"/>
            <a:ext cx="2847969" cy="438149"/>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505940" y="154674"/>
            <a:ext cx="4510690" cy="205672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501190" y="149912"/>
            <a:ext cx="4520565" cy="2066289"/>
          </a:xfrm>
          <a:custGeom>
            <a:avLst/>
            <a:gdLst/>
            <a:ahLst/>
            <a:cxnLst/>
            <a:rect l="l" t="t" r="r" b="b"/>
            <a:pathLst>
              <a:path w="4520565" h="2066289">
                <a:moveTo>
                  <a:pt x="0" y="0"/>
                </a:moveTo>
                <a:lnTo>
                  <a:pt x="4520215" y="0"/>
                </a:lnTo>
                <a:lnTo>
                  <a:pt x="4520215" y="2066245"/>
                </a:lnTo>
                <a:lnTo>
                  <a:pt x="0" y="2066245"/>
                </a:lnTo>
                <a:lnTo>
                  <a:pt x="0" y="0"/>
                </a:lnTo>
                <a:close/>
              </a:path>
            </a:pathLst>
          </a:custGeom>
          <a:ln w="9524">
            <a:solidFill>
              <a:srgbClr val="000000"/>
            </a:solidFill>
          </a:ln>
        </p:spPr>
        <p:txBody>
          <a:bodyPr wrap="square" lIns="0" tIns="0" rIns="0" bIns="0" rtlCol="0"/>
          <a:lstStyle/>
          <a:p>
            <a:endParaRPr/>
          </a:p>
        </p:txBody>
      </p:sp>
      <p:sp>
        <p:nvSpPr>
          <p:cNvPr id="9" name="object 9"/>
          <p:cNvSpPr txBox="1">
            <a:spLocks noGrp="1"/>
          </p:cNvSpPr>
          <p:nvPr>
            <p:ph type="title"/>
          </p:nvPr>
        </p:nvSpPr>
        <p:spPr>
          <a:xfrm>
            <a:off x="331949" y="854680"/>
            <a:ext cx="3164205" cy="375920"/>
          </a:xfrm>
          <a:prstGeom prst="rect">
            <a:avLst/>
          </a:prstGeom>
        </p:spPr>
        <p:txBody>
          <a:bodyPr vert="horz" wrap="square" lIns="0" tIns="0" rIns="0" bIns="0" rtlCol="0">
            <a:spAutoFit/>
          </a:bodyPr>
          <a:lstStyle/>
          <a:p>
            <a:pPr marL="12700">
              <a:lnSpc>
                <a:spcPct val="100000"/>
              </a:lnSpc>
            </a:pPr>
            <a:r>
              <a:rPr sz="2400" spc="-5" dirty="0">
                <a:solidFill>
                  <a:srgbClr val="38751C"/>
                </a:solidFill>
              </a:rPr>
              <a:t>e.g. </a:t>
            </a:r>
            <a:r>
              <a:rPr sz="2400" dirty="0">
                <a:solidFill>
                  <a:srgbClr val="38751C"/>
                </a:solidFill>
              </a:rPr>
              <a:t>x </a:t>
            </a:r>
            <a:r>
              <a:rPr sz="2400" spc="-5" dirty="0">
                <a:solidFill>
                  <a:srgbClr val="38751C"/>
                </a:solidFill>
              </a:rPr>
              <a:t>= -2, </a:t>
            </a:r>
            <a:r>
              <a:rPr sz="2400" dirty="0">
                <a:solidFill>
                  <a:srgbClr val="38751C"/>
                </a:solidFill>
              </a:rPr>
              <a:t>y </a:t>
            </a:r>
            <a:r>
              <a:rPr sz="2400" spc="-5" dirty="0">
                <a:solidFill>
                  <a:srgbClr val="38751C"/>
                </a:solidFill>
              </a:rPr>
              <a:t>= 5, </a:t>
            </a:r>
            <a:r>
              <a:rPr sz="2400" dirty="0">
                <a:solidFill>
                  <a:srgbClr val="38751C"/>
                </a:solidFill>
              </a:rPr>
              <a:t>z </a:t>
            </a:r>
            <a:r>
              <a:rPr sz="2400" spc="-5" dirty="0">
                <a:solidFill>
                  <a:srgbClr val="38751C"/>
                </a:solidFill>
              </a:rPr>
              <a:t>=</a:t>
            </a:r>
            <a:r>
              <a:rPr sz="2400" spc="-70" dirty="0">
                <a:solidFill>
                  <a:srgbClr val="38751C"/>
                </a:solidFill>
              </a:rPr>
              <a:t> </a:t>
            </a:r>
            <a:r>
              <a:rPr sz="2400" spc="-5" dirty="0">
                <a:solidFill>
                  <a:srgbClr val="38751C"/>
                </a:solidFill>
              </a:rPr>
              <a:t>-4</a:t>
            </a:r>
            <a:endParaRPr sz="2400"/>
          </a:p>
        </p:txBody>
      </p:sp>
      <p:sp>
        <p:nvSpPr>
          <p:cNvPr id="10" name="object 10"/>
          <p:cNvSpPr/>
          <p:nvPr/>
        </p:nvSpPr>
        <p:spPr>
          <a:xfrm>
            <a:off x="207186" y="1769746"/>
            <a:ext cx="1409697" cy="39052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252999" y="2663619"/>
            <a:ext cx="942973" cy="457199"/>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2000570" y="2596944"/>
            <a:ext cx="2047870" cy="590548"/>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1971033" y="1655446"/>
            <a:ext cx="2085958" cy="619123"/>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1528596" y="3621417"/>
            <a:ext cx="1609916" cy="619198"/>
          </a:xfrm>
          <a:prstGeom prst="rect">
            <a:avLst/>
          </a:prstGeom>
          <a:blipFill>
            <a:blip r:embed="rId8" cstate="print"/>
            <a:stretch>
              <a:fillRect/>
            </a:stretch>
          </a:blipFill>
        </p:spPr>
        <p:txBody>
          <a:bodyPr wrap="square" lIns="0" tIns="0" rIns="0" bIns="0" rtlCol="0"/>
          <a:lstStyle/>
          <a:p>
            <a:endParaRPr/>
          </a:p>
        </p:txBody>
      </p:sp>
      <p:sp>
        <p:nvSpPr>
          <p:cNvPr id="15" name="object 15"/>
          <p:cNvSpPr/>
          <p:nvPr/>
        </p:nvSpPr>
        <p:spPr>
          <a:xfrm>
            <a:off x="5177314" y="642551"/>
            <a:ext cx="3279140" cy="1793875"/>
          </a:xfrm>
          <a:custGeom>
            <a:avLst/>
            <a:gdLst/>
            <a:ahLst/>
            <a:cxnLst/>
            <a:rect l="l" t="t" r="r" b="b"/>
            <a:pathLst>
              <a:path w="3279140" h="1793875">
                <a:moveTo>
                  <a:pt x="3278618" y="1793443"/>
                </a:moveTo>
                <a:lnTo>
                  <a:pt x="0" y="0"/>
                </a:lnTo>
              </a:path>
            </a:pathLst>
          </a:custGeom>
          <a:ln w="19049">
            <a:solidFill>
              <a:srgbClr val="FF00FF"/>
            </a:solidFill>
          </a:ln>
        </p:spPr>
        <p:txBody>
          <a:bodyPr wrap="square" lIns="0" tIns="0" rIns="0" bIns="0" rtlCol="0"/>
          <a:lstStyle/>
          <a:p>
            <a:endParaRPr/>
          </a:p>
        </p:txBody>
      </p:sp>
      <p:sp>
        <p:nvSpPr>
          <p:cNvPr id="16" name="object 16"/>
          <p:cNvSpPr/>
          <p:nvPr/>
        </p:nvSpPr>
        <p:spPr>
          <a:xfrm>
            <a:off x="5101464" y="601063"/>
            <a:ext cx="91440" cy="69215"/>
          </a:xfrm>
          <a:custGeom>
            <a:avLst/>
            <a:gdLst/>
            <a:ahLst/>
            <a:cxnLst/>
            <a:rect l="l" t="t" r="r" b="b"/>
            <a:pathLst>
              <a:path w="91439" h="69215">
                <a:moveTo>
                  <a:pt x="90949" y="13882"/>
                </a:moveTo>
                <a:lnTo>
                  <a:pt x="0" y="0"/>
                </a:lnTo>
                <a:lnTo>
                  <a:pt x="60749" y="69092"/>
                </a:lnTo>
                <a:lnTo>
                  <a:pt x="90949" y="13882"/>
                </a:lnTo>
                <a:close/>
              </a:path>
            </a:pathLst>
          </a:custGeom>
          <a:ln w="19049">
            <a:solidFill>
              <a:srgbClr val="FF00FF"/>
            </a:solidFill>
          </a:ln>
        </p:spPr>
        <p:txBody>
          <a:bodyPr wrap="square" lIns="0" tIns="0" rIns="0" bIns="0" rtlCol="0"/>
          <a:lstStyle/>
          <a:p>
            <a:endParaRPr/>
          </a:p>
        </p:txBody>
      </p:sp>
      <p:sp>
        <p:nvSpPr>
          <p:cNvPr id="17" name="object 17"/>
          <p:cNvSpPr/>
          <p:nvPr/>
        </p:nvSpPr>
        <p:spPr>
          <a:xfrm>
            <a:off x="8262683" y="2435995"/>
            <a:ext cx="426474" cy="619198"/>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8253158" y="2426470"/>
            <a:ext cx="445770" cy="638810"/>
          </a:xfrm>
          <a:custGeom>
            <a:avLst/>
            <a:gdLst/>
            <a:ahLst/>
            <a:cxnLst/>
            <a:rect l="l" t="t" r="r" b="b"/>
            <a:pathLst>
              <a:path w="445770" h="638810">
                <a:moveTo>
                  <a:pt x="0" y="0"/>
                </a:moveTo>
                <a:lnTo>
                  <a:pt x="445524" y="0"/>
                </a:lnTo>
                <a:lnTo>
                  <a:pt x="445524" y="638248"/>
                </a:lnTo>
                <a:lnTo>
                  <a:pt x="0" y="638248"/>
                </a:lnTo>
                <a:lnTo>
                  <a:pt x="0" y="0"/>
                </a:lnTo>
                <a:close/>
              </a:path>
            </a:pathLst>
          </a:custGeom>
          <a:ln w="19049">
            <a:solidFill>
              <a:srgbClr val="FF00FF"/>
            </a:solidFill>
          </a:ln>
        </p:spPr>
        <p:txBody>
          <a:bodyPr wrap="square" lIns="0" tIns="0" rIns="0" bIns="0" rtlCol="0"/>
          <a:lstStyle/>
          <a:p>
            <a:endParaRPr/>
          </a:p>
        </p:txBody>
      </p:sp>
      <p:sp>
        <p:nvSpPr>
          <p:cNvPr id="19" name="object 19"/>
          <p:cNvSpPr/>
          <p:nvPr/>
        </p:nvSpPr>
        <p:spPr>
          <a:xfrm>
            <a:off x="5455614" y="3155418"/>
            <a:ext cx="1956895" cy="747173"/>
          </a:xfrm>
          <a:prstGeom prst="rect">
            <a:avLst/>
          </a:prstGeom>
          <a:blipFill>
            <a:blip r:embed="rId10" cstate="print"/>
            <a:stretch>
              <a:fillRect/>
            </a:stretch>
          </a:blipFill>
        </p:spPr>
        <p:txBody>
          <a:bodyPr wrap="square" lIns="0" tIns="0" rIns="0" bIns="0" rtlCol="0"/>
          <a:lstStyle/>
          <a:p>
            <a:endParaRPr/>
          </a:p>
        </p:txBody>
      </p:sp>
      <p:sp>
        <p:nvSpPr>
          <p:cNvPr id="20" name="object 20"/>
          <p:cNvSpPr/>
          <p:nvPr/>
        </p:nvSpPr>
        <p:spPr>
          <a:xfrm>
            <a:off x="5446088" y="3145893"/>
            <a:ext cx="1976120" cy="766445"/>
          </a:xfrm>
          <a:custGeom>
            <a:avLst/>
            <a:gdLst/>
            <a:ahLst/>
            <a:cxnLst/>
            <a:rect l="l" t="t" r="r" b="b"/>
            <a:pathLst>
              <a:path w="1976120" h="766445">
                <a:moveTo>
                  <a:pt x="0" y="0"/>
                </a:moveTo>
                <a:lnTo>
                  <a:pt x="1975946" y="0"/>
                </a:lnTo>
                <a:lnTo>
                  <a:pt x="1975946" y="766223"/>
                </a:lnTo>
                <a:lnTo>
                  <a:pt x="0" y="766223"/>
                </a:lnTo>
                <a:lnTo>
                  <a:pt x="0" y="0"/>
                </a:lnTo>
                <a:close/>
              </a:path>
            </a:pathLst>
          </a:custGeom>
          <a:ln w="19049">
            <a:solidFill>
              <a:srgbClr val="38751C"/>
            </a:solidFill>
          </a:ln>
        </p:spPr>
        <p:txBody>
          <a:bodyPr wrap="square" lIns="0" tIns="0" rIns="0" bIns="0" rtlCol="0"/>
          <a:lstStyle/>
          <a:p>
            <a:endParaRPr/>
          </a:p>
        </p:txBody>
      </p:sp>
      <p:sp>
        <p:nvSpPr>
          <p:cNvPr id="21" name="object 21"/>
          <p:cNvSpPr txBox="1"/>
          <p:nvPr/>
        </p:nvSpPr>
        <p:spPr>
          <a:xfrm>
            <a:off x="423299" y="2744051"/>
            <a:ext cx="6690995" cy="1383665"/>
          </a:xfrm>
          <a:prstGeom prst="rect">
            <a:avLst/>
          </a:prstGeom>
        </p:spPr>
        <p:txBody>
          <a:bodyPr vert="horz" wrap="square" lIns="0" tIns="0" rIns="0" bIns="0" rtlCol="0">
            <a:spAutoFit/>
          </a:bodyPr>
          <a:lstStyle/>
          <a:p>
            <a:pPr marL="5204460">
              <a:lnSpc>
                <a:spcPct val="100000"/>
              </a:lnSpc>
            </a:pPr>
            <a:r>
              <a:rPr sz="2400" spc="-5" dirty="0">
                <a:solidFill>
                  <a:srgbClr val="38751C"/>
                </a:solidFill>
                <a:latin typeface="Arial"/>
                <a:cs typeface="Arial"/>
              </a:rPr>
              <a:t>Chain</a:t>
            </a:r>
            <a:r>
              <a:rPr sz="2400" spc="-65" dirty="0">
                <a:solidFill>
                  <a:srgbClr val="38751C"/>
                </a:solidFill>
                <a:latin typeface="Arial"/>
                <a:cs typeface="Arial"/>
              </a:rPr>
              <a:t> </a:t>
            </a:r>
            <a:r>
              <a:rPr sz="2400" spc="-5" dirty="0">
                <a:solidFill>
                  <a:srgbClr val="38751C"/>
                </a:solidFill>
                <a:latin typeface="Arial"/>
                <a:cs typeface="Arial"/>
              </a:rPr>
              <a:t>rule:</a:t>
            </a:r>
            <a:endParaRPr sz="2400">
              <a:latin typeface="Arial"/>
              <a:cs typeface="Arial"/>
            </a:endParaRPr>
          </a:p>
          <a:p>
            <a:pPr>
              <a:lnSpc>
                <a:spcPct val="100000"/>
              </a:lnSpc>
            </a:pPr>
            <a:endParaRPr sz="2400">
              <a:latin typeface="Times New Roman"/>
              <a:cs typeface="Times New Roman"/>
            </a:endParaRPr>
          </a:p>
          <a:p>
            <a:pPr>
              <a:lnSpc>
                <a:spcPct val="100000"/>
              </a:lnSpc>
              <a:spcBef>
                <a:spcPts val="50"/>
              </a:spcBef>
            </a:pPr>
            <a:endParaRPr sz="1950">
              <a:latin typeface="Times New Roman"/>
              <a:cs typeface="Times New Roman"/>
            </a:endParaRPr>
          </a:p>
          <a:p>
            <a:pPr marL="12700">
              <a:lnSpc>
                <a:spcPct val="100000"/>
              </a:lnSpc>
            </a:pPr>
            <a:r>
              <a:rPr sz="2400" spc="-5" dirty="0">
                <a:latin typeface="Arial"/>
                <a:cs typeface="Arial"/>
              </a:rPr>
              <a:t>Want:</a:t>
            </a:r>
            <a:endParaRPr sz="2400">
              <a:latin typeface="Arial"/>
              <a:cs typeface="Arial"/>
            </a:endParaRPr>
          </a:p>
        </p:txBody>
      </p:sp>
      <p:sp>
        <p:nvSpPr>
          <p:cNvPr id="23" name="TextBox 22">
            <a:extLst>
              <a:ext uri="{FF2B5EF4-FFF2-40B4-BE49-F238E27FC236}">
                <a16:creationId xmlns:a16="http://schemas.microsoft.com/office/drawing/2014/main" id="{C52D5D33-4D38-34C2-7040-B93FB636569D}"/>
              </a:ext>
            </a:extLst>
          </p:cNvPr>
          <p:cNvSpPr txBox="1"/>
          <p:nvPr/>
        </p:nvSpPr>
        <p:spPr>
          <a:xfrm>
            <a:off x="6477000" y="4049530"/>
            <a:ext cx="393056" cy="400110"/>
          </a:xfrm>
          <a:prstGeom prst="rect">
            <a:avLst/>
          </a:prstGeom>
          <a:noFill/>
        </p:spPr>
        <p:txBody>
          <a:bodyPr wrap="none" rtlCol="0">
            <a:spAutoFit/>
          </a:bodyPr>
          <a:lstStyle/>
          <a:p>
            <a:r>
              <a:rPr lang="en-US" altLang="zh-CN" sz="2000" dirty="0">
                <a:solidFill>
                  <a:srgbClr val="C00000"/>
                </a:solidFill>
              </a:rPr>
              <a:t>-4</a:t>
            </a:r>
            <a:endParaRPr lang="zh-CN" altLang="en-US" sz="2000" dirty="0">
              <a:solidFill>
                <a:srgbClr val="C00000"/>
              </a:solidFill>
            </a:endParaRPr>
          </a:p>
        </p:txBody>
      </p:sp>
      <p:cxnSp>
        <p:nvCxnSpPr>
          <p:cNvPr id="25" name="Straight Arrow Connector 24">
            <a:extLst>
              <a:ext uri="{FF2B5EF4-FFF2-40B4-BE49-F238E27FC236}">
                <a16:creationId xmlns:a16="http://schemas.microsoft.com/office/drawing/2014/main" id="{0A267823-2829-C140-DBBD-9D0F23C8F064}"/>
              </a:ext>
            </a:extLst>
          </p:cNvPr>
          <p:cNvCxnSpPr>
            <a:cxnSpLocks/>
          </p:cNvCxnSpPr>
          <p:nvPr/>
        </p:nvCxnSpPr>
        <p:spPr>
          <a:xfrm flipV="1">
            <a:off x="6705600" y="3904363"/>
            <a:ext cx="0" cy="22335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6" name="TextBox 25">
            <a:extLst>
              <a:ext uri="{FF2B5EF4-FFF2-40B4-BE49-F238E27FC236}">
                <a16:creationId xmlns:a16="http://schemas.microsoft.com/office/drawing/2014/main" id="{3E538355-66C5-A7DC-8FD0-7A1F57508D62}"/>
              </a:ext>
            </a:extLst>
          </p:cNvPr>
          <p:cNvSpPr txBox="1"/>
          <p:nvPr/>
        </p:nvSpPr>
        <p:spPr>
          <a:xfrm>
            <a:off x="7061900" y="4049530"/>
            <a:ext cx="314510" cy="400110"/>
          </a:xfrm>
          <a:prstGeom prst="rect">
            <a:avLst/>
          </a:prstGeom>
          <a:noFill/>
        </p:spPr>
        <p:txBody>
          <a:bodyPr wrap="none" rtlCol="0">
            <a:spAutoFit/>
          </a:bodyPr>
          <a:lstStyle/>
          <a:p>
            <a:r>
              <a:rPr lang="en-US" altLang="zh-CN" sz="2000" dirty="0">
                <a:solidFill>
                  <a:srgbClr val="C00000"/>
                </a:solidFill>
              </a:rPr>
              <a:t>1</a:t>
            </a:r>
            <a:endParaRPr lang="zh-CN" altLang="en-US" sz="2000" dirty="0">
              <a:solidFill>
                <a:srgbClr val="C00000"/>
              </a:solidFill>
            </a:endParaRPr>
          </a:p>
        </p:txBody>
      </p:sp>
      <p:cxnSp>
        <p:nvCxnSpPr>
          <p:cNvPr id="27" name="Straight Arrow Connector 26">
            <a:extLst>
              <a:ext uri="{FF2B5EF4-FFF2-40B4-BE49-F238E27FC236}">
                <a16:creationId xmlns:a16="http://schemas.microsoft.com/office/drawing/2014/main" id="{66BFCDEC-833E-D794-6E5C-CA25B03C7F16}"/>
              </a:ext>
            </a:extLst>
          </p:cNvPr>
          <p:cNvCxnSpPr>
            <a:cxnSpLocks/>
          </p:cNvCxnSpPr>
          <p:nvPr/>
        </p:nvCxnSpPr>
        <p:spPr>
          <a:xfrm flipV="1">
            <a:off x="7197391" y="3904363"/>
            <a:ext cx="0" cy="22335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8" name="Slide Number Placeholder 27">
            <a:extLst>
              <a:ext uri="{FF2B5EF4-FFF2-40B4-BE49-F238E27FC236}">
                <a16:creationId xmlns:a16="http://schemas.microsoft.com/office/drawing/2014/main" id="{9EDDB358-3F45-D640-2244-1F68D98D1BA9}"/>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53</a:t>
            </a:fld>
            <a:endParaRPr lang="en-US" altLang="zh-CN" spc="-5" dirty="0"/>
          </a:p>
        </p:txBody>
      </p:sp>
      <p:sp>
        <p:nvSpPr>
          <p:cNvPr id="2" name="Slide Number Placeholder 1">
            <a:extLst>
              <a:ext uri="{FF2B5EF4-FFF2-40B4-BE49-F238E27FC236}">
                <a16:creationId xmlns:a16="http://schemas.microsoft.com/office/drawing/2014/main" id="{5D2929D7-80A2-9510-C98A-EF517C0D067F}"/>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53</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txBox="1"/>
          <p:nvPr/>
        </p:nvSpPr>
        <p:spPr>
          <a:xfrm>
            <a:off x="4626156" y="1850997"/>
            <a:ext cx="194310" cy="738505"/>
          </a:xfrm>
          <a:prstGeom prst="rect">
            <a:avLst/>
          </a:prstGeom>
        </p:spPr>
        <p:txBody>
          <a:bodyPr vert="horz" wrap="square" lIns="0" tIns="0" rIns="0" bIns="0" rtlCol="0">
            <a:spAutoFit/>
          </a:bodyPr>
          <a:lstStyle/>
          <a:p>
            <a:pPr marL="12700">
              <a:lnSpc>
                <a:spcPct val="100000"/>
              </a:lnSpc>
            </a:pPr>
            <a:r>
              <a:rPr sz="4800" spc="-5" dirty="0">
                <a:latin typeface="Arial"/>
                <a:cs typeface="Arial"/>
              </a:rPr>
              <a:t>f</a:t>
            </a:r>
            <a:endParaRPr sz="4800">
              <a:latin typeface="Arial"/>
              <a:cs typeface="Arial"/>
            </a:endParaRPr>
          </a:p>
        </p:txBody>
      </p:sp>
      <p:sp>
        <p:nvSpPr>
          <p:cNvPr id="6" name="object 6"/>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7" name="object 7"/>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8" name="object 8"/>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9" name="object 9"/>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10" name="object 10"/>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1" name="object 11"/>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2" name="object 12"/>
          <p:cNvSpPr/>
          <p:nvPr/>
        </p:nvSpPr>
        <p:spPr>
          <a:xfrm>
            <a:off x="1380509" y="233099"/>
            <a:ext cx="352424" cy="304799"/>
          </a:xfrm>
          <a:prstGeom prst="rect">
            <a:avLst/>
          </a:prstGeom>
          <a:blipFill>
            <a:blip r:embed="rId2" cstate="print"/>
            <a:stretch>
              <a:fillRect/>
            </a:stretch>
          </a:blipFill>
        </p:spPr>
        <p:txBody>
          <a:bodyPr wrap="square" lIns="0" tIns="0" rIns="0" bIns="0" rtlCol="0"/>
          <a:lstStyle/>
          <a:p>
            <a:endParaRPr/>
          </a:p>
        </p:txBody>
      </p:sp>
      <p:sp>
        <p:nvSpPr>
          <p:cNvPr id="13" name="object 13"/>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4" name="object 14"/>
          <p:cNvSpPr/>
          <p:nvPr/>
        </p:nvSpPr>
        <p:spPr>
          <a:xfrm>
            <a:off x="1300359" y="3061018"/>
            <a:ext cx="295274" cy="361949"/>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6" name="object 16"/>
          <p:cNvSpPr/>
          <p:nvPr/>
        </p:nvSpPr>
        <p:spPr>
          <a:xfrm>
            <a:off x="7245910" y="1758696"/>
            <a:ext cx="352424" cy="304799"/>
          </a:xfrm>
          <a:prstGeom prst="rect">
            <a:avLst/>
          </a:prstGeom>
          <a:blipFill>
            <a:blip r:embed="rId4" cstate="print"/>
            <a:stretch>
              <a:fillRect/>
            </a:stretch>
          </a:blipFill>
        </p:spPr>
        <p:txBody>
          <a:bodyPr wrap="square" lIns="0" tIns="0" rIns="0" bIns="0" rtlCol="0"/>
          <a:lstStyle/>
          <a:p>
            <a:endParaRPr/>
          </a:p>
        </p:txBody>
      </p:sp>
      <p:sp>
        <p:nvSpPr>
          <p:cNvPr id="17" name="object 17"/>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8" name="object 18"/>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20" name="Slide Number Placeholder 19">
            <a:extLst>
              <a:ext uri="{FF2B5EF4-FFF2-40B4-BE49-F238E27FC236}">
                <a16:creationId xmlns:a16="http://schemas.microsoft.com/office/drawing/2014/main" id="{E5D5B426-5428-E4E4-D890-FEA3D62892EA}"/>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54</a:t>
            </a:fld>
            <a:endParaRPr lang="en-US" altLang="zh-CN" spc="-5" dirty="0"/>
          </a:p>
        </p:txBody>
      </p:sp>
      <p:sp>
        <p:nvSpPr>
          <p:cNvPr id="2" name="Slide Number Placeholder 1">
            <a:extLst>
              <a:ext uri="{FF2B5EF4-FFF2-40B4-BE49-F238E27FC236}">
                <a16:creationId xmlns:a16="http://schemas.microsoft.com/office/drawing/2014/main" id="{52E49849-709F-A610-5896-5A0790B90B23}"/>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54</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233099"/>
            <a:ext cx="352424" cy="304799"/>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061018"/>
            <a:ext cx="295274" cy="361949"/>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1758696"/>
            <a:ext cx="352424" cy="304799"/>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18" name="object 18"/>
          <p:cNvSpPr/>
          <p:nvPr/>
        </p:nvSpPr>
        <p:spPr>
          <a:xfrm>
            <a:off x="3398743" y="1290434"/>
            <a:ext cx="485773" cy="638173"/>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3389243" y="12809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20" name="object 20"/>
          <p:cNvSpPr/>
          <p:nvPr/>
        </p:nvSpPr>
        <p:spPr>
          <a:xfrm>
            <a:off x="3398743" y="2493044"/>
            <a:ext cx="409574" cy="704848"/>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3389243" y="2483507"/>
            <a:ext cx="428625" cy="723900"/>
          </a:xfrm>
          <a:custGeom>
            <a:avLst/>
            <a:gdLst/>
            <a:ahLst/>
            <a:cxnLst/>
            <a:rect l="l" t="t" r="r" b="b"/>
            <a:pathLst>
              <a:path w="428625" h="723900">
                <a:moveTo>
                  <a:pt x="0" y="0"/>
                </a:moveTo>
                <a:lnTo>
                  <a:pt x="428599" y="0"/>
                </a:lnTo>
                <a:lnTo>
                  <a:pt x="428599" y="723886"/>
                </a:lnTo>
                <a:lnTo>
                  <a:pt x="0" y="723886"/>
                </a:lnTo>
                <a:lnTo>
                  <a:pt x="0" y="0"/>
                </a:lnTo>
                <a:close/>
              </a:path>
            </a:pathLst>
          </a:custGeom>
          <a:ln w="19049">
            <a:solidFill>
              <a:srgbClr val="FF0000"/>
            </a:solidFill>
          </a:ln>
        </p:spPr>
        <p:txBody>
          <a:bodyPr wrap="square" lIns="0" tIns="0" rIns="0" bIns="0" rtlCol="0"/>
          <a:lstStyle/>
          <a:p>
            <a:endParaRPr/>
          </a:p>
        </p:txBody>
      </p:sp>
      <p:sp>
        <p:nvSpPr>
          <p:cNvPr id="22" name="object 22"/>
          <p:cNvSpPr txBox="1"/>
          <p:nvPr/>
        </p:nvSpPr>
        <p:spPr>
          <a:xfrm>
            <a:off x="4018291" y="970253"/>
            <a:ext cx="1536700" cy="1619250"/>
          </a:xfrm>
          <a:prstGeom prst="rect">
            <a:avLst/>
          </a:prstGeom>
        </p:spPr>
        <p:txBody>
          <a:bodyPr vert="horz" wrap="square" lIns="0" tIns="0" rIns="0" bIns="0" rtlCol="0">
            <a:spAutoFit/>
          </a:bodyPr>
          <a:lstStyle/>
          <a:p>
            <a:pPr algn="ctr">
              <a:lnSpc>
                <a:spcPct val="100000"/>
              </a:lnSpc>
            </a:pPr>
            <a:r>
              <a:rPr sz="1800" spc="-5" dirty="0">
                <a:solidFill>
                  <a:srgbClr val="FF0000"/>
                </a:solidFill>
                <a:latin typeface="Arial"/>
                <a:cs typeface="Arial"/>
              </a:rPr>
              <a:t>“local</a:t>
            </a:r>
            <a:r>
              <a:rPr sz="1800" spc="-35" dirty="0">
                <a:solidFill>
                  <a:srgbClr val="FF0000"/>
                </a:solidFill>
                <a:latin typeface="Arial"/>
                <a:cs typeface="Arial"/>
              </a:rPr>
              <a:t> </a:t>
            </a:r>
            <a:r>
              <a:rPr sz="1800" spc="-5" dirty="0">
                <a:solidFill>
                  <a:srgbClr val="FF0000"/>
                </a:solidFill>
                <a:latin typeface="Arial"/>
                <a:cs typeface="Arial"/>
              </a:rPr>
              <a:t>gradient”</a:t>
            </a:r>
            <a:endParaRPr sz="1800">
              <a:latin typeface="Arial"/>
              <a:cs typeface="Arial"/>
            </a:endParaRPr>
          </a:p>
          <a:p>
            <a:pPr>
              <a:lnSpc>
                <a:spcPct val="100000"/>
              </a:lnSpc>
            </a:pPr>
            <a:endParaRPr sz="1800">
              <a:latin typeface="Times New Roman"/>
              <a:cs typeface="Times New Roman"/>
            </a:endParaRPr>
          </a:p>
          <a:p>
            <a:pPr>
              <a:lnSpc>
                <a:spcPct val="100000"/>
              </a:lnSpc>
            </a:pPr>
            <a:endParaRPr sz="2350">
              <a:latin typeface="Times New Roman"/>
              <a:cs typeface="Times New Roman"/>
            </a:endParaRPr>
          </a:p>
          <a:p>
            <a:pPr marR="118745" algn="ctr">
              <a:lnSpc>
                <a:spcPct val="100000"/>
              </a:lnSpc>
            </a:pPr>
            <a:r>
              <a:rPr sz="4800" spc="-5" dirty="0">
                <a:latin typeface="Arial"/>
                <a:cs typeface="Arial"/>
              </a:rPr>
              <a:t>f</a:t>
            </a:r>
            <a:endParaRPr sz="4800">
              <a:latin typeface="Arial"/>
              <a:cs typeface="Arial"/>
            </a:endParaRPr>
          </a:p>
        </p:txBody>
      </p:sp>
      <p:sp>
        <p:nvSpPr>
          <p:cNvPr id="24" name="Slide Number Placeholder 23">
            <a:extLst>
              <a:ext uri="{FF2B5EF4-FFF2-40B4-BE49-F238E27FC236}">
                <a16:creationId xmlns:a16="http://schemas.microsoft.com/office/drawing/2014/main" id="{C52DF3D9-684B-76BD-9956-07E2EBD3CB51}"/>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55</a:t>
            </a:fld>
            <a:endParaRPr lang="en-US" altLang="zh-CN" spc="-5" dirty="0"/>
          </a:p>
        </p:txBody>
      </p:sp>
      <p:sp>
        <p:nvSpPr>
          <p:cNvPr id="2" name="Slide Number Placeholder 1">
            <a:extLst>
              <a:ext uri="{FF2B5EF4-FFF2-40B4-BE49-F238E27FC236}">
                <a16:creationId xmlns:a16="http://schemas.microsoft.com/office/drawing/2014/main" id="{8C9BBFA1-E1D0-D15B-3FA5-E62A5255572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55</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233099"/>
            <a:ext cx="352424" cy="304799"/>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061018"/>
            <a:ext cx="295274" cy="361949"/>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1758696"/>
            <a:ext cx="352424" cy="304799"/>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18" name="object 18"/>
          <p:cNvSpPr/>
          <p:nvPr/>
        </p:nvSpPr>
        <p:spPr>
          <a:xfrm>
            <a:off x="3398743" y="1290434"/>
            <a:ext cx="485773" cy="638173"/>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3389243" y="12809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20" name="object 20"/>
          <p:cNvSpPr/>
          <p:nvPr/>
        </p:nvSpPr>
        <p:spPr>
          <a:xfrm>
            <a:off x="3398743" y="2493044"/>
            <a:ext cx="409574" cy="704848"/>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3389243" y="2483507"/>
            <a:ext cx="428625" cy="723900"/>
          </a:xfrm>
          <a:custGeom>
            <a:avLst/>
            <a:gdLst/>
            <a:ahLst/>
            <a:cxnLst/>
            <a:rect l="l" t="t" r="r" b="b"/>
            <a:pathLst>
              <a:path w="428625" h="723900">
                <a:moveTo>
                  <a:pt x="0" y="0"/>
                </a:moveTo>
                <a:lnTo>
                  <a:pt x="428599" y="0"/>
                </a:lnTo>
                <a:lnTo>
                  <a:pt x="428599" y="723886"/>
                </a:lnTo>
                <a:lnTo>
                  <a:pt x="0" y="723886"/>
                </a:lnTo>
                <a:lnTo>
                  <a:pt x="0" y="0"/>
                </a:lnTo>
                <a:close/>
              </a:path>
            </a:pathLst>
          </a:custGeom>
          <a:ln w="19049">
            <a:solidFill>
              <a:srgbClr val="FF0000"/>
            </a:solidFill>
          </a:ln>
        </p:spPr>
        <p:txBody>
          <a:bodyPr wrap="square" lIns="0" tIns="0" rIns="0" bIns="0" rtlCol="0"/>
          <a:lstStyle/>
          <a:p>
            <a:endParaRPr/>
          </a:p>
        </p:txBody>
      </p:sp>
      <p:sp>
        <p:nvSpPr>
          <p:cNvPr id="22" name="object 22"/>
          <p:cNvSpPr/>
          <p:nvPr/>
        </p:nvSpPr>
        <p:spPr>
          <a:xfrm>
            <a:off x="6585386" y="2433620"/>
            <a:ext cx="2112010" cy="0"/>
          </a:xfrm>
          <a:custGeom>
            <a:avLst/>
            <a:gdLst/>
            <a:ahLst/>
            <a:cxnLst/>
            <a:rect l="l" t="t" r="r" b="b"/>
            <a:pathLst>
              <a:path w="2112009">
                <a:moveTo>
                  <a:pt x="2111695" y="0"/>
                </a:moveTo>
                <a:lnTo>
                  <a:pt x="0" y="0"/>
                </a:lnTo>
              </a:path>
            </a:pathLst>
          </a:custGeom>
          <a:ln w="19049">
            <a:solidFill>
              <a:srgbClr val="FF0000"/>
            </a:solidFill>
          </a:ln>
        </p:spPr>
        <p:txBody>
          <a:bodyPr wrap="square" lIns="0" tIns="0" rIns="0" bIns="0" rtlCol="0"/>
          <a:lstStyle/>
          <a:p>
            <a:endParaRPr/>
          </a:p>
        </p:txBody>
      </p:sp>
      <p:sp>
        <p:nvSpPr>
          <p:cNvPr id="23" name="object 23"/>
          <p:cNvSpPr/>
          <p:nvPr/>
        </p:nvSpPr>
        <p:spPr>
          <a:xfrm>
            <a:off x="6498937" y="2402155"/>
            <a:ext cx="86995" cy="63500"/>
          </a:xfrm>
          <a:custGeom>
            <a:avLst/>
            <a:gdLst/>
            <a:ahLst/>
            <a:cxnLst/>
            <a:rect l="l" t="t" r="r" b="b"/>
            <a:pathLst>
              <a:path w="86995" h="63500">
                <a:moveTo>
                  <a:pt x="86449" y="0"/>
                </a:moveTo>
                <a:lnTo>
                  <a:pt x="0" y="31464"/>
                </a:lnTo>
                <a:lnTo>
                  <a:pt x="86449" y="62929"/>
                </a:lnTo>
                <a:lnTo>
                  <a:pt x="86449" y="0"/>
                </a:lnTo>
                <a:close/>
              </a:path>
            </a:pathLst>
          </a:custGeom>
          <a:ln w="19049">
            <a:solidFill>
              <a:srgbClr val="FF0000"/>
            </a:solidFill>
          </a:ln>
        </p:spPr>
        <p:txBody>
          <a:bodyPr wrap="square" lIns="0" tIns="0" rIns="0" bIns="0" rtlCol="0"/>
          <a:lstStyle/>
          <a:p>
            <a:endParaRPr/>
          </a:p>
        </p:txBody>
      </p:sp>
      <p:sp>
        <p:nvSpPr>
          <p:cNvPr id="24" name="object 24"/>
          <p:cNvSpPr/>
          <p:nvPr/>
        </p:nvSpPr>
        <p:spPr>
          <a:xfrm>
            <a:off x="7164960" y="2555194"/>
            <a:ext cx="514348" cy="676273"/>
          </a:xfrm>
          <a:prstGeom prst="rect">
            <a:avLst/>
          </a:prstGeom>
          <a:blipFill>
            <a:blip r:embed="rId7" cstate="print"/>
            <a:stretch>
              <a:fillRect/>
            </a:stretch>
          </a:blipFill>
        </p:spPr>
        <p:txBody>
          <a:bodyPr wrap="square" lIns="0" tIns="0" rIns="0" bIns="0" rtlCol="0"/>
          <a:lstStyle/>
          <a:p>
            <a:endParaRPr/>
          </a:p>
        </p:txBody>
      </p:sp>
      <p:sp>
        <p:nvSpPr>
          <p:cNvPr id="25" name="object 25"/>
          <p:cNvSpPr/>
          <p:nvPr/>
        </p:nvSpPr>
        <p:spPr>
          <a:xfrm>
            <a:off x="7155460" y="2545669"/>
            <a:ext cx="533400" cy="695325"/>
          </a:xfrm>
          <a:custGeom>
            <a:avLst/>
            <a:gdLst/>
            <a:ahLst/>
            <a:cxnLst/>
            <a:rect l="l" t="t" r="r" b="b"/>
            <a:pathLst>
              <a:path w="533400" h="695325">
                <a:moveTo>
                  <a:pt x="0" y="0"/>
                </a:moveTo>
                <a:lnTo>
                  <a:pt x="533373" y="0"/>
                </a:lnTo>
                <a:lnTo>
                  <a:pt x="533373" y="695323"/>
                </a:lnTo>
                <a:lnTo>
                  <a:pt x="0" y="695323"/>
                </a:lnTo>
                <a:lnTo>
                  <a:pt x="0" y="0"/>
                </a:lnTo>
                <a:close/>
              </a:path>
            </a:pathLst>
          </a:custGeom>
          <a:ln w="19049">
            <a:solidFill>
              <a:srgbClr val="FF0000"/>
            </a:solidFill>
          </a:ln>
        </p:spPr>
        <p:txBody>
          <a:bodyPr wrap="square" lIns="0" tIns="0" rIns="0" bIns="0" rtlCol="0"/>
          <a:lstStyle/>
          <a:p>
            <a:endParaRPr/>
          </a:p>
        </p:txBody>
      </p:sp>
      <p:sp>
        <p:nvSpPr>
          <p:cNvPr id="26" name="object 26"/>
          <p:cNvSpPr txBox="1">
            <a:spLocks noGrp="1"/>
          </p:cNvSpPr>
          <p:nvPr>
            <p:ph type="body" idx="1"/>
          </p:nvPr>
        </p:nvSpPr>
        <p:spPr>
          <a:prstGeom prst="rect">
            <a:avLst/>
          </a:prstGeom>
        </p:spPr>
        <p:txBody>
          <a:bodyPr vert="horz" wrap="square" lIns="0" tIns="0" rIns="0" bIns="0" rtlCol="0">
            <a:spAutoFit/>
          </a:bodyPr>
          <a:lstStyle/>
          <a:p>
            <a:pPr marL="3252470" marR="2814955" algn="ctr">
              <a:lnSpc>
                <a:spcPct val="100000"/>
              </a:lnSpc>
            </a:pPr>
            <a:r>
              <a:rPr sz="1800" spc="-5" dirty="0"/>
              <a:t>“local</a:t>
            </a:r>
            <a:r>
              <a:rPr sz="1800" spc="-35" dirty="0"/>
              <a:t> </a:t>
            </a:r>
            <a:r>
              <a:rPr sz="1800" spc="-5" dirty="0"/>
              <a:t>gradient”</a:t>
            </a:r>
            <a:endParaRPr sz="1800"/>
          </a:p>
          <a:p>
            <a:pPr marL="3252470">
              <a:lnSpc>
                <a:spcPct val="100000"/>
              </a:lnSpc>
            </a:pPr>
            <a:endParaRPr sz="1800">
              <a:latin typeface="Times New Roman"/>
              <a:cs typeface="Times New Roman"/>
            </a:endParaRPr>
          </a:p>
          <a:p>
            <a:pPr marL="3252470">
              <a:lnSpc>
                <a:spcPct val="100000"/>
              </a:lnSpc>
            </a:pPr>
            <a:endParaRPr sz="2350">
              <a:latin typeface="Times New Roman"/>
              <a:cs typeface="Times New Roman"/>
            </a:endParaRPr>
          </a:p>
          <a:p>
            <a:pPr marL="3252470" marR="2941320" algn="ctr">
              <a:lnSpc>
                <a:spcPct val="100000"/>
              </a:lnSpc>
            </a:pPr>
            <a:r>
              <a:rPr sz="4800" spc="-5" dirty="0">
                <a:solidFill>
                  <a:srgbClr val="000000"/>
                </a:solidFill>
              </a:rPr>
              <a:t>f</a:t>
            </a:r>
            <a:endParaRPr sz="4800"/>
          </a:p>
          <a:p>
            <a:pPr marL="3252470">
              <a:lnSpc>
                <a:spcPct val="100000"/>
              </a:lnSpc>
              <a:spcBef>
                <a:spcPts val="20"/>
              </a:spcBef>
            </a:pPr>
            <a:endParaRPr sz="7050">
              <a:latin typeface="Times New Roman"/>
              <a:cs typeface="Times New Roman"/>
            </a:endParaRPr>
          </a:p>
          <a:p>
            <a:pPr marL="6031865">
              <a:lnSpc>
                <a:spcPct val="100000"/>
              </a:lnSpc>
            </a:pPr>
            <a:r>
              <a:rPr sz="3000" spc="-5" dirty="0"/>
              <a:t>gradients</a:t>
            </a:r>
            <a:endParaRPr sz="3000"/>
          </a:p>
        </p:txBody>
      </p:sp>
      <p:sp>
        <p:nvSpPr>
          <p:cNvPr id="28" name="Slide Number Placeholder 27">
            <a:extLst>
              <a:ext uri="{FF2B5EF4-FFF2-40B4-BE49-F238E27FC236}">
                <a16:creationId xmlns:a16="http://schemas.microsoft.com/office/drawing/2014/main" id="{46AAA2CE-1AF2-B557-B07C-31F2D959AD28}"/>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56</a:t>
            </a:fld>
            <a:endParaRPr lang="en-US" altLang="zh-CN" spc="-5" dirty="0"/>
          </a:p>
        </p:txBody>
      </p:sp>
      <p:sp>
        <p:nvSpPr>
          <p:cNvPr id="2" name="Slide Number Placeholder 1">
            <a:extLst>
              <a:ext uri="{FF2B5EF4-FFF2-40B4-BE49-F238E27FC236}">
                <a16:creationId xmlns:a16="http://schemas.microsoft.com/office/drawing/2014/main" id="{52137340-55C2-EC4B-805C-C8622882F58D}"/>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56</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233099"/>
            <a:ext cx="352424" cy="304799"/>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061018"/>
            <a:ext cx="295274" cy="361949"/>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1758696"/>
            <a:ext cx="352424" cy="304799"/>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p:nvPr/>
        </p:nvSpPr>
        <p:spPr>
          <a:xfrm>
            <a:off x="6585386" y="2433620"/>
            <a:ext cx="2112010" cy="0"/>
          </a:xfrm>
          <a:custGeom>
            <a:avLst/>
            <a:gdLst/>
            <a:ahLst/>
            <a:cxnLst/>
            <a:rect l="l" t="t" r="r" b="b"/>
            <a:pathLst>
              <a:path w="2112009">
                <a:moveTo>
                  <a:pt x="2111695" y="0"/>
                </a:moveTo>
                <a:lnTo>
                  <a:pt x="0" y="0"/>
                </a:lnTo>
              </a:path>
            </a:pathLst>
          </a:custGeom>
          <a:ln w="19049">
            <a:solidFill>
              <a:srgbClr val="FF0000"/>
            </a:solidFill>
          </a:ln>
        </p:spPr>
        <p:txBody>
          <a:bodyPr wrap="square" lIns="0" tIns="0" rIns="0" bIns="0" rtlCol="0"/>
          <a:lstStyle/>
          <a:p>
            <a:endParaRPr/>
          </a:p>
        </p:txBody>
      </p:sp>
      <p:sp>
        <p:nvSpPr>
          <p:cNvPr id="18" name="object 18"/>
          <p:cNvSpPr/>
          <p:nvPr/>
        </p:nvSpPr>
        <p:spPr>
          <a:xfrm>
            <a:off x="6498937" y="2402155"/>
            <a:ext cx="86995" cy="63500"/>
          </a:xfrm>
          <a:custGeom>
            <a:avLst/>
            <a:gdLst/>
            <a:ahLst/>
            <a:cxnLst/>
            <a:rect l="l" t="t" r="r" b="b"/>
            <a:pathLst>
              <a:path w="86995" h="63500">
                <a:moveTo>
                  <a:pt x="86449" y="0"/>
                </a:moveTo>
                <a:lnTo>
                  <a:pt x="0" y="31464"/>
                </a:lnTo>
                <a:lnTo>
                  <a:pt x="86449" y="62929"/>
                </a:lnTo>
                <a:lnTo>
                  <a:pt x="86449" y="0"/>
                </a:lnTo>
                <a:close/>
              </a:path>
            </a:pathLst>
          </a:custGeom>
          <a:ln w="19049">
            <a:solidFill>
              <a:srgbClr val="FF0000"/>
            </a:solidFill>
          </a:ln>
        </p:spPr>
        <p:txBody>
          <a:bodyPr wrap="square" lIns="0" tIns="0" rIns="0" bIns="0" rtlCol="0"/>
          <a:lstStyle/>
          <a:p>
            <a:endParaRPr/>
          </a:p>
        </p:txBody>
      </p:sp>
      <p:sp>
        <p:nvSpPr>
          <p:cNvPr id="19" name="object 19"/>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20" name="object 20"/>
          <p:cNvSpPr/>
          <p:nvPr/>
        </p:nvSpPr>
        <p:spPr>
          <a:xfrm>
            <a:off x="7164960" y="2555194"/>
            <a:ext cx="514348" cy="676273"/>
          </a:xfrm>
          <a:prstGeom prst="rect">
            <a:avLst/>
          </a:prstGeom>
          <a:blipFill>
            <a:blip r:embed="rId5" cstate="print"/>
            <a:stretch>
              <a:fillRect/>
            </a:stretch>
          </a:blipFill>
        </p:spPr>
        <p:txBody>
          <a:bodyPr wrap="square" lIns="0" tIns="0" rIns="0" bIns="0" rtlCol="0"/>
          <a:lstStyle/>
          <a:p>
            <a:endParaRPr/>
          </a:p>
        </p:txBody>
      </p:sp>
      <p:sp>
        <p:nvSpPr>
          <p:cNvPr id="21" name="object 21"/>
          <p:cNvSpPr/>
          <p:nvPr/>
        </p:nvSpPr>
        <p:spPr>
          <a:xfrm>
            <a:off x="7155460" y="2545669"/>
            <a:ext cx="533400" cy="695325"/>
          </a:xfrm>
          <a:custGeom>
            <a:avLst/>
            <a:gdLst/>
            <a:ahLst/>
            <a:cxnLst/>
            <a:rect l="l" t="t" r="r" b="b"/>
            <a:pathLst>
              <a:path w="533400" h="695325">
                <a:moveTo>
                  <a:pt x="0" y="0"/>
                </a:moveTo>
                <a:lnTo>
                  <a:pt x="533373" y="0"/>
                </a:lnTo>
                <a:lnTo>
                  <a:pt x="533373" y="695323"/>
                </a:lnTo>
                <a:lnTo>
                  <a:pt x="0" y="695323"/>
                </a:lnTo>
                <a:lnTo>
                  <a:pt x="0" y="0"/>
                </a:lnTo>
                <a:close/>
              </a:path>
            </a:pathLst>
          </a:custGeom>
          <a:ln w="19049">
            <a:solidFill>
              <a:srgbClr val="FF0000"/>
            </a:solidFill>
          </a:ln>
        </p:spPr>
        <p:txBody>
          <a:bodyPr wrap="square" lIns="0" tIns="0" rIns="0" bIns="0" rtlCol="0"/>
          <a:lstStyle/>
          <a:p>
            <a:endParaRPr/>
          </a:p>
        </p:txBody>
      </p:sp>
      <p:sp>
        <p:nvSpPr>
          <p:cNvPr id="22" name="object 22"/>
          <p:cNvSpPr/>
          <p:nvPr/>
        </p:nvSpPr>
        <p:spPr>
          <a:xfrm>
            <a:off x="3398743" y="1290434"/>
            <a:ext cx="485773" cy="638173"/>
          </a:xfrm>
          <a:prstGeom prst="rect">
            <a:avLst/>
          </a:prstGeom>
          <a:blipFill>
            <a:blip r:embed="rId6" cstate="print"/>
            <a:stretch>
              <a:fillRect/>
            </a:stretch>
          </a:blipFill>
        </p:spPr>
        <p:txBody>
          <a:bodyPr wrap="square" lIns="0" tIns="0" rIns="0" bIns="0" rtlCol="0"/>
          <a:lstStyle/>
          <a:p>
            <a:endParaRPr/>
          </a:p>
        </p:txBody>
      </p:sp>
      <p:sp>
        <p:nvSpPr>
          <p:cNvPr id="23" name="object 23"/>
          <p:cNvSpPr/>
          <p:nvPr/>
        </p:nvSpPr>
        <p:spPr>
          <a:xfrm>
            <a:off x="3389243" y="12809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24" name="object 24"/>
          <p:cNvSpPr/>
          <p:nvPr/>
        </p:nvSpPr>
        <p:spPr>
          <a:xfrm>
            <a:off x="3398743" y="2493044"/>
            <a:ext cx="409574" cy="704848"/>
          </a:xfrm>
          <a:prstGeom prst="rect">
            <a:avLst/>
          </a:prstGeom>
          <a:blipFill>
            <a:blip r:embed="rId7" cstate="print"/>
            <a:stretch>
              <a:fillRect/>
            </a:stretch>
          </a:blipFill>
        </p:spPr>
        <p:txBody>
          <a:bodyPr wrap="square" lIns="0" tIns="0" rIns="0" bIns="0" rtlCol="0"/>
          <a:lstStyle/>
          <a:p>
            <a:endParaRPr/>
          </a:p>
        </p:txBody>
      </p:sp>
      <p:sp>
        <p:nvSpPr>
          <p:cNvPr id="25" name="object 25"/>
          <p:cNvSpPr/>
          <p:nvPr/>
        </p:nvSpPr>
        <p:spPr>
          <a:xfrm>
            <a:off x="3389243" y="2483507"/>
            <a:ext cx="428625" cy="723900"/>
          </a:xfrm>
          <a:custGeom>
            <a:avLst/>
            <a:gdLst/>
            <a:ahLst/>
            <a:cxnLst/>
            <a:rect l="l" t="t" r="r" b="b"/>
            <a:pathLst>
              <a:path w="428625" h="723900">
                <a:moveTo>
                  <a:pt x="0" y="0"/>
                </a:moveTo>
                <a:lnTo>
                  <a:pt x="428599" y="0"/>
                </a:lnTo>
                <a:lnTo>
                  <a:pt x="428599" y="723886"/>
                </a:lnTo>
                <a:lnTo>
                  <a:pt x="0" y="723886"/>
                </a:lnTo>
                <a:lnTo>
                  <a:pt x="0" y="0"/>
                </a:lnTo>
                <a:close/>
              </a:path>
            </a:pathLst>
          </a:custGeom>
          <a:ln w="19049">
            <a:solidFill>
              <a:srgbClr val="FF0000"/>
            </a:solidFill>
          </a:ln>
        </p:spPr>
        <p:txBody>
          <a:bodyPr wrap="square" lIns="0" tIns="0" rIns="0" bIns="0" rtlCol="0"/>
          <a:lstStyle/>
          <a:p>
            <a:endParaRPr/>
          </a:p>
        </p:txBody>
      </p:sp>
      <p:sp>
        <p:nvSpPr>
          <p:cNvPr id="26" name="object 26"/>
          <p:cNvSpPr txBox="1">
            <a:spLocks noGrp="1"/>
          </p:cNvSpPr>
          <p:nvPr>
            <p:ph type="body" idx="1"/>
          </p:nvPr>
        </p:nvSpPr>
        <p:spPr>
          <a:prstGeom prst="rect">
            <a:avLst/>
          </a:prstGeom>
        </p:spPr>
        <p:txBody>
          <a:bodyPr vert="horz" wrap="square" lIns="0" tIns="0" rIns="0" bIns="0" rtlCol="0">
            <a:spAutoFit/>
          </a:bodyPr>
          <a:lstStyle/>
          <a:p>
            <a:pPr marL="3252470" marR="2814955" algn="ctr">
              <a:lnSpc>
                <a:spcPct val="100000"/>
              </a:lnSpc>
            </a:pPr>
            <a:r>
              <a:rPr sz="1800" spc="-5" dirty="0"/>
              <a:t>“local</a:t>
            </a:r>
            <a:r>
              <a:rPr sz="1800" spc="-35" dirty="0"/>
              <a:t> </a:t>
            </a:r>
            <a:r>
              <a:rPr sz="1800" spc="-5" dirty="0"/>
              <a:t>gradient”</a:t>
            </a:r>
            <a:endParaRPr sz="1800"/>
          </a:p>
          <a:p>
            <a:pPr marL="3252470">
              <a:lnSpc>
                <a:spcPct val="100000"/>
              </a:lnSpc>
            </a:pPr>
            <a:endParaRPr sz="1800">
              <a:latin typeface="Times New Roman"/>
              <a:cs typeface="Times New Roman"/>
            </a:endParaRPr>
          </a:p>
          <a:p>
            <a:pPr marL="3252470">
              <a:lnSpc>
                <a:spcPct val="100000"/>
              </a:lnSpc>
            </a:pPr>
            <a:endParaRPr sz="2350">
              <a:latin typeface="Times New Roman"/>
              <a:cs typeface="Times New Roman"/>
            </a:endParaRPr>
          </a:p>
          <a:p>
            <a:pPr marL="3252470" marR="2941320" algn="ctr">
              <a:lnSpc>
                <a:spcPct val="100000"/>
              </a:lnSpc>
            </a:pPr>
            <a:r>
              <a:rPr sz="4800" spc="-5" dirty="0">
                <a:solidFill>
                  <a:srgbClr val="000000"/>
                </a:solidFill>
              </a:rPr>
              <a:t>f</a:t>
            </a:r>
            <a:endParaRPr sz="4800"/>
          </a:p>
          <a:p>
            <a:pPr marL="3252470">
              <a:lnSpc>
                <a:spcPct val="100000"/>
              </a:lnSpc>
              <a:spcBef>
                <a:spcPts val="20"/>
              </a:spcBef>
            </a:pPr>
            <a:endParaRPr sz="7050">
              <a:latin typeface="Times New Roman"/>
              <a:cs typeface="Times New Roman"/>
            </a:endParaRPr>
          </a:p>
          <a:p>
            <a:pPr marL="6031865">
              <a:lnSpc>
                <a:spcPct val="100000"/>
              </a:lnSpc>
            </a:pPr>
            <a:r>
              <a:rPr sz="3000" spc="-5" dirty="0"/>
              <a:t>gradients</a:t>
            </a:r>
            <a:endParaRPr sz="3000"/>
          </a:p>
        </p:txBody>
      </p:sp>
      <p:sp>
        <p:nvSpPr>
          <p:cNvPr id="27" name="object 27"/>
          <p:cNvSpPr/>
          <p:nvPr/>
        </p:nvSpPr>
        <p:spPr>
          <a:xfrm>
            <a:off x="799523" y="712036"/>
            <a:ext cx="2129395" cy="1553146"/>
          </a:xfrm>
          <a:prstGeom prst="rect">
            <a:avLst/>
          </a:prstGeom>
          <a:blipFill>
            <a:blip r:embed="rId8" cstate="print"/>
            <a:stretch>
              <a:fillRect/>
            </a:stretch>
          </a:blipFill>
        </p:spPr>
        <p:txBody>
          <a:bodyPr wrap="square" lIns="0" tIns="0" rIns="0" bIns="0" rtlCol="0"/>
          <a:lstStyle/>
          <a:p>
            <a:endParaRPr/>
          </a:p>
        </p:txBody>
      </p:sp>
      <p:sp>
        <p:nvSpPr>
          <p:cNvPr id="28" name="object 28"/>
          <p:cNvSpPr/>
          <p:nvPr/>
        </p:nvSpPr>
        <p:spPr>
          <a:xfrm>
            <a:off x="784738" y="741538"/>
            <a:ext cx="811530" cy="833119"/>
          </a:xfrm>
          <a:custGeom>
            <a:avLst/>
            <a:gdLst/>
            <a:ahLst/>
            <a:cxnLst/>
            <a:rect l="l" t="t" r="r" b="b"/>
            <a:pathLst>
              <a:path w="811530" h="833119">
                <a:moveTo>
                  <a:pt x="281399" y="0"/>
                </a:moveTo>
                <a:lnTo>
                  <a:pt x="811198" y="260399"/>
                </a:lnTo>
                <a:lnTo>
                  <a:pt x="529798" y="833098"/>
                </a:lnTo>
                <a:lnTo>
                  <a:pt x="0" y="572698"/>
                </a:lnTo>
                <a:lnTo>
                  <a:pt x="281399" y="0"/>
                </a:lnTo>
                <a:close/>
              </a:path>
            </a:pathLst>
          </a:custGeom>
          <a:ln w="19049">
            <a:solidFill>
              <a:srgbClr val="FF0000"/>
            </a:solidFill>
          </a:ln>
        </p:spPr>
        <p:txBody>
          <a:bodyPr wrap="square" lIns="0" tIns="0" rIns="0" bIns="0" rtlCol="0"/>
          <a:lstStyle/>
          <a:p>
            <a:endParaRPr/>
          </a:p>
        </p:txBody>
      </p:sp>
      <p:sp>
        <p:nvSpPr>
          <p:cNvPr id="29" name="object 29"/>
          <p:cNvSpPr/>
          <p:nvPr/>
        </p:nvSpPr>
        <p:spPr>
          <a:xfrm>
            <a:off x="1053370" y="654666"/>
            <a:ext cx="2042795" cy="901700"/>
          </a:xfrm>
          <a:custGeom>
            <a:avLst/>
            <a:gdLst/>
            <a:ahLst/>
            <a:cxnLst/>
            <a:rect l="l" t="t" r="r" b="b"/>
            <a:pathLst>
              <a:path w="2042795" h="901700">
                <a:moveTo>
                  <a:pt x="2042523" y="901255"/>
                </a:moveTo>
                <a:lnTo>
                  <a:pt x="0" y="0"/>
                </a:lnTo>
              </a:path>
            </a:pathLst>
          </a:custGeom>
          <a:ln w="19049">
            <a:solidFill>
              <a:srgbClr val="FF0000"/>
            </a:solidFill>
          </a:ln>
        </p:spPr>
        <p:txBody>
          <a:bodyPr wrap="square" lIns="0" tIns="0" rIns="0" bIns="0" rtlCol="0"/>
          <a:lstStyle/>
          <a:p>
            <a:endParaRPr/>
          </a:p>
        </p:txBody>
      </p:sp>
      <p:sp>
        <p:nvSpPr>
          <p:cNvPr id="30" name="object 30"/>
          <p:cNvSpPr/>
          <p:nvPr/>
        </p:nvSpPr>
        <p:spPr>
          <a:xfrm>
            <a:off x="974278" y="619766"/>
            <a:ext cx="92075" cy="64135"/>
          </a:xfrm>
          <a:custGeom>
            <a:avLst/>
            <a:gdLst/>
            <a:ahLst/>
            <a:cxnLst/>
            <a:rect l="l" t="t" r="r" b="b"/>
            <a:pathLst>
              <a:path w="92075" h="64134">
                <a:moveTo>
                  <a:pt x="91794" y="6112"/>
                </a:moveTo>
                <a:lnTo>
                  <a:pt x="0" y="0"/>
                </a:lnTo>
                <a:lnTo>
                  <a:pt x="66389" y="63687"/>
                </a:lnTo>
                <a:lnTo>
                  <a:pt x="91794" y="6112"/>
                </a:lnTo>
                <a:close/>
              </a:path>
            </a:pathLst>
          </a:custGeom>
          <a:ln w="19049">
            <a:solidFill>
              <a:srgbClr val="FF0000"/>
            </a:solidFill>
          </a:ln>
        </p:spPr>
        <p:txBody>
          <a:bodyPr wrap="square" lIns="0" tIns="0" rIns="0" bIns="0" rtlCol="0"/>
          <a:lstStyle/>
          <a:p>
            <a:endParaRPr/>
          </a:p>
        </p:txBody>
      </p:sp>
      <p:sp>
        <p:nvSpPr>
          <p:cNvPr id="32" name="Slide Number Placeholder 31">
            <a:extLst>
              <a:ext uri="{FF2B5EF4-FFF2-40B4-BE49-F238E27FC236}">
                <a16:creationId xmlns:a16="http://schemas.microsoft.com/office/drawing/2014/main" id="{AF547D8B-F434-4414-4C9D-33D57790F864}"/>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57</a:t>
            </a:fld>
            <a:endParaRPr lang="en-US" altLang="zh-CN" spc="-5" dirty="0"/>
          </a:p>
        </p:txBody>
      </p:sp>
      <p:sp>
        <p:nvSpPr>
          <p:cNvPr id="2" name="Slide Number Placeholder 1">
            <a:extLst>
              <a:ext uri="{FF2B5EF4-FFF2-40B4-BE49-F238E27FC236}">
                <a16:creationId xmlns:a16="http://schemas.microsoft.com/office/drawing/2014/main" id="{C62B1A7B-57D0-558E-952C-02C4BA0F1DB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57</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233099"/>
            <a:ext cx="352424" cy="304799"/>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061018"/>
            <a:ext cx="295274" cy="361949"/>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1758696"/>
            <a:ext cx="352424" cy="304799"/>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p:nvPr/>
        </p:nvSpPr>
        <p:spPr>
          <a:xfrm>
            <a:off x="6585386" y="2433620"/>
            <a:ext cx="2112010" cy="0"/>
          </a:xfrm>
          <a:custGeom>
            <a:avLst/>
            <a:gdLst/>
            <a:ahLst/>
            <a:cxnLst/>
            <a:rect l="l" t="t" r="r" b="b"/>
            <a:pathLst>
              <a:path w="2112009">
                <a:moveTo>
                  <a:pt x="2111695" y="0"/>
                </a:moveTo>
                <a:lnTo>
                  <a:pt x="0" y="0"/>
                </a:lnTo>
              </a:path>
            </a:pathLst>
          </a:custGeom>
          <a:ln w="19049">
            <a:solidFill>
              <a:srgbClr val="FF0000"/>
            </a:solidFill>
          </a:ln>
        </p:spPr>
        <p:txBody>
          <a:bodyPr wrap="square" lIns="0" tIns="0" rIns="0" bIns="0" rtlCol="0"/>
          <a:lstStyle/>
          <a:p>
            <a:endParaRPr/>
          </a:p>
        </p:txBody>
      </p:sp>
      <p:sp>
        <p:nvSpPr>
          <p:cNvPr id="18" name="object 18"/>
          <p:cNvSpPr/>
          <p:nvPr/>
        </p:nvSpPr>
        <p:spPr>
          <a:xfrm>
            <a:off x="6498937" y="2402155"/>
            <a:ext cx="86995" cy="63500"/>
          </a:xfrm>
          <a:custGeom>
            <a:avLst/>
            <a:gdLst/>
            <a:ahLst/>
            <a:cxnLst/>
            <a:rect l="l" t="t" r="r" b="b"/>
            <a:pathLst>
              <a:path w="86995" h="63500">
                <a:moveTo>
                  <a:pt x="86449" y="0"/>
                </a:moveTo>
                <a:lnTo>
                  <a:pt x="0" y="31464"/>
                </a:lnTo>
                <a:lnTo>
                  <a:pt x="86449" y="62929"/>
                </a:lnTo>
                <a:lnTo>
                  <a:pt x="86449" y="0"/>
                </a:lnTo>
                <a:close/>
              </a:path>
            </a:pathLst>
          </a:custGeom>
          <a:ln w="19049">
            <a:solidFill>
              <a:srgbClr val="FF0000"/>
            </a:solidFill>
          </a:ln>
        </p:spPr>
        <p:txBody>
          <a:bodyPr wrap="square" lIns="0" tIns="0" rIns="0" bIns="0" rtlCol="0"/>
          <a:lstStyle/>
          <a:p>
            <a:endParaRPr/>
          </a:p>
        </p:txBody>
      </p:sp>
      <p:sp>
        <p:nvSpPr>
          <p:cNvPr id="19" name="object 19"/>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20" name="object 20"/>
          <p:cNvSpPr/>
          <p:nvPr/>
        </p:nvSpPr>
        <p:spPr>
          <a:xfrm>
            <a:off x="7164960" y="2555194"/>
            <a:ext cx="514348" cy="676273"/>
          </a:xfrm>
          <a:prstGeom prst="rect">
            <a:avLst/>
          </a:prstGeom>
          <a:blipFill>
            <a:blip r:embed="rId5" cstate="print"/>
            <a:stretch>
              <a:fillRect/>
            </a:stretch>
          </a:blipFill>
        </p:spPr>
        <p:txBody>
          <a:bodyPr wrap="square" lIns="0" tIns="0" rIns="0" bIns="0" rtlCol="0"/>
          <a:lstStyle/>
          <a:p>
            <a:endParaRPr/>
          </a:p>
        </p:txBody>
      </p:sp>
      <p:sp>
        <p:nvSpPr>
          <p:cNvPr id="21" name="object 21"/>
          <p:cNvSpPr/>
          <p:nvPr/>
        </p:nvSpPr>
        <p:spPr>
          <a:xfrm>
            <a:off x="7155460" y="2545669"/>
            <a:ext cx="533400" cy="695325"/>
          </a:xfrm>
          <a:custGeom>
            <a:avLst/>
            <a:gdLst/>
            <a:ahLst/>
            <a:cxnLst/>
            <a:rect l="l" t="t" r="r" b="b"/>
            <a:pathLst>
              <a:path w="533400" h="695325">
                <a:moveTo>
                  <a:pt x="0" y="0"/>
                </a:moveTo>
                <a:lnTo>
                  <a:pt x="533373" y="0"/>
                </a:lnTo>
                <a:lnTo>
                  <a:pt x="533373" y="695323"/>
                </a:lnTo>
                <a:lnTo>
                  <a:pt x="0" y="695323"/>
                </a:lnTo>
                <a:lnTo>
                  <a:pt x="0" y="0"/>
                </a:lnTo>
                <a:close/>
              </a:path>
            </a:pathLst>
          </a:custGeom>
          <a:ln w="19049">
            <a:solidFill>
              <a:srgbClr val="FF0000"/>
            </a:solidFill>
          </a:ln>
        </p:spPr>
        <p:txBody>
          <a:bodyPr wrap="square" lIns="0" tIns="0" rIns="0" bIns="0" rtlCol="0"/>
          <a:lstStyle/>
          <a:p>
            <a:endParaRPr/>
          </a:p>
        </p:txBody>
      </p:sp>
      <p:sp>
        <p:nvSpPr>
          <p:cNvPr id="22" name="object 22"/>
          <p:cNvSpPr/>
          <p:nvPr/>
        </p:nvSpPr>
        <p:spPr>
          <a:xfrm>
            <a:off x="3398743" y="1290434"/>
            <a:ext cx="485773" cy="638173"/>
          </a:xfrm>
          <a:prstGeom prst="rect">
            <a:avLst/>
          </a:prstGeom>
          <a:blipFill>
            <a:blip r:embed="rId6" cstate="print"/>
            <a:stretch>
              <a:fillRect/>
            </a:stretch>
          </a:blipFill>
        </p:spPr>
        <p:txBody>
          <a:bodyPr wrap="square" lIns="0" tIns="0" rIns="0" bIns="0" rtlCol="0"/>
          <a:lstStyle/>
          <a:p>
            <a:endParaRPr/>
          </a:p>
        </p:txBody>
      </p:sp>
      <p:sp>
        <p:nvSpPr>
          <p:cNvPr id="23" name="object 23"/>
          <p:cNvSpPr/>
          <p:nvPr/>
        </p:nvSpPr>
        <p:spPr>
          <a:xfrm>
            <a:off x="3389243" y="12809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24" name="object 24"/>
          <p:cNvSpPr/>
          <p:nvPr/>
        </p:nvSpPr>
        <p:spPr>
          <a:xfrm>
            <a:off x="3398743" y="2493044"/>
            <a:ext cx="409574" cy="704848"/>
          </a:xfrm>
          <a:prstGeom prst="rect">
            <a:avLst/>
          </a:prstGeom>
          <a:blipFill>
            <a:blip r:embed="rId7" cstate="print"/>
            <a:stretch>
              <a:fillRect/>
            </a:stretch>
          </a:blipFill>
        </p:spPr>
        <p:txBody>
          <a:bodyPr wrap="square" lIns="0" tIns="0" rIns="0" bIns="0" rtlCol="0"/>
          <a:lstStyle/>
          <a:p>
            <a:endParaRPr/>
          </a:p>
        </p:txBody>
      </p:sp>
      <p:sp>
        <p:nvSpPr>
          <p:cNvPr id="25" name="object 25"/>
          <p:cNvSpPr/>
          <p:nvPr/>
        </p:nvSpPr>
        <p:spPr>
          <a:xfrm>
            <a:off x="3389243" y="2483507"/>
            <a:ext cx="428625" cy="723900"/>
          </a:xfrm>
          <a:custGeom>
            <a:avLst/>
            <a:gdLst/>
            <a:ahLst/>
            <a:cxnLst/>
            <a:rect l="l" t="t" r="r" b="b"/>
            <a:pathLst>
              <a:path w="428625" h="723900">
                <a:moveTo>
                  <a:pt x="0" y="0"/>
                </a:moveTo>
                <a:lnTo>
                  <a:pt x="428599" y="0"/>
                </a:lnTo>
                <a:lnTo>
                  <a:pt x="428599" y="723886"/>
                </a:lnTo>
                <a:lnTo>
                  <a:pt x="0" y="723886"/>
                </a:lnTo>
                <a:lnTo>
                  <a:pt x="0" y="0"/>
                </a:lnTo>
                <a:close/>
              </a:path>
            </a:pathLst>
          </a:custGeom>
          <a:ln w="19049">
            <a:solidFill>
              <a:srgbClr val="FF0000"/>
            </a:solidFill>
          </a:ln>
        </p:spPr>
        <p:txBody>
          <a:bodyPr wrap="square" lIns="0" tIns="0" rIns="0" bIns="0" rtlCol="0"/>
          <a:lstStyle/>
          <a:p>
            <a:endParaRPr/>
          </a:p>
        </p:txBody>
      </p:sp>
      <p:sp>
        <p:nvSpPr>
          <p:cNvPr id="26" name="object 26"/>
          <p:cNvSpPr txBox="1">
            <a:spLocks noGrp="1"/>
          </p:cNvSpPr>
          <p:nvPr>
            <p:ph type="body" idx="1"/>
          </p:nvPr>
        </p:nvSpPr>
        <p:spPr>
          <a:prstGeom prst="rect">
            <a:avLst/>
          </a:prstGeom>
        </p:spPr>
        <p:txBody>
          <a:bodyPr vert="horz" wrap="square" lIns="0" tIns="0" rIns="0" bIns="0" rtlCol="0">
            <a:spAutoFit/>
          </a:bodyPr>
          <a:lstStyle/>
          <a:p>
            <a:pPr marL="3252470" marR="2814955" algn="ctr">
              <a:lnSpc>
                <a:spcPct val="100000"/>
              </a:lnSpc>
            </a:pPr>
            <a:r>
              <a:rPr sz="1800" spc="-5" dirty="0"/>
              <a:t>“local</a:t>
            </a:r>
            <a:r>
              <a:rPr sz="1800" spc="-35" dirty="0"/>
              <a:t> </a:t>
            </a:r>
            <a:r>
              <a:rPr sz="1800" spc="-5" dirty="0"/>
              <a:t>gradient”</a:t>
            </a:r>
            <a:endParaRPr sz="1800"/>
          </a:p>
          <a:p>
            <a:pPr marL="3252470">
              <a:lnSpc>
                <a:spcPct val="100000"/>
              </a:lnSpc>
            </a:pPr>
            <a:endParaRPr sz="1800">
              <a:latin typeface="Times New Roman"/>
              <a:cs typeface="Times New Roman"/>
            </a:endParaRPr>
          </a:p>
          <a:p>
            <a:pPr marL="3252470">
              <a:lnSpc>
                <a:spcPct val="100000"/>
              </a:lnSpc>
            </a:pPr>
            <a:endParaRPr sz="2350">
              <a:latin typeface="Times New Roman"/>
              <a:cs typeface="Times New Roman"/>
            </a:endParaRPr>
          </a:p>
          <a:p>
            <a:pPr marL="3252470" marR="2941320" algn="ctr">
              <a:lnSpc>
                <a:spcPct val="100000"/>
              </a:lnSpc>
            </a:pPr>
            <a:r>
              <a:rPr sz="4800" spc="-5" dirty="0">
                <a:solidFill>
                  <a:srgbClr val="000000"/>
                </a:solidFill>
              </a:rPr>
              <a:t>f</a:t>
            </a:r>
            <a:endParaRPr sz="4800"/>
          </a:p>
          <a:p>
            <a:pPr marL="3252470">
              <a:lnSpc>
                <a:spcPct val="100000"/>
              </a:lnSpc>
              <a:spcBef>
                <a:spcPts val="20"/>
              </a:spcBef>
            </a:pPr>
            <a:endParaRPr sz="7050">
              <a:latin typeface="Times New Roman"/>
              <a:cs typeface="Times New Roman"/>
            </a:endParaRPr>
          </a:p>
          <a:p>
            <a:pPr marL="6031865">
              <a:lnSpc>
                <a:spcPct val="100000"/>
              </a:lnSpc>
            </a:pPr>
            <a:r>
              <a:rPr sz="3000" spc="-5" dirty="0"/>
              <a:t>gradients</a:t>
            </a:r>
            <a:endParaRPr sz="3000"/>
          </a:p>
        </p:txBody>
      </p:sp>
      <p:sp>
        <p:nvSpPr>
          <p:cNvPr id="27" name="object 27"/>
          <p:cNvSpPr/>
          <p:nvPr/>
        </p:nvSpPr>
        <p:spPr>
          <a:xfrm>
            <a:off x="799523" y="712036"/>
            <a:ext cx="2129395" cy="1553146"/>
          </a:xfrm>
          <a:prstGeom prst="rect">
            <a:avLst/>
          </a:prstGeom>
          <a:blipFill>
            <a:blip r:embed="rId8" cstate="print"/>
            <a:stretch>
              <a:fillRect/>
            </a:stretch>
          </a:blipFill>
        </p:spPr>
        <p:txBody>
          <a:bodyPr wrap="square" lIns="0" tIns="0" rIns="0" bIns="0" rtlCol="0"/>
          <a:lstStyle/>
          <a:p>
            <a:endParaRPr/>
          </a:p>
        </p:txBody>
      </p:sp>
      <p:sp>
        <p:nvSpPr>
          <p:cNvPr id="28" name="object 28"/>
          <p:cNvSpPr/>
          <p:nvPr/>
        </p:nvSpPr>
        <p:spPr>
          <a:xfrm>
            <a:off x="784738" y="741538"/>
            <a:ext cx="811530" cy="833119"/>
          </a:xfrm>
          <a:custGeom>
            <a:avLst/>
            <a:gdLst/>
            <a:ahLst/>
            <a:cxnLst/>
            <a:rect l="l" t="t" r="r" b="b"/>
            <a:pathLst>
              <a:path w="811530" h="833119">
                <a:moveTo>
                  <a:pt x="281399" y="0"/>
                </a:moveTo>
                <a:lnTo>
                  <a:pt x="811198" y="260399"/>
                </a:lnTo>
                <a:lnTo>
                  <a:pt x="529798" y="833098"/>
                </a:lnTo>
                <a:lnTo>
                  <a:pt x="0" y="572698"/>
                </a:lnTo>
                <a:lnTo>
                  <a:pt x="281399" y="0"/>
                </a:lnTo>
                <a:close/>
              </a:path>
            </a:pathLst>
          </a:custGeom>
          <a:ln w="19049">
            <a:solidFill>
              <a:srgbClr val="FF0000"/>
            </a:solidFill>
          </a:ln>
        </p:spPr>
        <p:txBody>
          <a:bodyPr wrap="square" lIns="0" tIns="0" rIns="0" bIns="0" rtlCol="0"/>
          <a:lstStyle/>
          <a:p>
            <a:endParaRPr/>
          </a:p>
        </p:txBody>
      </p:sp>
      <p:sp>
        <p:nvSpPr>
          <p:cNvPr id="29" name="object 29"/>
          <p:cNvSpPr/>
          <p:nvPr/>
        </p:nvSpPr>
        <p:spPr>
          <a:xfrm>
            <a:off x="1202508" y="3189278"/>
            <a:ext cx="2132702" cy="1320412"/>
          </a:xfrm>
          <a:prstGeom prst="rect">
            <a:avLst/>
          </a:prstGeom>
          <a:blipFill>
            <a:blip r:embed="rId9" cstate="print"/>
            <a:stretch>
              <a:fillRect/>
            </a:stretch>
          </a:blipFill>
        </p:spPr>
        <p:txBody>
          <a:bodyPr wrap="square" lIns="0" tIns="0" rIns="0" bIns="0" rtlCol="0"/>
          <a:lstStyle/>
          <a:p>
            <a:endParaRPr/>
          </a:p>
        </p:txBody>
      </p:sp>
      <p:sp>
        <p:nvSpPr>
          <p:cNvPr id="30" name="object 30"/>
          <p:cNvSpPr/>
          <p:nvPr/>
        </p:nvSpPr>
        <p:spPr>
          <a:xfrm>
            <a:off x="1195922" y="3671217"/>
            <a:ext cx="767080" cy="796290"/>
          </a:xfrm>
          <a:custGeom>
            <a:avLst/>
            <a:gdLst/>
            <a:ahLst/>
            <a:cxnLst/>
            <a:rect l="l" t="t" r="r" b="b"/>
            <a:pathLst>
              <a:path w="767080" h="796289">
                <a:moveTo>
                  <a:pt x="0" y="193199"/>
                </a:moveTo>
                <a:lnTo>
                  <a:pt x="557698" y="0"/>
                </a:lnTo>
                <a:lnTo>
                  <a:pt x="766798" y="602998"/>
                </a:lnTo>
                <a:lnTo>
                  <a:pt x="209099" y="796198"/>
                </a:lnTo>
                <a:lnTo>
                  <a:pt x="0" y="193199"/>
                </a:lnTo>
                <a:close/>
              </a:path>
            </a:pathLst>
          </a:custGeom>
          <a:ln w="19049">
            <a:solidFill>
              <a:srgbClr val="FF0000"/>
            </a:solidFill>
          </a:ln>
        </p:spPr>
        <p:txBody>
          <a:bodyPr wrap="square" lIns="0" tIns="0" rIns="0" bIns="0" rtlCol="0"/>
          <a:lstStyle/>
          <a:p>
            <a:endParaRPr/>
          </a:p>
        </p:txBody>
      </p:sp>
      <p:sp>
        <p:nvSpPr>
          <p:cNvPr id="31" name="object 31"/>
          <p:cNvSpPr/>
          <p:nvPr/>
        </p:nvSpPr>
        <p:spPr>
          <a:xfrm>
            <a:off x="1053370" y="654666"/>
            <a:ext cx="2042795" cy="901700"/>
          </a:xfrm>
          <a:custGeom>
            <a:avLst/>
            <a:gdLst/>
            <a:ahLst/>
            <a:cxnLst/>
            <a:rect l="l" t="t" r="r" b="b"/>
            <a:pathLst>
              <a:path w="2042795" h="901700">
                <a:moveTo>
                  <a:pt x="2042523" y="901255"/>
                </a:moveTo>
                <a:lnTo>
                  <a:pt x="0" y="0"/>
                </a:lnTo>
              </a:path>
            </a:pathLst>
          </a:custGeom>
          <a:ln w="19049">
            <a:solidFill>
              <a:srgbClr val="FF0000"/>
            </a:solidFill>
          </a:ln>
        </p:spPr>
        <p:txBody>
          <a:bodyPr wrap="square" lIns="0" tIns="0" rIns="0" bIns="0" rtlCol="0"/>
          <a:lstStyle/>
          <a:p>
            <a:endParaRPr/>
          </a:p>
        </p:txBody>
      </p:sp>
      <p:sp>
        <p:nvSpPr>
          <p:cNvPr id="32" name="object 32"/>
          <p:cNvSpPr/>
          <p:nvPr/>
        </p:nvSpPr>
        <p:spPr>
          <a:xfrm>
            <a:off x="974278" y="619766"/>
            <a:ext cx="92075" cy="64135"/>
          </a:xfrm>
          <a:custGeom>
            <a:avLst/>
            <a:gdLst/>
            <a:ahLst/>
            <a:cxnLst/>
            <a:rect l="l" t="t" r="r" b="b"/>
            <a:pathLst>
              <a:path w="92075" h="64134">
                <a:moveTo>
                  <a:pt x="91794" y="6112"/>
                </a:moveTo>
                <a:lnTo>
                  <a:pt x="0" y="0"/>
                </a:lnTo>
                <a:lnTo>
                  <a:pt x="66389" y="63687"/>
                </a:lnTo>
                <a:lnTo>
                  <a:pt x="91794" y="6112"/>
                </a:lnTo>
                <a:close/>
              </a:path>
            </a:pathLst>
          </a:custGeom>
          <a:ln w="19049">
            <a:solidFill>
              <a:srgbClr val="FF0000"/>
            </a:solidFill>
          </a:ln>
        </p:spPr>
        <p:txBody>
          <a:bodyPr wrap="square" lIns="0" tIns="0" rIns="0" bIns="0" rtlCol="0"/>
          <a:lstStyle/>
          <a:p>
            <a:endParaRPr/>
          </a:p>
        </p:txBody>
      </p:sp>
      <p:sp>
        <p:nvSpPr>
          <p:cNvPr id="33" name="object 33"/>
          <p:cNvSpPr/>
          <p:nvPr/>
        </p:nvSpPr>
        <p:spPr>
          <a:xfrm>
            <a:off x="882508" y="3105093"/>
            <a:ext cx="2277745" cy="745490"/>
          </a:xfrm>
          <a:custGeom>
            <a:avLst/>
            <a:gdLst/>
            <a:ahLst/>
            <a:cxnLst/>
            <a:rect l="l" t="t" r="r" b="b"/>
            <a:pathLst>
              <a:path w="2277745" h="745489">
                <a:moveTo>
                  <a:pt x="2277560" y="0"/>
                </a:moveTo>
                <a:lnTo>
                  <a:pt x="0" y="745048"/>
                </a:lnTo>
              </a:path>
            </a:pathLst>
          </a:custGeom>
          <a:ln w="19049">
            <a:solidFill>
              <a:srgbClr val="FF0000"/>
            </a:solidFill>
          </a:ln>
        </p:spPr>
        <p:txBody>
          <a:bodyPr wrap="square" lIns="0" tIns="0" rIns="0" bIns="0" rtlCol="0"/>
          <a:lstStyle/>
          <a:p>
            <a:endParaRPr/>
          </a:p>
        </p:txBody>
      </p:sp>
      <p:sp>
        <p:nvSpPr>
          <p:cNvPr id="34" name="object 34"/>
          <p:cNvSpPr/>
          <p:nvPr/>
        </p:nvSpPr>
        <p:spPr>
          <a:xfrm>
            <a:off x="800343" y="3820242"/>
            <a:ext cx="92075" cy="60325"/>
          </a:xfrm>
          <a:custGeom>
            <a:avLst/>
            <a:gdLst/>
            <a:ahLst/>
            <a:cxnLst/>
            <a:rect l="l" t="t" r="r" b="b"/>
            <a:pathLst>
              <a:path w="92075" h="60325">
                <a:moveTo>
                  <a:pt x="72382" y="0"/>
                </a:moveTo>
                <a:lnTo>
                  <a:pt x="0" y="56799"/>
                </a:lnTo>
                <a:lnTo>
                  <a:pt x="91947" y="59824"/>
                </a:lnTo>
                <a:lnTo>
                  <a:pt x="72382" y="0"/>
                </a:lnTo>
                <a:close/>
              </a:path>
            </a:pathLst>
          </a:custGeom>
          <a:ln w="19049">
            <a:solidFill>
              <a:srgbClr val="FF0000"/>
            </a:solidFill>
          </a:ln>
        </p:spPr>
        <p:txBody>
          <a:bodyPr wrap="square" lIns="0" tIns="0" rIns="0" bIns="0" rtlCol="0"/>
          <a:lstStyle/>
          <a:p>
            <a:endParaRPr/>
          </a:p>
        </p:txBody>
      </p:sp>
      <p:sp>
        <p:nvSpPr>
          <p:cNvPr id="36" name="Slide Number Placeholder 35">
            <a:extLst>
              <a:ext uri="{FF2B5EF4-FFF2-40B4-BE49-F238E27FC236}">
                <a16:creationId xmlns:a16="http://schemas.microsoft.com/office/drawing/2014/main" id="{15453B20-5A33-E4FA-6D99-3A0A1F135D35}"/>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58</a:t>
            </a:fld>
            <a:endParaRPr lang="en-US" altLang="zh-CN" spc="-5" dirty="0"/>
          </a:p>
        </p:txBody>
      </p:sp>
      <p:sp>
        <p:nvSpPr>
          <p:cNvPr id="2" name="Slide Number Placeholder 1">
            <a:extLst>
              <a:ext uri="{FF2B5EF4-FFF2-40B4-BE49-F238E27FC236}">
                <a16:creationId xmlns:a16="http://schemas.microsoft.com/office/drawing/2014/main" id="{08DBBDCA-8B17-A1F9-5369-81292F961D4B}"/>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58</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494749"/>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5"/>
                </a:lnTo>
                <a:lnTo>
                  <a:pt x="3114442" y="659087"/>
                </a:lnTo>
                <a:lnTo>
                  <a:pt x="3144493" y="697946"/>
                </a:lnTo>
                <a:lnTo>
                  <a:pt x="3173389" y="737565"/>
                </a:lnTo>
                <a:lnTo>
                  <a:pt x="3201121" y="777917"/>
                </a:lnTo>
                <a:lnTo>
                  <a:pt x="3227676" y="818975"/>
                </a:lnTo>
                <a:lnTo>
                  <a:pt x="3253044" y="860713"/>
                </a:lnTo>
                <a:lnTo>
                  <a:pt x="3277213" y="903104"/>
                </a:lnTo>
                <a:lnTo>
                  <a:pt x="3300172" y="946122"/>
                </a:lnTo>
                <a:lnTo>
                  <a:pt x="3321911" y="989739"/>
                </a:lnTo>
                <a:lnTo>
                  <a:pt x="3342419" y="1033929"/>
                </a:lnTo>
                <a:lnTo>
                  <a:pt x="3361683" y="1078665"/>
                </a:lnTo>
                <a:lnTo>
                  <a:pt x="3379694" y="1123920"/>
                </a:lnTo>
                <a:lnTo>
                  <a:pt x="3396440" y="1169668"/>
                </a:lnTo>
                <a:lnTo>
                  <a:pt x="3411910" y="1215882"/>
                </a:lnTo>
                <a:lnTo>
                  <a:pt x="3426092" y="1262535"/>
                </a:lnTo>
                <a:lnTo>
                  <a:pt x="3438977" y="1309601"/>
                </a:lnTo>
                <a:lnTo>
                  <a:pt x="3450552" y="1357052"/>
                </a:lnTo>
                <a:lnTo>
                  <a:pt x="3460807" y="1404863"/>
                </a:lnTo>
                <a:lnTo>
                  <a:pt x="3469731" y="1453006"/>
                </a:lnTo>
                <a:lnTo>
                  <a:pt x="3477312" y="1501454"/>
                </a:lnTo>
                <a:lnTo>
                  <a:pt x="3483539" y="1550182"/>
                </a:lnTo>
                <a:lnTo>
                  <a:pt x="3488402" y="1599161"/>
                </a:lnTo>
                <a:lnTo>
                  <a:pt x="3491889" y="1648366"/>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012744"/>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2982918"/>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470774"/>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330667"/>
            <a:ext cx="92075" cy="62865"/>
          </a:xfrm>
          <a:custGeom>
            <a:avLst/>
            <a:gdLst/>
            <a:ahLst/>
            <a:cxnLst/>
            <a:rect l="l" t="t" r="r" b="b"/>
            <a:pathLst>
              <a:path w="92075" h="62865">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242095"/>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210630"/>
            <a:ext cx="86995" cy="63500"/>
          </a:xfrm>
          <a:custGeom>
            <a:avLst/>
            <a:gdLst/>
            <a:ahLst/>
            <a:cxnLst/>
            <a:rect l="l" t="t" r="r" b="b"/>
            <a:pathLst>
              <a:path w="86995" h="63500">
                <a:moveTo>
                  <a:pt x="0" y="62929"/>
                </a:moveTo>
                <a:lnTo>
                  <a:pt x="86449" y="31464"/>
                </a:lnTo>
                <a:lnTo>
                  <a:pt x="0" y="0"/>
                </a:lnTo>
                <a:lnTo>
                  <a:pt x="0" y="6292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233099"/>
            <a:ext cx="352424" cy="304799"/>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1370984" y="223574"/>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061018"/>
            <a:ext cx="295274" cy="361949"/>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1290834" y="3051493"/>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1758696"/>
            <a:ext cx="352424" cy="304799"/>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7236385" y="1749171"/>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p:nvPr/>
        </p:nvSpPr>
        <p:spPr>
          <a:xfrm>
            <a:off x="6585386" y="2433620"/>
            <a:ext cx="2112010" cy="0"/>
          </a:xfrm>
          <a:custGeom>
            <a:avLst/>
            <a:gdLst/>
            <a:ahLst/>
            <a:cxnLst/>
            <a:rect l="l" t="t" r="r" b="b"/>
            <a:pathLst>
              <a:path w="2112009">
                <a:moveTo>
                  <a:pt x="2111695" y="0"/>
                </a:moveTo>
                <a:lnTo>
                  <a:pt x="0" y="0"/>
                </a:lnTo>
              </a:path>
            </a:pathLst>
          </a:custGeom>
          <a:ln w="19049">
            <a:solidFill>
              <a:srgbClr val="FF0000"/>
            </a:solidFill>
          </a:ln>
        </p:spPr>
        <p:txBody>
          <a:bodyPr wrap="square" lIns="0" tIns="0" rIns="0" bIns="0" rtlCol="0"/>
          <a:lstStyle/>
          <a:p>
            <a:endParaRPr/>
          </a:p>
        </p:txBody>
      </p:sp>
      <p:sp>
        <p:nvSpPr>
          <p:cNvPr id="18" name="object 18"/>
          <p:cNvSpPr/>
          <p:nvPr/>
        </p:nvSpPr>
        <p:spPr>
          <a:xfrm>
            <a:off x="6498937" y="2402155"/>
            <a:ext cx="86995" cy="63500"/>
          </a:xfrm>
          <a:custGeom>
            <a:avLst/>
            <a:gdLst/>
            <a:ahLst/>
            <a:cxnLst/>
            <a:rect l="l" t="t" r="r" b="b"/>
            <a:pathLst>
              <a:path w="86995" h="63500">
                <a:moveTo>
                  <a:pt x="86449" y="0"/>
                </a:moveTo>
                <a:lnTo>
                  <a:pt x="0" y="31464"/>
                </a:lnTo>
                <a:lnTo>
                  <a:pt x="86449" y="62929"/>
                </a:lnTo>
                <a:lnTo>
                  <a:pt x="86449" y="0"/>
                </a:lnTo>
                <a:close/>
              </a:path>
            </a:pathLst>
          </a:custGeom>
          <a:ln w="19049">
            <a:solidFill>
              <a:srgbClr val="FF0000"/>
            </a:solidFill>
          </a:ln>
        </p:spPr>
        <p:txBody>
          <a:bodyPr wrap="square" lIns="0" tIns="0" rIns="0" bIns="0" rtlCol="0"/>
          <a:lstStyle/>
          <a:p>
            <a:endParaRPr/>
          </a:p>
        </p:txBody>
      </p:sp>
      <p:sp>
        <p:nvSpPr>
          <p:cNvPr id="19" name="object 19"/>
          <p:cNvSpPr txBox="1">
            <a:spLocks noGrp="1"/>
          </p:cNvSpPr>
          <p:nvPr>
            <p:ph type="title"/>
          </p:nvPr>
        </p:nvSpPr>
        <p:spPr>
          <a:xfrm>
            <a:off x="2195266" y="0"/>
            <a:ext cx="1824989" cy="466090"/>
          </a:xfrm>
          <a:prstGeom prst="rect">
            <a:avLst/>
          </a:prstGeom>
        </p:spPr>
        <p:txBody>
          <a:bodyPr vert="horz" wrap="square" lIns="0" tIns="0" rIns="0" bIns="0" rtlCol="0">
            <a:spAutoFit/>
          </a:bodyPr>
          <a:lstStyle/>
          <a:p>
            <a:pPr marL="12700">
              <a:lnSpc>
                <a:spcPct val="100000"/>
              </a:lnSpc>
            </a:pPr>
            <a:r>
              <a:rPr sz="3000" spc="-5" dirty="0">
                <a:solidFill>
                  <a:srgbClr val="38751C"/>
                </a:solidFill>
              </a:rPr>
              <a:t>activations</a:t>
            </a:r>
            <a:endParaRPr sz="3000"/>
          </a:p>
        </p:txBody>
      </p:sp>
      <p:sp>
        <p:nvSpPr>
          <p:cNvPr id="20" name="object 20"/>
          <p:cNvSpPr/>
          <p:nvPr/>
        </p:nvSpPr>
        <p:spPr>
          <a:xfrm>
            <a:off x="7164960" y="2555194"/>
            <a:ext cx="514348" cy="676273"/>
          </a:xfrm>
          <a:prstGeom prst="rect">
            <a:avLst/>
          </a:prstGeom>
          <a:blipFill>
            <a:blip r:embed="rId5" cstate="print"/>
            <a:stretch>
              <a:fillRect/>
            </a:stretch>
          </a:blipFill>
        </p:spPr>
        <p:txBody>
          <a:bodyPr wrap="square" lIns="0" tIns="0" rIns="0" bIns="0" rtlCol="0"/>
          <a:lstStyle/>
          <a:p>
            <a:endParaRPr/>
          </a:p>
        </p:txBody>
      </p:sp>
      <p:sp>
        <p:nvSpPr>
          <p:cNvPr id="21" name="object 21"/>
          <p:cNvSpPr/>
          <p:nvPr/>
        </p:nvSpPr>
        <p:spPr>
          <a:xfrm>
            <a:off x="7155460" y="2545669"/>
            <a:ext cx="533400" cy="695325"/>
          </a:xfrm>
          <a:custGeom>
            <a:avLst/>
            <a:gdLst/>
            <a:ahLst/>
            <a:cxnLst/>
            <a:rect l="l" t="t" r="r" b="b"/>
            <a:pathLst>
              <a:path w="533400" h="695325">
                <a:moveTo>
                  <a:pt x="0" y="0"/>
                </a:moveTo>
                <a:lnTo>
                  <a:pt x="533373" y="0"/>
                </a:lnTo>
                <a:lnTo>
                  <a:pt x="533373" y="695323"/>
                </a:lnTo>
                <a:lnTo>
                  <a:pt x="0" y="695323"/>
                </a:lnTo>
                <a:lnTo>
                  <a:pt x="0" y="0"/>
                </a:lnTo>
                <a:close/>
              </a:path>
            </a:pathLst>
          </a:custGeom>
          <a:ln w="19049">
            <a:solidFill>
              <a:srgbClr val="FF0000"/>
            </a:solidFill>
          </a:ln>
        </p:spPr>
        <p:txBody>
          <a:bodyPr wrap="square" lIns="0" tIns="0" rIns="0" bIns="0" rtlCol="0"/>
          <a:lstStyle/>
          <a:p>
            <a:endParaRPr/>
          </a:p>
        </p:txBody>
      </p:sp>
      <p:sp>
        <p:nvSpPr>
          <p:cNvPr id="22" name="object 22"/>
          <p:cNvSpPr/>
          <p:nvPr/>
        </p:nvSpPr>
        <p:spPr>
          <a:xfrm>
            <a:off x="3398743" y="1290434"/>
            <a:ext cx="485773" cy="638173"/>
          </a:xfrm>
          <a:prstGeom prst="rect">
            <a:avLst/>
          </a:prstGeom>
          <a:blipFill>
            <a:blip r:embed="rId6" cstate="print"/>
            <a:stretch>
              <a:fillRect/>
            </a:stretch>
          </a:blipFill>
        </p:spPr>
        <p:txBody>
          <a:bodyPr wrap="square" lIns="0" tIns="0" rIns="0" bIns="0" rtlCol="0"/>
          <a:lstStyle/>
          <a:p>
            <a:endParaRPr/>
          </a:p>
        </p:txBody>
      </p:sp>
      <p:sp>
        <p:nvSpPr>
          <p:cNvPr id="23" name="object 23"/>
          <p:cNvSpPr/>
          <p:nvPr/>
        </p:nvSpPr>
        <p:spPr>
          <a:xfrm>
            <a:off x="3389243" y="12809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24" name="object 24"/>
          <p:cNvSpPr/>
          <p:nvPr/>
        </p:nvSpPr>
        <p:spPr>
          <a:xfrm>
            <a:off x="3398743" y="2493044"/>
            <a:ext cx="409574" cy="704848"/>
          </a:xfrm>
          <a:prstGeom prst="rect">
            <a:avLst/>
          </a:prstGeom>
          <a:blipFill>
            <a:blip r:embed="rId7" cstate="print"/>
            <a:stretch>
              <a:fillRect/>
            </a:stretch>
          </a:blipFill>
        </p:spPr>
        <p:txBody>
          <a:bodyPr wrap="square" lIns="0" tIns="0" rIns="0" bIns="0" rtlCol="0"/>
          <a:lstStyle/>
          <a:p>
            <a:endParaRPr/>
          </a:p>
        </p:txBody>
      </p:sp>
      <p:sp>
        <p:nvSpPr>
          <p:cNvPr id="25" name="object 25"/>
          <p:cNvSpPr/>
          <p:nvPr/>
        </p:nvSpPr>
        <p:spPr>
          <a:xfrm>
            <a:off x="3389243" y="2483507"/>
            <a:ext cx="428625" cy="723900"/>
          </a:xfrm>
          <a:custGeom>
            <a:avLst/>
            <a:gdLst/>
            <a:ahLst/>
            <a:cxnLst/>
            <a:rect l="l" t="t" r="r" b="b"/>
            <a:pathLst>
              <a:path w="428625" h="723900">
                <a:moveTo>
                  <a:pt x="0" y="0"/>
                </a:moveTo>
                <a:lnTo>
                  <a:pt x="428599" y="0"/>
                </a:lnTo>
                <a:lnTo>
                  <a:pt x="428599" y="723886"/>
                </a:lnTo>
                <a:lnTo>
                  <a:pt x="0" y="723886"/>
                </a:lnTo>
                <a:lnTo>
                  <a:pt x="0" y="0"/>
                </a:lnTo>
                <a:close/>
              </a:path>
            </a:pathLst>
          </a:custGeom>
          <a:ln w="19049">
            <a:solidFill>
              <a:srgbClr val="FF0000"/>
            </a:solidFill>
          </a:ln>
        </p:spPr>
        <p:txBody>
          <a:bodyPr wrap="square" lIns="0" tIns="0" rIns="0" bIns="0" rtlCol="0"/>
          <a:lstStyle/>
          <a:p>
            <a:endParaRPr/>
          </a:p>
        </p:txBody>
      </p:sp>
      <p:sp>
        <p:nvSpPr>
          <p:cNvPr id="26" name="object 26"/>
          <p:cNvSpPr txBox="1">
            <a:spLocks noGrp="1"/>
          </p:cNvSpPr>
          <p:nvPr>
            <p:ph type="body" idx="1"/>
          </p:nvPr>
        </p:nvSpPr>
        <p:spPr>
          <a:prstGeom prst="rect">
            <a:avLst/>
          </a:prstGeom>
        </p:spPr>
        <p:txBody>
          <a:bodyPr vert="horz" wrap="square" lIns="0" tIns="0" rIns="0" bIns="0" rtlCol="0">
            <a:spAutoFit/>
          </a:bodyPr>
          <a:lstStyle/>
          <a:p>
            <a:pPr marL="3252470" marR="2814955" algn="ctr">
              <a:lnSpc>
                <a:spcPct val="100000"/>
              </a:lnSpc>
            </a:pPr>
            <a:r>
              <a:rPr sz="1800" spc="-5" dirty="0"/>
              <a:t>“local</a:t>
            </a:r>
            <a:r>
              <a:rPr sz="1800" spc="-35" dirty="0"/>
              <a:t> </a:t>
            </a:r>
            <a:r>
              <a:rPr sz="1800" spc="-5" dirty="0"/>
              <a:t>gradient”</a:t>
            </a:r>
            <a:endParaRPr sz="1800"/>
          </a:p>
          <a:p>
            <a:pPr marL="3252470">
              <a:lnSpc>
                <a:spcPct val="100000"/>
              </a:lnSpc>
            </a:pPr>
            <a:endParaRPr sz="1800">
              <a:latin typeface="Times New Roman"/>
              <a:cs typeface="Times New Roman"/>
            </a:endParaRPr>
          </a:p>
          <a:p>
            <a:pPr marL="3252470">
              <a:lnSpc>
                <a:spcPct val="100000"/>
              </a:lnSpc>
            </a:pPr>
            <a:endParaRPr sz="2350">
              <a:latin typeface="Times New Roman"/>
              <a:cs typeface="Times New Roman"/>
            </a:endParaRPr>
          </a:p>
          <a:p>
            <a:pPr marL="3252470" marR="2941320" algn="ctr">
              <a:lnSpc>
                <a:spcPct val="100000"/>
              </a:lnSpc>
            </a:pPr>
            <a:r>
              <a:rPr sz="4800" spc="-5" dirty="0">
                <a:solidFill>
                  <a:srgbClr val="000000"/>
                </a:solidFill>
              </a:rPr>
              <a:t>f</a:t>
            </a:r>
            <a:endParaRPr sz="4800"/>
          </a:p>
          <a:p>
            <a:pPr marL="3252470">
              <a:lnSpc>
                <a:spcPct val="100000"/>
              </a:lnSpc>
              <a:spcBef>
                <a:spcPts val="20"/>
              </a:spcBef>
            </a:pPr>
            <a:endParaRPr sz="7050">
              <a:latin typeface="Times New Roman"/>
              <a:cs typeface="Times New Roman"/>
            </a:endParaRPr>
          </a:p>
          <a:p>
            <a:pPr marL="6031865">
              <a:lnSpc>
                <a:spcPct val="100000"/>
              </a:lnSpc>
            </a:pPr>
            <a:r>
              <a:rPr sz="3000" spc="-5" dirty="0"/>
              <a:t>gradients</a:t>
            </a:r>
            <a:endParaRPr sz="3000"/>
          </a:p>
        </p:txBody>
      </p:sp>
      <p:sp>
        <p:nvSpPr>
          <p:cNvPr id="27" name="object 27"/>
          <p:cNvSpPr/>
          <p:nvPr/>
        </p:nvSpPr>
        <p:spPr>
          <a:xfrm>
            <a:off x="799523" y="712036"/>
            <a:ext cx="2129395" cy="1553146"/>
          </a:xfrm>
          <a:prstGeom prst="rect">
            <a:avLst/>
          </a:prstGeom>
          <a:blipFill>
            <a:blip r:embed="rId8" cstate="print"/>
            <a:stretch>
              <a:fillRect/>
            </a:stretch>
          </a:blipFill>
        </p:spPr>
        <p:txBody>
          <a:bodyPr wrap="square" lIns="0" tIns="0" rIns="0" bIns="0" rtlCol="0"/>
          <a:lstStyle/>
          <a:p>
            <a:endParaRPr/>
          </a:p>
        </p:txBody>
      </p:sp>
      <p:sp>
        <p:nvSpPr>
          <p:cNvPr id="28" name="object 28"/>
          <p:cNvSpPr/>
          <p:nvPr/>
        </p:nvSpPr>
        <p:spPr>
          <a:xfrm>
            <a:off x="784738" y="741538"/>
            <a:ext cx="811530" cy="833119"/>
          </a:xfrm>
          <a:custGeom>
            <a:avLst/>
            <a:gdLst/>
            <a:ahLst/>
            <a:cxnLst/>
            <a:rect l="l" t="t" r="r" b="b"/>
            <a:pathLst>
              <a:path w="811530" h="833119">
                <a:moveTo>
                  <a:pt x="281399" y="0"/>
                </a:moveTo>
                <a:lnTo>
                  <a:pt x="811198" y="260399"/>
                </a:lnTo>
                <a:lnTo>
                  <a:pt x="529798" y="833098"/>
                </a:lnTo>
                <a:lnTo>
                  <a:pt x="0" y="572698"/>
                </a:lnTo>
                <a:lnTo>
                  <a:pt x="281399" y="0"/>
                </a:lnTo>
                <a:close/>
              </a:path>
            </a:pathLst>
          </a:custGeom>
          <a:ln w="19049">
            <a:solidFill>
              <a:srgbClr val="FF0000"/>
            </a:solidFill>
          </a:ln>
        </p:spPr>
        <p:txBody>
          <a:bodyPr wrap="square" lIns="0" tIns="0" rIns="0" bIns="0" rtlCol="0"/>
          <a:lstStyle/>
          <a:p>
            <a:endParaRPr/>
          </a:p>
        </p:txBody>
      </p:sp>
      <p:sp>
        <p:nvSpPr>
          <p:cNvPr id="29" name="object 29"/>
          <p:cNvSpPr/>
          <p:nvPr/>
        </p:nvSpPr>
        <p:spPr>
          <a:xfrm>
            <a:off x="1202508" y="3189278"/>
            <a:ext cx="2132702" cy="1320412"/>
          </a:xfrm>
          <a:prstGeom prst="rect">
            <a:avLst/>
          </a:prstGeom>
          <a:blipFill>
            <a:blip r:embed="rId9" cstate="print"/>
            <a:stretch>
              <a:fillRect/>
            </a:stretch>
          </a:blipFill>
        </p:spPr>
        <p:txBody>
          <a:bodyPr wrap="square" lIns="0" tIns="0" rIns="0" bIns="0" rtlCol="0"/>
          <a:lstStyle/>
          <a:p>
            <a:endParaRPr/>
          </a:p>
        </p:txBody>
      </p:sp>
      <p:sp>
        <p:nvSpPr>
          <p:cNvPr id="30" name="object 30"/>
          <p:cNvSpPr/>
          <p:nvPr/>
        </p:nvSpPr>
        <p:spPr>
          <a:xfrm>
            <a:off x="1195922" y="3671217"/>
            <a:ext cx="767080" cy="796290"/>
          </a:xfrm>
          <a:custGeom>
            <a:avLst/>
            <a:gdLst/>
            <a:ahLst/>
            <a:cxnLst/>
            <a:rect l="l" t="t" r="r" b="b"/>
            <a:pathLst>
              <a:path w="767080" h="796289">
                <a:moveTo>
                  <a:pt x="0" y="193199"/>
                </a:moveTo>
                <a:lnTo>
                  <a:pt x="557698" y="0"/>
                </a:lnTo>
                <a:lnTo>
                  <a:pt x="766798" y="602998"/>
                </a:lnTo>
                <a:lnTo>
                  <a:pt x="209099" y="796198"/>
                </a:lnTo>
                <a:lnTo>
                  <a:pt x="0" y="193199"/>
                </a:lnTo>
                <a:close/>
              </a:path>
            </a:pathLst>
          </a:custGeom>
          <a:ln w="19049">
            <a:solidFill>
              <a:srgbClr val="FF0000"/>
            </a:solidFill>
          </a:ln>
        </p:spPr>
        <p:txBody>
          <a:bodyPr wrap="square" lIns="0" tIns="0" rIns="0" bIns="0" rtlCol="0"/>
          <a:lstStyle/>
          <a:p>
            <a:endParaRPr/>
          </a:p>
        </p:txBody>
      </p:sp>
      <p:sp>
        <p:nvSpPr>
          <p:cNvPr id="31" name="object 31"/>
          <p:cNvSpPr/>
          <p:nvPr/>
        </p:nvSpPr>
        <p:spPr>
          <a:xfrm>
            <a:off x="1053370" y="654666"/>
            <a:ext cx="2042795" cy="901700"/>
          </a:xfrm>
          <a:custGeom>
            <a:avLst/>
            <a:gdLst/>
            <a:ahLst/>
            <a:cxnLst/>
            <a:rect l="l" t="t" r="r" b="b"/>
            <a:pathLst>
              <a:path w="2042795" h="901700">
                <a:moveTo>
                  <a:pt x="2042523" y="901255"/>
                </a:moveTo>
                <a:lnTo>
                  <a:pt x="0" y="0"/>
                </a:lnTo>
              </a:path>
            </a:pathLst>
          </a:custGeom>
          <a:ln w="19049">
            <a:solidFill>
              <a:srgbClr val="FF0000"/>
            </a:solidFill>
          </a:ln>
        </p:spPr>
        <p:txBody>
          <a:bodyPr wrap="square" lIns="0" tIns="0" rIns="0" bIns="0" rtlCol="0"/>
          <a:lstStyle/>
          <a:p>
            <a:endParaRPr/>
          </a:p>
        </p:txBody>
      </p:sp>
      <p:sp>
        <p:nvSpPr>
          <p:cNvPr id="32" name="object 32"/>
          <p:cNvSpPr/>
          <p:nvPr/>
        </p:nvSpPr>
        <p:spPr>
          <a:xfrm>
            <a:off x="974278" y="619766"/>
            <a:ext cx="92075" cy="64135"/>
          </a:xfrm>
          <a:custGeom>
            <a:avLst/>
            <a:gdLst/>
            <a:ahLst/>
            <a:cxnLst/>
            <a:rect l="l" t="t" r="r" b="b"/>
            <a:pathLst>
              <a:path w="92075" h="64134">
                <a:moveTo>
                  <a:pt x="91794" y="6112"/>
                </a:moveTo>
                <a:lnTo>
                  <a:pt x="0" y="0"/>
                </a:lnTo>
                <a:lnTo>
                  <a:pt x="66389" y="63687"/>
                </a:lnTo>
                <a:lnTo>
                  <a:pt x="91794" y="6112"/>
                </a:lnTo>
                <a:close/>
              </a:path>
            </a:pathLst>
          </a:custGeom>
          <a:ln w="19049">
            <a:solidFill>
              <a:srgbClr val="FF0000"/>
            </a:solidFill>
          </a:ln>
        </p:spPr>
        <p:txBody>
          <a:bodyPr wrap="square" lIns="0" tIns="0" rIns="0" bIns="0" rtlCol="0"/>
          <a:lstStyle/>
          <a:p>
            <a:endParaRPr/>
          </a:p>
        </p:txBody>
      </p:sp>
      <p:sp>
        <p:nvSpPr>
          <p:cNvPr id="33" name="object 33"/>
          <p:cNvSpPr/>
          <p:nvPr/>
        </p:nvSpPr>
        <p:spPr>
          <a:xfrm>
            <a:off x="882508" y="3105093"/>
            <a:ext cx="2277745" cy="745490"/>
          </a:xfrm>
          <a:custGeom>
            <a:avLst/>
            <a:gdLst/>
            <a:ahLst/>
            <a:cxnLst/>
            <a:rect l="l" t="t" r="r" b="b"/>
            <a:pathLst>
              <a:path w="2277745" h="745489">
                <a:moveTo>
                  <a:pt x="2277560" y="0"/>
                </a:moveTo>
                <a:lnTo>
                  <a:pt x="0" y="745048"/>
                </a:lnTo>
              </a:path>
            </a:pathLst>
          </a:custGeom>
          <a:ln w="19049">
            <a:solidFill>
              <a:srgbClr val="FF0000"/>
            </a:solidFill>
          </a:ln>
        </p:spPr>
        <p:txBody>
          <a:bodyPr wrap="square" lIns="0" tIns="0" rIns="0" bIns="0" rtlCol="0"/>
          <a:lstStyle/>
          <a:p>
            <a:endParaRPr/>
          </a:p>
        </p:txBody>
      </p:sp>
      <p:sp>
        <p:nvSpPr>
          <p:cNvPr id="34" name="object 34"/>
          <p:cNvSpPr/>
          <p:nvPr/>
        </p:nvSpPr>
        <p:spPr>
          <a:xfrm>
            <a:off x="800343" y="3820242"/>
            <a:ext cx="92075" cy="60325"/>
          </a:xfrm>
          <a:custGeom>
            <a:avLst/>
            <a:gdLst/>
            <a:ahLst/>
            <a:cxnLst/>
            <a:rect l="l" t="t" r="r" b="b"/>
            <a:pathLst>
              <a:path w="92075" h="60325">
                <a:moveTo>
                  <a:pt x="72382" y="0"/>
                </a:moveTo>
                <a:lnTo>
                  <a:pt x="0" y="56799"/>
                </a:lnTo>
                <a:lnTo>
                  <a:pt x="91947" y="59824"/>
                </a:lnTo>
                <a:lnTo>
                  <a:pt x="72382" y="0"/>
                </a:lnTo>
                <a:close/>
              </a:path>
            </a:pathLst>
          </a:custGeom>
          <a:ln w="19049">
            <a:solidFill>
              <a:srgbClr val="FF0000"/>
            </a:solidFill>
          </a:ln>
        </p:spPr>
        <p:txBody>
          <a:bodyPr wrap="square" lIns="0" tIns="0" rIns="0" bIns="0" rtlCol="0"/>
          <a:lstStyle/>
          <a:p>
            <a:endParaRPr/>
          </a:p>
        </p:txBody>
      </p:sp>
      <p:sp>
        <p:nvSpPr>
          <p:cNvPr id="35" name="object 35"/>
          <p:cNvSpPr/>
          <p:nvPr/>
        </p:nvSpPr>
        <p:spPr>
          <a:xfrm>
            <a:off x="0" y="0"/>
            <a:ext cx="1119505" cy="1125855"/>
          </a:xfrm>
          <a:custGeom>
            <a:avLst/>
            <a:gdLst/>
            <a:ahLst/>
            <a:cxnLst/>
            <a:rect l="l" t="t" r="r" b="b"/>
            <a:pathLst>
              <a:path w="1119505" h="1125855">
                <a:moveTo>
                  <a:pt x="1118890" y="0"/>
                </a:moveTo>
                <a:lnTo>
                  <a:pt x="1098420" y="60341"/>
                </a:lnTo>
                <a:lnTo>
                  <a:pt x="1082336" y="102963"/>
                </a:lnTo>
                <a:lnTo>
                  <a:pt x="1065182" y="145047"/>
                </a:lnTo>
                <a:lnTo>
                  <a:pt x="1046974" y="186577"/>
                </a:lnTo>
                <a:lnTo>
                  <a:pt x="1027728" y="227536"/>
                </a:lnTo>
                <a:lnTo>
                  <a:pt x="1007461" y="267907"/>
                </a:lnTo>
                <a:lnTo>
                  <a:pt x="986191" y="307674"/>
                </a:lnTo>
                <a:lnTo>
                  <a:pt x="963933" y="346820"/>
                </a:lnTo>
                <a:lnTo>
                  <a:pt x="940704" y="385328"/>
                </a:lnTo>
                <a:lnTo>
                  <a:pt x="916522" y="423182"/>
                </a:lnTo>
                <a:lnTo>
                  <a:pt x="891402" y="460365"/>
                </a:lnTo>
                <a:lnTo>
                  <a:pt x="865361" y="496861"/>
                </a:lnTo>
                <a:lnTo>
                  <a:pt x="838416" y="532652"/>
                </a:lnTo>
                <a:lnTo>
                  <a:pt x="810583" y="567722"/>
                </a:lnTo>
                <a:lnTo>
                  <a:pt x="781880" y="602055"/>
                </a:lnTo>
                <a:lnTo>
                  <a:pt x="752322" y="635634"/>
                </a:lnTo>
                <a:lnTo>
                  <a:pt x="721927" y="668441"/>
                </a:lnTo>
                <a:lnTo>
                  <a:pt x="690711" y="700461"/>
                </a:lnTo>
                <a:lnTo>
                  <a:pt x="658691" y="731677"/>
                </a:lnTo>
                <a:lnTo>
                  <a:pt x="625884" y="762072"/>
                </a:lnTo>
                <a:lnTo>
                  <a:pt x="592305" y="791630"/>
                </a:lnTo>
                <a:lnTo>
                  <a:pt x="557972" y="820333"/>
                </a:lnTo>
                <a:lnTo>
                  <a:pt x="522902" y="848166"/>
                </a:lnTo>
                <a:lnTo>
                  <a:pt x="487111" y="875111"/>
                </a:lnTo>
                <a:lnTo>
                  <a:pt x="450615" y="901152"/>
                </a:lnTo>
                <a:lnTo>
                  <a:pt x="413432" y="926272"/>
                </a:lnTo>
                <a:lnTo>
                  <a:pt x="375578" y="950455"/>
                </a:lnTo>
                <a:lnTo>
                  <a:pt x="337070" y="973683"/>
                </a:lnTo>
                <a:lnTo>
                  <a:pt x="297924" y="995941"/>
                </a:lnTo>
                <a:lnTo>
                  <a:pt x="258157" y="1017212"/>
                </a:lnTo>
                <a:lnTo>
                  <a:pt x="217786" y="1037478"/>
                </a:lnTo>
                <a:lnTo>
                  <a:pt x="176827" y="1056724"/>
                </a:lnTo>
                <a:lnTo>
                  <a:pt x="135297" y="1074932"/>
                </a:lnTo>
                <a:lnTo>
                  <a:pt x="93212" y="1092086"/>
                </a:lnTo>
                <a:lnTo>
                  <a:pt x="50590" y="1108170"/>
                </a:lnTo>
                <a:lnTo>
                  <a:pt x="7447" y="1123166"/>
                </a:lnTo>
                <a:lnTo>
                  <a:pt x="0" y="1125537"/>
                </a:lnTo>
              </a:path>
            </a:pathLst>
          </a:custGeom>
          <a:ln w="19049">
            <a:solidFill>
              <a:srgbClr val="666666"/>
            </a:solidFill>
          </a:ln>
        </p:spPr>
        <p:txBody>
          <a:bodyPr wrap="square" lIns="0" tIns="0" rIns="0" bIns="0" rtlCol="0"/>
          <a:lstStyle/>
          <a:p>
            <a:endParaRPr/>
          </a:p>
        </p:txBody>
      </p:sp>
      <p:sp>
        <p:nvSpPr>
          <p:cNvPr id="36" name="object 36"/>
          <p:cNvSpPr/>
          <p:nvPr/>
        </p:nvSpPr>
        <p:spPr>
          <a:xfrm>
            <a:off x="0" y="2973411"/>
            <a:ext cx="702310" cy="2170430"/>
          </a:xfrm>
          <a:custGeom>
            <a:avLst/>
            <a:gdLst/>
            <a:ahLst/>
            <a:cxnLst/>
            <a:rect l="l" t="t" r="r" b="b"/>
            <a:pathLst>
              <a:path w="702310" h="2170429">
                <a:moveTo>
                  <a:pt x="0" y="0"/>
                </a:moveTo>
                <a:lnTo>
                  <a:pt x="43085" y="33133"/>
                </a:lnTo>
                <a:lnTo>
                  <a:pt x="81157" y="64327"/>
                </a:lnTo>
                <a:lnTo>
                  <a:pt x="118416" y="96653"/>
                </a:lnTo>
                <a:lnTo>
                  <a:pt x="154835" y="130100"/>
                </a:lnTo>
                <a:lnTo>
                  <a:pt x="190387" y="164656"/>
                </a:lnTo>
                <a:lnTo>
                  <a:pt x="224946" y="200209"/>
                </a:lnTo>
                <a:lnTo>
                  <a:pt x="258394" y="236629"/>
                </a:lnTo>
                <a:lnTo>
                  <a:pt x="290721" y="273889"/>
                </a:lnTo>
                <a:lnTo>
                  <a:pt x="321917" y="311962"/>
                </a:lnTo>
                <a:lnTo>
                  <a:pt x="351969" y="350822"/>
                </a:lnTo>
                <a:lnTo>
                  <a:pt x="380866" y="390441"/>
                </a:lnTo>
                <a:lnTo>
                  <a:pt x="408598" y="430794"/>
                </a:lnTo>
                <a:lnTo>
                  <a:pt x="435154" y="471853"/>
                </a:lnTo>
                <a:lnTo>
                  <a:pt x="460523" y="513592"/>
                </a:lnTo>
                <a:lnTo>
                  <a:pt x="484692" y="555983"/>
                </a:lnTo>
                <a:lnTo>
                  <a:pt x="507653" y="599001"/>
                </a:lnTo>
                <a:lnTo>
                  <a:pt x="529392" y="642619"/>
                </a:lnTo>
                <a:lnTo>
                  <a:pt x="549900" y="686809"/>
                </a:lnTo>
                <a:lnTo>
                  <a:pt x="569164" y="731546"/>
                </a:lnTo>
                <a:lnTo>
                  <a:pt x="587175" y="776802"/>
                </a:lnTo>
                <a:lnTo>
                  <a:pt x="603921" y="822550"/>
                </a:lnTo>
                <a:lnTo>
                  <a:pt x="619391" y="868764"/>
                </a:lnTo>
                <a:lnTo>
                  <a:pt x="633574" y="915418"/>
                </a:lnTo>
                <a:lnTo>
                  <a:pt x="646458" y="962484"/>
                </a:lnTo>
                <a:lnTo>
                  <a:pt x="658033" y="1009936"/>
                </a:lnTo>
                <a:lnTo>
                  <a:pt x="668288" y="1057746"/>
                </a:lnTo>
                <a:lnTo>
                  <a:pt x="677212" y="1105889"/>
                </a:lnTo>
                <a:lnTo>
                  <a:pt x="684793" y="1154338"/>
                </a:lnTo>
                <a:lnTo>
                  <a:pt x="691020" y="1203065"/>
                </a:lnTo>
                <a:lnTo>
                  <a:pt x="695883" y="1252045"/>
                </a:lnTo>
                <a:lnTo>
                  <a:pt x="699370" y="1301250"/>
                </a:lnTo>
                <a:lnTo>
                  <a:pt x="701470" y="1350653"/>
                </a:lnTo>
                <a:lnTo>
                  <a:pt x="702173" y="1400229"/>
                </a:lnTo>
                <a:lnTo>
                  <a:pt x="701524" y="1448325"/>
                </a:lnTo>
                <a:lnTo>
                  <a:pt x="699588" y="1496100"/>
                </a:lnTo>
                <a:lnTo>
                  <a:pt x="696381" y="1543537"/>
                </a:lnTo>
                <a:lnTo>
                  <a:pt x="691920" y="1590620"/>
                </a:lnTo>
                <a:lnTo>
                  <a:pt x="686222" y="1637331"/>
                </a:lnTo>
                <a:lnTo>
                  <a:pt x="679303" y="1683655"/>
                </a:lnTo>
                <a:lnTo>
                  <a:pt x="671181" y="1729575"/>
                </a:lnTo>
                <a:lnTo>
                  <a:pt x="661871" y="1775073"/>
                </a:lnTo>
                <a:lnTo>
                  <a:pt x="651391" y="1820133"/>
                </a:lnTo>
                <a:lnTo>
                  <a:pt x="639756" y="1864739"/>
                </a:lnTo>
                <a:lnTo>
                  <a:pt x="626985" y="1908874"/>
                </a:lnTo>
                <a:lnTo>
                  <a:pt x="613092" y="1952522"/>
                </a:lnTo>
                <a:lnTo>
                  <a:pt x="598096" y="1995665"/>
                </a:lnTo>
                <a:lnTo>
                  <a:pt x="582012" y="2038287"/>
                </a:lnTo>
                <a:lnTo>
                  <a:pt x="564858" y="2080371"/>
                </a:lnTo>
                <a:lnTo>
                  <a:pt x="546650" y="2121901"/>
                </a:lnTo>
                <a:lnTo>
                  <a:pt x="527404" y="2162860"/>
                </a:lnTo>
                <a:lnTo>
                  <a:pt x="523781" y="2170077"/>
                </a:lnTo>
              </a:path>
            </a:pathLst>
          </a:custGeom>
          <a:ln w="19049">
            <a:solidFill>
              <a:srgbClr val="666666"/>
            </a:solidFill>
          </a:ln>
        </p:spPr>
        <p:txBody>
          <a:bodyPr wrap="square" lIns="0" tIns="0" rIns="0" bIns="0" rtlCol="0"/>
          <a:lstStyle/>
          <a:p>
            <a:endParaRPr/>
          </a:p>
        </p:txBody>
      </p:sp>
      <p:sp>
        <p:nvSpPr>
          <p:cNvPr id="38" name="Slide Number Placeholder 37">
            <a:extLst>
              <a:ext uri="{FF2B5EF4-FFF2-40B4-BE49-F238E27FC236}">
                <a16:creationId xmlns:a16="http://schemas.microsoft.com/office/drawing/2014/main" id="{86414AF3-E5C9-898E-64D3-7704AAC32104}"/>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59</a:t>
            </a:fld>
            <a:endParaRPr lang="en-US" altLang="zh-CN" spc="-5" dirty="0"/>
          </a:p>
        </p:txBody>
      </p:sp>
      <p:sp>
        <p:nvSpPr>
          <p:cNvPr id="2" name="Slide Number Placeholder 1">
            <a:extLst>
              <a:ext uri="{FF2B5EF4-FFF2-40B4-BE49-F238E27FC236}">
                <a16:creationId xmlns:a16="http://schemas.microsoft.com/office/drawing/2014/main" id="{6BAF0647-CEA9-9E0B-9297-D8807DA6D5CB}"/>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59</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290052" y="50870"/>
            <a:ext cx="8520600" cy="507437"/>
          </a:xfrm>
          <a:prstGeom prst="rect">
            <a:avLst/>
          </a:prstGeom>
        </p:spPr>
        <p:txBody>
          <a:bodyPr vert="horz" wrap="square" lIns="0" tIns="136769" rIns="0" bIns="0" rtlCol="0">
            <a:spAutoFit/>
          </a:bodyPr>
          <a:lstStyle/>
          <a:p>
            <a:pPr marL="33655">
              <a:lnSpc>
                <a:spcPct val="100000"/>
              </a:lnSpc>
            </a:pPr>
            <a:r>
              <a:rPr sz="2400" spc="-5" dirty="0">
                <a:solidFill>
                  <a:schemeClr val="bg2"/>
                </a:solidFill>
              </a:rPr>
              <a:t>Another</a:t>
            </a:r>
            <a:r>
              <a:rPr sz="2400" spc="-40" dirty="0">
                <a:solidFill>
                  <a:schemeClr val="bg2"/>
                </a:solidFill>
              </a:rPr>
              <a:t> </a:t>
            </a:r>
            <a:r>
              <a:rPr sz="2400" spc="-5" dirty="0">
                <a:solidFill>
                  <a:schemeClr val="bg2"/>
                </a:solidFill>
              </a:rPr>
              <a:t>example:</a:t>
            </a:r>
            <a:endParaRPr sz="2400" dirty="0">
              <a:solidFill>
                <a:schemeClr val="bg2"/>
              </a:solidFill>
            </a:endParaRPr>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8" name="object 8"/>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9" name="object 9"/>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5921412"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6788086" y="2458420"/>
            <a:ext cx="320040" cy="156845"/>
          </a:xfrm>
          <a:custGeom>
            <a:avLst/>
            <a:gdLst/>
            <a:ahLst/>
            <a:cxnLst/>
            <a:rect l="l" t="t" r="r" b="b"/>
            <a:pathLst>
              <a:path w="320040"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7608609" y="2458420"/>
            <a:ext cx="320040" cy="156845"/>
          </a:xfrm>
          <a:custGeom>
            <a:avLst/>
            <a:gdLst/>
            <a:ahLst/>
            <a:cxnLst/>
            <a:rect l="l" t="t" r="r" b="b"/>
            <a:pathLst>
              <a:path w="320040"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1" name="Slide Number Placeholder 20">
            <a:extLst>
              <a:ext uri="{FF2B5EF4-FFF2-40B4-BE49-F238E27FC236}">
                <a16:creationId xmlns:a16="http://schemas.microsoft.com/office/drawing/2014/main" id="{07E02C8A-5F37-E0EF-FCF4-5E2094E74C25}"/>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60</a:t>
            </a:fld>
            <a:endParaRPr lang="en-US" altLang="zh-CN" spc="-5" dirty="0"/>
          </a:p>
        </p:txBody>
      </p:sp>
      <p:sp>
        <p:nvSpPr>
          <p:cNvPr id="2" name="Slide Number Placeholder 1">
            <a:extLst>
              <a:ext uri="{FF2B5EF4-FFF2-40B4-BE49-F238E27FC236}">
                <a16:creationId xmlns:a16="http://schemas.microsoft.com/office/drawing/2014/main" id="{1D25D61E-C845-092F-35B2-112831C9B23C}"/>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60</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1" name="object 11"/>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5921412"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6788086" y="2458420"/>
            <a:ext cx="320040" cy="156845"/>
          </a:xfrm>
          <a:custGeom>
            <a:avLst/>
            <a:gdLst/>
            <a:ahLst/>
            <a:cxnLst/>
            <a:rect l="l" t="t" r="r" b="b"/>
            <a:pathLst>
              <a:path w="320040"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3" name="Slide Number Placeholder 22">
            <a:extLst>
              <a:ext uri="{FF2B5EF4-FFF2-40B4-BE49-F238E27FC236}">
                <a16:creationId xmlns:a16="http://schemas.microsoft.com/office/drawing/2014/main" id="{447BEE89-5717-6B71-BB90-F12807EBB06C}"/>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61</a:t>
            </a:fld>
            <a:endParaRPr lang="en-US" altLang="zh-CN" spc="-5" dirty="0"/>
          </a:p>
        </p:txBody>
      </p:sp>
      <p:sp>
        <p:nvSpPr>
          <p:cNvPr id="2" name="Slide Number Placeholder 1">
            <a:extLst>
              <a:ext uri="{FF2B5EF4-FFF2-40B4-BE49-F238E27FC236}">
                <a16:creationId xmlns:a16="http://schemas.microsoft.com/office/drawing/2014/main" id="{E2613614-DD7F-4C52-ACEA-3F9CDFB4A86B}"/>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61</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6707936" y="2056520"/>
            <a:ext cx="1297940" cy="714375"/>
          </a:xfrm>
          <a:custGeom>
            <a:avLst/>
            <a:gdLst/>
            <a:ahLst/>
            <a:cxnLst/>
            <a:rect l="l" t="t" r="r" b="b"/>
            <a:pathLst>
              <a:path w="1297940"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4756865" y="3197268"/>
            <a:ext cx="4222750" cy="657225"/>
          </a:xfrm>
          <a:custGeom>
            <a:avLst/>
            <a:gdLst/>
            <a:ahLst/>
            <a:cxnLst/>
            <a:rect l="l" t="t" r="r" b="b"/>
            <a:pathLst>
              <a:path w="4222750" h="657225">
                <a:moveTo>
                  <a:pt x="0" y="0"/>
                </a:moveTo>
                <a:lnTo>
                  <a:pt x="4222191" y="0"/>
                </a:lnTo>
                <a:lnTo>
                  <a:pt x="4222191" y="656698"/>
                </a:lnTo>
                <a:lnTo>
                  <a:pt x="0" y="6566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2" name="object 22"/>
          <p:cNvSpPr/>
          <p:nvPr/>
        </p:nvSpPr>
        <p:spPr>
          <a:xfrm>
            <a:off x="5921412"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3" name="object 23"/>
          <p:cNvSpPr/>
          <p:nvPr/>
        </p:nvSpPr>
        <p:spPr>
          <a:xfrm>
            <a:off x="6788086" y="2458420"/>
            <a:ext cx="320040" cy="156845"/>
          </a:xfrm>
          <a:custGeom>
            <a:avLst/>
            <a:gdLst/>
            <a:ahLst/>
            <a:cxnLst/>
            <a:rect l="l" t="t" r="r" b="b"/>
            <a:pathLst>
              <a:path w="320040"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5" name="Slide Number Placeholder 24">
            <a:extLst>
              <a:ext uri="{FF2B5EF4-FFF2-40B4-BE49-F238E27FC236}">
                <a16:creationId xmlns:a16="http://schemas.microsoft.com/office/drawing/2014/main" id="{059B3279-9308-82A5-7D20-52A163348F8E}"/>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62</a:t>
            </a:fld>
            <a:endParaRPr lang="en-US" altLang="zh-CN" spc="-5" dirty="0"/>
          </a:p>
        </p:txBody>
      </p:sp>
      <p:sp>
        <p:nvSpPr>
          <p:cNvPr id="2" name="Slide Number Placeholder 1">
            <a:extLst>
              <a:ext uri="{FF2B5EF4-FFF2-40B4-BE49-F238E27FC236}">
                <a16:creationId xmlns:a16="http://schemas.microsoft.com/office/drawing/2014/main" id="{E216DCC2-1B72-CF88-D285-1E39C091813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62</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6707936" y="2056520"/>
            <a:ext cx="1297940" cy="714375"/>
          </a:xfrm>
          <a:custGeom>
            <a:avLst/>
            <a:gdLst/>
            <a:ahLst/>
            <a:cxnLst/>
            <a:rect l="l" t="t" r="r" b="b"/>
            <a:pathLst>
              <a:path w="1297940"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4756865" y="3197268"/>
            <a:ext cx="4222750" cy="657225"/>
          </a:xfrm>
          <a:custGeom>
            <a:avLst/>
            <a:gdLst/>
            <a:ahLst/>
            <a:cxnLst/>
            <a:rect l="l" t="t" r="r" b="b"/>
            <a:pathLst>
              <a:path w="4222750" h="657225">
                <a:moveTo>
                  <a:pt x="0" y="0"/>
                </a:moveTo>
                <a:lnTo>
                  <a:pt x="4222191" y="0"/>
                </a:lnTo>
                <a:lnTo>
                  <a:pt x="4222191" y="656698"/>
                </a:lnTo>
                <a:lnTo>
                  <a:pt x="0" y="6566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2" name="object 22"/>
          <p:cNvSpPr/>
          <p:nvPr/>
        </p:nvSpPr>
        <p:spPr>
          <a:xfrm>
            <a:off x="5921412"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3" name="object 23"/>
          <p:cNvSpPr/>
          <p:nvPr/>
        </p:nvSpPr>
        <p:spPr>
          <a:xfrm>
            <a:off x="6562087" y="1573464"/>
            <a:ext cx="1776946" cy="339574"/>
          </a:xfrm>
          <a:prstGeom prst="rect">
            <a:avLst/>
          </a:prstGeom>
          <a:blipFill>
            <a:blip r:embed="rId6" cstate="print"/>
            <a:stretch>
              <a:fillRect/>
            </a:stretch>
          </a:blipFill>
        </p:spPr>
        <p:txBody>
          <a:bodyPr wrap="square" lIns="0" tIns="0" rIns="0" bIns="0" rtlCol="0"/>
          <a:lstStyle/>
          <a:p>
            <a:endParaRPr/>
          </a:p>
        </p:txBody>
      </p:sp>
      <p:sp>
        <p:nvSpPr>
          <p:cNvPr id="25" name="Slide Number Placeholder 24">
            <a:extLst>
              <a:ext uri="{FF2B5EF4-FFF2-40B4-BE49-F238E27FC236}">
                <a16:creationId xmlns:a16="http://schemas.microsoft.com/office/drawing/2014/main" id="{887E834A-E3A2-8363-AA70-F3A574CCAEE1}"/>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63</a:t>
            </a:fld>
            <a:endParaRPr lang="en-US" altLang="zh-CN" spc="-5" dirty="0"/>
          </a:p>
        </p:txBody>
      </p:sp>
      <p:sp>
        <p:nvSpPr>
          <p:cNvPr id="2" name="Slide Number Placeholder 1">
            <a:extLst>
              <a:ext uri="{FF2B5EF4-FFF2-40B4-BE49-F238E27FC236}">
                <a16:creationId xmlns:a16="http://schemas.microsoft.com/office/drawing/2014/main" id="{9A294557-1860-37FE-B9C9-7930EB812BA2}"/>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63</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5842963" y="2047695"/>
            <a:ext cx="1297940" cy="714375"/>
          </a:xfrm>
          <a:custGeom>
            <a:avLst/>
            <a:gdLst/>
            <a:ahLst/>
            <a:cxnLst/>
            <a:rect l="l" t="t" r="r" b="b"/>
            <a:pathLst>
              <a:path w="1297940"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4756865" y="3818292"/>
            <a:ext cx="4222750" cy="519430"/>
          </a:xfrm>
          <a:custGeom>
            <a:avLst/>
            <a:gdLst/>
            <a:ahLst/>
            <a:cxnLst/>
            <a:rect l="l" t="t" r="r" b="b"/>
            <a:pathLst>
              <a:path w="4222750" h="519429">
                <a:moveTo>
                  <a:pt x="0" y="0"/>
                </a:moveTo>
                <a:lnTo>
                  <a:pt x="4222191" y="0"/>
                </a:lnTo>
                <a:lnTo>
                  <a:pt x="4222191" y="518998"/>
                </a:lnTo>
                <a:lnTo>
                  <a:pt x="0" y="5189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2" name="object 22"/>
          <p:cNvSpPr/>
          <p:nvPr/>
        </p:nvSpPr>
        <p:spPr>
          <a:xfrm>
            <a:off x="5921412"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4" name="Slide Number Placeholder 23">
            <a:extLst>
              <a:ext uri="{FF2B5EF4-FFF2-40B4-BE49-F238E27FC236}">
                <a16:creationId xmlns:a16="http://schemas.microsoft.com/office/drawing/2014/main" id="{C0FC4F60-C5F7-5052-6B7F-4DAB1850E446}"/>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64</a:t>
            </a:fld>
            <a:endParaRPr lang="en-US" altLang="zh-CN" spc="-5" dirty="0"/>
          </a:p>
        </p:txBody>
      </p:sp>
      <p:sp>
        <p:nvSpPr>
          <p:cNvPr id="2" name="Slide Number Placeholder 1">
            <a:extLst>
              <a:ext uri="{FF2B5EF4-FFF2-40B4-BE49-F238E27FC236}">
                <a16:creationId xmlns:a16="http://schemas.microsoft.com/office/drawing/2014/main" id="{B9BBCBFD-926F-49FD-7A59-B085A2EFD159}"/>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64</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5842963" y="2047695"/>
            <a:ext cx="1297940" cy="714375"/>
          </a:xfrm>
          <a:custGeom>
            <a:avLst/>
            <a:gdLst/>
            <a:ahLst/>
            <a:cxnLst/>
            <a:rect l="l" t="t" r="r" b="b"/>
            <a:pathLst>
              <a:path w="1297940"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4756865" y="3818292"/>
            <a:ext cx="4222750" cy="519430"/>
          </a:xfrm>
          <a:custGeom>
            <a:avLst/>
            <a:gdLst/>
            <a:ahLst/>
            <a:cxnLst/>
            <a:rect l="l" t="t" r="r" b="b"/>
            <a:pathLst>
              <a:path w="4222750" h="519429">
                <a:moveTo>
                  <a:pt x="0" y="0"/>
                </a:moveTo>
                <a:lnTo>
                  <a:pt x="4222191" y="0"/>
                </a:lnTo>
                <a:lnTo>
                  <a:pt x="4222191" y="518998"/>
                </a:lnTo>
                <a:lnTo>
                  <a:pt x="0" y="5189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2" name="object 22"/>
          <p:cNvSpPr/>
          <p:nvPr/>
        </p:nvSpPr>
        <p:spPr>
          <a:xfrm>
            <a:off x="5498763" y="1656571"/>
            <a:ext cx="2101895" cy="291931"/>
          </a:xfrm>
          <a:prstGeom prst="rect">
            <a:avLst/>
          </a:prstGeom>
          <a:blipFill>
            <a:blip r:embed="rId6" cstate="print"/>
            <a:stretch>
              <a:fillRect/>
            </a:stretch>
          </a:blipFill>
        </p:spPr>
        <p:txBody>
          <a:bodyPr wrap="square" lIns="0" tIns="0" rIns="0" bIns="0" rtlCol="0"/>
          <a:lstStyle/>
          <a:p>
            <a:endParaRPr/>
          </a:p>
        </p:txBody>
      </p:sp>
      <p:sp>
        <p:nvSpPr>
          <p:cNvPr id="24" name="Slide Number Placeholder 23">
            <a:extLst>
              <a:ext uri="{FF2B5EF4-FFF2-40B4-BE49-F238E27FC236}">
                <a16:creationId xmlns:a16="http://schemas.microsoft.com/office/drawing/2014/main" id="{5352CA65-8A9F-C22D-D01B-4610532E4BA5}"/>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65</a:t>
            </a:fld>
            <a:endParaRPr lang="en-US" altLang="zh-CN" spc="-5" dirty="0"/>
          </a:p>
        </p:txBody>
      </p:sp>
      <p:sp>
        <p:nvSpPr>
          <p:cNvPr id="2" name="Slide Number Placeholder 1">
            <a:extLst>
              <a:ext uri="{FF2B5EF4-FFF2-40B4-BE49-F238E27FC236}">
                <a16:creationId xmlns:a16="http://schemas.microsoft.com/office/drawing/2014/main" id="{6B54F7FB-D5B3-4657-EE8C-39ADFDFDF888}"/>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65</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5004765" y="2047695"/>
            <a:ext cx="1297940" cy="714375"/>
          </a:xfrm>
          <a:custGeom>
            <a:avLst/>
            <a:gdLst/>
            <a:ahLst/>
            <a:cxnLst/>
            <a:rect l="l" t="t" r="r" b="b"/>
            <a:pathLst>
              <a:path w="1297939"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229649" y="3277893"/>
            <a:ext cx="4032250" cy="541020"/>
          </a:xfrm>
          <a:custGeom>
            <a:avLst/>
            <a:gdLst/>
            <a:ahLst/>
            <a:cxnLst/>
            <a:rect l="l" t="t" r="r" b="b"/>
            <a:pathLst>
              <a:path w="4032250" h="541020">
                <a:moveTo>
                  <a:pt x="0" y="0"/>
                </a:moveTo>
                <a:lnTo>
                  <a:pt x="4031691" y="0"/>
                </a:lnTo>
                <a:lnTo>
                  <a:pt x="4031691" y="540598"/>
                </a:lnTo>
                <a:lnTo>
                  <a:pt x="0" y="5405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5054739" y="24584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3" name="Slide Number Placeholder 22">
            <a:extLst>
              <a:ext uri="{FF2B5EF4-FFF2-40B4-BE49-F238E27FC236}">
                <a16:creationId xmlns:a16="http://schemas.microsoft.com/office/drawing/2014/main" id="{F4FEC30A-95E0-F527-5AD5-6025660CB96C}"/>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66</a:t>
            </a:fld>
            <a:endParaRPr lang="en-US" altLang="zh-CN" spc="-5" dirty="0"/>
          </a:p>
        </p:txBody>
      </p:sp>
      <p:sp>
        <p:nvSpPr>
          <p:cNvPr id="2" name="Slide Number Placeholder 1">
            <a:extLst>
              <a:ext uri="{FF2B5EF4-FFF2-40B4-BE49-F238E27FC236}">
                <a16:creationId xmlns:a16="http://schemas.microsoft.com/office/drawing/2014/main" id="{D595C040-81DF-0CF4-F499-5962E44BBB8B}"/>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66</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5004765" y="2047695"/>
            <a:ext cx="1297940" cy="714375"/>
          </a:xfrm>
          <a:custGeom>
            <a:avLst/>
            <a:gdLst/>
            <a:ahLst/>
            <a:cxnLst/>
            <a:rect l="l" t="t" r="r" b="b"/>
            <a:pathLst>
              <a:path w="1297939"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229649" y="3277893"/>
            <a:ext cx="4032250" cy="541020"/>
          </a:xfrm>
          <a:custGeom>
            <a:avLst/>
            <a:gdLst/>
            <a:ahLst/>
            <a:cxnLst/>
            <a:rect l="l" t="t" r="r" b="b"/>
            <a:pathLst>
              <a:path w="4032250" h="541020">
                <a:moveTo>
                  <a:pt x="0" y="0"/>
                </a:moveTo>
                <a:lnTo>
                  <a:pt x="4031691" y="0"/>
                </a:lnTo>
                <a:lnTo>
                  <a:pt x="4031691" y="540598"/>
                </a:lnTo>
                <a:lnTo>
                  <a:pt x="0" y="5405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1" name="object 21"/>
          <p:cNvSpPr/>
          <p:nvPr/>
        </p:nvSpPr>
        <p:spPr>
          <a:xfrm>
            <a:off x="4682815" y="1573474"/>
            <a:ext cx="2526744" cy="323774"/>
          </a:xfrm>
          <a:prstGeom prst="rect">
            <a:avLst/>
          </a:prstGeom>
          <a:blipFill>
            <a:blip r:embed="rId6" cstate="print"/>
            <a:stretch>
              <a:fillRect/>
            </a:stretch>
          </a:blipFill>
        </p:spPr>
        <p:txBody>
          <a:bodyPr wrap="square" lIns="0" tIns="0" rIns="0" bIns="0" rtlCol="0"/>
          <a:lstStyle/>
          <a:p>
            <a:endParaRPr/>
          </a:p>
        </p:txBody>
      </p:sp>
      <p:sp>
        <p:nvSpPr>
          <p:cNvPr id="23" name="Slide Number Placeholder 22">
            <a:extLst>
              <a:ext uri="{FF2B5EF4-FFF2-40B4-BE49-F238E27FC236}">
                <a16:creationId xmlns:a16="http://schemas.microsoft.com/office/drawing/2014/main" id="{AAEE6198-7175-2BB3-5666-75B9861EA958}"/>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67</a:t>
            </a:fld>
            <a:endParaRPr lang="en-US" altLang="zh-CN" spc="-5" dirty="0"/>
          </a:p>
        </p:txBody>
      </p:sp>
      <p:sp>
        <p:nvSpPr>
          <p:cNvPr id="2" name="Slide Number Placeholder 1">
            <a:extLst>
              <a:ext uri="{FF2B5EF4-FFF2-40B4-BE49-F238E27FC236}">
                <a16:creationId xmlns:a16="http://schemas.microsoft.com/office/drawing/2014/main" id="{21809FB3-58E8-5E1B-7F6A-D4CDBCD4867A}"/>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67</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4134491" y="2047695"/>
            <a:ext cx="1297940" cy="714375"/>
          </a:xfrm>
          <a:custGeom>
            <a:avLst/>
            <a:gdLst/>
            <a:ahLst/>
            <a:cxnLst/>
            <a:rect l="l" t="t" r="r" b="b"/>
            <a:pathLst>
              <a:path w="1297939"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267099" y="3792817"/>
            <a:ext cx="3994785" cy="601345"/>
          </a:xfrm>
          <a:custGeom>
            <a:avLst/>
            <a:gdLst/>
            <a:ahLst/>
            <a:cxnLst/>
            <a:rect l="l" t="t" r="r" b="b"/>
            <a:pathLst>
              <a:path w="3994785" h="601345">
                <a:moveTo>
                  <a:pt x="0" y="0"/>
                </a:moveTo>
                <a:lnTo>
                  <a:pt x="3994191" y="0"/>
                </a:lnTo>
                <a:lnTo>
                  <a:pt x="3994191" y="600898"/>
                </a:lnTo>
                <a:lnTo>
                  <a:pt x="0" y="6008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p:nvPr/>
        </p:nvSpPr>
        <p:spPr>
          <a:xfrm>
            <a:off x="4188066" y="2458415"/>
            <a:ext cx="320040" cy="156845"/>
          </a:xfrm>
          <a:custGeom>
            <a:avLst/>
            <a:gdLst/>
            <a:ahLst/>
            <a:cxnLst/>
            <a:rect l="l" t="t" r="r" b="b"/>
            <a:pathLst>
              <a:path w="320039" h="156844">
                <a:moveTo>
                  <a:pt x="0" y="0"/>
                </a:moveTo>
                <a:lnTo>
                  <a:pt x="319799" y="0"/>
                </a:lnTo>
                <a:lnTo>
                  <a:pt x="319799" y="156304"/>
                </a:lnTo>
                <a:lnTo>
                  <a:pt x="0" y="156304"/>
                </a:lnTo>
                <a:lnTo>
                  <a:pt x="0" y="0"/>
                </a:lnTo>
                <a:close/>
              </a:path>
            </a:pathLst>
          </a:custGeom>
          <a:solidFill>
            <a:srgbClr val="FFFFFF"/>
          </a:solidFill>
        </p:spPr>
        <p:txBody>
          <a:bodyPr wrap="square" lIns="0" tIns="0" rIns="0" bIns="0" rtlCol="0"/>
          <a:lstStyle/>
          <a:p>
            <a:endParaRPr/>
          </a:p>
        </p:txBody>
      </p:sp>
      <p:sp>
        <p:nvSpPr>
          <p:cNvPr id="22" name="Slide Number Placeholder 21">
            <a:extLst>
              <a:ext uri="{FF2B5EF4-FFF2-40B4-BE49-F238E27FC236}">
                <a16:creationId xmlns:a16="http://schemas.microsoft.com/office/drawing/2014/main" id="{B389D778-972E-D41E-6014-CA8C87E6A8C7}"/>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68</a:t>
            </a:fld>
            <a:endParaRPr lang="en-US" altLang="zh-CN" spc="-5" dirty="0"/>
          </a:p>
        </p:txBody>
      </p:sp>
      <p:sp>
        <p:nvSpPr>
          <p:cNvPr id="2" name="Slide Number Placeholder 1">
            <a:extLst>
              <a:ext uri="{FF2B5EF4-FFF2-40B4-BE49-F238E27FC236}">
                <a16:creationId xmlns:a16="http://schemas.microsoft.com/office/drawing/2014/main" id="{89DB81AE-DA98-EE8C-84B2-0BA8ED40B156}"/>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68</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4134491" y="2047695"/>
            <a:ext cx="1297940" cy="714375"/>
          </a:xfrm>
          <a:custGeom>
            <a:avLst/>
            <a:gdLst/>
            <a:ahLst/>
            <a:cxnLst/>
            <a:rect l="l" t="t" r="r" b="b"/>
            <a:pathLst>
              <a:path w="1297939" h="714375">
                <a:moveTo>
                  <a:pt x="0" y="0"/>
                </a:moveTo>
                <a:lnTo>
                  <a:pt x="1297497" y="0"/>
                </a:lnTo>
                <a:lnTo>
                  <a:pt x="1297497" y="714298"/>
                </a:lnTo>
                <a:lnTo>
                  <a:pt x="0" y="714298"/>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267099" y="3792817"/>
            <a:ext cx="3994785" cy="601345"/>
          </a:xfrm>
          <a:custGeom>
            <a:avLst/>
            <a:gdLst/>
            <a:ahLst/>
            <a:cxnLst/>
            <a:rect l="l" t="t" r="r" b="b"/>
            <a:pathLst>
              <a:path w="3994785" h="601345">
                <a:moveTo>
                  <a:pt x="0" y="0"/>
                </a:moveTo>
                <a:lnTo>
                  <a:pt x="3994191" y="0"/>
                </a:lnTo>
                <a:lnTo>
                  <a:pt x="3994191" y="600898"/>
                </a:lnTo>
                <a:lnTo>
                  <a:pt x="0" y="6008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object 20"/>
          <p:cNvSpPr txBox="1"/>
          <p:nvPr/>
        </p:nvSpPr>
        <p:spPr>
          <a:xfrm>
            <a:off x="4143039" y="1663359"/>
            <a:ext cx="1541145" cy="224790"/>
          </a:xfrm>
          <a:prstGeom prst="rect">
            <a:avLst/>
          </a:prstGeom>
        </p:spPr>
        <p:txBody>
          <a:bodyPr vert="horz" wrap="square" lIns="0" tIns="0" rIns="0" bIns="0" rtlCol="0">
            <a:spAutoFit/>
          </a:bodyPr>
          <a:lstStyle/>
          <a:p>
            <a:pPr marL="12700">
              <a:lnSpc>
                <a:spcPct val="100000"/>
              </a:lnSpc>
            </a:pPr>
            <a:r>
              <a:rPr sz="1400" dirty="0">
                <a:solidFill>
                  <a:srgbClr val="FF0000"/>
                </a:solidFill>
                <a:latin typeface="Arial"/>
                <a:cs typeface="Arial"/>
              </a:rPr>
              <a:t>(-1) </a:t>
            </a:r>
            <a:r>
              <a:rPr sz="1400" spc="-5" dirty="0">
                <a:solidFill>
                  <a:srgbClr val="FF0000"/>
                </a:solidFill>
                <a:latin typeface="Arial"/>
                <a:cs typeface="Arial"/>
              </a:rPr>
              <a:t>* (-0.20) =</a:t>
            </a:r>
            <a:r>
              <a:rPr sz="1400" spc="-55" dirty="0">
                <a:solidFill>
                  <a:srgbClr val="FF0000"/>
                </a:solidFill>
                <a:latin typeface="Arial"/>
                <a:cs typeface="Arial"/>
              </a:rPr>
              <a:t> </a:t>
            </a:r>
            <a:r>
              <a:rPr sz="1400" spc="-5" dirty="0">
                <a:solidFill>
                  <a:srgbClr val="FF0000"/>
                </a:solidFill>
                <a:latin typeface="Arial"/>
                <a:cs typeface="Arial"/>
              </a:rPr>
              <a:t>0.20</a:t>
            </a:r>
            <a:endParaRPr sz="1400">
              <a:latin typeface="Arial"/>
              <a:cs typeface="Arial"/>
            </a:endParaRPr>
          </a:p>
        </p:txBody>
      </p:sp>
      <p:sp>
        <p:nvSpPr>
          <p:cNvPr id="22" name="Slide Number Placeholder 21">
            <a:extLst>
              <a:ext uri="{FF2B5EF4-FFF2-40B4-BE49-F238E27FC236}">
                <a16:creationId xmlns:a16="http://schemas.microsoft.com/office/drawing/2014/main" id="{C2365C23-FE22-CDDD-2E88-81FFBE15F11D}"/>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69</a:t>
            </a:fld>
            <a:endParaRPr lang="en-US" altLang="zh-CN" spc="-5" dirty="0"/>
          </a:p>
        </p:txBody>
      </p:sp>
      <p:sp>
        <p:nvSpPr>
          <p:cNvPr id="2" name="Slide Number Placeholder 1">
            <a:extLst>
              <a:ext uri="{FF2B5EF4-FFF2-40B4-BE49-F238E27FC236}">
                <a16:creationId xmlns:a16="http://schemas.microsoft.com/office/drawing/2014/main" id="{A8342644-5682-C816-A366-762B1FD22455}"/>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69</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3283368" y="1571071"/>
            <a:ext cx="1209675" cy="1252855"/>
          </a:xfrm>
          <a:custGeom>
            <a:avLst/>
            <a:gdLst/>
            <a:ahLst/>
            <a:cxnLst/>
            <a:rect l="l" t="t" r="r" b="b"/>
            <a:pathLst>
              <a:path w="1209675" h="1252855">
                <a:moveTo>
                  <a:pt x="0" y="0"/>
                </a:moveTo>
                <a:lnTo>
                  <a:pt x="1209297" y="0"/>
                </a:lnTo>
                <a:lnTo>
                  <a:pt x="1209297" y="1252797"/>
                </a:lnTo>
                <a:lnTo>
                  <a:pt x="0" y="1252797"/>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1340722" y="2744969"/>
            <a:ext cx="795655" cy="600710"/>
          </a:xfrm>
          <a:custGeom>
            <a:avLst/>
            <a:gdLst/>
            <a:ahLst/>
            <a:cxnLst/>
            <a:rect l="l" t="t" r="r" b="b"/>
            <a:pathLst>
              <a:path w="795655" h="600710">
                <a:moveTo>
                  <a:pt x="0" y="0"/>
                </a:moveTo>
                <a:lnTo>
                  <a:pt x="795298" y="0"/>
                </a:lnTo>
                <a:lnTo>
                  <a:pt x="795298" y="600298"/>
                </a:lnTo>
                <a:lnTo>
                  <a:pt x="0" y="600298"/>
                </a:lnTo>
                <a:lnTo>
                  <a:pt x="0" y="0"/>
                </a:lnTo>
                <a:close/>
              </a:path>
            </a:pathLst>
          </a:custGeom>
          <a:ln w="19049">
            <a:solidFill>
              <a:srgbClr val="FF0000"/>
            </a:solidFill>
          </a:ln>
        </p:spPr>
        <p:txBody>
          <a:bodyPr wrap="square" lIns="0" tIns="0" rIns="0" bIns="0" rtlCol="0"/>
          <a:lstStyle/>
          <a:p>
            <a:endParaRPr/>
          </a:p>
        </p:txBody>
      </p:sp>
      <p:sp>
        <p:nvSpPr>
          <p:cNvPr id="12" name="object 12"/>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3087168"/>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291668" y="18405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1" name="Slide Number Placeholder 20">
            <a:extLst>
              <a:ext uri="{FF2B5EF4-FFF2-40B4-BE49-F238E27FC236}">
                <a16:creationId xmlns:a16="http://schemas.microsoft.com/office/drawing/2014/main" id="{B8E5DE5E-DF7D-F2B8-1A3E-B0C0261EE40F}"/>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70</a:t>
            </a:fld>
            <a:endParaRPr lang="en-US" altLang="zh-CN" spc="-5" dirty="0"/>
          </a:p>
        </p:txBody>
      </p:sp>
      <p:sp>
        <p:nvSpPr>
          <p:cNvPr id="2" name="Slide Number Placeholder 1">
            <a:extLst>
              <a:ext uri="{FF2B5EF4-FFF2-40B4-BE49-F238E27FC236}">
                <a16:creationId xmlns:a16="http://schemas.microsoft.com/office/drawing/2014/main" id="{D20C50DA-0781-02CF-C00E-DFDC7B8F22DC}"/>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70</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3283368" y="1571071"/>
            <a:ext cx="1209675" cy="1252855"/>
          </a:xfrm>
          <a:custGeom>
            <a:avLst/>
            <a:gdLst/>
            <a:ahLst/>
            <a:cxnLst/>
            <a:rect l="l" t="t" r="r" b="b"/>
            <a:pathLst>
              <a:path w="1209675" h="1252855">
                <a:moveTo>
                  <a:pt x="0" y="0"/>
                </a:moveTo>
                <a:lnTo>
                  <a:pt x="1209297" y="0"/>
                </a:lnTo>
                <a:lnTo>
                  <a:pt x="1209297" y="1252797"/>
                </a:lnTo>
                <a:lnTo>
                  <a:pt x="0" y="1252797"/>
                </a:lnTo>
                <a:lnTo>
                  <a:pt x="0" y="0"/>
                </a:lnTo>
                <a:close/>
              </a:path>
            </a:pathLst>
          </a:custGeom>
          <a:ln w="19049">
            <a:solidFill>
              <a:srgbClr val="FF0000"/>
            </a:solidFill>
          </a:ln>
        </p:spPr>
        <p:txBody>
          <a:bodyPr wrap="square" lIns="0" tIns="0" rIns="0" bIns="0" rtlCol="0"/>
          <a:lstStyle/>
          <a:p>
            <a:endParaRPr/>
          </a:p>
        </p:txBody>
      </p:sp>
      <p:sp>
        <p:nvSpPr>
          <p:cNvPr id="11" name="object 11"/>
          <p:cNvSpPr txBox="1"/>
          <p:nvPr/>
        </p:nvSpPr>
        <p:spPr>
          <a:xfrm>
            <a:off x="4708718" y="1183282"/>
            <a:ext cx="3001645" cy="839469"/>
          </a:xfrm>
          <a:prstGeom prst="rect">
            <a:avLst/>
          </a:prstGeom>
        </p:spPr>
        <p:txBody>
          <a:bodyPr vert="horz" wrap="square" lIns="0" tIns="0" rIns="0" bIns="0" rtlCol="0">
            <a:spAutoFit/>
          </a:bodyPr>
          <a:lstStyle/>
          <a:p>
            <a:pPr marL="12700" marR="10160">
              <a:lnSpc>
                <a:spcPct val="100699"/>
              </a:lnSpc>
            </a:pPr>
            <a:r>
              <a:rPr sz="1800" spc="-5" dirty="0">
                <a:latin typeface="Arial"/>
                <a:cs typeface="Arial"/>
              </a:rPr>
              <a:t>[local gradient] </a:t>
            </a:r>
            <a:r>
              <a:rPr sz="1800" dirty="0">
                <a:latin typeface="Arial"/>
                <a:cs typeface="Arial"/>
              </a:rPr>
              <a:t>x </a:t>
            </a:r>
            <a:r>
              <a:rPr sz="1800" spc="-5" dirty="0">
                <a:latin typeface="Arial"/>
                <a:cs typeface="Arial"/>
              </a:rPr>
              <a:t>[its gradient]  </a:t>
            </a:r>
            <a:r>
              <a:rPr sz="1800" spc="-5" dirty="0">
                <a:solidFill>
                  <a:srgbClr val="FF0000"/>
                </a:solidFill>
                <a:latin typeface="Arial"/>
                <a:cs typeface="Arial"/>
              </a:rPr>
              <a:t>[1] </a:t>
            </a:r>
            <a:r>
              <a:rPr sz="1800" dirty="0">
                <a:solidFill>
                  <a:srgbClr val="FF0000"/>
                </a:solidFill>
                <a:latin typeface="Arial"/>
                <a:cs typeface="Arial"/>
              </a:rPr>
              <a:t>x </a:t>
            </a:r>
            <a:r>
              <a:rPr sz="1800" spc="-5" dirty="0">
                <a:solidFill>
                  <a:srgbClr val="FF0000"/>
                </a:solidFill>
                <a:latin typeface="Arial"/>
                <a:cs typeface="Arial"/>
              </a:rPr>
              <a:t>[0.2] =</a:t>
            </a:r>
            <a:r>
              <a:rPr sz="1800" spc="-65" dirty="0">
                <a:solidFill>
                  <a:srgbClr val="FF0000"/>
                </a:solidFill>
                <a:latin typeface="Arial"/>
                <a:cs typeface="Arial"/>
              </a:rPr>
              <a:t> </a:t>
            </a:r>
            <a:r>
              <a:rPr sz="1800" spc="-5" dirty="0">
                <a:solidFill>
                  <a:srgbClr val="FF0000"/>
                </a:solidFill>
                <a:latin typeface="Arial"/>
                <a:cs typeface="Arial"/>
              </a:rPr>
              <a:t>0.2</a:t>
            </a:r>
            <a:endParaRPr sz="1800">
              <a:latin typeface="Arial"/>
              <a:cs typeface="Arial"/>
            </a:endParaRPr>
          </a:p>
          <a:p>
            <a:pPr marL="12700">
              <a:lnSpc>
                <a:spcPct val="100000"/>
              </a:lnSpc>
              <a:spcBef>
                <a:spcPts val="15"/>
              </a:spcBef>
            </a:pPr>
            <a:r>
              <a:rPr sz="1800" spc="-5" dirty="0">
                <a:solidFill>
                  <a:srgbClr val="FF0000"/>
                </a:solidFill>
                <a:latin typeface="Arial"/>
                <a:cs typeface="Arial"/>
              </a:rPr>
              <a:t>[1] </a:t>
            </a:r>
            <a:r>
              <a:rPr sz="1800" dirty="0">
                <a:solidFill>
                  <a:srgbClr val="FF0000"/>
                </a:solidFill>
                <a:latin typeface="Arial"/>
                <a:cs typeface="Arial"/>
              </a:rPr>
              <a:t>x </a:t>
            </a:r>
            <a:r>
              <a:rPr sz="1800" spc="-5" dirty="0">
                <a:solidFill>
                  <a:srgbClr val="FF0000"/>
                </a:solidFill>
                <a:latin typeface="Arial"/>
                <a:cs typeface="Arial"/>
              </a:rPr>
              <a:t>[0.2] = 0.2  (both</a:t>
            </a:r>
            <a:r>
              <a:rPr sz="1800" dirty="0">
                <a:solidFill>
                  <a:srgbClr val="FF0000"/>
                </a:solidFill>
                <a:latin typeface="Arial"/>
                <a:cs typeface="Arial"/>
              </a:rPr>
              <a:t> </a:t>
            </a:r>
            <a:r>
              <a:rPr sz="1800" spc="-5" dirty="0">
                <a:solidFill>
                  <a:srgbClr val="FF0000"/>
                </a:solidFill>
                <a:latin typeface="Arial"/>
                <a:cs typeface="Arial"/>
              </a:rPr>
              <a:t>inputs!)</a:t>
            </a:r>
            <a:endParaRPr sz="1800">
              <a:latin typeface="Arial"/>
              <a:cs typeface="Arial"/>
            </a:endParaRPr>
          </a:p>
        </p:txBody>
      </p:sp>
      <p:sp>
        <p:nvSpPr>
          <p:cNvPr id="12" name="object 12"/>
          <p:cNvSpPr/>
          <p:nvPr/>
        </p:nvSpPr>
        <p:spPr>
          <a:xfrm>
            <a:off x="1340722" y="2744969"/>
            <a:ext cx="795655" cy="600710"/>
          </a:xfrm>
          <a:custGeom>
            <a:avLst/>
            <a:gdLst/>
            <a:ahLst/>
            <a:cxnLst/>
            <a:rect l="l" t="t" r="r" b="b"/>
            <a:pathLst>
              <a:path w="795655" h="600710">
                <a:moveTo>
                  <a:pt x="0" y="0"/>
                </a:moveTo>
                <a:lnTo>
                  <a:pt x="795298" y="0"/>
                </a:lnTo>
                <a:lnTo>
                  <a:pt x="795298" y="600298"/>
                </a:lnTo>
                <a:lnTo>
                  <a:pt x="0" y="600298"/>
                </a:lnTo>
                <a:lnTo>
                  <a:pt x="0" y="0"/>
                </a:lnTo>
                <a:close/>
              </a:path>
            </a:pathLst>
          </a:custGeom>
          <a:ln w="19049">
            <a:solidFill>
              <a:srgbClr val="FF0000"/>
            </a:solidFill>
          </a:ln>
        </p:spPr>
        <p:txBody>
          <a:bodyPr wrap="square" lIns="0" tIns="0" rIns="0" bIns="0" rtlCol="0"/>
          <a:lstStyle/>
          <a:p>
            <a:endParaRPr/>
          </a:p>
        </p:txBody>
      </p:sp>
      <p:sp>
        <p:nvSpPr>
          <p:cNvPr id="13" name="object 13"/>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object 15"/>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7" name="object 17"/>
          <p:cNvSpPr/>
          <p:nvPr/>
        </p:nvSpPr>
        <p:spPr>
          <a:xfrm>
            <a:off x="2436295" y="2316995"/>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8" name="object 18"/>
          <p:cNvSpPr/>
          <p:nvPr/>
        </p:nvSpPr>
        <p:spPr>
          <a:xfrm>
            <a:off x="2436295" y="134358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20" name="Slide Number Placeholder 19">
            <a:extLst>
              <a:ext uri="{FF2B5EF4-FFF2-40B4-BE49-F238E27FC236}">
                <a16:creationId xmlns:a16="http://schemas.microsoft.com/office/drawing/2014/main" id="{B4E32F08-3F53-43F7-706C-A79395A0396D}"/>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71</a:t>
            </a:fld>
            <a:endParaRPr lang="en-US" altLang="zh-CN" spc="-5" dirty="0"/>
          </a:p>
        </p:txBody>
      </p:sp>
      <p:sp>
        <p:nvSpPr>
          <p:cNvPr id="2" name="Slide Number Placeholder 1">
            <a:extLst>
              <a:ext uri="{FF2B5EF4-FFF2-40B4-BE49-F238E27FC236}">
                <a16:creationId xmlns:a16="http://schemas.microsoft.com/office/drawing/2014/main" id="{5AF3E576-FD3D-CCC2-F4A7-3E5339EBE880}"/>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71</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1340722" y="723748"/>
            <a:ext cx="1483995" cy="1042035"/>
          </a:xfrm>
          <a:custGeom>
            <a:avLst/>
            <a:gdLst/>
            <a:ahLst/>
            <a:cxnLst/>
            <a:rect l="l" t="t" r="r" b="b"/>
            <a:pathLst>
              <a:path w="1483995" h="1042035">
                <a:moveTo>
                  <a:pt x="0" y="0"/>
                </a:moveTo>
                <a:lnTo>
                  <a:pt x="1483797" y="0"/>
                </a:lnTo>
                <a:lnTo>
                  <a:pt x="1483797" y="1041597"/>
                </a:lnTo>
                <a:lnTo>
                  <a:pt x="0" y="1041597"/>
                </a:lnTo>
                <a:lnTo>
                  <a:pt x="0" y="0"/>
                </a:lnTo>
                <a:close/>
              </a:path>
            </a:pathLst>
          </a:custGeom>
          <a:ln w="19049">
            <a:solidFill>
              <a:srgbClr val="FF0000"/>
            </a:solidFill>
          </a:ln>
        </p:spPr>
        <p:txBody>
          <a:bodyPr wrap="square" lIns="0" tIns="0" rIns="0" bIns="0" rtlCol="0"/>
          <a:lstStyle/>
          <a:p>
            <a:endParaRPr/>
          </a:p>
        </p:txBody>
      </p:sp>
      <p:sp>
        <p:nvSpPr>
          <p:cNvPr id="11" name="object 11"/>
          <p:cNvSpPr/>
          <p:nvPr/>
        </p:nvSpPr>
        <p:spPr>
          <a:xfrm>
            <a:off x="1577321" y="1078822"/>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1577321" y="1573471"/>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6" name="Slide Number Placeholder 15">
            <a:extLst>
              <a:ext uri="{FF2B5EF4-FFF2-40B4-BE49-F238E27FC236}">
                <a16:creationId xmlns:a16="http://schemas.microsoft.com/office/drawing/2014/main" id="{97F3E1C4-0B4E-7474-D3C7-AC0D23FDC45A}"/>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72</a:t>
            </a:fld>
            <a:endParaRPr lang="en-US" altLang="zh-CN" spc="-5" dirty="0"/>
          </a:p>
        </p:txBody>
      </p:sp>
      <p:sp>
        <p:nvSpPr>
          <p:cNvPr id="2" name="Slide Number Placeholder 1">
            <a:extLst>
              <a:ext uri="{FF2B5EF4-FFF2-40B4-BE49-F238E27FC236}">
                <a16:creationId xmlns:a16="http://schemas.microsoft.com/office/drawing/2014/main" id="{1A3052F4-C446-7398-7DAB-21DE1C30DD13}"/>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72</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091518" y="650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311700" y="445025"/>
            <a:ext cx="8520600" cy="507437"/>
          </a:xfrm>
          <a:prstGeom prst="rect">
            <a:avLst/>
          </a:prstGeom>
        </p:spPr>
        <p:txBody>
          <a:bodyPr vert="horz" wrap="square" lIns="0" tIns="136769" rIns="0" bIns="0" rtlCol="0">
            <a:spAutoFit/>
          </a:bodyPr>
          <a:lstStyle/>
          <a:p>
            <a:pPr marL="33655">
              <a:lnSpc>
                <a:spcPct val="100000"/>
              </a:lnSpc>
            </a:pPr>
            <a:endParaRPr sz="2400" dirty="0"/>
          </a:p>
        </p:txBody>
      </p:sp>
      <p:sp>
        <p:nvSpPr>
          <p:cNvPr id="6" name="object 6"/>
          <p:cNvSpPr/>
          <p:nvPr/>
        </p:nvSpPr>
        <p:spPr>
          <a:xfrm>
            <a:off x="1340722" y="858423"/>
            <a:ext cx="6587686" cy="236957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22015" y="3307018"/>
            <a:ext cx="4257091" cy="99652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67124" y="3307018"/>
            <a:ext cx="3994266" cy="99652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492566" y="3345143"/>
            <a:ext cx="0" cy="1042035"/>
          </a:xfrm>
          <a:custGeom>
            <a:avLst/>
            <a:gdLst/>
            <a:ahLst/>
            <a:cxnLst/>
            <a:rect l="l" t="t" r="r" b="b"/>
            <a:pathLst>
              <a:path h="1042035">
                <a:moveTo>
                  <a:pt x="0" y="0"/>
                </a:moveTo>
                <a:lnTo>
                  <a:pt x="0" y="1041597"/>
                </a:lnTo>
              </a:path>
            </a:pathLst>
          </a:custGeom>
          <a:ln w="38099">
            <a:solidFill>
              <a:srgbClr val="000000"/>
            </a:solidFill>
          </a:ln>
        </p:spPr>
        <p:txBody>
          <a:bodyPr wrap="square" lIns="0" tIns="0" rIns="0" bIns="0" rtlCol="0"/>
          <a:lstStyle/>
          <a:p>
            <a:endParaRPr/>
          </a:p>
        </p:txBody>
      </p:sp>
      <p:sp>
        <p:nvSpPr>
          <p:cNvPr id="10" name="object 10"/>
          <p:cNvSpPr/>
          <p:nvPr/>
        </p:nvSpPr>
        <p:spPr>
          <a:xfrm>
            <a:off x="1340722" y="723748"/>
            <a:ext cx="1483995" cy="1042035"/>
          </a:xfrm>
          <a:custGeom>
            <a:avLst/>
            <a:gdLst/>
            <a:ahLst/>
            <a:cxnLst/>
            <a:rect l="l" t="t" r="r" b="b"/>
            <a:pathLst>
              <a:path w="1483995" h="1042035">
                <a:moveTo>
                  <a:pt x="0" y="0"/>
                </a:moveTo>
                <a:lnTo>
                  <a:pt x="1483797" y="0"/>
                </a:lnTo>
                <a:lnTo>
                  <a:pt x="1483797" y="1041597"/>
                </a:lnTo>
                <a:lnTo>
                  <a:pt x="0" y="1041597"/>
                </a:lnTo>
                <a:lnTo>
                  <a:pt x="0" y="0"/>
                </a:lnTo>
                <a:close/>
              </a:path>
            </a:pathLst>
          </a:custGeom>
          <a:ln w="19049">
            <a:solidFill>
              <a:srgbClr val="FF0000"/>
            </a:solidFill>
          </a:ln>
        </p:spPr>
        <p:txBody>
          <a:bodyPr wrap="square" lIns="0" tIns="0" rIns="0" bIns="0" rtlCol="0"/>
          <a:lstStyle/>
          <a:p>
            <a:endParaRPr/>
          </a:p>
        </p:txBody>
      </p:sp>
      <p:sp>
        <p:nvSpPr>
          <p:cNvPr id="11" name="object 11"/>
          <p:cNvSpPr txBox="1"/>
          <p:nvPr/>
        </p:nvSpPr>
        <p:spPr>
          <a:xfrm>
            <a:off x="4667818" y="1098262"/>
            <a:ext cx="2996565" cy="839469"/>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[local gradient] </a:t>
            </a:r>
            <a:r>
              <a:rPr sz="1800" dirty="0">
                <a:latin typeface="Arial"/>
                <a:cs typeface="Arial"/>
              </a:rPr>
              <a:t>x </a:t>
            </a:r>
            <a:r>
              <a:rPr sz="1800" spc="-5" dirty="0">
                <a:latin typeface="Arial"/>
                <a:cs typeface="Arial"/>
              </a:rPr>
              <a:t>[its gradient]  </a:t>
            </a:r>
            <a:r>
              <a:rPr sz="1800" spc="-5" dirty="0">
                <a:solidFill>
                  <a:srgbClr val="FF0000"/>
                </a:solidFill>
                <a:latin typeface="Arial"/>
                <a:cs typeface="Arial"/>
              </a:rPr>
              <a:t>x0: [2] </a:t>
            </a:r>
            <a:r>
              <a:rPr sz="1800" dirty="0">
                <a:solidFill>
                  <a:srgbClr val="FF0000"/>
                </a:solidFill>
                <a:latin typeface="Arial"/>
                <a:cs typeface="Arial"/>
              </a:rPr>
              <a:t>x </a:t>
            </a:r>
            <a:r>
              <a:rPr sz="1800" spc="-5" dirty="0">
                <a:solidFill>
                  <a:srgbClr val="FF0000"/>
                </a:solidFill>
                <a:latin typeface="Arial"/>
                <a:cs typeface="Arial"/>
              </a:rPr>
              <a:t>[0.2] =</a:t>
            </a:r>
            <a:r>
              <a:rPr sz="1800" spc="-50" dirty="0">
                <a:solidFill>
                  <a:srgbClr val="FF0000"/>
                </a:solidFill>
                <a:latin typeface="Arial"/>
                <a:cs typeface="Arial"/>
              </a:rPr>
              <a:t> </a:t>
            </a:r>
            <a:r>
              <a:rPr sz="1800" spc="-5" dirty="0">
                <a:solidFill>
                  <a:srgbClr val="FF0000"/>
                </a:solidFill>
                <a:latin typeface="Arial"/>
                <a:cs typeface="Arial"/>
              </a:rPr>
              <a:t>0.4</a:t>
            </a:r>
            <a:endParaRPr sz="1800">
              <a:latin typeface="Arial"/>
              <a:cs typeface="Arial"/>
            </a:endParaRPr>
          </a:p>
          <a:p>
            <a:pPr marL="12700">
              <a:lnSpc>
                <a:spcPct val="100000"/>
              </a:lnSpc>
              <a:spcBef>
                <a:spcPts val="15"/>
              </a:spcBef>
            </a:pPr>
            <a:r>
              <a:rPr sz="1800" spc="-5" dirty="0">
                <a:solidFill>
                  <a:srgbClr val="FF0000"/>
                </a:solidFill>
                <a:latin typeface="Arial"/>
                <a:cs typeface="Arial"/>
              </a:rPr>
              <a:t>w0: [-1] </a:t>
            </a:r>
            <a:r>
              <a:rPr sz="1800" dirty="0">
                <a:solidFill>
                  <a:srgbClr val="FF0000"/>
                </a:solidFill>
                <a:latin typeface="Arial"/>
                <a:cs typeface="Arial"/>
              </a:rPr>
              <a:t>x </a:t>
            </a:r>
            <a:r>
              <a:rPr sz="1800" spc="-5" dirty="0">
                <a:solidFill>
                  <a:srgbClr val="FF0000"/>
                </a:solidFill>
                <a:latin typeface="Arial"/>
                <a:cs typeface="Arial"/>
              </a:rPr>
              <a:t>[0.2] =</a:t>
            </a:r>
            <a:r>
              <a:rPr sz="1800" spc="-40" dirty="0">
                <a:solidFill>
                  <a:srgbClr val="FF0000"/>
                </a:solidFill>
                <a:latin typeface="Arial"/>
                <a:cs typeface="Arial"/>
              </a:rPr>
              <a:t> </a:t>
            </a:r>
            <a:r>
              <a:rPr sz="1800" spc="-5" dirty="0">
                <a:solidFill>
                  <a:srgbClr val="FF0000"/>
                </a:solidFill>
                <a:latin typeface="Arial"/>
                <a:cs typeface="Arial"/>
              </a:rPr>
              <a:t>-0.2</a:t>
            </a:r>
            <a:endParaRPr sz="1800">
              <a:latin typeface="Arial"/>
              <a:cs typeface="Arial"/>
            </a:endParaRPr>
          </a:p>
        </p:txBody>
      </p:sp>
      <p:sp>
        <p:nvSpPr>
          <p:cNvPr id="12" name="object 12"/>
          <p:cNvSpPr/>
          <p:nvPr/>
        </p:nvSpPr>
        <p:spPr>
          <a:xfrm>
            <a:off x="1610671" y="2577644"/>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3" name="object 13"/>
          <p:cNvSpPr/>
          <p:nvPr/>
        </p:nvSpPr>
        <p:spPr>
          <a:xfrm>
            <a:off x="1577321" y="2068120"/>
            <a:ext cx="320040" cy="156845"/>
          </a:xfrm>
          <a:custGeom>
            <a:avLst/>
            <a:gdLst/>
            <a:ahLst/>
            <a:cxnLst/>
            <a:rect l="l" t="t" r="r" b="b"/>
            <a:pathLst>
              <a:path w="320039" h="156844">
                <a:moveTo>
                  <a:pt x="0" y="0"/>
                </a:moveTo>
                <a:lnTo>
                  <a:pt x="319799" y="0"/>
                </a:lnTo>
                <a:lnTo>
                  <a:pt x="319799" y="156299"/>
                </a:lnTo>
                <a:lnTo>
                  <a:pt x="0" y="156299"/>
                </a:lnTo>
                <a:lnTo>
                  <a:pt x="0" y="0"/>
                </a:lnTo>
                <a:close/>
              </a:path>
            </a:pathLst>
          </a:custGeom>
          <a:solidFill>
            <a:srgbClr val="FFFFFF"/>
          </a:solidFill>
        </p:spPr>
        <p:txBody>
          <a:bodyPr wrap="square" lIns="0" tIns="0" rIns="0" bIns="0" rtlCol="0"/>
          <a:lstStyle/>
          <a:p>
            <a:endParaRPr/>
          </a:p>
        </p:txBody>
      </p:sp>
      <p:sp>
        <p:nvSpPr>
          <p:cNvPr id="15" name="Slide Number Placeholder 14">
            <a:extLst>
              <a:ext uri="{FF2B5EF4-FFF2-40B4-BE49-F238E27FC236}">
                <a16:creationId xmlns:a16="http://schemas.microsoft.com/office/drawing/2014/main" id="{B65B5C6E-9D04-94BF-CC32-BAB21F69E040}"/>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73</a:t>
            </a:fld>
            <a:endParaRPr lang="en-US" altLang="zh-CN" spc="-5" dirty="0"/>
          </a:p>
        </p:txBody>
      </p:sp>
      <p:sp>
        <p:nvSpPr>
          <p:cNvPr id="2" name="Slide Number Placeholder 1">
            <a:extLst>
              <a:ext uri="{FF2B5EF4-FFF2-40B4-BE49-F238E27FC236}">
                <a16:creationId xmlns:a16="http://schemas.microsoft.com/office/drawing/2014/main" id="{862FE781-C5BE-215E-B5CF-56F9D784848E}"/>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73</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840823" y="3033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5201039" y="350949"/>
            <a:ext cx="1581146" cy="619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196264" y="346186"/>
            <a:ext cx="1590675" cy="628650"/>
          </a:xfrm>
          <a:custGeom>
            <a:avLst/>
            <a:gdLst/>
            <a:ahLst/>
            <a:cxnLst/>
            <a:rect l="l" t="t" r="r" b="b"/>
            <a:pathLst>
              <a:path w="1590675" h="628650">
                <a:moveTo>
                  <a:pt x="0" y="0"/>
                </a:moveTo>
                <a:lnTo>
                  <a:pt x="1590671" y="0"/>
                </a:lnTo>
                <a:lnTo>
                  <a:pt x="1590671" y="628648"/>
                </a:lnTo>
                <a:lnTo>
                  <a:pt x="0" y="628648"/>
                </a:lnTo>
                <a:lnTo>
                  <a:pt x="0" y="0"/>
                </a:lnTo>
                <a:close/>
              </a:path>
            </a:pathLst>
          </a:custGeom>
          <a:ln w="9524">
            <a:solidFill>
              <a:srgbClr val="0000FF"/>
            </a:solidFill>
          </a:ln>
        </p:spPr>
        <p:txBody>
          <a:bodyPr wrap="square" lIns="0" tIns="0" rIns="0" bIns="0" rtlCol="0"/>
          <a:lstStyle/>
          <a:p>
            <a:endParaRPr/>
          </a:p>
        </p:txBody>
      </p:sp>
      <p:sp>
        <p:nvSpPr>
          <p:cNvPr id="7" name="object 7"/>
          <p:cNvSpPr txBox="1">
            <a:spLocks noGrp="1"/>
          </p:cNvSpPr>
          <p:nvPr>
            <p:ph type="title"/>
          </p:nvPr>
        </p:nvSpPr>
        <p:spPr>
          <a:xfrm>
            <a:off x="7081058" y="597329"/>
            <a:ext cx="1676400" cy="285115"/>
          </a:xfrm>
          <a:prstGeom prst="rect">
            <a:avLst/>
          </a:prstGeom>
        </p:spPr>
        <p:txBody>
          <a:bodyPr vert="horz" wrap="square" lIns="0" tIns="0" rIns="0" bIns="0" rtlCol="0">
            <a:spAutoFit/>
          </a:bodyPr>
          <a:lstStyle/>
          <a:p>
            <a:pPr marL="12700">
              <a:lnSpc>
                <a:spcPct val="100000"/>
              </a:lnSpc>
            </a:pPr>
            <a:r>
              <a:rPr sz="1800" spc="-5" dirty="0">
                <a:solidFill>
                  <a:srgbClr val="0000FF"/>
                </a:solidFill>
              </a:rPr>
              <a:t>sigmoid</a:t>
            </a:r>
            <a:r>
              <a:rPr sz="1800" spc="-40" dirty="0">
                <a:solidFill>
                  <a:srgbClr val="0000FF"/>
                </a:solidFill>
              </a:rPr>
              <a:t> </a:t>
            </a:r>
            <a:r>
              <a:rPr sz="1800" spc="-5" dirty="0">
                <a:solidFill>
                  <a:srgbClr val="0000FF"/>
                </a:solidFill>
              </a:rPr>
              <a:t>function</a:t>
            </a:r>
            <a:endParaRPr sz="1800"/>
          </a:p>
        </p:txBody>
      </p:sp>
      <p:sp>
        <p:nvSpPr>
          <p:cNvPr id="8" name="object 8"/>
          <p:cNvSpPr/>
          <p:nvPr/>
        </p:nvSpPr>
        <p:spPr>
          <a:xfrm>
            <a:off x="629023" y="1198022"/>
            <a:ext cx="7162785" cy="657223"/>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1543721" y="2377995"/>
            <a:ext cx="5760138" cy="2071895"/>
          </a:xfrm>
          <a:prstGeom prst="rect">
            <a:avLst/>
          </a:prstGeom>
          <a:blipFill>
            <a:blip r:embed="rId5" cstate="print"/>
            <a:stretch>
              <a:fillRect/>
            </a:stretch>
          </a:blipFill>
        </p:spPr>
        <p:txBody>
          <a:bodyPr wrap="square" lIns="0" tIns="0" rIns="0" bIns="0" rtlCol="0"/>
          <a:lstStyle/>
          <a:p>
            <a:endParaRPr/>
          </a:p>
        </p:txBody>
      </p:sp>
      <p:sp>
        <p:nvSpPr>
          <p:cNvPr id="10" name="object 10"/>
          <p:cNvSpPr txBox="1"/>
          <p:nvPr/>
        </p:nvSpPr>
        <p:spPr>
          <a:xfrm>
            <a:off x="4316041" y="3107243"/>
            <a:ext cx="2648585" cy="1147445"/>
          </a:xfrm>
          <a:prstGeom prst="rect">
            <a:avLst/>
          </a:prstGeom>
          <a:ln w="19049">
            <a:solidFill>
              <a:srgbClr val="0000FF"/>
            </a:solidFill>
          </a:ln>
        </p:spPr>
        <p:txBody>
          <a:bodyPr vert="horz" wrap="square" lIns="0" tIns="27940" rIns="0" bIns="0" rtlCol="0">
            <a:spAutoFit/>
          </a:bodyPr>
          <a:lstStyle/>
          <a:p>
            <a:pPr marL="784860">
              <a:lnSpc>
                <a:spcPct val="100000"/>
              </a:lnSpc>
              <a:spcBef>
                <a:spcPts val="220"/>
              </a:spcBef>
            </a:pPr>
            <a:r>
              <a:rPr sz="1400" spc="-5" dirty="0">
                <a:solidFill>
                  <a:srgbClr val="0000FF"/>
                </a:solidFill>
                <a:latin typeface="Arial"/>
                <a:cs typeface="Arial"/>
              </a:rPr>
              <a:t>sigmoid</a:t>
            </a:r>
            <a:r>
              <a:rPr sz="1400" spc="-55" dirty="0">
                <a:solidFill>
                  <a:srgbClr val="0000FF"/>
                </a:solidFill>
                <a:latin typeface="Arial"/>
                <a:cs typeface="Arial"/>
              </a:rPr>
              <a:t> </a:t>
            </a:r>
            <a:r>
              <a:rPr sz="1400" spc="-5" dirty="0">
                <a:solidFill>
                  <a:srgbClr val="0000FF"/>
                </a:solidFill>
                <a:latin typeface="Arial"/>
                <a:cs typeface="Arial"/>
              </a:rPr>
              <a:t>gate</a:t>
            </a:r>
            <a:endParaRPr sz="1400">
              <a:latin typeface="Arial"/>
              <a:cs typeface="Arial"/>
            </a:endParaRPr>
          </a:p>
        </p:txBody>
      </p:sp>
      <p:sp>
        <p:nvSpPr>
          <p:cNvPr id="12" name="Slide Number Placeholder 11">
            <a:extLst>
              <a:ext uri="{FF2B5EF4-FFF2-40B4-BE49-F238E27FC236}">
                <a16:creationId xmlns:a16="http://schemas.microsoft.com/office/drawing/2014/main" id="{84F3C6A6-F717-AE98-5D18-6CA9544C38F4}"/>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74</a:t>
            </a:fld>
            <a:endParaRPr lang="en-US" altLang="zh-CN" spc="-5" dirty="0"/>
          </a:p>
        </p:txBody>
      </p:sp>
      <p:sp>
        <p:nvSpPr>
          <p:cNvPr id="2" name="Slide Number Placeholder 1">
            <a:extLst>
              <a:ext uri="{FF2B5EF4-FFF2-40B4-BE49-F238E27FC236}">
                <a16:creationId xmlns:a16="http://schemas.microsoft.com/office/drawing/2014/main" id="{553ADC8C-4317-B583-5553-D4524466B962}"/>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74</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840823" y="303324"/>
            <a:ext cx="3086093" cy="714373"/>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5201039" y="350949"/>
            <a:ext cx="1581146" cy="6191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196264" y="346186"/>
            <a:ext cx="1590675" cy="628650"/>
          </a:xfrm>
          <a:custGeom>
            <a:avLst/>
            <a:gdLst/>
            <a:ahLst/>
            <a:cxnLst/>
            <a:rect l="l" t="t" r="r" b="b"/>
            <a:pathLst>
              <a:path w="1590675" h="628650">
                <a:moveTo>
                  <a:pt x="0" y="0"/>
                </a:moveTo>
                <a:lnTo>
                  <a:pt x="1590671" y="0"/>
                </a:lnTo>
                <a:lnTo>
                  <a:pt x="1590671" y="628648"/>
                </a:lnTo>
                <a:lnTo>
                  <a:pt x="0" y="628648"/>
                </a:lnTo>
                <a:lnTo>
                  <a:pt x="0" y="0"/>
                </a:lnTo>
                <a:close/>
              </a:path>
            </a:pathLst>
          </a:custGeom>
          <a:ln w="9524">
            <a:solidFill>
              <a:srgbClr val="0000FF"/>
            </a:solidFill>
          </a:ln>
        </p:spPr>
        <p:txBody>
          <a:bodyPr wrap="square" lIns="0" tIns="0" rIns="0" bIns="0" rtlCol="0"/>
          <a:lstStyle/>
          <a:p>
            <a:endParaRPr/>
          </a:p>
        </p:txBody>
      </p:sp>
      <p:sp>
        <p:nvSpPr>
          <p:cNvPr id="7" name="object 7"/>
          <p:cNvSpPr txBox="1">
            <a:spLocks noGrp="1"/>
          </p:cNvSpPr>
          <p:nvPr>
            <p:ph type="title"/>
          </p:nvPr>
        </p:nvSpPr>
        <p:spPr>
          <a:xfrm>
            <a:off x="7081058" y="597329"/>
            <a:ext cx="1676400" cy="285115"/>
          </a:xfrm>
          <a:prstGeom prst="rect">
            <a:avLst/>
          </a:prstGeom>
        </p:spPr>
        <p:txBody>
          <a:bodyPr vert="horz" wrap="square" lIns="0" tIns="0" rIns="0" bIns="0" rtlCol="0">
            <a:spAutoFit/>
          </a:bodyPr>
          <a:lstStyle/>
          <a:p>
            <a:pPr marL="12700">
              <a:lnSpc>
                <a:spcPct val="100000"/>
              </a:lnSpc>
            </a:pPr>
            <a:r>
              <a:rPr sz="1800" spc="-5" dirty="0">
                <a:solidFill>
                  <a:srgbClr val="0000FF"/>
                </a:solidFill>
              </a:rPr>
              <a:t>sigmoid</a:t>
            </a:r>
            <a:r>
              <a:rPr sz="1800" spc="-40" dirty="0">
                <a:solidFill>
                  <a:srgbClr val="0000FF"/>
                </a:solidFill>
              </a:rPr>
              <a:t> </a:t>
            </a:r>
            <a:r>
              <a:rPr sz="1800" spc="-5" dirty="0">
                <a:solidFill>
                  <a:srgbClr val="0000FF"/>
                </a:solidFill>
              </a:rPr>
              <a:t>function</a:t>
            </a:r>
            <a:endParaRPr sz="1800"/>
          </a:p>
        </p:txBody>
      </p:sp>
      <p:sp>
        <p:nvSpPr>
          <p:cNvPr id="8" name="object 8"/>
          <p:cNvSpPr/>
          <p:nvPr/>
        </p:nvSpPr>
        <p:spPr>
          <a:xfrm>
            <a:off x="629023" y="1198022"/>
            <a:ext cx="7162785" cy="657223"/>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1543721" y="2377995"/>
            <a:ext cx="5760138" cy="2071895"/>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4316041" y="3107243"/>
            <a:ext cx="2648585" cy="931544"/>
          </a:xfrm>
          <a:custGeom>
            <a:avLst/>
            <a:gdLst/>
            <a:ahLst/>
            <a:cxnLst/>
            <a:rect l="l" t="t" r="r" b="b"/>
            <a:pathLst>
              <a:path w="2648584" h="931545">
                <a:moveTo>
                  <a:pt x="0" y="0"/>
                </a:moveTo>
                <a:lnTo>
                  <a:pt x="2648094" y="0"/>
                </a:lnTo>
                <a:lnTo>
                  <a:pt x="2648094" y="931498"/>
                </a:lnTo>
                <a:lnTo>
                  <a:pt x="0" y="931498"/>
                </a:lnTo>
                <a:lnTo>
                  <a:pt x="0" y="0"/>
                </a:lnTo>
                <a:close/>
              </a:path>
            </a:pathLst>
          </a:custGeom>
          <a:ln w="19049">
            <a:solidFill>
              <a:srgbClr val="0000FF"/>
            </a:solidFill>
          </a:ln>
        </p:spPr>
        <p:txBody>
          <a:bodyPr wrap="square" lIns="0" tIns="0" rIns="0" bIns="0" rtlCol="0"/>
          <a:lstStyle/>
          <a:p>
            <a:endParaRPr/>
          </a:p>
        </p:txBody>
      </p:sp>
      <p:sp>
        <p:nvSpPr>
          <p:cNvPr id="11" name="object 11"/>
          <p:cNvSpPr txBox="1"/>
          <p:nvPr/>
        </p:nvSpPr>
        <p:spPr>
          <a:xfrm>
            <a:off x="4316041" y="3145208"/>
            <a:ext cx="2648585" cy="1273175"/>
          </a:xfrm>
          <a:prstGeom prst="rect">
            <a:avLst/>
          </a:prstGeom>
        </p:spPr>
        <p:txBody>
          <a:bodyPr vert="horz" wrap="square" lIns="0" tIns="0" rIns="0" bIns="0" rtlCol="0">
            <a:spAutoFit/>
          </a:bodyPr>
          <a:lstStyle/>
          <a:p>
            <a:pPr marR="43180" algn="ctr">
              <a:lnSpc>
                <a:spcPct val="100000"/>
              </a:lnSpc>
            </a:pPr>
            <a:r>
              <a:rPr sz="1400" spc="-5" dirty="0">
                <a:solidFill>
                  <a:srgbClr val="0000FF"/>
                </a:solidFill>
                <a:latin typeface="Arial"/>
                <a:cs typeface="Arial"/>
              </a:rPr>
              <a:t>sigmoid</a:t>
            </a:r>
            <a:r>
              <a:rPr sz="1400" spc="-55" dirty="0">
                <a:solidFill>
                  <a:srgbClr val="0000FF"/>
                </a:solidFill>
                <a:latin typeface="Arial"/>
                <a:cs typeface="Arial"/>
              </a:rPr>
              <a:t> </a:t>
            </a:r>
            <a:r>
              <a:rPr sz="1400" spc="-5" dirty="0">
                <a:solidFill>
                  <a:srgbClr val="0000FF"/>
                </a:solidFill>
                <a:latin typeface="Arial"/>
                <a:cs typeface="Arial"/>
              </a:rPr>
              <a:t>gate</a:t>
            </a:r>
            <a:endParaRPr sz="1400">
              <a:latin typeface="Arial"/>
              <a:cs typeface="Arial"/>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5"/>
              </a:spcBef>
            </a:pPr>
            <a:endParaRPr sz="1100">
              <a:latin typeface="Times New Roman"/>
              <a:cs typeface="Times New Roman"/>
            </a:endParaRPr>
          </a:p>
          <a:p>
            <a:pPr marR="153035" algn="ctr">
              <a:lnSpc>
                <a:spcPct val="100000"/>
              </a:lnSpc>
            </a:pPr>
            <a:r>
              <a:rPr sz="1800" spc="-5" dirty="0">
                <a:solidFill>
                  <a:srgbClr val="FF0000"/>
                </a:solidFill>
                <a:latin typeface="Arial"/>
                <a:cs typeface="Arial"/>
              </a:rPr>
              <a:t>(0.73) * (1 </a:t>
            </a:r>
            <a:r>
              <a:rPr sz="1800" dirty="0">
                <a:solidFill>
                  <a:srgbClr val="FF0000"/>
                </a:solidFill>
                <a:latin typeface="Arial"/>
                <a:cs typeface="Arial"/>
              </a:rPr>
              <a:t>- </a:t>
            </a:r>
            <a:r>
              <a:rPr sz="1800" spc="-5" dirty="0">
                <a:solidFill>
                  <a:srgbClr val="FF0000"/>
                </a:solidFill>
                <a:latin typeface="Arial"/>
                <a:cs typeface="Arial"/>
              </a:rPr>
              <a:t>0.73) =</a:t>
            </a:r>
            <a:r>
              <a:rPr sz="1800" spc="-30" dirty="0">
                <a:solidFill>
                  <a:srgbClr val="FF0000"/>
                </a:solidFill>
                <a:latin typeface="Arial"/>
                <a:cs typeface="Arial"/>
              </a:rPr>
              <a:t> </a:t>
            </a:r>
            <a:r>
              <a:rPr sz="1800" spc="-5" dirty="0">
                <a:solidFill>
                  <a:srgbClr val="FF0000"/>
                </a:solidFill>
                <a:latin typeface="Arial"/>
                <a:cs typeface="Arial"/>
              </a:rPr>
              <a:t>0.2</a:t>
            </a:r>
            <a:endParaRPr sz="1800">
              <a:latin typeface="Arial"/>
              <a:cs typeface="Arial"/>
            </a:endParaRPr>
          </a:p>
        </p:txBody>
      </p:sp>
      <p:sp>
        <p:nvSpPr>
          <p:cNvPr id="12" name="object 12"/>
          <p:cNvSpPr/>
          <p:nvPr/>
        </p:nvSpPr>
        <p:spPr>
          <a:xfrm>
            <a:off x="4225416" y="4048291"/>
            <a:ext cx="90805" cy="205740"/>
          </a:xfrm>
          <a:custGeom>
            <a:avLst/>
            <a:gdLst/>
            <a:ahLst/>
            <a:cxnLst/>
            <a:rect l="l" t="t" r="r" b="b"/>
            <a:pathLst>
              <a:path w="90804" h="205739">
                <a:moveTo>
                  <a:pt x="90624" y="205424"/>
                </a:moveTo>
                <a:lnTo>
                  <a:pt x="0" y="0"/>
                </a:lnTo>
              </a:path>
            </a:pathLst>
          </a:custGeom>
          <a:ln w="9524">
            <a:solidFill>
              <a:srgbClr val="FF0000"/>
            </a:solidFill>
          </a:ln>
        </p:spPr>
        <p:txBody>
          <a:bodyPr wrap="square" lIns="0" tIns="0" rIns="0" bIns="0" rtlCol="0"/>
          <a:lstStyle/>
          <a:p>
            <a:endParaRPr/>
          </a:p>
        </p:txBody>
      </p:sp>
      <p:sp>
        <p:nvSpPr>
          <p:cNvPr id="13" name="object 13"/>
          <p:cNvSpPr/>
          <p:nvPr/>
        </p:nvSpPr>
        <p:spPr>
          <a:xfrm>
            <a:off x="4207966" y="4008766"/>
            <a:ext cx="32384" cy="46355"/>
          </a:xfrm>
          <a:custGeom>
            <a:avLst/>
            <a:gdLst/>
            <a:ahLst/>
            <a:cxnLst/>
            <a:rect l="l" t="t" r="r" b="b"/>
            <a:pathLst>
              <a:path w="32385" h="46354">
                <a:moveTo>
                  <a:pt x="31849" y="33174"/>
                </a:moveTo>
                <a:lnTo>
                  <a:pt x="0" y="0"/>
                </a:lnTo>
                <a:lnTo>
                  <a:pt x="3049" y="45874"/>
                </a:lnTo>
                <a:lnTo>
                  <a:pt x="31849" y="33174"/>
                </a:lnTo>
                <a:close/>
              </a:path>
            </a:pathLst>
          </a:custGeom>
          <a:ln w="9524">
            <a:solidFill>
              <a:srgbClr val="FF0000"/>
            </a:solidFill>
          </a:ln>
        </p:spPr>
        <p:txBody>
          <a:bodyPr wrap="square" lIns="0" tIns="0" rIns="0" bIns="0" rtlCol="0"/>
          <a:lstStyle/>
          <a:p>
            <a:endParaRPr/>
          </a:p>
        </p:txBody>
      </p:sp>
      <p:sp>
        <p:nvSpPr>
          <p:cNvPr id="14" name="object 14"/>
          <p:cNvSpPr/>
          <p:nvPr/>
        </p:nvSpPr>
        <p:spPr>
          <a:xfrm>
            <a:off x="6993811" y="3512542"/>
            <a:ext cx="386715" cy="220979"/>
          </a:xfrm>
          <a:custGeom>
            <a:avLst/>
            <a:gdLst/>
            <a:ahLst/>
            <a:cxnLst/>
            <a:rect l="l" t="t" r="r" b="b"/>
            <a:pathLst>
              <a:path w="386715" h="220979">
                <a:moveTo>
                  <a:pt x="0" y="0"/>
                </a:moveTo>
                <a:lnTo>
                  <a:pt x="386699" y="0"/>
                </a:lnTo>
                <a:lnTo>
                  <a:pt x="386699" y="220499"/>
                </a:lnTo>
                <a:lnTo>
                  <a:pt x="0" y="220499"/>
                </a:lnTo>
                <a:lnTo>
                  <a:pt x="0" y="0"/>
                </a:lnTo>
                <a:close/>
              </a:path>
            </a:pathLst>
          </a:custGeom>
          <a:ln w="19049">
            <a:solidFill>
              <a:srgbClr val="FF0000"/>
            </a:solidFill>
          </a:ln>
        </p:spPr>
        <p:txBody>
          <a:bodyPr wrap="square" lIns="0" tIns="0" rIns="0" bIns="0" rtlCol="0"/>
          <a:lstStyle/>
          <a:p>
            <a:endParaRPr/>
          </a:p>
        </p:txBody>
      </p:sp>
      <p:sp>
        <p:nvSpPr>
          <p:cNvPr id="16" name="Slide Number Placeholder 15">
            <a:extLst>
              <a:ext uri="{FF2B5EF4-FFF2-40B4-BE49-F238E27FC236}">
                <a16:creationId xmlns:a16="http://schemas.microsoft.com/office/drawing/2014/main" id="{F71DA185-0B81-31DD-4FB1-F176956555AF}"/>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75</a:t>
            </a:fld>
            <a:endParaRPr lang="en-US" altLang="zh-CN" spc="-5" dirty="0"/>
          </a:p>
        </p:txBody>
      </p:sp>
      <p:sp>
        <p:nvSpPr>
          <p:cNvPr id="2" name="Slide Number Placeholder 1">
            <a:extLst>
              <a:ext uri="{FF2B5EF4-FFF2-40B4-BE49-F238E27FC236}">
                <a16:creationId xmlns:a16="http://schemas.microsoft.com/office/drawing/2014/main" id="{9C13ECEE-272E-4C0B-3BD1-2CAC9554F3B3}"/>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75</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11700" y="-107517"/>
            <a:ext cx="8520600" cy="637848"/>
          </a:xfrm>
          <a:prstGeom prst="rect">
            <a:avLst/>
          </a:prstGeom>
        </p:spPr>
        <p:txBody>
          <a:bodyPr vert="horz" wrap="square" lIns="0" tIns="265919" rIns="0" bIns="0" rtlCol="0">
            <a:spAutoFit/>
          </a:bodyPr>
          <a:lstStyle/>
          <a:p>
            <a:pPr marL="2713990">
              <a:lnSpc>
                <a:spcPct val="100000"/>
              </a:lnSpc>
            </a:pPr>
            <a:r>
              <a:rPr sz="2400" spc="-5" dirty="0">
                <a:solidFill>
                  <a:schemeClr val="bg2"/>
                </a:solidFill>
              </a:rPr>
              <a:t>Patterns in backward</a:t>
            </a:r>
            <a:r>
              <a:rPr sz="2400" spc="-10" dirty="0">
                <a:solidFill>
                  <a:schemeClr val="bg2"/>
                </a:solidFill>
              </a:rPr>
              <a:t> </a:t>
            </a:r>
            <a:r>
              <a:rPr sz="2400" spc="-5" dirty="0">
                <a:solidFill>
                  <a:schemeClr val="bg2"/>
                </a:solidFill>
              </a:rPr>
              <a:t>flow</a:t>
            </a:r>
            <a:endParaRPr sz="2400" dirty="0">
              <a:solidFill>
                <a:schemeClr val="bg2"/>
              </a:solidFill>
            </a:endParaRPr>
          </a:p>
        </p:txBody>
      </p:sp>
      <p:sp>
        <p:nvSpPr>
          <p:cNvPr id="5" name="object 5"/>
          <p:cNvSpPr/>
          <p:nvPr/>
        </p:nvSpPr>
        <p:spPr>
          <a:xfrm>
            <a:off x="3810011" y="1052672"/>
            <a:ext cx="5257789" cy="3143243"/>
          </a:xfrm>
          <a:prstGeom prst="rect">
            <a:avLst/>
          </a:prstGeom>
          <a:blipFill>
            <a:blip r:embed="rId3" cstate="print"/>
            <a:stretch>
              <a:fillRect/>
            </a:stretch>
          </a:blipFill>
        </p:spPr>
        <p:txBody>
          <a:bodyPr wrap="square" lIns="0" tIns="0" rIns="0" bIns="0" rtlCol="0"/>
          <a:lstStyle/>
          <a:p>
            <a:endParaRPr/>
          </a:p>
        </p:txBody>
      </p:sp>
      <p:graphicFrame>
        <p:nvGraphicFramePr>
          <p:cNvPr id="11" name="Table 10">
            <a:extLst>
              <a:ext uri="{FF2B5EF4-FFF2-40B4-BE49-F238E27FC236}">
                <a16:creationId xmlns:a16="http://schemas.microsoft.com/office/drawing/2014/main" id="{76E77F2D-079A-B25E-3488-A861F180C4B0}"/>
              </a:ext>
            </a:extLst>
          </p:cNvPr>
          <p:cNvGraphicFramePr>
            <a:graphicFrameLocks noGrp="1"/>
          </p:cNvGraphicFramePr>
          <p:nvPr>
            <p:extLst>
              <p:ext uri="{D42A27DB-BD31-4B8C-83A1-F6EECF244321}">
                <p14:modId xmlns:p14="http://schemas.microsoft.com/office/powerpoint/2010/main" val="3473694060"/>
              </p:ext>
            </p:extLst>
          </p:nvPr>
        </p:nvGraphicFramePr>
        <p:xfrm>
          <a:off x="76200" y="1077362"/>
          <a:ext cx="3818744" cy="3083264"/>
        </p:xfrm>
        <a:graphic>
          <a:graphicData uri="http://schemas.openxmlformats.org/drawingml/2006/table">
            <a:tbl>
              <a:tblPr/>
              <a:tblGrid>
                <a:gridCol w="549442">
                  <a:extLst>
                    <a:ext uri="{9D8B030D-6E8A-4147-A177-3AD203B41FA5}">
                      <a16:colId xmlns:a16="http://schemas.microsoft.com/office/drawing/2014/main" val="2592572516"/>
                    </a:ext>
                  </a:extLst>
                </a:gridCol>
                <a:gridCol w="698287">
                  <a:extLst>
                    <a:ext uri="{9D8B030D-6E8A-4147-A177-3AD203B41FA5}">
                      <a16:colId xmlns:a16="http://schemas.microsoft.com/office/drawing/2014/main" val="488765733"/>
                    </a:ext>
                  </a:extLst>
                </a:gridCol>
                <a:gridCol w="948386">
                  <a:extLst>
                    <a:ext uri="{9D8B030D-6E8A-4147-A177-3AD203B41FA5}">
                      <a16:colId xmlns:a16="http://schemas.microsoft.com/office/drawing/2014/main" val="1170564978"/>
                    </a:ext>
                  </a:extLst>
                </a:gridCol>
                <a:gridCol w="1622629">
                  <a:extLst>
                    <a:ext uri="{9D8B030D-6E8A-4147-A177-3AD203B41FA5}">
                      <a16:colId xmlns:a16="http://schemas.microsoft.com/office/drawing/2014/main" val="2311781867"/>
                    </a:ext>
                  </a:extLst>
                </a:gridCol>
              </a:tblGrid>
              <a:tr h="278679">
                <a:tc>
                  <a:txBody>
                    <a:bodyPr/>
                    <a:lstStyle/>
                    <a:p>
                      <a:pPr algn="l">
                        <a:buNone/>
                      </a:pPr>
                      <a:r>
                        <a:rPr lang="nl-NL" sz="1400" b="1">
                          <a:solidFill>
                            <a:schemeClr val="bg2"/>
                          </a:solidFill>
                          <a:effectLst/>
                        </a:rPr>
                        <a:t>Gate</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nl-NL" sz="1400" b="1" dirty="0">
                          <a:solidFill>
                            <a:schemeClr val="bg2"/>
                          </a:solidFill>
                          <a:effectLst/>
                        </a:rPr>
                        <a:t>Behavior</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nl-NL" sz="1400" b="1" dirty="0">
                          <a:solidFill>
                            <a:schemeClr val="bg2"/>
                          </a:solidFill>
                          <a:effectLst/>
                        </a:rPr>
                        <a:t>Local gradient</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nl-NL" sz="1400" b="1" dirty="0">
                          <a:solidFill>
                            <a:schemeClr val="bg2"/>
                          </a:solidFill>
                          <a:effectLst/>
                        </a:rPr>
                        <a:t>Backward behavior</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970216667"/>
                  </a:ext>
                </a:extLst>
              </a:tr>
              <a:tr h="633255">
                <a:tc>
                  <a:txBody>
                    <a:bodyPr/>
                    <a:lstStyle/>
                    <a:p>
                      <a:pPr algn="l">
                        <a:buNone/>
                      </a:pPr>
                      <a:r>
                        <a:rPr lang="nl-NL" sz="1400" b="1" dirty="0">
                          <a:solidFill>
                            <a:schemeClr val="bg2"/>
                          </a:solidFill>
                          <a:effectLst/>
                        </a:rPr>
                        <a:t>add</a:t>
                      </a:r>
                      <a:endParaRPr lang="nl-NL" sz="1400" dirty="0">
                        <a:solidFill>
                          <a:schemeClr val="bg2"/>
                        </a:solidFill>
                        <a:effectLst/>
                      </a:endParaRP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nl-NL" sz="1000" dirty="0">
                          <a:solidFill>
                            <a:schemeClr val="bg2"/>
                          </a:solidFill>
                          <a:effectLst/>
                        </a:rPr>
                        <a:t>distributor</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nl-NL" sz="1400" dirty="0">
                          <a:solidFill>
                            <a:schemeClr val="bg2"/>
                          </a:solidFill>
                          <a:effectLst/>
                        </a:rPr>
                        <a:t>1 to every input</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400" dirty="0">
                          <a:solidFill>
                            <a:schemeClr val="bg2"/>
                          </a:solidFill>
                          <a:effectLst/>
                        </a:rPr>
                        <a:t>copies upstream gradient to all inputs unchanged</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414235494"/>
                  </a:ext>
                </a:extLst>
              </a:tr>
              <a:tr h="633255">
                <a:tc>
                  <a:txBody>
                    <a:bodyPr/>
                    <a:lstStyle/>
                    <a:p>
                      <a:pPr algn="l">
                        <a:buNone/>
                      </a:pPr>
                      <a:r>
                        <a:rPr lang="nl-NL" sz="1400" b="1">
                          <a:solidFill>
                            <a:schemeClr val="bg2"/>
                          </a:solidFill>
                          <a:effectLst/>
                        </a:rPr>
                        <a:t>max</a:t>
                      </a:r>
                      <a:endParaRPr lang="nl-NL" sz="1400">
                        <a:solidFill>
                          <a:schemeClr val="bg2"/>
                        </a:solidFill>
                        <a:effectLst/>
                      </a:endParaRP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nl-NL" sz="1200" dirty="0">
                          <a:solidFill>
                            <a:schemeClr val="bg2"/>
                          </a:solidFill>
                          <a:effectLst/>
                        </a:rPr>
                        <a:t>router</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400">
                          <a:solidFill>
                            <a:schemeClr val="bg2"/>
                          </a:solidFill>
                          <a:effectLst/>
                        </a:rPr>
                        <a:t>1 to the largest, 0 to the rest</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400" dirty="0">
                          <a:solidFill>
                            <a:schemeClr val="bg2"/>
                          </a:solidFill>
                          <a:effectLst/>
                        </a:rPr>
                        <a:t>routes the whole gradient to the larger input (winner) only</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051853757"/>
                  </a:ext>
                </a:extLst>
              </a:tr>
              <a:tr h="633255">
                <a:tc>
                  <a:txBody>
                    <a:bodyPr/>
                    <a:lstStyle/>
                    <a:p>
                      <a:pPr algn="l">
                        <a:buNone/>
                      </a:pPr>
                      <a:r>
                        <a:rPr lang="nl-NL" sz="1400" b="1">
                          <a:solidFill>
                            <a:schemeClr val="bg2"/>
                          </a:solidFill>
                          <a:effectLst/>
                        </a:rPr>
                        <a:t>mul</a:t>
                      </a:r>
                      <a:endParaRPr lang="nl-NL" sz="1400">
                        <a:solidFill>
                          <a:schemeClr val="bg2"/>
                        </a:solidFill>
                        <a:effectLst/>
                      </a:endParaRP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nl-NL" sz="1200" dirty="0">
                          <a:solidFill>
                            <a:schemeClr val="bg2"/>
                          </a:solidFill>
                          <a:effectLst/>
                        </a:rPr>
                        <a:t>switcher</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nl-NL" sz="1400" dirty="0">
                          <a:solidFill>
                            <a:schemeClr val="bg2"/>
                          </a:solidFill>
                          <a:effectLst/>
                        </a:rPr>
                        <a:t>the </a:t>
                      </a:r>
                      <a:r>
                        <a:rPr lang="nl-NL" sz="1400" i="1" dirty="0">
                          <a:solidFill>
                            <a:schemeClr val="bg2"/>
                          </a:solidFill>
                          <a:effectLst/>
                        </a:rPr>
                        <a:t>other</a:t>
                      </a:r>
                      <a:r>
                        <a:rPr lang="nl-NL" sz="1400" dirty="0">
                          <a:solidFill>
                            <a:schemeClr val="bg2"/>
                          </a:solidFill>
                          <a:effectLst/>
                        </a:rPr>
                        <a:t> input's value</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400" dirty="0">
                          <a:solidFill>
                            <a:schemeClr val="bg2"/>
                          </a:solidFill>
                          <a:effectLst/>
                        </a:rPr>
                        <a:t>each input gets upstream gradient × the other input</a:t>
                      </a:r>
                    </a:p>
                  </a:txBody>
                  <a:tcPr marL="65368" marR="65368" marT="65368" marB="653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650431926"/>
                  </a:ext>
                </a:extLst>
              </a:tr>
            </a:tbl>
          </a:graphicData>
        </a:graphic>
      </p:graphicFrame>
      <p:sp>
        <p:nvSpPr>
          <p:cNvPr id="13" name="TextBox 12">
            <a:extLst>
              <a:ext uri="{FF2B5EF4-FFF2-40B4-BE49-F238E27FC236}">
                <a16:creationId xmlns:a16="http://schemas.microsoft.com/office/drawing/2014/main" id="{229B97B2-3ABF-091C-88A5-722613499F7B}"/>
              </a:ext>
            </a:extLst>
          </p:cNvPr>
          <p:cNvSpPr txBox="1"/>
          <p:nvPr/>
        </p:nvSpPr>
        <p:spPr>
          <a:xfrm>
            <a:off x="6248400" y="2800350"/>
            <a:ext cx="713874" cy="400110"/>
          </a:xfrm>
          <a:prstGeom prst="rect">
            <a:avLst/>
          </a:prstGeom>
          <a:noFill/>
        </p:spPr>
        <p:txBody>
          <a:bodyPr wrap="square">
            <a:spAutoFit/>
          </a:bodyPr>
          <a:lstStyle/>
          <a:p>
            <a:pPr algn="l">
              <a:buNone/>
            </a:pPr>
            <a:r>
              <a:rPr lang="nl-NL" altLang="zh-CN" sz="2000" b="1" dirty="0">
                <a:effectLst/>
              </a:rPr>
              <a:t>add</a:t>
            </a:r>
            <a:endParaRPr lang="nl-NL" altLang="zh-CN" sz="2000" dirty="0">
              <a:effectLst/>
            </a:endParaRPr>
          </a:p>
        </p:txBody>
      </p:sp>
      <p:sp>
        <p:nvSpPr>
          <p:cNvPr id="14" name="TextBox 13">
            <a:extLst>
              <a:ext uri="{FF2B5EF4-FFF2-40B4-BE49-F238E27FC236}">
                <a16:creationId xmlns:a16="http://schemas.microsoft.com/office/drawing/2014/main" id="{1008F8F4-50EA-C1F2-945C-A256E415C5D4}"/>
              </a:ext>
            </a:extLst>
          </p:cNvPr>
          <p:cNvSpPr txBox="1"/>
          <p:nvPr/>
        </p:nvSpPr>
        <p:spPr>
          <a:xfrm>
            <a:off x="4794354" y="1950462"/>
            <a:ext cx="658200" cy="400110"/>
          </a:xfrm>
          <a:prstGeom prst="rect">
            <a:avLst/>
          </a:prstGeom>
          <a:noFill/>
        </p:spPr>
        <p:txBody>
          <a:bodyPr wrap="square">
            <a:spAutoFit/>
          </a:bodyPr>
          <a:lstStyle/>
          <a:p>
            <a:pPr algn="l">
              <a:buNone/>
            </a:pPr>
            <a:r>
              <a:rPr lang="nl-NL" altLang="zh-CN" sz="2000" b="1" dirty="0">
                <a:effectLst/>
              </a:rPr>
              <a:t>mul</a:t>
            </a:r>
            <a:endParaRPr lang="nl-NL" altLang="zh-CN" sz="2000" dirty="0">
              <a:effectLst/>
            </a:endParaRPr>
          </a:p>
        </p:txBody>
      </p:sp>
      <p:sp>
        <p:nvSpPr>
          <p:cNvPr id="15" name="TextBox 14">
            <a:extLst>
              <a:ext uri="{FF2B5EF4-FFF2-40B4-BE49-F238E27FC236}">
                <a16:creationId xmlns:a16="http://schemas.microsoft.com/office/drawing/2014/main" id="{8C33CF80-6B13-D3D9-43CF-CD1D6F2599B9}"/>
              </a:ext>
            </a:extLst>
          </p:cNvPr>
          <p:cNvSpPr txBox="1"/>
          <p:nvPr/>
        </p:nvSpPr>
        <p:spPr>
          <a:xfrm>
            <a:off x="4794353" y="3604450"/>
            <a:ext cx="732151" cy="400110"/>
          </a:xfrm>
          <a:prstGeom prst="rect">
            <a:avLst/>
          </a:prstGeom>
          <a:noFill/>
        </p:spPr>
        <p:txBody>
          <a:bodyPr wrap="square">
            <a:spAutoFit/>
          </a:bodyPr>
          <a:lstStyle/>
          <a:p>
            <a:pPr algn="l">
              <a:buNone/>
            </a:pPr>
            <a:r>
              <a:rPr lang="nl-NL" altLang="zh-CN" sz="2000" b="1" dirty="0">
                <a:effectLst/>
              </a:rPr>
              <a:t>max</a:t>
            </a:r>
            <a:endParaRPr lang="nl-NL" altLang="zh-CN" sz="2000" dirty="0">
              <a:effectLst/>
            </a:endParaRPr>
          </a:p>
        </p:txBody>
      </p:sp>
      <p:sp>
        <p:nvSpPr>
          <p:cNvPr id="6" name="Slide Number Placeholder 5">
            <a:extLst>
              <a:ext uri="{FF2B5EF4-FFF2-40B4-BE49-F238E27FC236}">
                <a16:creationId xmlns:a16="http://schemas.microsoft.com/office/drawing/2014/main" id="{DC4C30B4-0282-B64F-1BA3-51A08F9D5B3D}"/>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76</a:t>
            </a:fld>
            <a:endParaRPr lang="en-US" altLang="zh-CN" spc="-5" dirty="0"/>
          </a:p>
        </p:txBody>
      </p:sp>
      <p:sp>
        <p:nvSpPr>
          <p:cNvPr id="2" name="Slide Number Placeholder 1">
            <a:extLst>
              <a:ext uri="{FF2B5EF4-FFF2-40B4-BE49-F238E27FC236}">
                <a16:creationId xmlns:a16="http://schemas.microsoft.com/office/drawing/2014/main" id="{E9A0A4B1-8940-A657-0C38-D2F7940D8C2B}"/>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76</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508552" y="106744"/>
            <a:ext cx="4411898" cy="449226"/>
          </a:xfrm>
          <a:prstGeom prst="rect">
            <a:avLst/>
          </a:prstGeom>
        </p:spPr>
        <p:txBody>
          <a:bodyPr vert="horz" wrap="square" lIns="0" tIns="79121" rIns="0" bIns="0" rtlCol="0">
            <a:spAutoFit/>
          </a:bodyPr>
          <a:lstStyle/>
          <a:p>
            <a:pPr marL="126364">
              <a:lnSpc>
                <a:spcPct val="100000"/>
              </a:lnSpc>
            </a:pPr>
            <a:r>
              <a:rPr sz="2400" spc="-5" dirty="0">
                <a:solidFill>
                  <a:schemeClr val="bg2"/>
                </a:solidFill>
              </a:rPr>
              <a:t>Gradients add</a:t>
            </a:r>
            <a:r>
              <a:rPr lang="en-US" sz="2400" spc="-5" dirty="0">
                <a:solidFill>
                  <a:schemeClr val="bg2"/>
                </a:solidFill>
              </a:rPr>
              <a:t> </a:t>
            </a:r>
            <a:r>
              <a:rPr lang="en-US" altLang="zh-CN" sz="2400" spc="-5" dirty="0">
                <a:solidFill>
                  <a:schemeClr val="bg2"/>
                </a:solidFill>
              </a:rPr>
              <a:t>up</a:t>
            </a:r>
            <a:r>
              <a:rPr sz="2400" spc="-5" dirty="0">
                <a:solidFill>
                  <a:schemeClr val="bg2"/>
                </a:solidFill>
              </a:rPr>
              <a:t> at</a:t>
            </a:r>
            <a:r>
              <a:rPr sz="2400" spc="-10" dirty="0">
                <a:solidFill>
                  <a:schemeClr val="bg2"/>
                </a:solidFill>
              </a:rPr>
              <a:t> </a:t>
            </a:r>
            <a:r>
              <a:rPr sz="2400" spc="-5" dirty="0">
                <a:solidFill>
                  <a:schemeClr val="bg2"/>
                </a:solidFill>
              </a:rPr>
              <a:t>branches</a:t>
            </a:r>
            <a:endParaRPr sz="2400" dirty="0">
              <a:solidFill>
                <a:schemeClr val="bg2"/>
              </a:solidFill>
            </a:endParaRPr>
          </a:p>
        </p:txBody>
      </p:sp>
      <p:sp>
        <p:nvSpPr>
          <p:cNvPr id="5" name="object 5"/>
          <p:cNvSpPr/>
          <p:nvPr/>
        </p:nvSpPr>
        <p:spPr>
          <a:xfrm>
            <a:off x="2909919" y="1826696"/>
            <a:ext cx="863600" cy="863600"/>
          </a:xfrm>
          <a:custGeom>
            <a:avLst/>
            <a:gdLst/>
            <a:ahLst/>
            <a:cxnLst/>
            <a:rect l="l" t="t" r="r" b="b"/>
            <a:pathLst>
              <a:path w="863600" h="863600">
                <a:moveTo>
                  <a:pt x="0" y="431549"/>
                </a:moveTo>
                <a:lnTo>
                  <a:pt x="2532" y="384527"/>
                </a:lnTo>
                <a:lnTo>
                  <a:pt x="9953" y="338972"/>
                </a:lnTo>
                <a:lnTo>
                  <a:pt x="21999" y="295146"/>
                </a:lnTo>
                <a:lnTo>
                  <a:pt x="38408" y="253314"/>
                </a:lnTo>
                <a:lnTo>
                  <a:pt x="58916" y="213738"/>
                </a:lnTo>
                <a:lnTo>
                  <a:pt x="83260" y="176682"/>
                </a:lnTo>
                <a:lnTo>
                  <a:pt x="111177" y="142408"/>
                </a:lnTo>
                <a:lnTo>
                  <a:pt x="142403" y="111181"/>
                </a:lnTo>
                <a:lnTo>
                  <a:pt x="176676" y="83264"/>
                </a:lnTo>
                <a:lnTo>
                  <a:pt x="213732" y="58919"/>
                </a:lnTo>
                <a:lnTo>
                  <a:pt x="253308" y="38410"/>
                </a:lnTo>
                <a:lnTo>
                  <a:pt x="295141" y="22000"/>
                </a:lnTo>
                <a:lnTo>
                  <a:pt x="338968" y="9953"/>
                </a:lnTo>
                <a:lnTo>
                  <a:pt x="384525" y="2532"/>
                </a:lnTo>
                <a:lnTo>
                  <a:pt x="431549" y="0"/>
                </a:lnTo>
                <a:lnTo>
                  <a:pt x="480242" y="2754"/>
                </a:lnTo>
                <a:lnTo>
                  <a:pt x="527940" y="10901"/>
                </a:lnTo>
                <a:lnTo>
                  <a:pt x="574219" y="24265"/>
                </a:lnTo>
                <a:lnTo>
                  <a:pt x="618658" y="42672"/>
                </a:lnTo>
                <a:lnTo>
                  <a:pt x="660832" y="65946"/>
                </a:lnTo>
                <a:lnTo>
                  <a:pt x="700320" y="93913"/>
                </a:lnTo>
                <a:lnTo>
                  <a:pt x="736698" y="126397"/>
                </a:lnTo>
                <a:lnTo>
                  <a:pt x="769180" y="162777"/>
                </a:lnTo>
                <a:lnTo>
                  <a:pt x="797147" y="202265"/>
                </a:lnTo>
                <a:lnTo>
                  <a:pt x="820421" y="244439"/>
                </a:lnTo>
                <a:lnTo>
                  <a:pt x="838829" y="288877"/>
                </a:lnTo>
                <a:lnTo>
                  <a:pt x="852195" y="335156"/>
                </a:lnTo>
                <a:lnTo>
                  <a:pt x="860343" y="382854"/>
                </a:lnTo>
                <a:lnTo>
                  <a:pt x="863098" y="431549"/>
                </a:lnTo>
                <a:lnTo>
                  <a:pt x="860566" y="478570"/>
                </a:lnTo>
                <a:lnTo>
                  <a:pt x="853145" y="524126"/>
                </a:lnTo>
                <a:lnTo>
                  <a:pt x="841098" y="567951"/>
                </a:lnTo>
                <a:lnTo>
                  <a:pt x="824689" y="609783"/>
                </a:lnTo>
                <a:lnTo>
                  <a:pt x="804181" y="649359"/>
                </a:lnTo>
                <a:lnTo>
                  <a:pt x="779837" y="686416"/>
                </a:lnTo>
                <a:lnTo>
                  <a:pt x="751920" y="720689"/>
                </a:lnTo>
                <a:lnTo>
                  <a:pt x="720694" y="751916"/>
                </a:lnTo>
                <a:lnTo>
                  <a:pt x="686421" y="779834"/>
                </a:lnTo>
                <a:lnTo>
                  <a:pt x="649365" y="804178"/>
                </a:lnTo>
                <a:lnTo>
                  <a:pt x="609789" y="824687"/>
                </a:lnTo>
                <a:lnTo>
                  <a:pt x="567956" y="841097"/>
                </a:lnTo>
                <a:lnTo>
                  <a:pt x="524130" y="853144"/>
                </a:lnTo>
                <a:lnTo>
                  <a:pt x="478573" y="860565"/>
                </a:lnTo>
                <a:lnTo>
                  <a:pt x="431549" y="863098"/>
                </a:lnTo>
                <a:lnTo>
                  <a:pt x="384525" y="860565"/>
                </a:lnTo>
                <a:lnTo>
                  <a:pt x="338968" y="853144"/>
                </a:lnTo>
                <a:lnTo>
                  <a:pt x="295141" y="841097"/>
                </a:lnTo>
                <a:lnTo>
                  <a:pt x="253308" y="824687"/>
                </a:lnTo>
                <a:lnTo>
                  <a:pt x="213732" y="804178"/>
                </a:lnTo>
                <a:lnTo>
                  <a:pt x="176676" y="779834"/>
                </a:lnTo>
                <a:lnTo>
                  <a:pt x="142403" y="751916"/>
                </a:lnTo>
                <a:lnTo>
                  <a:pt x="111177" y="720689"/>
                </a:lnTo>
                <a:lnTo>
                  <a:pt x="83260" y="686416"/>
                </a:lnTo>
                <a:lnTo>
                  <a:pt x="58916" y="649359"/>
                </a:lnTo>
                <a:lnTo>
                  <a:pt x="38408" y="609783"/>
                </a:lnTo>
                <a:lnTo>
                  <a:pt x="21999" y="567951"/>
                </a:lnTo>
                <a:lnTo>
                  <a:pt x="9953" y="524126"/>
                </a:lnTo>
                <a:lnTo>
                  <a:pt x="2532" y="478570"/>
                </a:lnTo>
                <a:lnTo>
                  <a:pt x="0" y="431549"/>
                </a:lnTo>
                <a:close/>
              </a:path>
            </a:pathLst>
          </a:custGeom>
          <a:ln w="28574">
            <a:solidFill>
              <a:srgbClr val="000000"/>
            </a:solidFill>
          </a:ln>
        </p:spPr>
        <p:txBody>
          <a:bodyPr wrap="square" lIns="0" tIns="0" rIns="0" bIns="0" rtlCol="0"/>
          <a:lstStyle/>
          <a:p>
            <a:endParaRPr/>
          </a:p>
        </p:txBody>
      </p:sp>
      <p:sp>
        <p:nvSpPr>
          <p:cNvPr id="6" name="object 6"/>
          <p:cNvSpPr/>
          <p:nvPr/>
        </p:nvSpPr>
        <p:spPr>
          <a:xfrm>
            <a:off x="3750642" y="1302719"/>
            <a:ext cx="1527175" cy="807085"/>
          </a:xfrm>
          <a:custGeom>
            <a:avLst/>
            <a:gdLst/>
            <a:ahLst/>
            <a:cxnLst/>
            <a:rect l="l" t="t" r="r" b="b"/>
            <a:pathLst>
              <a:path w="1527175" h="807085">
                <a:moveTo>
                  <a:pt x="0" y="806700"/>
                </a:moveTo>
                <a:lnTo>
                  <a:pt x="1526871" y="0"/>
                </a:lnTo>
              </a:path>
            </a:pathLst>
          </a:custGeom>
          <a:ln w="9524">
            <a:solidFill>
              <a:srgbClr val="38751C"/>
            </a:solidFill>
          </a:ln>
        </p:spPr>
        <p:txBody>
          <a:bodyPr wrap="square" lIns="0" tIns="0" rIns="0" bIns="0" rtlCol="0"/>
          <a:lstStyle/>
          <a:p>
            <a:endParaRPr/>
          </a:p>
        </p:txBody>
      </p:sp>
      <p:sp>
        <p:nvSpPr>
          <p:cNvPr id="7" name="object 7"/>
          <p:cNvSpPr/>
          <p:nvPr/>
        </p:nvSpPr>
        <p:spPr>
          <a:xfrm>
            <a:off x="5270164" y="1282527"/>
            <a:ext cx="45720" cy="34290"/>
          </a:xfrm>
          <a:custGeom>
            <a:avLst/>
            <a:gdLst/>
            <a:ahLst/>
            <a:cxnLst/>
            <a:rect l="l" t="t" r="r" b="b"/>
            <a:pathLst>
              <a:path w="45720" h="34290">
                <a:moveTo>
                  <a:pt x="14699" y="34102"/>
                </a:moveTo>
                <a:lnTo>
                  <a:pt x="45574" y="0"/>
                </a:lnTo>
                <a:lnTo>
                  <a:pt x="0" y="6282"/>
                </a:lnTo>
                <a:lnTo>
                  <a:pt x="14699" y="34102"/>
                </a:lnTo>
                <a:close/>
              </a:path>
            </a:pathLst>
          </a:custGeom>
          <a:ln w="9524">
            <a:solidFill>
              <a:srgbClr val="38751C"/>
            </a:solidFill>
          </a:ln>
        </p:spPr>
        <p:txBody>
          <a:bodyPr wrap="square" lIns="0" tIns="0" rIns="0" bIns="0" rtlCol="0"/>
          <a:lstStyle/>
          <a:p>
            <a:endParaRPr/>
          </a:p>
        </p:txBody>
      </p:sp>
      <p:sp>
        <p:nvSpPr>
          <p:cNvPr id="8" name="object 8"/>
          <p:cNvSpPr/>
          <p:nvPr/>
        </p:nvSpPr>
        <p:spPr>
          <a:xfrm>
            <a:off x="5328039" y="848198"/>
            <a:ext cx="863600" cy="863600"/>
          </a:xfrm>
          <a:custGeom>
            <a:avLst/>
            <a:gdLst/>
            <a:ahLst/>
            <a:cxnLst/>
            <a:rect l="l" t="t" r="r" b="b"/>
            <a:pathLst>
              <a:path w="863600" h="863600">
                <a:moveTo>
                  <a:pt x="0" y="431549"/>
                </a:moveTo>
                <a:lnTo>
                  <a:pt x="2532" y="384527"/>
                </a:lnTo>
                <a:lnTo>
                  <a:pt x="9953" y="338972"/>
                </a:lnTo>
                <a:lnTo>
                  <a:pt x="21999" y="295146"/>
                </a:lnTo>
                <a:lnTo>
                  <a:pt x="38408" y="253314"/>
                </a:lnTo>
                <a:lnTo>
                  <a:pt x="58916" y="213738"/>
                </a:lnTo>
                <a:lnTo>
                  <a:pt x="83260" y="176682"/>
                </a:lnTo>
                <a:lnTo>
                  <a:pt x="111177" y="142408"/>
                </a:lnTo>
                <a:lnTo>
                  <a:pt x="142403" y="111181"/>
                </a:lnTo>
                <a:lnTo>
                  <a:pt x="176676" y="83264"/>
                </a:lnTo>
                <a:lnTo>
                  <a:pt x="213732" y="58919"/>
                </a:lnTo>
                <a:lnTo>
                  <a:pt x="253308" y="38410"/>
                </a:lnTo>
                <a:lnTo>
                  <a:pt x="295141" y="22000"/>
                </a:lnTo>
                <a:lnTo>
                  <a:pt x="338968" y="9953"/>
                </a:lnTo>
                <a:lnTo>
                  <a:pt x="384525" y="2532"/>
                </a:lnTo>
                <a:lnTo>
                  <a:pt x="431549" y="0"/>
                </a:lnTo>
                <a:lnTo>
                  <a:pt x="480242" y="2754"/>
                </a:lnTo>
                <a:lnTo>
                  <a:pt x="527940" y="10901"/>
                </a:lnTo>
                <a:lnTo>
                  <a:pt x="574219" y="24265"/>
                </a:lnTo>
                <a:lnTo>
                  <a:pt x="618658" y="42672"/>
                </a:lnTo>
                <a:lnTo>
                  <a:pt x="660832" y="65946"/>
                </a:lnTo>
                <a:lnTo>
                  <a:pt x="700320" y="93913"/>
                </a:lnTo>
                <a:lnTo>
                  <a:pt x="736698" y="126397"/>
                </a:lnTo>
                <a:lnTo>
                  <a:pt x="769180" y="162777"/>
                </a:lnTo>
                <a:lnTo>
                  <a:pt x="797147" y="202265"/>
                </a:lnTo>
                <a:lnTo>
                  <a:pt x="820421" y="244439"/>
                </a:lnTo>
                <a:lnTo>
                  <a:pt x="838829" y="288877"/>
                </a:lnTo>
                <a:lnTo>
                  <a:pt x="852195" y="335156"/>
                </a:lnTo>
                <a:lnTo>
                  <a:pt x="860343" y="382854"/>
                </a:lnTo>
                <a:lnTo>
                  <a:pt x="863098" y="431549"/>
                </a:lnTo>
                <a:lnTo>
                  <a:pt x="860566" y="478570"/>
                </a:lnTo>
                <a:lnTo>
                  <a:pt x="853145" y="524126"/>
                </a:lnTo>
                <a:lnTo>
                  <a:pt x="841098" y="567951"/>
                </a:lnTo>
                <a:lnTo>
                  <a:pt x="824689" y="609783"/>
                </a:lnTo>
                <a:lnTo>
                  <a:pt x="804181" y="649359"/>
                </a:lnTo>
                <a:lnTo>
                  <a:pt x="779837" y="686416"/>
                </a:lnTo>
                <a:lnTo>
                  <a:pt x="751920" y="720689"/>
                </a:lnTo>
                <a:lnTo>
                  <a:pt x="720694" y="751916"/>
                </a:lnTo>
                <a:lnTo>
                  <a:pt x="686421" y="779834"/>
                </a:lnTo>
                <a:lnTo>
                  <a:pt x="649365" y="804178"/>
                </a:lnTo>
                <a:lnTo>
                  <a:pt x="609789" y="824687"/>
                </a:lnTo>
                <a:lnTo>
                  <a:pt x="567956" y="841097"/>
                </a:lnTo>
                <a:lnTo>
                  <a:pt x="524130" y="853144"/>
                </a:lnTo>
                <a:lnTo>
                  <a:pt x="478573" y="860565"/>
                </a:lnTo>
                <a:lnTo>
                  <a:pt x="431549" y="863098"/>
                </a:lnTo>
                <a:lnTo>
                  <a:pt x="384525" y="860565"/>
                </a:lnTo>
                <a:lnTo>
                  <a:pt x="338968" y="853144"/>
                </a:lnTo>
                <a:lnTo>
                  <a:pt x="295141" y="841097"/>
                </a:lnTo>
                <a:lnTo>
                  <a:pt x="253308" y="824687"/>
                </a:lnTo>
                <a:lnTo>
                  <a:pt x="213732" y="804178"/>
                </a:lnTo>
                <a:lnTo>
                  <a:pt x="176676" y="779834"/>
                </a:lnTo>
                <a:lnTo>
                  <a:pt x="142403" y="751916"/>
                </a:lnTo>
                <a:lnTo>
                  <a:pt x="111177" y="720689"/>
                </a:lnTo>
                <a:lnTo>
                  <a:pt x="83260" y="686416"/>
                </a:lnTo>
                <a:lnTo>
                  <a:pt x="58916" y="649359"/>
                </a:lnTo>
                <a:lnTo>
                  <a:pt x="38408" y="609783"/>
                </a:lnTo>
                <a:lnTo>
                  <a:pt x="21999" y="567951"/>
                </a:lnTo>
                <a:lnTo>
                  <a:pt x="9953" y="524126"/>
                </a:lnTo>
                <a:lnTo>
                  <a:pt x="2532" y="478570"/>
                </a:lnTo>
                <a:lnTo>
                  <a:pt x="0" y="431549"/>
                </a:lnTo>
                <a:close/>
              </a:path>
            </a:pathLst>
          </a:custGeom>
          <a:ln w="9524">
            <a:solidFill>
              <a:srgbClr val="666666"/>
            </a:solidFill>
          </a:ln>
        </p:spPr>
        <p:txBody>
          <a:bodyPr wrap="square" lIns="0" tIns="0" rIns="0" bIns="0" rtlCol="0"/>
          <a:lstStyle/>
          <a:p>
            <a:endParaRPr/>
          </a:p>
        </p:txBody>
      </p:sp>
      <p:sp>
        <p:nvSpPr>
          <p:cNvPr id="9" name="object 9"/>
          <p:cNvSpPr/>
          <p:nvPr/>
        </p:nvSpPr>
        <p:spPr>
          <a:xfrm>
            <a:off x="3646617" y="2563394"/>
            <a:ext cx="1652905" cy="815340"/>
          </a:xfrm>
          <a:custGeom>
            <a:avLst/>
            <a:gdLst/>
            <a:ahLst/>
            <a:cxnLst/>
            <a:rect l="l" t="t" r="r" b="b"/>
            <a:pathLst>
              <a:path w="1652904" h="815339">
                <a:moveTo>
                  <a:pt x="0" y="0"/>
                </a:moveTo>
                <a:lnTo>
                  <a:pt x="1652446" y="815323"/>
                </a:lnTo>
              </a:path>
            </a:pathLst>
          </a:custGeom>
          <a:ln w="9524">
            <a:solidFill>
              <a:srgbClr val="38751C"/>
            </a:solidFill>
          </a:ln>
        </p:spPr>
        <p:txBody>
          <a:bodyPr wrap="square" lIns="0" tIns="0" rIns="0" bIns="0" rtlCol="0"/>
          <a:lstStyle/>
          <a:p>
            <a:endParaRPr/>
          </a:p>
        </p:txBody>
      </p:sp>
      <p:sp>
        <p:nvSpPr>
          <p:cNvPr id="10" name="object 10"/>
          <p:cNvSpPr/>
          <p:nvPr/>
        </p:nvSpPr>
        <p:spPr>
          <a:xfrm>
            <a:off x="5292114" y="3364593"/>
            <a:ext cx="45720" cy="33655"/>
          </a:xfrm>
          <a:custGeom>
            <a:avLst/>
            <a:gdLst/>
            <a:ahLst/>
            <a:cxnLst/>
            <a:rect l="l" t="t" r="r" b="b"/>
            <a:pathLst>
              <a:path w="45720" h="33654">
                <a:moveTo>
                  <a:pt x="0" y="28224"/>
                </a:moveTo>
                <a:lnTo>
                  <a:pt x="45724" y="33249"/>
                </a:lnTo>
                <a:lnTo>
                  <a:pt x="13899" y="0"/>
                </a:lnTo>
                <a:lnTo>
                  <a:pt x="0" y="28224"/>
                </a:lnTo>
                <a:close/>
              </a:path>
            </a:pathLst>
          </a:custGeom>
          <a:ln w="9524">
            <a:solidFill>
              <a:srgbClr val="38751C"/>
            </a:solidFill>
          </a:ln>
        </p:spPr>
        <p:txBody>
          <a:bodyPr wrap="square" lIns="0" tIns="0" rIns="0" bIns="0" rtlCol="0"/>
          <a:lstStyle/>
          <a:p>
            <a:endParaRPr/>
          </a:p>
        </p:txBody>
      </p:sp>
      <p:sp>
        <p:nvSpPr>
          <p:cNvPr id="11" name="object 11"/>
          <p:cNvSpPr/>
          <p:nvPr/>
        </p:nvSpPr>
        <p:spPr>
          <a:xfrm>
            <a:off x="5350314" y="3016868"/>
            <a:ext cx="863600" cy="863600"/>
          </a:xfrm>
          <a:custGeom>
            <a:avLst/>
            <a:gdLst/>
            <a:ahLst/>
            <a:cxnLst/>
            <a:rect l="l" t="t" r="r" b="b"/>
            <a:pathLst>
              <a:path w="863600" h="863600">
                <a:moveTo>
                  <a:pt x="0" y="431549"/>
                </a:moveTo>
                <a:lnTo>
                  <a:pt x="2532" y="384525"/>
                </a:lnTo>
                <a:lnTo>
                  <a:pt x="9953" y="338968"/>
                </a:lnTo>
                <a:lnTo>
                  <a:pt x="21999" y="295141"/>
                </a:lnTo>
                <a:lnTo>
                  <a:pt x="38408" y="253308"/>
                </a:lnTo>
                <a:lnTo>
                  <a:pt x="58916" y="213732"/>
                </a:lnTo>
                <a:lnTo>
                  <a:pt x="83260" y="176676"/>
                </a:lnTo>
                <a:lnTo>
                  <a:pt x="111177" y="142403"/>
                </a:lnTo>
                <a:lnTo>
                  <a:pt x="142403" y="111177"/>
                </a:lnTo>
                <a:lnTo>
                  <a:pt x="176676" y="83260"/>
                </a:lnTo>
                <a:lnTo>
                  <a:pt x="213732" y="58916"/>
                </a:lnTo>
                <a:lnTo>
                  <a:pt x="253308" y="38408"/>
                </a:lnTo>
                <a:lnTo>
                  <a:pt x="295141" y="21999"/>
                </a:lnTo>
                <a:lnTo>
                  <a:pt x="338968" y="9953"/>
                </a:lnTo>
                <a:lnTo>
                  <a:pt x="384525" y="2532"/>
                </a:lnTo>
                <a:lnTo>
                  <a:pt x="431549" y="0"/>
                </a:lnTo>
                <a:lnTo>
                  <a:pt x="480242" y="2754"/>
                </a:lnTo>
                <a:lnTo>
                  <a:pt x="527940" y="10902"/>
                </a:lnTo>
                <a:lnTo>
                  <a:pt x="574219" y="24268"/>
                </a:lnTo>
                <a:lnTo>
                  <a:pt x="618658" y="42676"/>
                </a:lnTo>
                <a:lnTo>
                  <a:pt x="660832" y="65951"/>
                </a:lnTo>
                <a:lnTo>
                  <a:pt x="700320" y="93917"/>
                </a:lnTo>
                <a:lnTo>
                  <a:pt x="736698" y="126399"/>
                </a:lnTo>
                <a:lnTo>
                  <a:pt x="769180" y="162777"/>
                </a:lnTo>
                <a:lnTo>
                  <a:pt x="797147" y="202265"/>
                </a:lnTo>
                <a:lnTo>
                  <a:pt x="820421" y="244439"/>
                </a:lnTo>
                <a:lnTo>
                  <a:pt x="838829" y="288878"/>
                </a:lnTo>
                <a:lnTo>
                  <a:pt x="852195" y="335158"/>
                </a:lnTo>
                <a:lnTo>
                  <a:pt x="860343" y="382855"/>
                </a:lnTo>
                <a:lnTo>
                  <a:pt x="863098" y="431549"/>
                </a:lnTo>
                <a:lnTo>
                  <a:pt x="860566" y="478573"/>
                </a:lnTo>
                <a:lnTo>
                  <a:pt x="853145" y="524130"/>
                </a:lnTo>
                <a:lnTo>
                  <a:pt x="841098" y="567956"/>
                </a:lnTo>
                <a:lnTo>
                  <a:pt x="824689" y="609789"/>
                </a:lnTo>
                <a:lnTo>
                  <a:pt x="804181" y="649365"/>
                </a:lnTo>
                <a:lnTo>
                  <a:pt x="779837" y="686421"/>
                </a:lnTo>
                <a:lnTo>
                  <a:pt x="751920" y="720694"/>
                </a:lnTo>
                <a:lnTo>
                  <a:pt x="720694" y="751920"/>
                </a:lnTo>
                <a:lnTo>
                  <a:pt x="686421" y="779837"/>
                </a:lnTo>
                <a:lnTo>
                  <a:pt x="649365" y="804181"/>
                </a:lnTo>
                <a:lnTo>
                  <a:pt x="609789" y="824689"/>
                </a:lnTo>
                <a:lnTo>
                  <a:pt x="567956" y="841098"/>
                </a:lnTo>
                <a:lnTo>
                  <a:pt x="524130" y="853145"/>
                </a:lnTo>
                <a:lnTo>
                  <a:pt x="478573" y="860566"/>
                </a:lnTo>
                <a:lnTo>
                  <a:pt x="431549" y="863098"/>
                </a:lnTo>
                <a:lnTo>
                  <a:pt x="384525" y="860566"/>
                </a:lnTo>
                <a:lnTo>
                  <a:pt x="338968" y="853145"/>
                </a:lnTo>
                <a:lnTo>
                  <a:pt x="295141" y="841098"/>
                </a:lnTo>
                <a:lnTo>
                  <a:pt x="253308" y="824689"/>
                </a:lnTo>
                <a:lnTo>
                  <a:pt x="213732" y="804181"/>
                </a:lnTo>
                <a:lnTo>
                  <a:pt x="176676" y="779837"/>
                </a:lnTo>
                <a:lnTo>
                  <a:pt x="142403" y="751920"/>
                </a:lnTo>
                <a:lnTo>
                  <a:pt x="111177" y="720694"/>
                </a:lnTo>
                <a:lnTo>
                  <a:pt x="83260" y="686421"/>
                </a:lnTo>
                <a:lnTo>
                  <a:pt x="58916" y="649365"/>
                </a:lnTo>
                <a:lnTo>
                  <a:pt x="38408" y="609789"/>
                </a:lnTo>
                <a:lnTo>
                  <a:pt x="21999" y="567956"/>
                </a:lnTo>
                <a:lnTo>
                  <a:pt x="9953" y="524130"/>
                </a:lnTo>
                <a:lnTo>
                  <a:pt x="2532" y="478573"/>
                </a:lnTo>
                <a:lnTo>
                  <a:pt x="0" y="431549"/>
                </a:lnTo>
                <a:close/>
              </a:path>
            </a:pathLst>
          </a:custGeom>
          <a:ln w="9524">
            <a:solidFill>
              <a:srgbClr val="666666"/>
            </a:solidFill>
          </a:ln>
        </p:spPr>
        <p:txBody>
          <a:bodyPr wrap="square" lIns="0" tIns="0" rIns="0" bIns="0" rtlCol="0"/>
          <a:lstStyle/>
          <a:p>
            <a:endParaRPr/>
          </a:p>
        </p:txBody>
      </p:sp>
      <p:sp>
        <p:nvSpPr>
          <p:cNvPr id="12" name="object 12"/>
          <p:cNvSpPr/>
          <p:nvPr/>
        </p:nvSpPr>
        <p:spPr>
          <a:xfrm>
            <a:off x="3957616" y="1462047"/>
            <a:ext cx="1407795" cy="725805"/>
          </a:xfrm>
          <a:custGeom>
            <a:avLst/>
            <a:gdLst/>
            <a:ahLst/>
            <a:cxnLst/>
            <a:rect l="l" t="t" r="r" b="b"/>
            <a:pathLst>
              <a:path w="1407795" h="725805">
                <a:moveTo>
                  <a:pt x="1407497" y="0"/>
                </a:moveTo>
                <a:lnTo>
                  <a:pt x="0" y="725318"/>
                </a:lnTo>
              </a:path>
            </a:pathLst>
          </a:custGeom>
          <a:ln w="9524">
            <a:solidFill>
              <a:srgbClr val="FF0000"/>
            </a:solidFill>
          </a:ln>
        </p:spPr>
        <p:txBody>
          <a:bodyPr wrap="square" lIns="0" tIns="0" rIns="0" bIns="0" rtlCol="0"/>
          <a:lstStyle/>
          <a:p>
            <a:endParaRPr/>
          </a:p>
        </p:txBody>
      </p:sp>
      <p:sp>
        <p:nvSpPr>
          <p:cNvPr id="13" name="object 13"/>
          <p:cNvSpPr/>
          <p:nvPr/>
        </p:nvSpPr>
        <p:spPr>
          <a:xfrm>
            <a:off x="3919192" y="2173380"/>
            <a:ext cx="45720" cy="34290"/>
          </a:xfrm>
          <a:custGeom>
            <a:avLst/>
            <a:gdLst/>
            <a:ahLst/>
            <a:cxnLst/>
            <a:rect l="l" t="t" r="r" b="b"/>
            <a:pathLst>
              <a:path w="45720" h="34289">
                <a:moveTo>
                  <a:pt x="31224" y="0"/>
                </a:moveTo>
                <a:lnTo>
                  <a:pt x="0" y="33787"/>
                </a:lnTo>
                <a:lnTo>
                  <a:pt x="45624" y="27969"/>
                </a:lnTo>
                <a:lnTo>
                  <a:pt x="31224" y="0"/>
                </a:lnTo>
                <a:close/>
              </a:path>
            </a:pathLst>
          </a:custGeom>
          <a:ln w="9524">
            <a:solidFill>
              <a:srgbClr val="FF0000"/>
            </a:solidFill>
          </a:ln>
        </p:spPr>
        <p:txBody>
          <a:bodyPr wrap="square" lIns="0" tIns="0" rIns="0" bIns="0" rtlCol="0"/>
          <a:lstStyle/>
          <a:p>
            <a:endParaRPr/>
          </a:p>
        </p:txBody>
      </p:sp>
      <p:sp>
        <p:nvSpPr>
          <p:cNvPr id="14" name="object 14"/>
          <p:cNvSpPr/>
          <p:nvPr/>
        </p:nvSpPr>
        <p:spPr>
          <a:xfrm>
            <a:off x="3951866" y="2467424"/>
            <a:ext cx="1525270" cy="676275"/>
          </a:xfrm>
          <a:custGeom>
            <a:avLst/>
            <a:gdLst/>
            <a:ahLst/>
            <a:cxnLst/>
            <a:rect l="l" t="t" r="r" b="b"/>
            <a:pathLst>
              <a:path w="1525270" h="676275">
                <a:moveTo>
                  <a:pt x="1524846" y="675843"/>
                </a:moveTo>
                <a:lnTo>
                  <a:pt x="0" y="0"/>
                </a:lnTo>
              </a:path>
            </a:pathLst>
          </a:custGeom>
          <a:ln w="9524">
            <a:solidFill>
              <a:srgbClr val="FF0000"/>
            </a:solidFill>
          </a:ln>
        </p:spPr>
        <p:txBody>
          <a:bodyPr wrap="square" lIns="0" tIns="0" rIns="0" bIns="0" rtlCol="0"/>
          <a:lstStyle/>
          <a:p>
            <a:endParaRPr/>
          </a:p>
        </p:txBody>
      </p:sp>
      <p:sp>
        <p:nvSpPr>
          <p:cNvPr id="15" name="object 15"/>
          <p:cNvSpPr/>
          <p:nvPr/>
        </p:nvSpPr>
        <p:spPr>
          <a:xfrm>
            <a:off x="3912342" y="2449910"/>
            <a:ext cx="46355" cy="32384"/>
          </a:xfrm>
          <a:custGeom>
            <a:avLst/>
            <a:gdLst/>
            <a:ahLst/>
            <a:cxnLst/>
            <a:rect l="l" t="t" r="r" b="b"/>
            <a:pathLst>
              <a:path w="46354" h="32385">
                <a:moveTo>
                  <a:pt x="45899" y="3132"/>
                </a:moveTo>
                <a:lnTo>
                  <a:pt x="0" y="0"/>
                </a:lnTo>
                <a:lnTo>
                  <a:pt x="33149" y="31899"/>
                </a:lnTo>
                <a:lnTo>
                  <a:pt x="45899" y="3132"/>
                </a:lnTo>
                <a:close/>
              </a:path>
            </a:pathLst>
          </a:custGeom>
          <a:ln w="9524">
            <a:solidFill>
              <a:srgbClr val="FF0000"/>
            </a:solidFill>
          </a:ln>
        </p:spPr>
        <p:txBody>
          <a:bodyPr wrap="square" lIns="0" tIns="0" rIns="0" bIns="0" rtlCol="0"/>
          <a:lstStyle/>
          <a:p>
            <a:endParaRPr/>
          </a:p>
        </p:txBody>
      </p:sp>
      <p:sp>
        <p:nvSpPr>
          <p:cNvPr id="16" name="object 16"/>
          <p:cNvSpPr/>
          <p:nvPr/>
        </p:nvSpPr>
        <p:spPr>
          <a:xfrm>
            <a:off x="6168712" y="619546"/>
            <a:ext cx="880744" cy="493395"/>
          </a:xfrm>
          <a:custGeom>
            <a:avLst/>
            <a:gdLst/>
            <a:ahLst/>
            <a:cxnLst/>
            <a:rect l="l" t="t" r="r" b="b"/>
            <a:pathLst>
              <a:path w="880745" h="493394">
                <a:moveTo>
                  <a:pt x="0" y="492876"/>
                </a:moveTo>
                <a:lnTo>
                  <a:pt x="880123" y="0"/>
                </a:lnTo>
              </a:path>
            </a:pathLst>
          </a:custGeom>
          <a:ln w="9524">
            <a:solidFill>
              <a:srgbClr val="666666"/>
            </a:solidFill>
          </a:ln>
        </p:spPr>
        <p:txBody>
          <a:bodyPr wrap="square" lIns="0" tIns="0" rIns="0" bIns="0" rtlCol="0"/>
          <a:lstStyle/>
          <a:p>
            <a:endParaRPr/>
          </a:p>
        </p:txBody>
      </p:sp>
      <p:sp>
        <p:nvSpPr>
          <p:cNvPr id="17" name="object 17"/>
          <p:cNvSpPr/>
          <p:nvPr/>
        </p:nvSpPr>
        <p:spPr>
          <a:xfrm>
            <a:off x="7041160" y="598426"/>
            <a:ext cx="45720" cy="34925"/>
          </a:xfrm>
          <a:custGeom>
            <a:avLst/>
            <a:gdLst/>
            <a:ahLst/>
            <a:cxnLst/>
            <a:rect l="l" t="t" r="r" b="b"/>
            <a:pathLst>
              <a:path w="45720" h="34925">
                <a:moveTo>
                  <a:pt x="15374" y="34847"/>
                </a:moveTo>
                <a:lnTo>
                  <a:pt x="45399" y="0"/>
                </a:lnTo>
                <a:lnTo>
                  <a:pt x="0" y="7394"/>
                </a:lnTo>
                <a:lnTo>
                  <a:pt x="15374" y="34847"/>
                </a:lnTo>
                <a:close/>
              </a:path>
            </a:pathLst>
          </a:custGeom>
          <a:ln w="9524">
            <a:solidFill>
              <a:srgbClr val="666666"/>
            </a:solidFill>
          </a:ln>
        </p:spPr>
        <p:txBody>
          <a:bodyPr wrap="square" lIns="0" tIns="0" rIns="0" bIns="0" rtlCol="0"/>
          <a:lstStyle/>
          <a:p>
            <a:endParaRPr/>
          </a:p>
        </p:txBody>
      </p:sp>
      <p:sp>
        <p:nvSpPr>
          <p:cNvPr id="18" name="object 18"/>
          <p:cNvSpPr/>
          <p:nvPr/>
        </p:nvSpPr>
        <p:spPr>
          <a:xfrm>
            <a:off x="6161287" y="1447247"/>
            <a:ext cx="1010919" cy="389255"/>
          </a:xfrm>
          <a:custGeom>
            <a:avLst/>
            <a:gdLst/>
            <a:ahLst/>
            <a:cxnLst/>
            <a:rect l="l" t="t" r="r" b="b"/>
            <a:pathLst>
              <a:path w="1010920" h="389255">
                <a:moveTo>
                  <a:pt x="0" y="0"/>
                </a:moveTo>
                <a:lnTo>
                  <a:pt x="1010447" y="388681"/>
                </a:lnTo>
              </a:path>
            </a:pathLst>
          </a:custGeom>
          <a:ln w="9524">
            <a:solidFill>
              <a:srgbClr val="666666"/>
            </a:solidFill>
          </a:ln>
        </p:spPr>
        <p:txBody>
          <a:bodyPr wrap="square" lIns="0" tIns="0" rIns="0" bIns="0" rtlCol="0"/>
          <a:lstStyle/>
          <a:p>
            <a:endParaRPr/>
          </a:p>
        </p:txBody>
      </p:sp>
      <p:sp>
        <p:nvSpPr>
          <p:cNvPr id="19" name="object 19"/>
          <p:cNvSpPr/>
          <p:nvPr/>
        </p:nvSpPr>
        <p:spPr>
          <a:xfrm>
            <a:off x="7166085" y="1821243"/>
            <a:ext cx="46355" cy="30480"/>
          </a:xfrm>
          <a:custGeom>
            <a:avLst/>
            <a:gdLst/>
            <a:ahLst/>
            <a:cxnLst/>
            <a:rect l="l" t="t" r="r" b="b"/>
            <a:pathLst>
              <a:path w="46354" h="30480">
                <a:moveTo>
                  <a:pt x="0" y="29369"/>
                </a:moveTo>
                <a:lnTo>
                  <a:pt x="45999" y="30202"/>
                </a:lnTo>
                <a:lnTo>
                  <a:pt x="11299" y="0"/>
                </a:lnTo>
                <a:lnTo>
                  <a:pt x="0" y="29369"/>
                </a:lnTo>
                <a:close/>
              </a:path>
            </a:pathLst>
          </a:custGeom>
          <a:ln w="9524">
            <a:solidFill>
              <a:srgbClr val="666666"/>
            </a:solidFill>
          </a:ln>
        </p:spPr>
        <p:txBody>
          <a:bodyPr wrap="square" lIns="0" tIns="0" rIns="0" bIns="0" rtlCol="0"/>
          <a:lstStyle/>
          <a:p>
            <a:endParaRPr/>
          </a:p>
        </p:txBody>
      </p:sp>
      <p:sp>
        <p:nvSpPr>
          <p:cNvPr id="20" name="object 20"/>
          <p:cNvSpPr/>
          <p:nvPr/>
        </p:nvSpPr>
        <p:spPr>
          <a:xfrm>
            <a:off x="6183587" y="2621194"/>
            <a:ext cx="1133475" cy="641985"/>
          </a:xfrm>
          <a:custGeom>
            <a:avLst/>
            <a:gdLst/>
            <a:ahLst/>
            <a:cxnLst/>
            <a:rect l="l" t="t" r="r" b="b"/>
            <a:pathLst>
              <a:path w="1133475" h="641985">
                <a:moveTo>
                  <a:pt x="0" y="641448"/>
                </a:moveTo>
                <a:lnTo>
                  <a:pt x="1133172" y="0"/>
                </a:lnTo>
              </a:path>
            </a:pathLst>
          </a:custGeom>
          <a:ln w="9524">
            <a:solidFill>
              <a:srgbClr val="666666"/>
            </a:solidFill>
          </a:ln>
        </p:spPr>
        <p:txBody>
          <a:bodyPr wrap="square" lIns="0" tIns="0" rIns="0" bIns="0" rtlCol="0"/>
          <a:lstStyle/>
          <a:p>
            <a:endParaRPr/>
          </a:p>
        </p:txBody>
      </p:sp>
      <p:sp>
        <p:nvSpPr>
          <p:cNvPr id="21" name="object 21"/>
          <p:cNvSpPr/>
          <p:nvPr/>
        </p:nvSpPr>
        <p:spPr>
          <a:xfrm>
            <a:off x="7309010" y="2599894"/>
            <a:ext cx="45720" cy="35560"/>
          </a:xfrm>
          <a:custGeom>
            <a:avLst/>
            <a:gdLst/>
            <a:ahLst/>
            <a:cxnLst/>
            <a:rect l="l" t="t" r="r" b="b"/>
            <a:pathLst>
              <a:path w="45720" h="35560">
                <a:moveTo>
                  <a:pt x="15499" y="34999"/>
                </a:moveTo>
                <a:lnTo>
                  <a:pt x="45349" y="0"/>
                </a:lnTo>
                <a:lnTo>
                  <a:pt x="0" y="7599"/>
                </a:lnTo>
                <a:lnTo>
                  <a:pt x="15499" y="34999"/>
                </a:lnTo>
                <a:close/>
              </a:path>
            </a:pathLst>
          </a:custGeom>
          <a:ln w="9524">
            <a:solidFill>
              <a:srgbClr val="666666"/>
            </a:solidFill>
          </a:ln>
        </p:spPr>
        <p:txBody>
          <a:bodyPr wrap="square" lIns="0" tIns="0" rIns="0" bIns="0" rtlCol="0"/>
          <a:lstStyle/>
          <a:p>
            <a:endParaRPr/>
          </a:p>
        </p:txBody>
      </p:sp>
      <p:sp>
        <p:nvSpPr>
          <p:cNvPr id="22" name="object 22"/>
          <p:cNvSpPr/>
          <p:nvPr/>
        </p:nvSpPr>
        <p:spPr>
          <a:xfrm>
            <a:off x="6087012" y="3753567"/>
            <a:ext cx="940435" cy="544830"/>
          </a:xfrm>
          <a:custGeom>
            <a:avLst/>
            <a:gdLst/>
            <a:ahLst/>
            <a:cxnLst/>
            <a:rect l="l" t="t" r="r" b="b"/>
            <a:pathLst>
              <a:path w="940434" h="544829">
                <a:moveTo>
                  <a:pt x="0" y="0"/>
                </a:moveTo>
                <a:lnTo>
                  <a:pt x="939948" y="544348"/>
                </a:lnTo>
              </a:path>
            </a:pathLst>
          </a:custGeom>
          <a:ln w="9524">
            <a:solidFill>
              <a:srgbClr val="666666"/>
            </a:solidFill>
          </a:ln>
        </p:spPr>
        <p:txBody>
          <a:bodyPr wrap="square" lIns="0" tIns="0" rIns="0" bIns="0" rtlCol="0"/>
          <a:lstStyle/>
          <a:p>
            <a:endParaRPr/>
          </a:p>
        </p:txBody>
      </p:sp>
      <p:sp>
        <p:nvSpPr>
          <p:cNvPr id="23" name="object 23"/>
          <p:cNvSpPr/>
          <p:nvPr/>
        </p:nvSpPr>
        <p:spPr>
          <a:xfrm>
            <a:off x="7019060" y="4284316"/>
            <a:ext cx="45720" cy="35560"/>
          </a:xfrm>
          <a:custGeom>
            <a:avLst/>
            <a:gdLst/>
            <a:ahLst/>
            <a:cxnLst/>
            <a:rect l="l" t="t" r="r" b="b"/>
            <a:pathLst>
              <a:path w="45720" h="35560">
                <a:moveTo>
                  <a:pt x="0" y="27224"/>
                </a:moveTo>
                <a:lnTo>
                  <a:pt x="45299" y="35274"/>
                </a:lnTo>
                <a:lnTo>
                  <a:pt x="15774" y="0"/>
                </a:lnTo>
                <a:lnTo>
                  <a:pt x="0" y="27224"/>
                </a:lnTo>
                <a:close/>
              </a:path>
            </a:pathLst>
          </a:custGeom>
          <a:ln w="9524">
            <a:solidFill>
              <a:srgbClr val="666666"/>
            </a:solidFill>
          </a:ln>
        </p:spPr>
        <p:txBody>
          <a:bodyPr wrap="square" lIns="0" tIns="0" rIns="0" bIns="0" rtlCol="0"/>
          <a:lstStyle/>
          <a:p>
            <a:endParaRPr/>
          </a:p>
        </p:txBody>
      </p:sp>
      <p:sp>
        <p:nvSpPr>
          <p:cNvPr id="24" name="object 24"/>
          <p:cNvSpPr/>
          <p:nvPr/>
        </p:nvSpPr>
        <p:spPr>
          <a:xfrm>
            <a:off x="1771421" y="2258245"/>
            <a:ext cx="1081405" cy="0"/>
          </a:xfrm>
          <a:custGeom>
            <a:avLst/>
            <a:gdLst/>
            <a:ahLst/>
            <a:cxnLst/>
            <a:rect l="l" t="t" r="r" b="b"/>
            <a:pathLst>
              <a:path w="1081405">
                <a:moveTo>
                  <a:pt x="0" y="0"/>
                </a:moveTo>
                <a:lnTo>
                  <a:pt x="1081347" y="0"/>
                </a:lnTo>
              </a:path>
            </a:pathLst>
          </a:custGeom>
          <a:ln w="9524">
            <a:solidFill>
              <a:srgbClr val="666666"/>
            </a:solidFill>
          </a:ln>
        </p:spPr>
        <p:txBody>
          <a:bodyPr wrap="square" lIns="0" tIns="0" rIns="0" bIns="0" rtlCol="0"/>
          <a:lstStyle/>
          <a:p>
            <a:endParaRPr/>
          </a:p>
        </p:txBody>
      </p:sp>
      <p:sp>
        <p:nvSpPr>
          <p:cNvPr id="25" name="object 25"/>
          <p:cNvSpPr/>
          <p:nvPr/>
        </p:nvSpPr>
        <p:spPr>
          <a:xfrm>
            <a:off x="2852769" y="2242512"/>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26" name="object 26"/>
          <p:cNvSpPr txBox="1"/>
          <p:nvPr/>
        </p:nvSpPr>
        <p:spPr>
          <a:xfrm>
            <a:off x="4034045" y="2119831"/>
            <a:ext cx="203200" cy="375920"/>
          </a:xfrm>
          <a:prstGeom prst="rect">
            <a:avLst/>
          </a:prstGeom>
        </p:spPr>
        <p:txBody>
          <a:bodyPr vert="horz" wrap="square" lIns="0" tIns="0" rIns="0" bIns="0" rtlCol="0">
            <a:spAutoFit/>
          </a:bodyPr>
          <a:lstStyle/>
          <a:p>
            <a:pPr marL="12700">
              <a:lnSpc>
                <a:spcPct val="100000"/>
              </a:lnSpc>
            </a:pPr>
            <a:r>
              <a:rPr sz="2400" spc="-5" dirty="0">
                <a:solidFill>
                  <a:srgbClr val="FF0000"/>
                </a:solidFill>
                <a:latin typeface="Arial"/>
                <a:cs typeface="Arial"/>
              </a:rPr>
              <a:t>+</a:t>
            </a:r>
            <a:endParaRPr sz="2400">
              <a:latin typeface="Arial"/>
              <a:cs typeface="Arial"/>
            </a:endParaRPr>
          </a:p>
        </p:txBody>
      </p:sp>
      <p:sp>
        <p:nvSpPr>
          <p:cNvPr id="28" name="Slide Number Placeholder 27">
            <a:extLst>
              <a:ext uri="{FF2B5EF4-FFF2-40B4-BE49-F238E27FC236}">
                <a16:creationId xmlns:a16="http://schemas.microsoft.com/office/drawing/2014/main" id="{16959FA5-FF2D-0D5E-7B11-496DEDD20806}"/>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77</a:t>
            </a:fld>
            <a:endParaRPr lang="en-US" altLang="zh-CN" spc="-5" dirty="0"/>
          </a:p>
        </p:txBody>
      </p:sp>
      <mc:AlternateContent xmlns:mc="http://schemas.openxmlformats.org/markup-compatibility/2006" xmlns:a14="http://schemas.microsoft.com/office/drawing/2010/main">
        <mc:Choice Requires="a14">
          <p:sp>
            <p:nvSpPr>
              <p:cNvPr id="27" name="object 23">
                <a:extLst>
                  <a:ext uri="{FF2B5EF4-FFF2-40B4-BE49-F238E27FC236}">
                    <a16:creationId xmlns:a16="http://schemas.microsoft.com/office/drawing/2014/main" id="{39E525B7-8AA7-4777-BB18-21B07834DEE6}"/>
                  </a:ext>
                </a:extLst>
              </p:cNvPr>
              <p:cNvSpPr txBox="1"/>
              <p:nvPr/>
            </p:nvSpPr>
            <p:spPr>
              <a:xfrm>
                <a:off x="149798" y="3388036"/>
                <a:ext cx="5059263" cy="1545423"/>
              </a:xfrm>
              <a:prstGeom prst="rect">
                <a:avLst/>
              </a:prstGeom>
            </p:spPr>
            <p:txBody>
              <a:bodyPr vert="horz" wrap="square" lIns="0" tIns="0" rIns="0" bIns="0" rtlCol="0">
                <a:spAutoFit/>
              </a:bodyPr>
              <a:lstStyle/>
              <a:p>
                <a:r>
                  <a:rPr lang="nl-NL" altLang="zh-CN" dirty="0"/>
                  <a:t>If a variable </a:t>
                </a:r>
                <a14:m>
                  <m:oMath xmlns:m="http://schemas.openxmlformats.org/officeDocument/2006/math">
                    <m:r>
                      <a:rPr lang="zh-CN" altLang="nl-NL" i="1">
                        <a:latin typeface="Cambria Math" panose="02040503050406030204" pitchFamily="18" charset="0"/>
                      </a:rPr>
                      <m:t>𝑥</m:t>
                    </m:r>
                  </m:oMath>
                </a14:m>
                <a:r>
                  <a:rPr lang="nl-NL" altLang="zh-CN" dirty="0"/>
                  <a:t> influences the loss </a:t>
                </a:r>
                <a14:m>
                  <m:oMath xmlns:m="http://schemas.openxmlformats.org/officeDocument/2006/math">
                    <m:r>
                      <a:rPr lang="zh-CN" altLang="nl-NL" i="1">
                        <a:latin typeface="Cambria Math" panose="02040503050406030204" pitchFamily="18" charset="0"/>
                      </a:rPr>
                      <m:t>𝐿</m:t>
                    </m:r>
                  </m:oMath>
                </a14:m>
                <a:r>
                  <a:rPr lang="nl-NL" altLang="zh-CN" dirty="0"/>
                  <a:t> through </a:t>
                </a:r>
                <a:r>
                  <a:rPr lang="nl-NL" altLang="zh-CN" b="1" dirty="0"/>
                  <a:t>two separate paths</a:t>
                </a:r>
                <a:r>
                  <a:rPr lang="nl-NL" altLang="zh-CN" dirty="0"/>
                  <a:t>, say through </a:t>
                </a:r>
                <a14:m>
                  <m:oMath xmlns:m="http://schemas.openxmlformats.org/officeDocument/2006/math">
                    <m:r>
                      <a:rPr lang="zh-CN" altLang="nl-NL" i="1">
                        <a:latin typeface="Cambria Math" panose="02040503050406030204" pitchFamily="18" charset="0"/>
                      </a:rPr>
                      <m:t>𝑎</m:t>
                    </m:r>
                  </m:oMath>
                </a14:m>
                <a:r>
                  <a:rPr lang="nl-NL" altLang="zh-CN" dirty="0"/>
                  <a:t> and through </a:t>
                </a:r>
                <a14:m>
                  <m:oMath xmlns:m="http://schemas.openxmlformats.org/officeDocument/2006/math">
                    <m:r>
                      <a:rPr lang="zh-CN" altLang="nl-NL" i="1">
                        <a:latin typeface="Cambria Math" panose="02040503050406030204" pitchFamily="18" charset="0"/>
                      </a:rPr>
                      <m:t>𝑏</m:t>
                    </m:r>
                  </m:oMath>
                </a14:m>
                <a:r>
                  <a:rPr lang="nl-NL" altLang="zh-CN" dirty="0"/>
                  <a:t>, then each path contributes a term to the gradient, and you sum the contributions from </a:t>
                </a:r>
                <a:r>
                  <a:rPr lang="en-US" altLang="zh-CN" dirty="0"/>
                  <a:t>each</a:t>
                </a:r>
                <a:r>
                  <a:rPr lang="nl-NL" altLang="zh-CN" dirty="0"/>
                  <a:t> path:</a:t>
                </a:r>
              </a:p>
              <a:p>
                <a:pPr/>
                <a14:m>
                  <m:oMathPara xmlns:m="http://schemas.openxmlformats.org/officeDocument/2006/math">
                    <m:oMathParaPr>
                      <m:jc m:val="centerGroup"/>
                    </m:oMathParaPr>
                    <m:oMath xmlns:m="http://schemas.openxmlformats.org/officeDocument/2006/math">
                      <m:f>
                        <m:fPr>
                          <m:ctrlPr>
                            <a:rPr lang="ar-AE" altLang="zh-CN" sz="1600" i="1">
                              <a:latin typeface="Cambria Math" panose="02040503050406030204" pitchFamily="18" charset="0"/>
                            </a:rPr>
                          </m:ctrlPr>
                        </m:fPr>
                        <m:num>
                          <m:r>
                            <a:rPr lang="ar-AE" altLang="zh-CN" sz="1600">
                              <a:latin typeface="Cambria Math" panose="02040503050406030204" pitchFamily="18" charset="0"/>
                            </a:rPr>
                            <m:t>𝜕</m:t>
                          </m:r>
                          <m:r>
                            <a:rPr lang="zh-CN" altLang="ar-AE" sz="1600" i="1">
                              <a:latin typeface="Cambria Math" panose="02040503050406030204" pitchFamily="18" charset="0"/>
                            </a:rPr>
                            <m:t>𝐿</m:t>
                          </m:r>
                        </m:num>
                        <m:den>
                          <m:r>
                            <a:rPr lang="ar-AE" altLang="zh-CN" sz="1600">
                              <a:latin typeface="Cambria Math" panose="02040503050406030204" pitchFamily="18" charset="0"/>
                            </a:rPr>
                            <m:t>𝜕</m:t>
                          </m:r>
                          <m:r>
                            <a:rPr lang="zh-CN" altLang="ar-AE" sz="1600" i="1">
                              <a:latin typeface="Cambria Math" panose="02040503050406030204" pitchFamily="18" charset="0"/>
                            </a:rPr>
                            <m:t>𝑥</m:t>
                          </m:r>
                        </m:den>
                      </m:f>
                      <m:r>
                        <a:rPr lang="ar-AE" altLang="zh-CN" sz="1600">
                          <a:latin typeface="Cambria Math" panose="02040503050406030204" pitchFamily="18" charset="0"/>
                        </a:rPr>
                        <m:t>=</m:t>
                      </m:r>
                      <m:f>
                        <m:fPr>
                          <m:ctrlPr>
                            <a:rPr lang="ar-AE" altLang="zh-CN" sz="1600" i="1">
                              <a:latin typeface="Cambria Math" panose="02040503050406030204" pitchFamily="18" charset="0"/>
                            </a:rPr>
                          </m:ctrlPr>
                        </m:fPr>
                        <m:num>
                          <m:r>
                            <a:rPr lang="ar-AE" altLang="zh-CN" sz="1600">
                              <a:latin typeface="Cambria Math" panose="02040503050406030204" pitchFamily="18" charset="0"/>
                            </a:rPr>
                            <m:t>𝜕</m:t>
                          </m:r>
                          <m:r>
                            <a:rPr lang="zh-CN" altLang="ar-AE" sz="1600" i="1">
                              <a:latin typeface="Cambria Math" panose="02040503050406030204" pitchFamily="18" charset="0"/>
                            </a:rPr>
                            <m:t>𝐿</m:t>
                          </m:r>
                        </m:num>
                        <m:den>
                          <m:r>
                            <a:rPr lang="ar-AE" altLang="zh-CN" sz="1600">
                              <a:latin typeface="Cambria Math" panose="02040503050406030204" pitchFamily="18" charset="0"/>
                            </a:rPr>
                            <m:t>𝜕</m:t>
                          </m:r>
                          <m:r>
                            <a:rPr lang="zh-CN" altLang="ar-AE" sz="1600" i="1">
                              <a:latin typeface="Cambria Math" panose="02040503050406030204" pitchFamily="18" charset="0"/>
                            </a:rPr>
                            <m:t>𝑎</m:t>
                          </m:r>
                        </m:den>
                      </m:f>
                      <m:f>
                        <m:fPr>
                          <m:ctrlPr>
                            <a:rPr lang="ar-AE" altLang="zh-CN" sz="1600" i="1">
                              <a:latin typeface="Cambria Math" panose="02040503050406030204" pitchFamily="18" charset="0"/>
                            </a:rPr>
                          </m:ctrlPr>
                        </m:fPr>
                        <m:num>
                          <m:r>
                            <a:rPr lang="ar-AE" altLang="zh-CN" sz="1600">
                              <a:latin typeface="Cambria Math" panose="02040503050406030204" pitchFamily="18" charset="0"/>
                            </a:rPr>
                            <m:t>𝜕</m:t>
                          </m:r>
                          <m:r>
                            <a:rPr lang="zh-CN" altLang="ar-AE" sz="1600" i="1">
                              <a:latin typeface="Cambria Math" panose="02040503050406030204" pitchFamily="18" charset="0"/>
                            </a:rPr>
                            <m:t>𝑎</m:t>
                          </m:r>
                        </m:num>
                        <m:den>
                          <m:r>
                            <a:rPr lang="ar-AE" altLang="zh-CN" sz="1600">
                              <a:latin typeface="Cambria Math" panose="02040503050406030204" pitchFamily="18" charset="0"/>
                            </a:rPr>
                            <m:t>𝜕</m:t>
                          </m:r>
                          <m:r>
                            <a:rPr lang="zh-CN" altLang="ar-AE" sz="1600" i="1">
                              <a:latin typeface="Cambria Math" panose="02040503050406030204" pitchFamily="18" charset="0"/>
                            </a:rPr>
                            <m:t>𝑥</m:t>
                          </m:r>
                        </m:den>
                      </m:f>
                      <m:r>
                        <a:rPr lang="ar-AE" altLang="zh-CN" sz="1600">
                          <a:latin typeface="Cambria Math" panose="02040503050406030204" pitchFamily="18" charset="0"/>
                        </a:rPr>
                        <m:t>+</m:t>
                      </m:r>
                      <m:f>
                        <m:fPr>
                          <m:ctrlPr>
                            <a:rPr lang="ar-AE" altLang="zh-CN" sz="1600" i="1">
                              <a:latin typeface="Cambria Math" panose="02040503050406030204" pitchFamily="18" charset="0"/>
                            </a:rPr>
                          </m:ctrlPr>
                        </m:fPr>
                        <m:num>
                          <m:r>
                            <a:rPr lang="ar-AE" altLang="zh-CN" sz="1600">
                              <a:latin typeface="Cambria Math" panose="02040503050406030204" pitchFamily="18" charset="0"/>
                            </a:rPr>
                            <m:t>𝜕</m:t>
                          </m:r>
                          <m:r>
                            <a:rPr lang="zh-CN" altLang="ar-AE" sz="1600" i="1">
                              <a:latin typeface="Cambria Math" panose="02040503050406030204" pitchFamily="18" charset="0"/>
                            </a:rPr>
                            <m:t>𝐿</m:t>
                          </m:r>
                        </m:num>
                        <m:den>
                          <m:r>
                            <a:rPr lang="ar-AE" altLang="zh-CN" sz="1600">
                              <a:latin typeface="Cambria Math" panose="02040503050406030204" pitchFamily="18" charset="0"/>
                            </a:rPr>
                            <m:t>𝜕</m:t>
                          </m:r>
                          <m:r>
                            <a:rPr lang="zh-CN" altLang="ar-AE" sz="1600" i="1">
                              <a:latin typeface="Cambria Math" panose="02040503050406030204" pitchFamily="18" charset="0"/>
                            </a:rPr>
                            <m:t>𝑏</m:t>
                          </m:r>
                        </m:den>
                      </m:f>
                      <m:f>
                        <m:fPr>
                          <m:ctrlPr>
                            <a:rPr lang="ar-AE" altLang="zh-CN" sz="1600" i="1">
                              <a:latin typeface="Cambria Math" panose="02040503050406030204" pitchFamily="18" charset="0"/>
                            </a:rPr>
                          </m:ctrlPr>
                        </m:fPr>
                        <m:num>
                          <m:r>
                            <a:rPr lang="ar-AE" altLang="zh-CN" sz="1600">
                              <a:latin typeface="Cambria Math" panose="02040503050406030204" pitchFamily="18" charset="0"/>
                            </a:rPr>
                            <m:t>𝜕</m:t>
                          </m:r>
                          <m:r>
                            <a:rPr lang="zh-CN" altLang="ar-AE" sz="1600" i="1">
                              <a:latin typeface="Cambria Math" panose="02040503050406030204" pitchFamily="18" charset="0"/>
                            </a:rPr>
                            <m:t>𝑏</m:t>
                          </m:r>
                        </m:num>
                        <m:den>
                          <m:r>
                            <a:rPr lang="ar-AE" altLang="zh-CN" sz="1600">
                              <a:latin typeface="Cambria Math" panose="02040503050406030204" pitchFamily="18" charset="0"/>
                            </a:rPr>
                            <m:t>𝜕</m:t>
                          </m:r>
                          <m:r>
                            <a:rPr lang="zh-CN" altLang="ar-AE" sz="1600" i="1">
                              <a:latin typeface="Cambria Math" panose="02040503050406030204" pitchFamily="18" charset="0"/>
                            </a:rPr>
                            <m:t>𝑥</m:t>
                          </m:r>
                        </m:den>
                      </m:f>
                    </m:oMath>
                  </m:oMathPara>
                </a14:m>
                <a:endParaRPr lang="ar-AE" altLang="zh-CN" dirty="0"/>
              </a:p>
              <a:p>
                <a:r>
                  <a:rPr lang="nl-NL" altLang="zh-CN" dirty="0"/>
                  <a:t>(The total effect of nudging </a:t>
                </a:r>
                <a14:m>
                  <m:oMath xmlns:m="http://schemas.openxmlformats.org/officeDocument/2006/math">
                    <m:r>
                      <a:rPr lang="zh-CN" altLang="nl-NL" i="1">
                        <a:latin typeface="Cambria Math" panose="02040503050406030204" pitchFamily="18" charset="0"/>
                      </a:rPr>
                      <m:t>𝑥</m:t>
                    </m:r>
                  </m:oMath>
                </a14:m>
                <a:r>
                  <a:rPr lang="nl-NL" altLang="zh-CN" dirty="0"/>
                  <a:t> is the </a:t>
                </a:r>
                <a:r>
                  <a:rPr lang="nl-NL" altLang="zh-CN" b="1" dirty="0"/>
                  <a:t>sum</a:t>
                </a:r>
                <a:r>
                  <a:rPr lang="nl-NL" altLang="zh-CN" dirty="0"/>
                  <a:t> of its effects along all paths.)</a:t>
                </a:r>
                <a:endParaRPr lang="ar-AE" sz="1800" dirty="0">
                  <a:latin typeface="Arial"/>
                  <a:cs typeface="Arial"/>
                </a:endParaRPr>
              </a:p>
            </p:txBody>
          </p:sp>
        </mc:Choice>
        <mc:Fallback xmlns="">
          <p:sp>
            <p:nvSpPr>
              <p:cNvPr id="27" name="object 23">
                <a:extLst>
                  <a:ext uri="{FF2B5EF4-FFF2-40B4-BE49-F238E27FC236}">
                    <a16:creationId xmlns:a16="http://schemas.microsoft.com/office/drawing/2014/main" id="{39E525B7-8AA7-4777-BB18-21B07834DEE6}"/>
                  </a:ext>
                </a:extLst>
              </p:cNvPr>
              <p:cNvSpPr txBox="1">
                <a:spLocks noRot="1" noChangeAspect="1" noMove="1" noResize="1" noEditPoints="1" noAdjustHandles="1" noChangeArrowheads="1" noChangeShapeType="1" noTextEdit="1"/>
              </p:cNvSpPr>
              <p:nvPr/>
            </p:nvSpPr>
            <p:spPr>
              <a:xfrm>
                <a:off x="149798" y="3388036"/>
                <a:ext cx="5059263" cy="1545423"/>
              </a:xfrm>
              <a:prstGeom prst="rect">
                <a:avLst/>
              </a:prstGeom>
              <a:blipFill>
                <a:blip r:embed="rId2"/>
                <a:stretch>
                  <a:fillRect l="-2169" t="-3557" r="-3976" b="-63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2F5DA13-DC7D-865F-2DFB-1BB2FB5E97E3}"/>
                  </a:ext>
                </a:extLst>
              </p:cNvPr>
              <p:cNvSpPr txBox="1"/>
              <p:nvPr/>
            </p:nvSpPr>
            <p:spPr>
              <a:xfrm>
                <a:off x="2618719" y="2170372"/>
                <a:ext cx="32187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nl-NL" sz="2000" i="1" smtClean="0">
                          <a:latin typeface="Cambria Math" panose="02040503050406030204" pitchFamily="18" charset="0"/>
                        </a:rPr>
                        <m:t>𝑥</m:t>
                      </m:r>
                    </m:oMath>
                  </m:oMathPara>
                </a14:m>
                <a:endParaRPr lang="zh-CN" altLang="en-US" sz="2000" dirty="0"/>
              </a:p>
            </p:txBody>
          </p:sp>
        </mc:Choice>
        <mc:Fallback xmlns="">
          <p:sp>
            <p:nvSpPr>
              <p:cNvPr id="31" name="TextBox 30">
                <a:extLst>
                  <a:ext uri="{FF2B5EF4-FFF2-40B4-BE49-F238E27FC236}">
                    <a16:creationId xmlns:a16="http://schemas.microsoft.com/office/drawing/2014/main" id="{02F5DA13-DC7D-865F-2DFB-1BB2FB5E97E3}"/>
                  </a:ext>
                </a:extLst>
              </p:cNvPr>
              <p:cNvSpPr txBox="1">
                <a:spLocks noRot="1" noChangeAspect="1" noMove="1" noResize="1" noEditPoints="1" noAdjustHandles="1" noChangeArrowheads="1" noChangeShapeType="1" noTextEdit="1"/>
              </p:cNvSpPr>
              <p:nvPr/>
            </p:nvSpPr>
            <p:spPr>
              <a:xfrm>
                <a:off x="2618719" y="2170372"/>
                <a:ext cx="321874" cy="40011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CB30CB7-03FB-654A-CBC3-6953AB75FFF6}"/>
                  </a:ext>
                </a:extLst>
              </p:cNvPr>
              <p:cNvSpPr txBox="1"/>
              <p:nvPr/>
            </p:nvSpPr>
            <p:spPr>
              <a:xfrm>
                <a:off x="3727669" y="1657780"/>
                <a:ext cx="32187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𝑎</m:t>
                      </m:r>
                    </m:oMath>
                  </m:oMathPara>
                </a14:m>
                <a:endParaRPr lang="zh-CN" altLang="en-US" sz="2000" dirty="0"/>
              </a:p>
            </p:txBody>
          </p:sp>
        </mc:Choice>
        <mc:Fallback xmlns="">
          <p:sp>
            <p:nvSpPr>
              <p:cNvPr id="32" name="TextBox 31">
                <a:extLst>
                  <a:ext uri="{FF2B5EF4-FFF2-40B4-BE49-F238E27FC236}">
                    <a16:creationId xmlns:a16="http://schemas.microsoft.com/office/drawing/2014/main" id="{DCB30CB7-03FB-654A-CBC3-6953AB75FFF6}"/>
                  </a:ext>
                </a:extLst>
              </p:cNvPr>
              <p:cNvSpPr txBox="1">
                <a:spLocks noRot="1" noChangeAspect="1" noMove="1" noResize="1" noEditPoints="1" noAdjustHandles="1" noChangeArrowheads="1" noChangeShapeType="1" noTextEdit="1"/>
              </p:cNvSpPr>
              <p:nvPr/>
            </p:nvSpPr>
            <p:spPr>
              <a:xfrm>
                <a:off x="3727669" y="1657780"/>
                <a:ext cx="321874" cy="40011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521E0D8-6416-DCE3-F9A0-5478B2CFD7E3}"/>
                  </a:ext>
                </a:extLst>
              </p:cNvPr>
              <p:cNvSpPr txBox="1"/>
              <p:nvPr/>
            </p:nvSpPr>
            <p:spPr>
              <a:xfrm>
                <a:off x="3727669" y="2605185"/>
                <a:ext cx="32187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𝑏</m:t>
                      </m:r>
                    </m:oMath>
                  </m:oMathPara>
                </a14:m>
                <a:endParaRPr lang="zh-CN" altLang="en-US" sz="2000" dirty="0"/>
              </a:p>
            </p:txBody>
          </p:sp>
        </mc:Choice>
        <mc:Fallback xmlns="">
          <p:sp>
            <p:nvSpPr>
              <p:cNvPr id="33" name="TextBox 32">
                <a:extLst>
                  <a:ext uri="{FF2B5EF4-FFF2-40B4-BE49-F238E27FC236}">
                    <a16:creationId xmlns:a16="http://schemas.microsoft.com/office/drawing/2014/main" id="{2521E0D8-6416-DCE3-F9A0-5478B2CFD7E3}"/>
                  </a:ext>
                </a:extLst>
              </p:cNvPr>
              <p:cNvSpPr txBox="1">
                <a:spLocks noRot="1" noChangeAspect="1" noMove="1" noResize="1" noEditPoints="1" noAdjustHandles="1" noChangeArrowheads="1" noChangeShapeType="1" noTextEdit="1"/>
              </p:cNvSpPr>
              <p:nvPr/>
            </p:nvSpPr>
            <p:spPr>
              <a:xfrm>
                <a:off x="3727669" y="2605185"/>
                <a:ext cx="321874" cy="400110"/>
              </a:xfrm>
              <a:prstGeom prst="rect">
                <a:avLst/>
              </a:prstGeom>
              <a:blipFill>
                <a:blip r:embed="rId5"/>
                <a:stretch>
                  <a:fillRect/>
                </a:stretch>
              </a:blipFill>
            </p:spPr>
            <p:txBody>
              <a:bodyPr/>
              <a:lstStyle/>
              <a:p>
                <a:r>
                  <a:rPr lang="zh-CN" altLang="en-US">
                    <a:noFill/>
                  </a:rPr>
                  <a:t> </a:t>
                </a:r>
              </a:p>
            </p:txBody>
          </p:sp>
        </mc:Fallback>
      </mc:AlternateContent>
      <p:sp>
        <p:nvSpPr>
          <p:cNvPr id="2" name="Slide Number Placeholder 1">
            <a:extLst>
              <a:ext uri="{FF2B5EF4-FFF2-40B4-BE49-F238E27FC236}">
                <a16:creationId xmlns:a16="http://schemas.microsoft.com/office/drawing/2014/main" id="{8C891AC5-ED16-6F01-D84D-EF46A4D3ECBA}"/>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77</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76193" y="951948"/>
            <a:ext cx="3495040" cy="3495040"/>
          </a:xfrm>
          <a:custGeom>
            <a:avLst/>
            <a:gdLst/>
            <a:ahLst/>
            <a:cxnLst/>
            <a:rect l="l" t="t" r="r" b="b"/>
            <a:pathLst>
              <a:path w="3495040" h="3495040">
                <a:moveTo>
                  <a:pt x="0" y="1747346"/>
                </a:moveTo>
                <a:lnTo>
                  <a:pt x="649" y="1699249"/>
                </a:lnTo>
                <a:lnTo>
                  <a:pt x="2585" y="1651474"/>
                </a:lnTo>
                <a:lnTo>
                  <a:pt x="5792" y="1604036"/>
                </a:lnTo>
                <a:lnTo>
                  <a:pt x="10253" y="1556953"/>
                </a:lnTo>
                <a:lnTo>
                  <a:pt x="15951" y="1510241"/>
                </a:lnTo>
                <a:lnTo>
                  <a:pt x="22870" y="1463917"/>
                </a:lnTo>
                <a:lnTo>
                  <a:pt x="30992" y="1417998"/>
                </a:lnTo>
                <a:lnTo>
                  <a:pt x="40302" y="1372499"/>
                </a:lnTo>
                <a:lnTo>
                  <a:pt x="50783" y="1327438"/>
                </a:lnTo>
                <a:lnTo>
                  <a:pt x="62417" y="1282832"/>
                </a:lnTo>
                <a:lnTo>
                  <a:pt x="75189" y="1238697"/>
                </a:lnTo>
                <a:lnTo>
                  <a:pt x="89081" y="1195049"/>
                </a:lnTo>
                <a:lnTo>
                  <a:pt x="104078" y="1151906"/>
                </a:lnTo>
                <a:lnTo>
                  <a:pt x="120162" y="1109284"/>
                </a:lnTo>
                <a:lnTo>
                  <a:pt x="137316" y="1067200"/>
                </a:lnTo>
                <a:lnTo>
                  <a:pt x="155525" y="1025670"/>
                </a:lnTo>
                <a:lnTo>
                  <a:pt x="174770" y="984711"/>
                </a:lnTo>
                <a:lnTo>
                  <a:pt x="195037" y="944340"/>
                </a:lnTo>
                <a:lnTo>
                  <a:pt x="216308" y="904573"/>
                </a:lnTo>
                <a:lnTo>
                  <a:pt x="238566" y="865427"/>
                </a:lnTo>
                <a:lnTo>
                  <a:pt x="261794" y="826918"/>
                </a:lnTo>
                <a:lnTo>
                  <a:pt x="285977" y="789064"/>
                </a:lnTo>
                <a:lnTo>
                  <a:pt x="311098" y="751881"/>
                </a:lnTo>
                <a:lnTo>
                  <a:pt x="337139" y="715386"/>
                </a:lnTo>
                <a:lnTo>
                  <a:pt x="364084" y="679595"/>
                </a:lnTo>
                <a:lnTo>
                  <a:pt x="391917" y="644524"/>
                </a:lnTo>
                <a:lnTo>
                  <a:pt x="420620" y="610192"/>
                </a:lnTo>
                <a:lnTo>
                  <a:pt x="450178" y="576613"/>
                </a:lnTo>
                <a:lnTo>
                  <a:pt x="480573" y="543805"/>
                </a:lnTo>
                <a:lnTo>
                  <a:pt x="511789" y="511785"/>
                </a:lnTo>
                <a:lnTo>
                  <a:pt x="543809" y="480569"/>
                </a:lnTo>
                <a:lnTo>
                  <a:pt x="576617" y="450174"/>
                </a:lnTo>
                <a:lnTo>
                  <a:pt x="610196" y="420617"/>
                </a:lnTo>
                <a:lnTo>
                  <a:pt x="644528" y="391914"/>
                </a:lnTo>
                <a:lnTo>
                  <a:pt x="679599" y="364081"/>
                </a:lnTo>
                <a:lnTo>
                  <a:pt x="715390" y="337136"/>
                </a:lnTo>
                <a:lnTo>
                  <a:pt x="751886" y="311095"/>
                </a:lnTo>
                <a:lnTo>
                  <a:pt x="789069" y="285975"/>
                </a:lnTo>
                <a:lnTo>
                  <a:pt x="826923" y="261792"/>
                </a:lnTo>
                <a:lnTo>
                  <a:pt x="865431" y="238563"/>
                </a:lnTo>
                <a:lnTo>
                  <a:pt x="904577" y="216306"/>
                </a:lnTo>
                <a:lnTo>
                  <a:pt x="944344" y="195035"/>
                </a:lnTo>
                <a:lnTo>
                  <a:pt x="984715" y="174769"/>
                </a:lnTo>
                <a:lnTo>
                  <a:pt x="1025674" y="155523"/>
                </a:lnTo>
                <a:lnTo>
                  <a:pt x="1067204" y="137315"/>
                </a:lnTo>
                <a:lnTo>
                  <a:pt x="1109288" y="120160"/>
                </a:lnTo>
                <a:lnTo>
                  <a:pt x="1151910" y="104077"/>
                </a:lnTo>
                <a:lnTo>
                  <a:pt x="1195053" y="89080"/>
                </a:lnTo>
                <a:lnTo>
                  <a:pt x="1238700" y="75188"/>
                </a:lnTo>
                <a:lnTo>
                  <a:pt x="1282835" y="62416"/>
                </a:lnTo>
                <a:lnTo>
                  <a:pt x="1327442" y="50782"/>
                </a:lnTo>
                <a:lnTo>
                  <a:pt x="1372502" y="40302"/>
                </a:lnTo>
                <a:lnTo>
                  <a:pt x="1418000" y="30992"/>
                </a:lnTo>
                <a:lnTo>
                  <a:pt x="1463920" y="22869"/>
                </a:lnTo>
                <a:lnTo>
                  <a:pt x="1510243" y="15951"/>
                </a:lnTo>
                <a:lnTo>
                  <a:pt x="1556955" y="10253"/>
                </a:lnTo>
                <a:lnTo>
                  <a:pt x="1604038" y="5792"/>
                </a:lnTo>
                <a:lnTo>
                  <a:pt x="1651475" y="2585"/>
                </a:lnTo>
                <a:lnTo>
                  <a:pt x="1699250" y="649"/>
                </a:lnTo>
                <a:lnTo>
                  <a:pt x="1747346" y="0"/>
                </a:lnTo>
                <a:lnTo>
                  <a:pt x="1796921" y="702"/>
                </a:lnTo>
                <a:lnTo>
                  <a:pt x="1846325" y="2803"/>
                </a:lnTo>
                <a:lnTo>
                  <a:pt x="1895530" y="6290"/>
                </a:lnTo>
                <a:lnTo>
                  <a:pt x="1944510" y="11153"/>
                </a:lnTo>
                <a:lnTo>
                  <a:pt x="1993237" y="17380"/>
                </a:lnTo>
                <a:lnTo>
                  <a:pt x="2041685" y="24961"/>
                </a:lnTo>
                <a:lnTo>
                  <a:pt x="2089828" y="33884"/>
                </a:lnTo>
                <a:lnTo>
                  <a:pt x="2137639" y="44139"/>
                </a:lnTo>
                <a:lnTo>
                  <a:pt x="2185091" y="55715"/>
                </a:lnTo>
                <a:lnTo>
                  <a:pt x="2232157" y="68599"/>
                </a:lnTo>
                <a:lnTo>
                  <a:pt x="2278810" y="82782"/>
                </a:lnTo>
                <a:lnTo>
                  <a:pt x="2325025" y="98252"/>
                </a:lnTo>
                <a:lnTo>
                  <a:pt x="2370773" y="114997"/>
                </a:lnTo>
                <a:lnTo>
                  <a:pt x="2416029" y="133008"/>
                </a:lnTo>
                <a:lnTo>
                  <a:pt x="2460765" y="152273"/>
                </a:lnTo>
                <a:lnTo>
                  <a:pt x="2504956" y="172781"/>
                </a:lnTo>
                <a:lnTo>
                  <a:pt x="2548573" y="194520"/>
                </a:lnTo>
                <a:lnTo>
                  <a:pt x="2591591" y="217480"/>
                </a:lnTo>
                <a:lnTo>
                  <a:pt x="2633983" y="241650"/>
                </a:lnTo>
                <a:lnTo>
                  <a:pt x="2675722" y="267018"/>
                </a:lnTo>
                <a:lnTo>
                  <a:pt x="2716781" y="293574"/>
                </a:lnTo>
                <a:lnTo>
                  <a:pt x="2757134" y="321307"/>
                </a:lnTo>
                <a:lnTo>
                  <a:pt x="2796753" y="350204"/>
                </a:lnTo>
                <a:lnTo>
                  <a:pt x="2835613" y="380256"/>
                </a:lnTo>
                <a:lnTo>
                  <a:pt x="2873686" y="411452"/>
                </a:lnTo>
                <a:lnTo>
                  <a:pt x="2910946" y="443779"/>
                </a:lnTo>
                <a:lnTo>
                  <a:pt x="2947366" y="477227"/>
                </a:lnTo>
                <a:lnTo>
                  <a:pt x="2982918" y="511786"/>
                </a:lnTo>
                <a:lnTo>
                  <a:pt x="3017475" y="547338"/>
                </a:lnTo>
                <a:lnTo>
                  <a:pt x="3050922" y="583757"/>
                </a:lnTo>
                <a:lnTo>
                  <a:pt x="3083248" y="621016"/>
                </a:lnTo>
                <a:lnTo>
                  <a:pt x="3114442" y="659088"/>
                </a:lnTo>
                <a:lnTo>
                  <a:pt x="3144493" y="697947"/>
                </a:lnTo>
                <a:lnTo>
                  <a:pt x="3173389" y="737566"/>
                </a:lnTo>
                <a:lnTo>
                  <a:pt x="3201121" y="777918"/>
                </a:lnTo>
                <a:lnTo>
                  <a:pt x="3227676" y="818977"/>
                </a:lnTo>
                <a:lnTo>
                  <a:pt x="3253044" y="860715"/>
                </a:lnTo>
                <a:lnTo>
                  <a:pt x="3277213" y="903106"/>
                </a:lnTo>
                <a:lnTo>
                  <a:pt x="3300172" y="946124"/>
                </a:lnTo>
                <a:lnTo>
                  <a:pt x="3321911" y="989741"/>
                </a:lnTo>
                <a:lnTo>
                  <a:pt x="3342419" y="1033930"/>
                </a:lnTo>
                <a:lnTo>
                  <a:pt x="3361683" y="1078666"/>
                </a:lnTo>
                <a:lnTo>
                  <a:pt x="3379694" y="1123922"/>
                </a:lnTo>
                <a:lnTo>
                  <a:pt x="3396440" y="1169670"/>
                </a:lnTo>
                <a:lnTo>
                  <a:pt x="3411910" y="1215884"/>
                </a:lnTo>
                <a:lnTo>
                  <a:pt x="3426092" y="1262537"/>
                </a:lnTo>
                <a:lnTo>
                  <a:pt x="3438977" y="1309602"/>
                </a:lnTo>
                <a:lnTo>
                  <a:pt x="3450552" y="1357054"/>
                </a:lnTo>
                <a:lnTo>
                  <a:pt x="3460807" y="1404864"/>
                </a:lnTo>
                <a:lnTo>
                  <a:pt x="3469731" y="1453007"/>
                </a:lnTo>
                <a:lnTo>
                  <a:pt x="3477312" y="1501456"/>
                </a:lnTo>
                <a:lnTo>
                  <a:pt x="3483539" y="1550183"/>
                </a:lnTo>
                <a:lnTo>
                  <a:pt x="3488402" y="1599162"/>
                </a:lnTo>
                <a:lnTo>
                  <a:pt x="3491889" y="1648367"/>
                </a:lnTo>
                <a:lnTo>
                  <a:pt x="3493990" y="1697770"/>
                </a:lnTo>
                <a:lnTo>
                  <a:pt x="3494692" y="1747346"/>
                </a:lnTo>
                <a:lnTo>
                  <a:pt x="3494043" y="1795442"/>
                </a:lnTo>
                <a:lnTo>
                  <a:pt x="3492107" y="1843217"/>
                </a:lnTo>
                <a:lnTo>
                  <a:pt x="3488900" y="1890654"/>
                </a:lnTo>
                <a:lnTo>
                  <a:pt x="3484439" y="1937737"/>
                </a:lnTo>
                <a:lnTo>
                  <a:pt x="3478741" y="1984448"/>
                </a:lnTo>
                <a:lnTo>
                  <a:pt x="3471822" y="2030772"/>
                </a:lnTo>
                <a:lnTo>
                  <a:pt x="3463700" y="2076692"/>
                </a:lnTo>
                <a:lnTo>
                  <a:pt x="3454390" y="2122190"/>
                </a:lnTo>
                <a:lnTo>
                  <a:pt x="3443909" y="2167250"/>
                </a:lnTo>
                <a:lnTo>
                  <a:pt x="3432275" y="2211857"/>
                </a:lnTo>
                <a:lnTo>
                  <a:pt x="3419503" y="2255992"/>
                </a:lnTo>
                <a:lnTo>
                  <a:pt x="3405611" y="2299639"/>
                </a:lnTo>
                <a:lnTo>
                  <a:pt x="3390614" y="2342782"/>
                </a:lnTo>
                <a:lnTo>
                  <a:pt x="3374530" y="2385404"/>
                </a:lnTo>
                <a:lnTo>
                  <a:pt x="3357376" y="2427488"/>
                </a:lnTo>
                <a:lnTo>
                  <a:pt x="3339167" y="2469018"/>
                </a:lnTo>
                <a:lnTo>
                  <a:pt x="3319922" y="2509977"/>
                </a:lnTo>
                <a:lnTo>
                  <a:pt x="3299655" y="2550348"/>
                </a:lnTo>
                <a:lnTo>
                  <a:pt x="3278384" y="2590115"/>
                </a:lnTo>
                <a:lnTo>
                  <a:pt x="3256126" y="2629261"/>
                </a:lnTo>
                <a:lnTo>
                  <a:pt x="3232897" y="2667769"/>
                </a:lnTo>
                <a:lnTo>
                  <a:pt x="3208715" y="2705623"/>
                </a:lnTo>
                <a:lnTo>
                  <a:pt x="3183594" y="2742806"/>
                </a:lnTo>
                <a:lnTo>
                  <a:pt x="3157553" y="2779302"/>
                </a:lnTo>
                <a:lnTo>
                  <a:pt x="3130608" y="2815093"/>
                </a:lnTo>
                <a:lnTo>
                  <a:pt x="3102775" y="2850164"/>
                </a:lnTo>
                <a:lnTo>
                  <a:pt x="3074072" y="2884496"/>
                </a:lnTo>
                <a:lnTo>
                  <a:pt x="3044514" y="2918075"/>
                </a:lnTo>
                <a:lnTo>
                  <a:pt x="3014119" y="2950883"/>
                </a:lnTo>
                <a:lnTo>
                  <a:pt x="2982903" y="2982903"/>
                </a:lnTo>
                <a:lnTo>
                  <a:pt x="2950883" y="3014119"/>
                </a:lnTo>
                <a:lnTo>
                  <a:pt x="2918075" y="3044514"/>
                </a:lnTo>
                <a:lnTo>
                  <a:pt x="2884496" y="3074072"/>
                </a:lnTo>
                <a:lnTo>
                  <a:pt x="2850164" y="3102775"/>
                </a:lnTo>
                <a:lnTo>
                  <a:pt x="2815093" y="3130608"/>
                </a:lnTo>
                <a:lnTo>
                  <a:pt x="2779302" y="3157553"/>
                </a:lnTo>
                <a:lnTo>
                  <a:pt x="2742806" y="3183594"/>
                </a:lnTo>
                <a:lnTo>
                  <a:pt x="2705623" y="3208715"/>
                </a:lnTo>
                <a:lnTo>
                  <a:pt x="2667769" y="3232897"/>
                </a:lnTo>
                <a:lnTo>
                  <a:pt x="2629261" y="3256126"/>
                </a:lnTo>
                <a:lnTo>
                  <a:pt x="2590115" y="3278384"/>
                </a:lnTo>
                <a:lnTo>
                  <a:pt x="2550348" y="3299655"/>
                </a:lnTo>
                <a:lnTo>
                  <a:pt x="2509977" y="3319922"/>
                </a:lnTo>
                <a:lnTo>
                  <a:pt x="2469018" y="3339167"/>
                </a:lnTo>
                <a:lnTo>
                  <a:pt x="2427488" y="3357376"/>
                </a:lnTo>
                <a:lnTo>
                  <a:pt x="2385404" y="3374530"/>
                </a:lnTo>
                <a:lnTo>
                  <a:pt x="2342782" y="3390614"/>
                </a:lnTo>
                <a:lnTo>
                  <a:pt x="2299639" y="3405611"/>
                </a:lnTo>
                <a:lnTo>
                  <a:pt x="2255992" y="3419503"/>
                </a:lnTo>
                <a:lnTo>
                  <a:pt x="2211857" y="3432275"/>
                </a:lnTo>
                <a:lnTo>
                  <a:pt x="2167250" y="3443909"/>
                </a:lnTo>
                <a:lnTo>
                  <a:pt x="2122190" y="3454390"/>
                </a:lnTo>
                <a:lnTo>
                  <a:pt x="2076692" y="3463700"/>
                </a:lnTo>
                <a:lnTo>
                  <a:pt x="2030772" y="3471822"/>
                </a:lnTo>
                <a:lnTo>
                  <a:pt x="1984448" y="3478741"/>
                </a:lnTo>
                <a:lnTo>
                  <a:pt x="1937737" y="3484439"/>
                </a:lnTo>
                <a:lnTo>
                  <a:pt x="1890654" y="3488900"/>
                </a:lnTo>
                <a:lnTo>
                  <a:pt x="1843217" y="3492107"/>
                </a:lnTo>
                <a:lnTo>
                  <a:pt x="1795442" y="3494043"/>
                </a:lnTo>
                <a:lnTo>
                  <a:pt x="1747346" y="3494692"/>
                </a:lnTo>
                <a:lnTo>
                  <a:pt x="1699250" y="3494043"/>
                </a:lnTo>
                <a:lnTo>
                  <a:pt x="1651475" y="3492107"/>
                </a:lnTo>
                <a:lnTo>
                  <a:pt x="1604038" y="3488900"/>
                </a:lnTo>
                <a:lnTo>
                  <a:pt x="1556955" y="3484439"/>
                </a:lnTo>
                <a:lnTo>
                  <a:pt x="1510243" y="3478741"/>
                </a:lnTo>
                <a:lnTo>
                  <a:pt x="1463920" y="3471822"/>
                </a:lnTo>
                <a:lnTo>
                  <a:pt x="1418000" y="3463700"/>
                </a:lnTo>
                <a:lnTo>
                  <a:pt x="1372502" y="3454390"/>
                </a:lnTo>
                <a:lnTo>
                  <a:pt x="1327442" y="3443909"/>
                </a:lnTo>
                <a:lnTo>
                  <a:pt x="1282835" y="3432275"/>
                </a:lnTo>
                <a:lnTo>
                  <a:pt x="1238700" y="3419503"/>
                </a:lnTo>
                <a:lnTo>
                  <a:pt x="1195053" y="3405611"/>
                </a:lnTo>
                <a:lnTo>
                  <a:pt x="1151910" y="3390614"/>
                </a:lnTo>
                <a:lnTo>
                  <a:pt x="1109288" y="3374530"/>
                </a:lnTo>
                <a:lnTo>
                  <a:pt x="1067204" y="3357376"/>
                </a:lnTo>
                <a:lnTo>
                  <a:pt x="1025674" y="3339167"/>
                </a:lnTo>
                <a:lnTo>
                  <a:pt x="984715" y="3319922"/>
                </a:lnTo>
                <a:lnTo>
                  <a:pt x="944344" y="3299655"/>
                </a:lnTo>
                <a:lnTo>
                  <a:pt x="904577" y="3278384"/>
                </a:lnTo>
                <a:lnTo>
                  <a:pt x="865431" y="3256126"/>
                </a:lnTo>
                <a:lnTo>
                  <a:pt x="826923" y="3232897"/>
                </a:lnTo>
                <a:lnTo>
                  <a:pt x="789069" y="3208715"/>
                </a:lnTo>
                <a:lnTo>
                  <a:pt x="751886" y="3183594"/>
                </a:lnTo>
                <a:lnTo>
                  <a:pt x="715390" y="3157553"/>
                </a:lnTo>
                <a:lnTo>
                  <a:pt x="679599" y="3130608"/>
                </a:lnTo>
                <a:lnTo>
                  <a:pt x="644528" y="3102775"/>
                </a:lnTo>
                <a:lnTo>
                  <a:pt x="610196" y="3074072"/>
                </a:lnTo>
                <a:lnTo>
                  <a:pt x="576617" y="3044514"/>
                </a:lnTo>
                <a:lnTo>
                  <a:pt x="543809" y="3014119"/>
                </a:lnTo>
                <a:lnTo>
                  <a:pt x="511789" y="2982903"/>
                </a:lnTo>
                <a:lnTo>
                  <a:pt x="480573" y="2950883"/>
                </a:lnTo>
                <a:lnTo>
                  <a:pt x="450178" y="2918075"/>
                </a:lnTo>
                <a:lnTo>
                  <a:pt x="420620" y="2884496"/>
                </a:lnTo>
                <a:lnTo>
                  <a:pt x="391917" y="2850164"/>
                </a:lnTo>
                <a:lnTo>
                  <a:pt x="364084" y="2815093"/>
                </a:lnTo>
                <a:lnTo>
                  <a:pt x="337139" y="2779302"/>
                </a:lnTo>
                <a:lnTo>
                  <a:pt x="311098" y="2742806"/>
                </a:lnTo>
                <a:lnTo>
                  <a:pt x="285977" y="2705623"/>
                </a:lnTo>
                <a:lnTo>
                  <a:pt x="261794" y="2667769"/>
                </a:lnTo>
                <a:lnTo>
                  <a:pt x="238566" y="2629261"/>
                </a:lnTo>
                <a:lnTo>
                  <a:pt x="216308" y="2590115"/>
                </a:lnTo>
                <a:lnTo>
                  <a:pt x="195037" y="2550348"/>
                </a:lnTo>
                <a:lnTo>
                  <a:pt x="174770" y="2509977"/>
                </a:lnTo>
                <a:lnTo>
                  <a:pt x="155525" y="2469018"/>
                </a:lnTo>
                <a:lnTo>
                  <a:pt x="137316" y="2427488"/>
                </a:lnTo>
                <a:lnTo>
                  <a:pt x="120162" y="2385404"/>
                </a:lnTo>
                <a:lnTo>
                  <a:pt x="104078" y="2342782"/>
                </a:lnTo>
                <a:lnTo>
                  <a:pt x="89081" y="2299639"/>
                </a:lnTo>
                <a:lnTo>
                  <a:pt x="75189" y="2255992"/>
                </a:lnTo>
                <a:lnTo>
                  <a:pt x="62417" y="2211857"/>
                </a:lnTo>
                <a:lnTo>
                  <a:pt x="50783" y="2167250"/>
                </a:lnTo>
                <a:lnTo>
                  <a:pt x="40302" y="2122190"/>
                </a:lnTo>
                <a:lnTo>
                  <a:pt x="30992" y="2076692"/>
                </a:lnTo>
                <a:lnTo>
                  <a:pt x="22870" y="2030772"/>
                </a:lnTo>
                <a:lnTo>
                  <a:pt x="15951" y="1984448"/>
                </a:lnTo>
                <a:lnTo>
                  <a:pt x="10253" y="1937737"/>
                </a:lnTo>
                <a:lnTo>
                  <a:pt x="5792" y="1890654"/>
                </a:lnTo>
                <a:lnTo>
                  <a:pt x="2585" y="1843217"/>
                </a:lnTo>
                <a:lnTo>
                  <a:pt x="649" y="1795442"/>
                </a:lnTo>
                <a:lnTo>
                  <a:pt x="0" y="1747346"/>
                </a:lnTo>
                <a:close/>
              </a:path>
            </a:pathLst>
          </a:custGeom>
          <a:ln w="19049">
            <a:solidFill>
              <a:srgbClr val="666666"/>
            </a:solidFill>
          </a:ln>
        </p:spPr>
        <p:txBody>
          <a:bodyPr wrap="square" lIns="0" tIns="0" rIns="0" bIns="0" rtlCol="0"/>
          <a:lstStyle/>
          <a:p>
            <a:endParaRPr/>
          </a:p>
        </p:txBody>
      </p:sp>
      <p:sp>
        <p:nvSpPr>
          <p:cNvPr id="5" name="object 5"/>
          <p:cNvSpPr/>
          <p:nvPr/>
        </p:nvSpPr>
        <p:spPr>
          <a:xfrm>
            <a:off x="702173" y="3469942"/>
            <a:ext cx="2301875" cy="777875"/>
          </a:xfrm>
          <a:custGeom>
            <a:avLst/>
            <a:gdLst/>
            <a:ahLst/>
            <a:cxnLst/>
            <a:rect l="l" t="t" r="r" b="b"/>
            <a:pathLst>
              <a:path w="2301875" h="777875">
                <a:moveTo>
                  <a:pt x="0" y="777323"/>
                </a:moveTo>
                <a:lnTo>
                  <a:pt x="2301595" y="0"/>
                </a:lnTo>
              </a:path>
            </a:pathLst>
          </a:custGeom>
          <a:ln w="19049">
            <a:solidFill>
              <a:srgbClr val="38751C"/>
            </a:solidFill>
          </a:ln>
        </p:spPr>
        <p:txBody>
          <a:bodyPr wrap="square" lIns="0" tIns="0" rIns="0" bIns="0" rtlCol="0"/>
          <a:lstStyle/>
          <a:p>
            <a:endParaRPr/>
          </a:p>
        </p:txBody>
      </p:sp>
      <p:sp>
        <p:nvSpPr>
          <p:cNvPr id="6" name="object 6"/>
          <p:cNvSpPr/>
          <p:nvPr/>
        </p:nvSpPr>
        <p:spPr>
          <a:xfrm>
            <a:off x="2993719" y="3440117"/>
            <a:ext cx="92075" cy="59690"/>
          </a:xfrm>
          <a:custGeom>
            <a:avLst/>
            <a:gdLst/>
            <a:ahLst/>
            <a:cxnLst/>
            <a:rect l="l" t="t" r="r" b="b"/>
            <a:pathLst>
              <a:path w="92075" h="59689">
                <a:moveTo>
                  <a:pt x="20124" y="59624"/>
                </a:moveTo>
                <a:lnTo>
                  <a:pt x="91974" y="2149"/>
                </a:lnTo>
                <a:lnTo>
                  <a:pt x="0" y="0"/>
                </a:lnTo>
                <a:lnTo>
                  <a:pt x="20124" y="59624"/>
                </a:lnTo>
                <a:close/>
              </a:path>
            </a:pathLst>
          </a:custGeom>
          <a:ln w="19049">
            <a:solidFill>
              <a:srgbClr val="38751C"/>
            </a:solidFill>
          </a:ln>
        </p:spPr>
        <p:txBody>
          <a:bodyPr wrap="square" lIns="0" tIns="0" rIns="0" bIns="0" rtlCol="0"/>
          <a:lstStyle/>
          <a:p>
            <a:endParaRPr/>
          </a:p>
        </p:txBody>
      </p:sp>
      <p:sp>
        <p:nvSpPr>
          <p:cNvPr id="7" name="object 7"/>
          <p:cNvSpPr/>
          <p:nvPr/>
        </p:nvSpPr>
        <p:spPr>
          <a:xfrm>
            <a:off x="989423" y="927973"/>
            <a:ext cx="2089150" cy="889000"/>
          </a:xfrm>
          <a:custGeom>
            <a:avLst/>
            <a:gdLst/>
            <a:ahLst/>
            <a:cxnLst/>
            <a:rect l="l" t="t" r="r" b="b"/>
            <a:pathLst>
              <a:path w="2089150" h="889000">
                <a:moveTo>
                  <a:pt x="0" y="0"/>
                </a:moveTo>
                <a:lnTo>
                  <a:pt x="2089020" y="888848"/>
                </a:lnTo>
              </a:path>
            </a:pathLst>
          </a:custGeom>
          <a:ln w="19049">
            <a:solidFill>
              <a:srgbClr val="38751C"/>
            </a:solidFill>
          </a:ln>
        </p:spPr>
        <p:txBody>
          <a:bodyPr wrap="square" lIns="0" tIns="0" rIns="0" bIns="0" rtlCol="0"/>
          <a:lstStyle/>
          <a:p>
            <a:endParaRPr/>
          </a:p>
        </p:txBody>
      </p:sp>
      <p:sp>
        <p:nvSpPr>
          <p:cNvPr id="8" name="object 8"/>
          <p:cNvSpPr/>
          <p:nvPr/>
        </p:nvSpPr>
        <p:spPr>
          <a:xfrm>
            <a:off x="3066118" y="1787866"/>
            <a:ext cx="92075" cy="62865"/>
          </a:xfrm>
          <a:custGeom>
            <a:avLst/>
            <a:gdLst/>
            <a:ahLst/>
            <a:cxnLst/>
            <a:rect l="l" t="t" r="r" b="b"/>
            <a:pathLst>
              <a:path w="92075" h="62864">
                <a:moveTo>
                  <a:pt x="0" y="57907"/>
                </a:moveTo>
                <a:lnTo>
                  <a:pt x="91874" y="62802"/>
                </a:lnTo>
                <a:lnTo>
                  <a:pt x="24649" y="0"/>
                </a:lnTo>
                <a:lnTo>
                  <a:pt x="0" y="57907"/>
                </a:lnTo>
                <a:close/>
              </a:path>
            </a:pathLst>
          </a:custGeom>
          <a:ln w="19049">
            <a:solidFill>
              <a:srgbClr val="38751C"/>
            </a:solidFill>
          </a:ln>
        </p:spPr>
        <p:txBody>
          <a:bodyPr wrap="square" lIns="0" tIns="0" rIns="0" bIns="0" rtlCol="0"/>
          <a:lstStyle/>
          <a:p>
            <a:endParaRPr/>
          </a:p>
        </p:txBody>
      </p:sp>
      <p:sp>
        <p:nvSpPr>
          <p:cNvPr id="9" name="object 9"/>
          <p:cNvSpPr/>
          <p:nvPr/>
        </p:nvSpPr>
        <p:spPr>
          <a:xfrm>
            <a:off x="6470886" y="2699294"/>
            <a:ext cx="2160270" cy="0"/>
          </a:xfrm>
          <a:custGeom>
            <a:avLst/>
            <a:gdLst/>
            <a:ahLst/>
            <a:cxnLst/>
            <a:rect l="l" t="t" r="r" b="b"/>
            <a:pathLst>
              <a:path w="2160270">
                <a:moveTo>
                  <a:pt x="0" y="0"/>
                </a:moveTo>
                <a:lnTo>
                  <a:pt x="2159995" y="0"/>
                </a:lnTo>
              </a:path>
            </a:pathLst>
          </a:custGeom>
          <a:ln w="19049">
            <a:solidFill>
              <a:srgbClr val="38751C"/>
            </a:solidFill>
          </a:ln>
        </p:spPr>
        <p:txBody>
          <a:bodyPr wrap="square" lIns="0" tIns="0" rIns="0" bIns="0" rtlCol="0"/>
          <a:lstStyle/>
          <a:p>
            <a:endParaRPr/>
          </a:p>
        </p:txBody>
      </p:sp>
      <p:sp>
        <p:nvSpPr>
          <p:cNvPr id="10" name="object 10"/>
          <p:cNvSpPr/>
          <p:nvPr/>
        </p:nvSpPr>
        <p:spPr>
          <a:xfrm>
            <a:off x="8630882" y="2667819"/>
            <a:ext cx="86995" cy="63500"/>
          </a:xfrm>
          <a:custGeom>
            <a:avLst/>
            <a:gdLst/>
            <a:ahLst/>
            <a:cxnLst/>
            <a:rect l="l" t="t" r="r" b="b"/>
            <a:pathLst>
              <a:path w="86995" h="63500">
                <a:moveTo>
                  <a:pt x="0" y="62949"/>
                </a:moveTo>
                <a:lnTo>
                  <a:pt x="86449" y="31474"/>
                </a:lnTo>
                <a:lnTo>
                  <a:pt x="0" y="0"/>
                </a:lnTo>
                <a:lnTo>
                  <a:pt x="0" y="62949"/>
                </a:lnTo>
                <a:close/>
              </a:path>
            </a:pathLst>
          </a:custGeom>
          <a:ln w="19049">
            <a:solidFill>
              <a:srgbClr val="38751C"/>
            </a:solidFill>
          </a:ln>
        </p:spPr>
        <p:txBody>
          <a:bodyPr wrap="square" lIns="0" tIns="0" rIns="0" bIns="0" rtlCol="0"/>
          <a:lstStyle/>
          <a:p>
            <a:endParaRPr/>
          </a:p>
        </p:txBody>
      </p:sp>
      <p:sp>
        <p:nvSpPr>
          <p:cNvPr id="11" name="object 11"/>
          <p:cNvSpPr/>
          <p:nvPr/>
        </p:nvSpPr>
        <p:spPr>
          <a:xfrm>
            <a:off x="1380509" y="690298"/>
            <a:ext cx="352424" cy="304799"/>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1370984" y="680773"/>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3" name="object 13"/>
          <p:cNvSpPr/>
          <p:nvPr/>
        </p:nvSpPr>
        <p:spPr>
          <a:xfrm>
            <a:off x="1300359" y="3518217"/>
            <a:ext cx="295274" cy="361949"/>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1290834" y="3508692"/>
            <a:ext cx="314325" cy="381000"/>
          </a:xfrm>
          <a:custGeom>
            <a:avLst/>
            <a:gdLst/>
            <a:ahLst/>
            <a:cxnLst/>
            <a:rect l="l" t="t" r="r" b="b"/>
            <a:pathLst>
              <a:path w="314325" h="381000">
                <a:moveTo>
                  <a:pt x="0" y="0"/>
                </a:moveTo>
                <a:lnTo>
                  <a:pt x="314324" y="0"/>
                </a:lnTo>
                <a:lnTo>
                  <a:pt x="314324" y="380999"/>
                </a:lnTo>
                <a:lnTo>
                  <a:pt x="0" y="380999"/>
                </a:lnTo>
                <a:lnTo>
                  <a:pt x="0" y="0"/>
                </a:lnTo>
                <a:close/>
              </a:path>
            </a:pathLst>
          </a:custGeom>
          <a:ln w="19049">
            <a:solidFill>
              <a:srgbClr val="38751C"/>
            </a:solidFill>
          </a:ln>
        </p:spPr>
        <p:txBody>
          <a:bodyPr wrap="square" lIns="0" tIns="0" rIns="0" bIns="0" rtlCol="0"/>
          <a:lstStyle/>
          <a:p>
            <a:endParaRPr/>
          </a:p>
        </p:txBody>
      </p:sp>
      <p:sp>
        <p:nvSpPr>
          <p:cNvPr id="15" name="object 15"/>
          <p:cNvSpPr/>
          <p:nvPr/>
        </p:nvSpPr>
        <p:spPr>
          <a:xfrm>
            <a:off x="7245910" y="2215895"/>
            <a:ext cx="352424" cy="304799"/>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7236385" y="2206370"/>
            <a:ext cx="371475" cy="323850"/>
          </a:xfrm>
          <a:custGeom>
            <a:avLst/>
            <a:gdLst/>
            <a:ahLst/>
            <a:cxnLst/>
            <a:rect l="l" t="t" r="r" b="b"/>
            <a:pathLst>
              <a:path w="371475" h="323850">
                <a:moveTo>
                  <a:pt x="0" y="0"/>
                </a:moveTo>
                <a:lnTo>
                  <a:pt x="371474" y="0"/>
                </a:lnTo>
                <a:lnTo>
                  <a:pt x="371474" y="323849"/>
                </a:lnTo>
                <a:lnTo>
                  <a:pt x="0" y="323849"/>
                </a:lnTo>
                <a:lnTo>
                  <a:pt x="0" y="0"/>
                </a:lnTo>
                <a:close/>
              </a:path>
            </a:pathLst>
          </a:custGeom>
          <a:ln w="19049">
            <a:solidFill>
              <a:srgbClr val="38751C"/>
            </a:solidFill>
          </a:ln>
        </p:spPr>
        <p:txBody>
          <a:bodyPr wrap="square" lIns="0" tIns="0" rIns="0" bIns="0" rtlCol="0"/>
          <a:lstStyle/>
          <a:p>
            <a:endParaRPr/>
          </a:p>
        </p:txBody>
      </p:sp>
      <p:sp>
        <p:nvSpPr>
          <p:cNvPr id="17" name="object 17"/>
          <p:cNvSpPr/>
          <p:nvPr/>
        </p:nvSpPr>
        <p:spPr>
          <a:xfrm>
            <a:off x="3398743" y="1747634"/>
            <a:ext cx="485773" cy="638173"/>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3389243" y="1738109"/>
            <a:ext cx="504825" cy="657225"/>
          </a:xfrm>
          <a:custGeom>
            <a:avLst/>
            <a:gdLst/>
            <a:ahLst/>
            <a:cxnLst/>
            <a:rect l="l" t="t" r="r" b="b"/>
            <a:pathLst>
              <a:path w="504825" h="657225">
                <a:moveTo>
                  <a:pt x="0" y="0"/>
                </a:moveTo>
                <a:lnTo>
                  <a:pt x="504823" y="0"/>
                </a:lnTo>
                <a:lnTo>
                  <a:pt x="504823" y="657223"/>
                </a:lnTo>
                <a:lnTo>
                  <a:pt x="0" y="657223"/>
                </a:lnTo>
                <a:lnTo>
                  <a:pt x="0" y="0"/>
                </a:lnTo>
                <a:close/>
              </a:path>
            </a:pathLst>
          </a:custGeom>
          <a:ln w="19049">
            <a:solidFill>
              <a:srgbClr val="FF0000"/>
            </a:solidFill>
          </a:ln>
        </p:spPr>
        <p:txBody>
          <a:bodyPr wrap="square" lIns="0" tIns="0" rIns="0" bIns="0" rtlCol="0"/>
          <a:lstStyle/>
          <a:p>
            <a:endParaRPr/>
          </a:p>
        </p:txBody>
      </p:sp>
      <p:sp>
        <p:nvSpPr>
          <p:cNvPr id="19" name="object 19"/>
          <p:cNvSpPr/>
          <p:nvPr/>
        </p:nvSpPr>
        <p:spPr>
          <a:xfrm>
            <a:off x="3398743" y="2950244"/>
            <a:ext cx="409574" cy="704848"/>
          </a:xfrm>
          <a:prstGeom prst="rect">
            <a:avLst/>
          </a:prstGeom>
          <a:blipFill>
            <a:blip r:embed="rId6" cstate="print"/>
            <a:stretch>
              <a:fillRect/>
            </a:stretch>
          </a:blipFill>
        </p:spPr>
        <p:txBody>
          <a:bodyPr wrap="square" lIns="0" tIns="0" rIns="0" bIns="0" rtlCol="0"/>
          <a:lstStyle/>
          <a:p>
            <a:endParaRPr/>
          </a:p>
        </p:txBody>
      </p:sp>
      <p:sp>
        <p:nvSpPr>
          <p:cNvPr id="20" name="object 20"/>
          <p:cNvSpPr/>
          <p:nvPr/>
        </p:nvSpPr>
        <p:spPr>
          <a:xfrm>
            <a:off x="3389243" y="2940719"/>
            <a:ext cx="428625" cy="723900"/>
          </a:xfrm>
          <a:custGeom>
            <a:avLst/>
            <a:gdLst/>
            <a:ahLst/>
            <a:cxnLst/>
            <a:rect l="l" t="t" r="r" b="b"/>
            <a:pathLst>
              <a:path w="428625" h="723900">
                <a:moveTo>
                  <a:pt x="0" y="0"/>
                </a:moveTo>
                <a:lnTo>
                  <a:pt x="428599" y="0"/>
                </a:lnTo>
                <a:lnTo>
                  <a:pt x="428599" y="723898"/>
                </a:lnTo>
                <a:lnTo>
                  <a:pt x="0" y="723898"/>
                </a:lnTo>
                <a:lnTo>
                  <a:pt x="0" y="0"/>
                </a:lnTo>
                <a:close/>
              </a:path>
            </a:pathLst>
          </a:custGeom>
          <a:ln w="19049">
            <a:solidFill>
              <a:srgbClr val="FF0000"/>
            </a:solidFill>
          </a:ln>
        </p:spPr>
        <p:txBody>
          <a:bodyPr wrap="square" lIns="0" tIns="0" rIns="0" bIns="0" rtlCol="0"/>
          <a:lstStyle/>
          <a:p>
            <a:endParaRPr/>
          </a:p>
        </p:txBody>
      </p:sp>
      <p:sp>
        <p:nvSpPr>
          <p:cNvPr id="21" name="object 21"/>
          <p:cNvSpPr/>
          <p:nvPr/>
        </p:nvSpPr>
        <p:spPr>
          <a:xfrm>
            <a:off x="3997466" y="1585521"/>
            <a:ext cx="2985135" cy="464184"/>
          </a:xfrm>
          <a:custGeom>
            <a:avLst/>
            <a:gdLst/>
            <a:ahLst/>
            <a:cxnLst/>
            <a:rect l="l" t="t" r="r" b="b"/>
            <a:pathLst>
              <a:path w="2985134" h="464185">
                <a:moveTo>
                  <a:pt x="2984843" y="0"/>
                </a:moveTo>
                <a:lnTo>
                  <a:pt x="0" y="463654"/>
                </a:lnTo>
              </a:path>
            </a:pathLst>
          </a:custGeom>
          <a:ln w="19049">
            <a:solidFill>
              <a:srgbClr val="0000FF"/>
            </a:solidFill>
          </a:ln>
        </p:spPr>
        <p:txBody>
          <a:bodyPr wrap="square" lIns="0" tIns="0" rIns="0" bIns="0" rtlCol="0"/>
          <a:lstStyle/>
          <a:p>
            <a:endParaRPr/>
          </a:p>
        </p:txBody>
      </p:sp>
      <p:sp>
        <p:nvSpPr>
          <p:cNvPr id="22" name="object 22"/>
          <p:cNvSpPr/>
          <p:nvPr/>
        </p:nvSpPr>
        <p:spPr>
          <a:xfrm>
            <a:off x="3912042" y="2018083"/>
            <a:ext cx="90805" cy="62230"/>
          </a:xfrm>
          <a:custGeom>
            <a:avLst/>
            <a:gdLst/>
            <a:ahLst/>
            <a:cxnLst/>
            <a:rect l="l" t="t" r="r" b="b"/>
            <a:pathLst>
              <a:path w="90804" h="62230">
                <a:moveTo>
                  <a:pt x="80599" y="0"/>
                </a:moveTo>
                <a:lnTo>
                  <a:pt x="0" y="44362"/>
                </a:lnTo>
                <a:lnTo>
                  <a:pt x="90274" y="62184"/>
                </a:lnTo>
                <a:lnTo>
                  <a:pt x="80599" y="0"/>
                </a:lnTo>
                <a:close/>
              </a:path>
            </a:pathLst>
          </a:custGeom>
          <a:ln w="19049">
            <a:solidFill>
              <a:srgbClr val="0000FF"/>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23" name="object 23"/>
              <p:cNvSpPr txBox="1"/>
              <p:nvPr/>
            </p:nvSpPr>
            <p:spPr>
              <a:xfrm>
                <a:off x="6928185" y="125128"/>
                <a:ext cx="2215815" cy="1839030"/>
              </a:xfrm>
              <a:prstGeom prst="rect">
                <a:avLst/>
              </a:prstGeom>
            </p:spPr>
            <p:txBody>
              <a:bodyPr vert="horz" wrap="square" lIns="0" tIns="0" rIns="0" bIns="0" rtlCol="0">
                <a:spAutoFit/>
              </a:bodyPr>
              <a:lstStyle/>
              <a:p>
                <a:pPr marL="12700" marR="5080">
                  <a:lnSpc>
                    <a:spcPct val="100699"/>
                  </a:lnSpc>
                </a:pPr>
                <a:r>
                  <a:rPr lang="en-US" sz="1400" b="1" spc="-5" dirty="0">
                    <a:solidFill>
                      <a:srgbClr val="0000FF"/>
                    </a:solidFill>
                    <a:latin typeface="Arial"/>
                    <a:cs typeface="Arial"/>
                  </a:rPr>
                  <a:t>Jacobian matrix: </a:t>
                </a:r>
                <a:r>
                  <a:rPr lang="en-US" sz="1400" spc="-5" dirty="0">
                    <a:solidFill>
                      <a:srgbClr val="0000FF"/>
                    </a:solidFill>
                    <a:latin typeface="Arial"/>
                    <a:cs typeface="Arial"/>
                  </a:rPr>
                  <a:t>derivative of each element of </a:t>
                </a:r>
                <a:r>
                  <a:rPr lang="en-US" sz="1400" dirty="0">
                    <a:solidFill>
                      <a:srgbClr val="0000FF"/>
                    </a:solidFill>
                    <a:latin typeface="Arial"/>
                    <a:cs typeface="Arial"/>
                  </a:rPr>
                  <a:t>z </a:t>
                </a:r>
                <a:r>
                  <a:rPr lang="en-US" sz="1400" spc="-5" dirty="0" err="1">
                    <a:solidFill>
                      <a:srgbClr val="0000FF"/>
                    </a:solidFill>
                    <a:latin typeface="Arial"/>
                    <a:cs typeface="Arial"/>
                  </a:rPr>
                  <a:t>w.r.t.</a:t>
                </a:r>
                <a:r>
                  <a:rPr lang="en-US" sz="1400" spc="-30" dirty="0">
                    <a:solidFill>
                      <a:srgbClr val="0000FF"/>
                    </a:solidFill>
                    <a:latin typeface="Arial"/>
                    <a:cs typeface="Arial"/>
                  </a:rPr>
                  <a:t> </a:t>
                </a:r>
                <a:r>
                  <a:rPr lang="en-US" sz="1400" spc="-5" dirty="0">
                    <a:solidFill>
                      <a:srgbClr val="0000FF"/>
                    </a:solidFill>
                    <a:latin typeface="Arial"/>
                    <a:cs typeface="Arial"/>
                  </a:rPr>
                  <a:t>each element of</a:t>
                </a:r>
                <a:r>
                  <a:rPr lang="en-US" sz="1400" spc="-65" dirty="0">
                    <a:solidFill>
                      <a:srgbClr val="0000FF"/>
                    </a:solidFill>
                    <a:latin typeface="Arial"/>
                    <a:cs typeface="Arial"/>
                  </a:rPr>
                  <a:t> </a:t>
                </a:r>
                <a:r>
                  <a:rPr lang="en-US" sz="1400" dirty="0">
                    <a:solidFill>
                      <a:srgbClr val="0000FF"/>
                    </a:solidFill>
                    <a:latin typeface="Arial"/>
                    <a:cs typeface="Arial"/>
                  </a:rPr>
                  <a:t>x, e.g., for 2D vectors:</a:t>
                </a:r>
                <a:endParaRPr lang="ar-AE" sz="1400" b="0" i="1" dirty="0">
                  <a:solidFill>
                    <a:srgbClr val="0000FF"/>
                  </a:solidFill>
                  <a:latin typeface="Cambria Math" panose="02040503050406030204" pitchFamily="18" charset="0"/>
                  <a:cs typeface="Arial"/>
                </a:endParaRPr>
              </a:p>
              <a:p>
                <a:pPr marL="12700" marR="5080">
                  <a:lnSpc>
                    <a:spcPct val="100699"/>
                  </a:lnSpc>
                </a:pPr>
                <a14:m>
                  <m:oMathPara xmlns:m="http://schemas.openxmlformats.org/officeDocument/2006/math">
                    <m:oMathParaPr>
                      <m:jc m:val="centerGroup"/>
                    </m:oMathParaPr>
                    <m:oMath xmlns:m="http://schemas.openxmlformats.org/officeDocument/2006/math">
                      <m:r>
                        <a:rPr lang="ar-AE" sz="1400" b="0" i="1" dirty="0" smtClean="0">
                          <a:solidFill>
                            <a:srgbClr val="0000FF"/>
                          </a:solidFill>
                          <a:latin typeface="Cambria Math" panose="02040503050406030204" pitchFamily="18" charset="0"/>
                          <a:cs typeface="Arial"/>
                        </a:rPr>
                        <m:t>𝐽</m:t>
                      </m:r>
                      <m:r>
                        <a:rPr lang="ar-AE" sz="1400" i="1" dirty="0" smtClean="0">
                          <a:solidFill>
                            <a:srgbClr val="0000FF"/>
                          </a:solidFill>
                          <a:latin typeface="Cambria Math" panose="02040503050406030204" pitchFamily="18" charset="0"/>
                          <a:cs typeface="Arial"/>
                        </a:rPr>
                        <m:t>=</m:t>
                      </m:r>
                      <m:f>
                        <m:fPr>
                          <m:ctrlPr>
                            <a:rPr lang="ar-AE" sz="1400" b="0" i="1" dirty="0" smtClean="0">
                              <a:solidFill>
                                <a:srgbClr val="0000FF"/>
                              </a:solidFill>
                              <a:latin typeface="Cambria Math" panose="02040503050406030204" pitchFamily="18" charset="0"/>
                              <a:cs typeface="Arial"/>
                            </a:rPr>
                          </m:ctrlPr>
                        </m:fPr>
                        <m:num>
                          <m:r>
                            <a:rPr lang="ar-AE" sz="1400" b="0" i="1" dirty="0" smtClean="0">
                              <a:solidFill>
                                <a:srgbClr val="0000FF"/>
                              </a:solidFill>
                              <a:latin typeface="Cambria Math" panose="02040503050406030204" pitchFamily="18" charset="0"/>
                              <a:cs typeface="Arial"/>
                            </a:rPr>
                            <m:t>𝜕</m:t>
                          </m:r>
                          <m:r>
                            <a:rPr lang="ar-AE" sz="1400" b="1" i="1" dirty="0" smtClean="0">
                              <a:solidFill>
                                <a:srgbClr val="0000FF"/>
                              </a:solidFill>
                              <a:latin typeface="Cambria Math" panose="02040503050406030204" pitchFamily="18" charset="0"/>
                              <a:cs typeface="Arial"/>
                            </a:rPr>
                            <m:t>𝒛</m:t>
                          </m:r>
                        </m:num>
                        <m:den>
                          <m:r>
                            <a:rPr lang="ar-AE" sz="1400" b="0" i="1" dirty="0" smtClean="0">
                              <a:solidFill>
                                <a:srgbClr val="0000FF"/>
                              </a:solidFill>
                              <a:latin typeface="Cambria Math" panose="02040503050406030204" pitchFamily="18" charset="0"/>
                              <a:cs typeface="Arial"/>
                            </a:rPr>
                            <m:t>𝜕</m:t>
                          </m:r>
                          <m:r>
                            <a:rPr lang="ar-AE" sz="1400" b="1" i="1" dirty="0" smtClean="0">
                              <a:solidFill>
                                <a:srgbClr val="0000FF"/>
                              </a:solidFill>
                              <a:latin typeface="Cambria Math" panose="02040503050406030204" pitchFamily="18" charset="0"/>
                              <a:cs typeface="Arial"/>
                            </a:rPr>
                            <m:t>𝒙</m:t>
                          </m:r>
                        </m:den>
                      </m:f>
                      <m:r>
                        <a:rPr lang="ar-AE" altLang="zh-CN" sz="1600" b="0" i="0" smtClean="0">
                          <a:solidFill>
                            <a:srgbClr val="0000FF"/>
                          </a:solidFill>
                          <a:latin typeface="Cambria Math" panose="02040503050406030204" pitchFamily="18" charset="0"/>
                          <a:cs typeface="Arial"/>
                        </a:rPr>
                        <m:t>=</m:t>
                      </m:r>
                      <m:d>
                        <m:dPr>
                          <m:begChr m:val="["/>
                          <m:endChr m:val="]"/>
                          <m:ctrlPr>
                            <a:rPr lang="ar-AE" altLang="zh-CN" sz="1600" b="0" i="1" smtClean="0">
                              <a:solidFill>
                                <a:srgbClr val="0000FF"/>
                              </a:solidFill>
                              <a:latin typeface="Cambria Math" panose="02040503050406030204" pitchFamily="18" charset="0"/>
                              <a:cs typeface="Arial"/>
                            </a:rPr>
                          </m:ctrlPr>
                        </m:dPr>
                        <m:e>
                          <m:m>
                            <m:mPr>
                              <m:mcs>
                                <m:mc>
                                  <m:mcPr>
                                    <m:count m:val="2"/>
                                    <m:mcJc m:val="center"/>
                                  </m:mcPr>
                                </m:mc>
                              </m:mcs>
                              <m:ctrlPr>
                                <a:rPr lang="ar-AE" altLang="zh-CN" sz="1600" b="0" i="1" smtClean="0">
                                  <a:solidFill>
                                    <a:srgbClr val="0000FF"/>
                                  </a:solidFill>
                                  <a:latin typeface="Cambria Math" panose="02040503050406030204" pitchFamily="18" charset="0"/>
                                  <a:cs typeface="Arial"/>
                                </a:rPr>
                              </m:ctrlPr>
                            </m:mPr>
                            <m:mr>
                              <m:e>
                                <m:f>
                                  <m:fPr>
                                    <m:ctrlPr>
                                      <a:rPr lang="ar-AE" altLang="zh-CN" sz="1600" b="0" i="1" smtClean="0">
                                        <a:solidFill>
                                          <a:srgbClr val="0000FF"/>
                                        </a:solidFill>
                                        <a:latin typeface="Cambria Math" panose="02040503050406030204" pitchFamily="18" charset="0"/>
                                        <a:cs typeface="Arial"/>
                                      </a:rPr>
                                    </m:ctrlPr>
                                  </m:fPr>
                                  <m:num>
                                    <m:r>
                                      <a:rPr lang="zh-CN" altLang="ar-AE" sz="1600" b="0" i="1" smtClean="0">
                                        <a:solidFill>
                                          <a:srgbClr val="0000FF"/>
                                        </a:solidFill>
                                        <a:latin typeface="Cambria Math" panose="02040503050406030204" pitchFamily="18" charset="0"/>
                                        <a:cs typeface="Arial"/>
                                      </a:rPr>
                                      <m:t>𝜕</m:t>
                                    </m:r>
                                    <m:sSub>
                                      <m:sSubPr>
                                        <m:ctrlPr>
                                          <a:rPr lang="ar-AE" altLang="zh-CN" sz="1600" b="0" i="1" smtClean="0">
                                            <a:solidFill>
                                              <a:srgbClr val="0000FF"/>
                                            </a:solidFill>
                                            <a:latin typeface="Cambria Math" panose="02040503050406030204" pitchFamily="18" charset="0"/>
                                            <a:cs typeface="Arial"/>
                                          </a:rPr>
                                        </m:ctrlPr>
                                      </m:sSubPr>
                                      <m:e>
                                        <m:r>
                                          <a:rPr lang="zh-CN" altLang="ar-AE" sz="1600" b="0" i="1" smtClean="0">
                                            <a:solidFill>
                                              <a:srgbClr val="0000FF"/>
                                            </a:solidFill>
                                            <a:latin typeface="Cambria Math" panose="02040503050406030204" pitchFamily="18" charset="0"/>
                                            <a:cs typeface="Arial"/>
                                          </a:rPr>
                                          <m:t>𝑧</m:t>
                                        </m:r>
                                      </m:e>
                                      <m:sub>
                                        <m:r>
                                          <a:rPr lang="ar-AE" altLang="zh-CN" sz="1600" b="0" i="1" smtClean="0">
                                            <a:solidFill>
                                              <a:srgbClr val="0000FF"/>
                                            </a:solidFill>
                                            <a:latin typeface="Cambria Math" panose="02040503050406030204" pitchFamily="18" charset="0"/>
                                            <a:cs typeface="Arial"/>
                                          </a:rPr>
                                          <m:t>1</m:t>
                                        </m:r>
                                      </m:sub>
                                    </m:sSub>
                                  </m:num>
                                  <m:den>
                                    <m:r>
                                      <a:rPr lang="zh-CN" altLang="ar-AE" sz="1600" b="0" i="1" smtClean="0">
                                        <a:solidFill>
                                          <a:srgbClr val="0000FF"/>
                                        </a:solidFill>
                                        <a:latin typeface="Cambria Math" panose="02040503050406030204" pitchFamily="18" charset="0"/>
                                        <a:cs typeface="Arial"/>
                                      </a:rPr>
                                      <m:t>𝜕</m:t>
                                    </m:r>
                                    <m:sSub>
                                      <m:sSubPr>
                                        <m:ctrlPr>
                                          <a:rPr lang="ar-AE" altLang="zh-CN" sz="1600" b="0" i="1" smtClean="0">
                                            <a:solidFill>
                                              <a:srgbClr val="0000FF"/>
                                            </a:solidFill>
                                            <a:latin typeface="Cambria Math" panose="02040503050406030204" pitchFamily="18" charset="0"/>
                                            <a:cs typeface="Arial"/>
                                          </a:rPr>
                                        </m:ctrlPr>
                                      </m:sSubPr>
                                      <m:e>
                                        <m:r>
                                          <a:rPr lang="zh-CN" altLang="ar-AE" sz="1600" b="0" i="1" smtClean="0">
                                            <a:solidFill>
                                              <a:srgbClr val="0000FF"/>
                                            </a:solidFill>
                                            <a:latin typeface="Cambria Math" panose="02040503050406030204" pitchFamily="18" charset="0"/>
                                            <a:cs typeface="Arial"/>
                                          </a:rPr>
                                          <m:t>𝑥</m:t>
                                        </m:r>
                                      </m:e>
                                      <m:sub>
                                        <m:r>
                                          <a:rPr lang="ar-AE" altLang="zh-CN" sz="1600" b="0" i="1" smtClean="0">
                                            <a:solidFill>
                                              <a:srgbClr val="0000FF"/>
                                            </a:solidFill>
                                            <a:latin typeface="Cambria Math" panose="02040503050406030204" pitchFamily="18" charset="0"/>
                                            <a:cs typeface="Arial"/>
                                          </a:rPr>
                                          <m:t>1</m:t>
                                        </m:r>
                                      </m:sub>
                                    </m:sSub>
                                  </m:den>
                                </m:f>
                              </m:e>
                              <m:e>
                                <m:f>
                                  <m:fPr>
                                    <m:ctrlPr>
                                      <a:rPr lang="ar-AE" altLang="zh-CN" sz="1600" i="1">
                                        <a:solidFill>
                                          <a:srgbClr val="0000FF"/>
                                        </a:solidFill>
                                        <a:latin typeface="Cambria Math" panose="02040503050406030204" pitchFamily="18" charset="0"/>
                                        <a:cs typeface="Arial"/>
                                      </a:rPr>
                                    </m:ctrlPr>
                                  </m:fPr>
                                  <m:num>
                                    <m:r>
                                      <a:rPr lang="zh-CN" altLang="ar-AE" sz="1600" i="1">
                                        <a:solidFill>
                                          <a:srgbClr val="0000FF"/>
                                        </a:solidFill>
                                        <a:latin typeface="Cambria Math" panose="02040503050406030204" pitchFamily="18" charset="0"/>
                                        <a:cs typeface="Arial"/>
                                      </a:rPr>
                                      <m:t>𝜕</m:t>
                                    </m:r>
                                    <m:sSub>
                                      <m:sSubPr>
                                        <m:ctrlPr>
                                          <a:rPr lang="ar-AE" altLang="zh-CN"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𝑧</m:t>
                                        </m:r>
                                      </m:e>
                                      <m:sub>
                                        <m:r>
                                          <a:rPr lang="ar-AE" altLang="zh-CN" sz="1600" i="1">
                                            <a:solidFill>
                                              <a:srgbClr val="0000FF"/>
                                            </a:solidFill>
                                            <a:latin typeface="Cambria Math" panose="02040503050406030204" pitchFamily="18" charset="0"/>
                                            <a:cs typeface="Arial"/>
                                          </a:rPr>
                                          <m:t>1</m:t>
                                        </m:r>
                                      </m:sub>
                                    </m:sSub>
                                  </m:num>
                                  <m:den>
                                    <m:r>
                                      <a:rPr lang="zh-CN" altLang="ar-AE" sz="1600" i="1">
                                        <a:solidFill>
                                          <a:srgbClr val="0000FF"/>
                                        </a:solidFill>
                                        <a:latin typeface="Cambria Math" panose="02040503050406030204" pitchFamily="18" charset="0"/>
                                        <a:cs typeface="Arial"/>
                                      </a:rPr>
                                      <m:t>𝜕</m:t>
                                    </m:r>
                                    <m:sSub>
                                      <m:sSubPr>
                                        <m:ctrlPr>
                                          <a:rPr lang="ar-AE" altLang="zh-CN"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𝑥</m:t>
                                        </m:r>
                                      </m:e>
                                      <m:sub>
                                        <m:r>
                                          <a:rPr lang="ar-AE" altLang="zh-CN" sz="1600" b="0" i="1" smtClean="0">
                                            <a:solidFill>
                                              <a:srgbClr val="0000FF"/>
                                            </a:solidFill>
                                            <a:latin typeface="Cambria Math" panose="02040503050406030204" pitchFamily="18" charset="0"/>
                                            <a:cs typeface="Arial"/>
                                          </a:rPr>
                                          <m:t>2</m:t>
                                        </m:r>
                                      </m:sub>
                                    </m:sSub>
                                  </m:den>
                                </m:f>
                              </m:e>
                            </m:mr>
                            <m:mr>
                              <m:e>
                                <m:f>
                                  <m:fPr>
                                    <m:ctrlPr>
                                      <a:rPr lang="ar-AE" altLang="zh-CN" sz="1600" i="1">
                                        <a:solidFill>
                                          <a:srgbClr val="0000FF"/>
                                        </a:solidFill>
                                        <a:latin typeface="Cambria Math" panose="02040503050406030204" pitchFamily="18" charset="0"/>
                                        <a:cs typeface="Arial"/>
                                      </a:rPr>
                                    </m:ctrlPr>
                                  </m:fPr>
                                  <m:num>
                                    <m:r>
                                      <a:rPr lang="zh-CN" altLang="ar-AE" sz="1600" i="1">
                                        <a:solidFill>
                                          <a:srgbClr val="0000FF"/>
                                        </a:solidFill>
                                        <a:latin typeface="Cambria Math" panose="02040503050406030204" pitchFamily="18" charset="0"/>
                                        <a:cs typeface="Arial"/>
                                      </a:rPr>
                                      <m:t>𝜕</m:t>
                                    </m:r>
                                    <m:sSub>
                                      <m:sSubPr>
                                        <m:ctrlPr>
                                          <a:rPr lang="ar-AE" altLang="zh-CN"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𝑧</m:t>
                                        </m:r>
                                      </m:e>
                                      <m:sub>
                                        <m:r>
                                          <a:rPr lang="ar-AE" altLang="zh-CN" sz="1600" b="0" i="1" smtClean="0">
                                            <a:solidFill>
                                              <a:srgbClr val="0000FF"/>
                                            </a:solidFill>
                                            <a:latin typeface="Cambria Math" panose="02040503050406030204" pitchFamily="18" charset="0"/>
                                            <a:cs typeface="Arial"/>
                                          </a:rPr>
                                          <m:t>2</m:t>
                                        </m:r>
                                      </m:sub>
                                    </m:sSub>
                                  </m:num>
                                  <m:den>
                                    <m:r>
                                      <a:rPr lang="zh-CN" altLang="ar-AE" sz="1600" i="1">
                                        <a:solidFill>
                                          <a:srgbClr val="0000FF"/>
                                        </a:solidFill>
                                        <a:latin typeface="Cambria Math" panose="02040503050406030204" pitchFamily="18" charset="0"/>
                                        <a:cs typeface="Arial"/>
                                      </a:rPr>
                                      <m:t>𝜕</m:t>
                                    </m:r>
                                    <m:sSub>
                                      <m:sSubPr>
                                        <m:ctrlPr>
                                          <a:rPr lang="ar-AE" altLang="zh-CN"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𝑥</m:t>
                                        </m:r>
                                      </m:e>
                                      <m:sub>
                                        <m:r>
                                          <a:rPr lang="ar-AE" altLang="zh-CN" sz="1600" i="1">
                                            <a:solidFill>
                                              <a:srgbClr val="0000FF"/>
                                            </a:solidFill>
                                            <a:latin typeface="Cambria Math" panose="02040503050406030204" pitchFamily="18" charset="0"/>
                                            <a:cs typeface="Arial"/>
                                          </a:rPr>
                                          <m:t>1</m:t>
                                        </m:r>
                                      </m:sub>
                                    </m:sSub>
                                  </m:den>
                                </m:f>
                              </m:e>
                              <m:e>
                                <m:f>
                                  <m:fPr>
                                    <m:ctrlPr>
                                      <a:rPr lang="ar-AE" altLang="zh-CN" sz="1600" i="1">
                                        <a:solidFill>
                                          <a:srgbClr val="0000FF"/>
                                        </a:solidFill>
                                        <a:latin typeface="Cambria Math" panose="02040503050406030204" pitchFamily="18" charset="0"/>
                                        <a:cs typeface="Arial"/>
                                      </a:rPr>
                                    </m:ctrlPr>
                                  </m:fPr>
                                  <m:num>
                                    <m:r>
                                      <a:rPr lang="zh-CN" altLang="ar-AE" sz="1600" i="1">
                                        <a:solidFill>
                                          <a:srgbClr val="0000FF"/>
                                        </a:solidFill>
                                        <a:latin typeface="Cambria Math" panose="02040503050406030204" pitchFamily="18" charset="0"/>
                                        <a:cs typeface="Arial"/>
                                      </a:rPr>
                                      <m:t>𝜕</m:t>
                                    </m:r>
                                    <m:sSub>
                                      <m:sSubPr>
                                        <m:ctrlPr>
                                          <a:rPr lang="ar-AE" altLang="zh-CN"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𝑧</m:t>
                                        </m:r>
                                      </m:e>
                                      <m:sub>
                                        <m:r>
                                          <a:rPr lang="ar-AE" altLang="zh-CN" sz="1600" b="0" i="1" smtClean="0">
                                            <a:solidFill>
                                              <a:srgbClr val="0000FF"/>
                                            </a:solidFill>
                                            <a:latin typeface="Cambria Math" panose="02040503050406030204" pitchFamily="18" charset="0"/>
                                            <a:cs typeface="Arial"/>
                                          </a:rPr>
                                          <m:t>2</m:t>
                                        </m:r>
                                      </m:sub>
                                    </m:sSub>
                                  </m:num>
                                  <m:den>
                                    <m:r>
                                      <a:rPr lang="zh-CN" altLang="ar-AE" sz="1600" i="1">
                                        <a:solidFill>
                                          <a:srgbClr val="0000FF"/>
                                        </a:solidFill>
                                        <a:latin typeface="Cambria Math" panose="02040503050406030204" pitchFamily="18" charset="0"/>
                                        <a:cs typeface="Arial"/>
                                      </a:rPr>
                                      <m:t>𝜕</m:t>
                                    </m:r>
                                    <m:sSub>
                                      <m:sSubPr>
                                        <m:ctrlPr>
                                          <a:rPr lang="ar-AE" altLang="zh-CN" sz="1600" i="1">
                                            <a:solidFill>
                                              <a:srgbClr val="0000FF"/>
                                            </a:solidFill>
                                            <a:latin typeface="Cambria Math" panose="02040503050406030204" pitchFamily="18" charset="0"/>
                                            <a:cs typeface="Arial"/>
                                          </a:rPr>
                                        </m:ctrlPr>
                                      </m:sSubPr>
                                      <m:e>
                                        <m:r>
                                          <a:rPr lang="zh-CN" altLang="ar-AE" sz="1600" i="1">
                                            <a:solidFill>
                                              <a:srgbClr val="0000FF"/>
                                            </a:solidFill>
                                            <a:latin typeface="Cambria Math" panose="02040503050406030204" pitchFamily="18" charset="0"/>
                                            <a:cs typeface="Arial"/>
                                          </a:rPr>
                                          <m:t>𝑥</m:t>
                                        </m:r>
                                      </m:e>
                                      <m:sub>
                                        <m:r>
                                          <a:rPr lang="ar-AE" altLang="zh-CN" sz="1600" b="0" i="1" smtClean="0">
                                            <a:solidFill>
                                              <a:srgbClr val="0000FF"/>
                                            </a:solidFill>
                                            <a:latin typeface="Cambria Math" panose="02040503050406030204" pitchFamily="18" charset="0"/>
                                            <a:cs typeface="Arial"/>
                                          </a:rPr>
                                          <m:t>2</m:t>
                                        </m:r>
                                      </m:sub>
                                    </m:sSub>
                                  </m:den>
                                </m:f>
                              </m:e>
                            </m:mr>
                          </m:m>
                        </m:e>
                      </m:d>
                    </m:oMath>
                  </m:oMathPara>
                </a14:m>
                <a:endParaRPr lang="ar-AE" sz="1800" dirty="0">
                  <a:latin typeface="Arial"/>
                  <a:cs typeface="Arial"/>
                </a:endParaRPr>
              </a:p>
            </p:txBody>
          </p:sp>
        </mc:Choice>
        <mc:Fallback xmlns="">
          <p:sp>
            <p:nvSpPr>
              <p:cNvPr id="23" name="object 23"/>
              <p:cNvSpPr txBox="1">
                <a:spLocks noRot="1" noChangeAspect="1" noMove="1" noResize="1" noEditPoints="1" noAdjustHandles="1" noChangeArrowheads="1" noChangeShapeType="1" noTextEdit="1"/>
              </p:cNvSpPr>
              <p:nvPr/>
            </p:nvSpPr>
            <p:spPr>
              <a:xfrm>
                <a:off x="6928185" y="125128"/>
                <a:ext cx="2215815" cy="1839030"/>
              </a:xfrm>
              <a:prstGeom prst="rect">
                <a:avLst/>
              </a:prstGeom>
              <a:blipFill>
                <a:blip r:embed="rId7"/>
                <a:stretch>
                  <a:fillRect l="-4408" t="-3654" r="-6612"/>
                </a:stretch>
              </a:blipFill>
            </p:spPr>
            <p:txBody>
              <a:bodyPr/>
              <a:lstStyle/>
              <a:p>
                <a:r>
                  <a:rPr lang="zh-CN" altLang="en-US">
                    <a:noFill/>
                  </a:rPr>
                  <a:t> </a:t>
                </a:r>
              </a:p>
            </p:txBody>
          </p:sp>
        </mc:Fallback>
      </mc:AlternateContent>
      <p:sp>
        <p:nvSpPr>
          <p:cNvPr id="24" name="object 24"/>
          <p:cNvSpPr txBox="1"/>
          <p:nvPr/>
        </p:nvSpPr>
        <p:spPr>
          <a:xfrm>
            <a:off x="53049" y="83207"/>
            <a:ext cx="5524500" cy="550545"/>
          </a:xfrm>
          <a:prstGeom prst="rect">
            <a:avLst/>
          </a:prstGeom>
        </p:spPr>
        <p:txBody>
          <a:bodyPr vert="horz" wrap="square" lIns="0" tIns="0" rIns="0" bIns="0" rtlCol="0">
            <a:spAutoFit/>
          </a:bodyPr>
          <a:lstStyle/>
          <a:p>
            <a:pPr marL="12700">
              <a:lnSpc>
                <a:spcPts val="2485"/>
              </a:lnSpc>
            </a:pPr>
            <a:r>
              <a:rPr sz="2400" spc="-5" dirty="0">
                <a:latin typeface="Arial"/>
                <a:cs typeface="Arial"/>
              </a:rPr>
              <a:t>Gradients for vectorized code </a:t>
            </a:r>
            <a:r>
              <a:rPr sz="2700" spc="-7" baseline="21604" dirty="0">
                <a:solidFill>
                  <a:srgbClr val="0000FF"/>
                </a:solidFill>
                <a:latin typeface="Arial"/>
                <a:cs typeface="Arial"/>
              </a:rPr>
              <a:t>(x,y,z are</a:t>
            </a:r>
            <a:r>
              <a:rPr sz="2700" spc="262" baseline="21604" dirty="0">
                <a:solidFill>
                  <a:srgbClr val="0000FF"/>
                </a:solidFill>
                <a:latin typeface="Arial"/>
                <a:cs typeface="Arial"/>
              </a:rPr>
              <a:t> </a:t>
            </a:r>
            <a:r>
              <a:rPr sz="2700" spc="-7" baseline="21604" dirty="0">
                <a:solidFill>
                  <a:srgbClr val="0000FF"/>
                </a:solidFill>
                <a:latin typeface="Arial"/>
                <a:cs typeface="Arial"/>
              </a:rPr>
              <a:t>now</a:t>
            </a:r>
            <a:endParaRPr sz="2700" baseline="21604">
              <a:latin typeface="Arial"/>
              <a:cs typeface="Arial"/>
            </a:endParaRPr>
          </a:p>
          <a:p>
            <a:pPr marR="614045" algn="r">
              <a:lnSpc>
                <a:spcPts val="1764"/>
              </a:lnSpc>
            </a:pPr>
            <a:r>
              <a:rPr sz="1800" spc="-5" dirty="0">
                <a:solidFill>
                  <a:srgbClr val="0000FF"/>
                </a:solidFill>
                <a:latin typeface="Arial"/>
                <a:cs typeface="Arial"/>
              </a:rPr>
              <a:t>vectors)</a:t>
            </a:r>
            <a:endParaRPr sz="1800">
              <a:latin typeface="Arial"/>
              <a:cs typeface="Arial"/>
            </a:endParaRPr>
          </a:p>
        </p:txBody>
      </p:sp>
      <p:sp>
        <p:nvSpPr>
          <p:cNvPr id="25" name="object 25"/>
          <p:cNvSpPr/>
          <p:nvPr/>
        </p:nvSpPr>
        <p:spPr>
          <a:xfrm>
            <a:off x="7164960" y="2859994"/>
            <a:ext cx="514348" cy="676248"/>
          </a:xfrm>
          <a:prstGeom prst="rect">
            <a:avLst/>
          </a:prstGeom>
          <a:blipFill>
            <a:blip r:embed="rId8" cstate="print"/>
            <a:stretch>
              <a:fillRect/>
            </a:stretch>
          </a:blipFill>
        </p:spPr>
        <p:txBody>
          <a:bodyPr wrap="square" lIns="0" tIns="0" rIns="0" bIns="0" rtlCol="0"/>
          <a:lstStyle/>
          <a:p>
            <a:endParaRPr/>
          </a:p>
        </p:txBody>
      </p:sp>
      <p:sp>
        <p:nvSpPr>
          <p:cNvPr id="26" name="object 26"/>
          <p:cNvSpPr/>
          <p:nvPr/>
        </p:nvSpPr>
        <p:spPr>
          <a:xfrm>
            <a:off x="7155460" y="2850469"/>
            <a:ext cx="533400" cy="695325"/>
          </a:xfrm>
          <a:custGeom>
            <a:avLst/>
            <a:gdLst/>
            <a:ahLst/>
            <a:cxnLst/>
            <a:rect l="l" t="t" r="r" b="b"/>
            <a:pathLst>
              <a:path w="533400" h="695325">
                <a:moveTo>
                  <a:pt x="0" y="0"/>
                </a:moveTo>
                <a:lnTo>
                  <a:pt x="533373" y="0"/>
                </a:lnTo>
                <a:lnTo>
                  <a:pt x="533373" y="695323"/>
                </a:lnTo>
                <a:lnTo>
                  <a:pt x="0" y="695323"/>
                </a:lnTo>
                <a:lnTo>
                  <a:pt x="0" y="0"/>
                </a:lnTo>
                <a:close/>
              </a:path>
            </a:pathLst>
          </a:custGeom>
          <a:ln w="19049">
            <a:solidFill>
              <a:srgbClr val="FF0000"/>
            </a:solidFill>
          </a:ln>
        </p:spPr>
        <p:txBody>
          <a:bodyPr wrap="square" lIns="0" tIns="0" rIns="0" bIns="0" rtlCol="0"/>
          <a:lstStyle/>
          <a:p>
            <a:endParaRPr/>
          </a:p>
        </p:txBody>
      </p:sp>
      <p:sp>
        <p:nvSpPr>
          <p:cNvPr id="27" name="object 27"/>
          <p:cNvSpPr txBox="1"/>
          <p:nvPr/>
        </p:nvSpPr>
        <p:spPr>
          <a:xfrm>
            <a:off x="1017667" y="1330188"/>
            <a:ext cx="4359910" cy="2653665"/>
          </a:xfrm>
          <a:prstGeom prst="rect">
            <a:avLst/>
          </a:prstGeom>
        </p:spPr>
        <p:txBody>
          <a:bodyPr vert="horz" wrap="square" lIns="0" tIns="0" rIns="0" bIns="0" rtlCol="0">
            <a:spAutoFit/>
          </a:bodyPr>
          <a:lstStyle/>
          <a:p>
            <a:pPr marR="2814955" algn="ctr">
              <a:lnSpc>
                <a:spcPct val="100000"/>
              </a:lnSpc>
            </a:pPr>
            <a:r>
              <a:rPr sz="1800" spc="-5" dirty="0">
                <a:solidFill>
                  <a:srgbClr val="FF0000"/>
                </a:solidFill>
                <a:latin typeface="Arial"/>
                <a:cs typeface="Arial"/>
              </a:rPr>
              <a:t>“local</a:t>
            </a:r>
            <a:r>
              <a:rPr sz="1800" spc="-35" dirty="0">
                <a:solidFill>
                  <a:srgbClr val="FF0000"/>
                </a:solidFill>
                <a:latin typeface="Arial"/>
                <a:cs typeface="Arial"/>
              </a:rPr>
              <a:t> </a:t>
            </a:r>
            <a:r>
              <a:rPr sz="1800" spc="-5" dirty="0">
                <a:solidFill>
                  <a:srgbClr val="FF0000"/>
                </a:solidFill>
                <a:latin typeface="Arial"/>
                <a:cs typeface="Arial"/>
              </a:rPr>
              <a:t>gradient”</a:t>
            </a:r>
            <a:endParaRPr sz="1800" dirty="0">
              <a:latin typeface="Arial"/>
              <a:cs typeface="Arial"/>
            </a:endParaRPr>
          </a:p>
          <a:p>
            <a:pPr>
              <a:lnSpc>
                <a:spcPct val="100000"/>
              </a:lnSpc>
            </a:pPr>
            <a:endParaRPr sz="1800" dirty="0">
              <a:latin typeface="Times New Roman"/>
              <a:cs typeface="Times New Roman"/>
            </a:endParaRPr>
          </a:p>
          <a:p>
            <a:pPr>
              <a:lnSpc>
                <a:spcPct val="100000"/>
              </a:lnSpc>
            </a:pPr>
            <a:endParaRPr sz="2350" dirty="0">
              <a:latin typeface="Times New Roman"/>
              <a:cs typeface="Times New Roman"/>
            </a:endParaRPr>
          </a:p>
          <a:p>
            <a:pPr marR="2941320" algn="ctr">
              <a:lnSpc>
                <a:spcPct val="100000"/>
              </a:lnSpc>
            </a:pPr>
            <a:r>
              <a:rPr sz="4800" spc="-5" dirty="0">
                <a:latin typeface="Arial"/>
                <a:cs typeface="Arial"/>
              </a:rPr>
              <a:t>f</a:t>
            </a:r>
            <a:endParaRPr sz="4800" dirty="0">
              <a:latin typeface="Arial"/>
              <a:cs typeface="Arial"/>
            </a:endParaRPr>
          </a:p>
          <a:p>
            <a:pPr>
              <a:lnSpc>
                <a:spcPct val="100000"/>
              </a:lnSpc>
              <a:spcBef>
                <a:spcPts val="45"/>
              </a:spcBef>
            </a:pPr>
            <a:endParaRPr sz="3900" dirty="0">
              <a:latin typeface="Times New Roman"/>
              <a:cs typeface="Times New Roman"/>
            </a:endParaRPr>
          </a:p>
          <a:p>
            <a:pPr marL="2779395">
              <a:lnSpc>
                <a:spcPct val="100000"/>
              </a:lnSpc>
            </a:pPr>
            <a:r>
              <a:rPr sz="3000" spc="-5" dirty="0">
                <a:solidFill>
                  <a:srgbClr val="FF0000"/>
                </a:solidFill>
                <a:latin typeface="Arial"/>
                <a:cs typeface="Arial"/>
              </a:rPr>
              <a:t>gradients</a:t>
            </a:r>
            <a:endParaRPr sz="3000" dirty="0">
              <a:latin typeface="Arial"/>
              <a:cs typeface="Arial"/>
            </a:endParaRPr>
          </a:p>
        </p:txBody>
      </p:sp>
      <p:sp>
        <p:nvSpPr>
          <p:cNvPr id="28" name="object 28"/>
          <p:cNvSpPr/>
          <p:nvPr/>
        </p:nvSpPr>
        <p:spPr>
          <a:xfrm>
            <a:off x="799523" y="1169235"/>
            <a:ext cx="2129395" cy="1553146"/>
          </a:xfrm>
          <a:prstGeom prst="rect">
            <a:avLst/>
          </a:prstGeom>
          <a:blipFill>
            <a:blip r:embed="rId9" cstate="print"/>
            <a:stretch>
              <a:fillRect/>
            </a:stretch>
          </a:blipFill>
        </p:spPr>
        <p:txBody>
          <a:bodyPr wrap="square" lIns="0" tIns="0" rIns="0" bIns="0" rtlCol="0"/>
          <a:lstStyle/>
          <a:p>
            <a:endParaRPr/>
          </a:p>
        </p:txBody>
      </p:sp>
      <p:sp>
        <p:nvSpPr>
          <p:cNvPr id="29" name="object 29"/>
          <p:cNvSpPr/>
          <p:nvPr/>
        </p:nvSpPr>
        <p:spPr>
          <a:xfrm>
            <a:off x="784738" y="1198737"/>
            <a:ext cx="811530" cy="833119"/>
          </a:xfrm>
          <a:custGeom>
            <a:avLst/>
            <a:gdLst/>
            <a:ahLst/>
            <a:cxnLst/>
            <a:rect l="l" t="t" r="r" b="b"/>
            <a:pathLst>
              <a:path w="811530" h="833119">
                <a:moveTo>
                  <a:pt x="281399" y="0"/>
                </a:moveTo>
                <a:lnTo>
                  <a:pt x="811198" y="260399"/>
                </a:lnTo>
                <a:lnTo>
                  <a:pt x="529798" y="833098"/>
                </a:lnTo>
                <a:lnTo>
                  <a:pt x="0" y="572698"/>
                </a:lnTo>
                <a:lnTo>
                  <a:pt x="281399" y="0"/>
                </a:lnTo>
                <a:close/>
              </a:path>
            </a:pathLst>
          </a:custGeom>
          <a:ln w="19049">
            <a:solidFill>
              <a:srgbClr val="FF0000"/>
            </a:solidFill>
          </a:ln>
        </p:spPr>
        <p:txBody>
          <a:bodyPr wrap="square" lIns="0" tIns="0" rIns="0" bIns="0" rtlCol="0"/>
          <a:lstStyle/>
          <a:p>
            <a:endParaRPr/>
          </a:p>
        </p:txBody>
      </p:sp>
      <p:sp>
        <p:nvSpPr>
          <p:cNvPr id="30" name="object 30"/>
          <p:cNvSpPr/>
          <p:nvPr/>
        </p:nvSpPr>
        <p:spPr>
          <a:xfrm>
            <a:off x="1053370" y="1111865"/>
            <a:ext cx="2042795" cy="901700"/>
          </a:xfrm>
          <a:custGeom>
            <a:avLst/>
            <a:gdLst/>
            <a:ahLst/>
            <a:cxnLst/>
            <a:rect l="l" t="t" r="r" b="b"/>
            <a:pathLst>
              <a:path w="2042795" h="901700">
                <a:moveTo>
                  <a:pt x="2042523" y="901255"/>
                </a:moveTo>
                <a:lnTo>
                  <a:pt x="0" y="0"/>
                </a:lnTo>
              </a:path>
            </a:pathLst>
          </a:custGeom>
          <a:ln w="19049">
            <a:solidFill>
              <a:srgbClr val="FF0000"/>
            </a:solidFill>
          </a:ln>
        </p:spPr>
        <p:txBody>
          <a:bodyPr wrap="square" lIns="0" tIns="0" rIns="0" bIns="0" rtlCol="0"/>
          <a:lstStyle/>
          <a:p>
            <a:endParaRPr/>
          </a:p>
        </p:txBody>
      </p:sp>
      <p:sp>
        <p:nvSpPr>
          <p:cNvPr id="31" name="object 31"/>
          <p:cNvSpPr/>
          <p:nvPr/>
        </p:nvSpPr>
        <p:spPr>
          <a:xfrm>
            <a:off x="974278" y="1076965"/>
            <a:ext cx="92075" cy="64135"/>
          </a:xfrm>
          <a:custGeom>
            <a:avLst/>
            <a:gdLst/>
            <a:ahLst/>
            <a:cxnLst/>
            <a:rect l="l" t="t" r="r" b="b"/>
            <a:pathLst>
              <a:path w="92075" h="64134">
                <a:moveTo>
                  <a:pt x="91794" y="6112"/>
                </a:moveTo>
                <a:lnTo>
                  <a:pt x="0" y="0"/>
                </a:lnTo>
                <a:lnTo>
                  <a:pt x="66389" y="63687"/>
                </a:lnTo>
                <a:lnTo>
                  <a:pt x="91794" y="6112"/>
                </a:lnTo>
                <a:close/>
              </a:path>
            </a:pathLst>
          </a:custGeom>
          <a:ln w="19049">
            <a:solidFill>
              <a:srgbClr val="FF0000"/>
            </a:solidFill>
          </a:ln>
        </p:spPr>
        <p:txBody>
          <a:bodyPr wrap="square" lIns="0" tIns="0" rIns="0" bIns="0" rtlCol="0"/>
          <a:lstStyle/>
          <a:p>
            <a:endParaRPr/>
          </a:p>
        </p:txBody>
      </p:sp>
      <p:sp>
        <p:nvSpPr>
          <p:cNvPr id="33" name="Slide Number Placeholder 32">
            <a:extLst>
              <a:ext uri="{FF2B5EF4-FFF2-40B4-BE49-F238E27FC236}">
                <a16:creationId xmlns:a16="http://schemas.microsoft.com/office/drawing/2014/main" id="{C0852ADB-EDC1-A36C-91C4-0AD15EDA3BF0}"/>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78</a:t>
            </a:fld>
            <a:endParaRPr lang="en-US" altLang="zh-CN" spc="-5" dirty="0"/>
          </a:p>
        </p:txBody>
      </p:sp>
      <p:sp>
        <p:nvSpPr>
          <p:cNvPr id="2" name="Slide Number Placeholder 1">
            <a:extLst>
              <a:ext uri="{FF2B5EF4-FFF2-40B4-BE49-F238E27FC236}">
                <a16:creationId xmlns:a16="http://schemas.microsoft.com/office/drawing/2014/main" id="{35B2797A-61F2-DA4C-1A4A-5851F7784B20}"/>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78</a:t>
            </a:fld>
            <a:endParaRPr lang="en" sz="1000"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bject 21"/>
          <p:cNvSpPr txBox="1"/>
          <p:nvPr/>
        </p:nvSpPr>
        <p:spPr>
          <a:xfrm>
            <a:off x="6365865" y="2229057"/>
            <a:ext cx="1492885" cy="619760"/>
          </a:xfrm>
          <a:prstGeom prst="rect">
            <a:avLst/>
          </a:prstGeom>
        </p:spPr>
        <p:txBody>
          <a:bodyPr vert="horz" wrap="square" lIns="0" tIns="0" rIns="0" bIns="0" rtlCol="0">
            <a:spAutoFit/>
          </a:bodyPr>
          <a:lstStyle/>
          <a:p>
            <a:pPr marL="12700">
              <a:lnSpc>
                <a:spcPct val="100000"/>
              </a:lnSpc>
            </a:pPr>
            <a:r>
              <a:rPr sz="2000" spc="-5" dirty="0">
                <a:latin typeface="Arial"/>
                <a:cs typeface="Arial"/>
              </a:rPr>
              <a:t>4096-d</a:t>
            </a:r>
            <a:endParaRPr sz="2000">
              <a:latin typeface="Arial"/>
              <a:cs typeface="Arial"/>
            </a:endParaRPr>
          </a:p>
          <a:p>
            <a:pPr marL="12700">
              <a:lnSpc>
                <a:spcPct val="100000"/>
              </a:lnSpc>
            </a:pPr>
            <a:r>
              <a:rPr sz="2000" spc="-5" dirty="0">
                <a:latin typeface="Arial"/>
                <a:cs typeface="Arial"/>
              </a:rPr>
              <a:t>output</a:t>
            </a:r>
            <a:r>
              <a:rPr sz="2000" spc="-55" dirty="0">
                <a:latin typeface="Arial"/>
                <a:cs typeface="Arial"/>
              </a:rPr>
              <a:t> </a:t>
            </a:r>
            <a:r>
              <a:rPr sz="2000" spc="-5" dirty="0">
                <a:latin typeface="Arial"/>
                <a:cs typeface="Arial"/>
              </a:rPr>
              <a:t>vector</a:t>
            </a:r>
            <a:endParaRPr sz="2000">
              <a:latin typeface="Arial"/>
              <a:cs typeface="Arial"/>
            </a:endParaRPr>
          </a:p>
        </p:txBody>
      </p:sp>
      <p:sp>
        <p:nvSpPr>
          <p:cNvPr id="22" name="object 22"/>
          <p:cNvSpPr txBox="1"/>
          <p:nvPr/>
        </p:nvSpPr>
        <p:spPr>
          <a:xfrm>
            <a:off x="400099" y="2229057"/>
            <a:ext cx="2808605" cy="1998111"/>
          </a:xfrm>
          <a:prstGeom prst="rect">
            <a:avLst/>
          </a:prstGeom>
        </p:spPr>
        <p:txBody>
          <a:bodyPr vert="horz" wrap="square" lIns="0" tIns="0" rIns="0" bIns="0" rtlCol="0">
            <a:spAutoFit/>
          </a:bodyPr>
          <a:lstStyle/>
          <a:p>
            <a:pPr marL="390525">
              <a:lnSpc>
                <a:spcPct val="100000"/>
              </a:lnSpc>
              <a:tabLst>
                <a:tab pos="2115820" algn="l"/>
                <a:tab pos="2795270" algn="l"/>
              </a:tabLst>
            </a:pPr>
            <a:r>
              <a:rPr sz="2000" spc="-5" dirty="0">
                <a:latin typeface="Arial"/>
                <a:cs typeface="Arial"/>
              </a:rPr>
              <a:t>4096-d	</a:t>
            </a:r>
            <a:r>
              <a:rPr sz="2000" u="sng" spc="-5" dirty="0">
                <a:latin typeface="Times New Roman"/>
                <a:cs typeface="Times New Roman"/>
              </a:rPr>
              <a:t> 	</a:t>
            </a:r>
            <a:endParaRPr sz="2000" dirty="0">
              <a:latin typeface="Times New Roman"/>
              <a:cs typeface="Times New Roman"/>
            </a:endParaRPr>
          </a:p>
          <a:p>
            <a:pPr marL="390525">
              <a:lnSpc>
                <a:spcPct val="100000"/>
              </a:lnSpc>
              <a:tabLst>
                <a:tab pos="2115820" algn="l"/>
                <a:tab pos="2795270" algn="l"/>
              </a:tabLst>
            </a:pPr>
            <a:r>
              <a:rPr sz="2000" spc="-5" dirty="0">
                <a:latin typeface="Arial"/>
                <a:cs typeface="Arial"/>
              </a:rPr>
              <a:t>input</a:t>
            </a:r>
            <a:r>
              <a:rPr sz="2000" spc="-60" dirty="0">
                <a:latin typeface="Arial"/>
                <a:cs typeface="Arial"/>
              </a:rPr>
              <a:t> </a:t>
            </a:r>
            <a:r>
              <a:rPr sz="2000" spc="-5" dirty="0">
                <a:latin typeface="Arial"/>
                <a:cs typeface="Arial"/>
              </a:rPr>
              <a:t>vector	</a:t>
            </a:r>
            <a:r>
              <a:rPr sz="2000" u="sng" spc="-5" dirty="0">
                <a:latin typeface="Times New Roman"/>
                <a:cs typeface="Times New Roman"/>
              </a:rPr>
              <a:t> 	</a:t>
            </a:r>
            <a:endParaRPr sz="2000" dirty="0">
              <a:latin typeface="Times New Roman"/>
              <a:cs typeface="Times New Roman"/>
            </a:endParaRPr>
          </a:p>
          <a:p>
            <a:pPr>
              <a:lnSpc>
                <a:spcPct val="100000"/>
              </a:lnSpc>
              <a:spcBef>
                <a:spcPts val="50"/>
              </a:spcBef>
            </a:pPr>
            <a:endParaRPr sz="1800" dirty="0">
              <a:latin typeface="Times New Roman"/>
              <a:cs typeface="Times New Roman"/>
            </a:endParaRPr>
          </a:p>
          <a:p>
            <a:pPr marL="12700" marR="484505">
              <a:lnSpc>
                <a:spcPts val="2850"/>
              </a:lnSpc>
            </a:pPr>
            <a:r>
              <a:rPr lang="en-US" altLang="zh-CN" sz="2000" spc="-5" dirty="0">
                <a:solidFill>
                  <a:srgbClr val="0000FF"/>
                </a:solidFill>
                <a:latin typeface="Arial"/>
                <a:cs typeface="Arial"/>
              </a:rPr>
              <a:t>S</a:t>
            </a:r>
            <a:r>
              <a:rPr sz="2000" spc="-5" dirty="0">
                <a:solidFill>
                  <a:srgbClr val="0000FF"/>
                </a:solidFill>
                <a:latin typeface="Arial"/>
                <a:cs typeface="Arial"/>
              </a:rPr>
              <a:t>ize of Jacobian</a:t>
            </a:r>
            <a:r>
              <a:rPr sz="2000" spc="-35" dirty="0">
                <a:solidFill>
                  <a:srgbClr val="0000FF"/>
                </a:solidFill>
                <a:latin typeface="Arial"/>
                <a:cs typeface="Arial"/>
              </a:rPr>
              <a:t> </a:t>
            </a:r>
            <a:r>
              <a:rPr sz="2000" spc="-5" dirty="0">
                <a:solidFill>
                  <a:srgbClr val="0000FF"/>
                </a:solidFill>
                <a:latin typeface="Arial"/>
                <a:cs typeface="Arial"/>
              </a:rPr>
              <a:t>matrix</a:t>
            </a:r>
            <a:r>
              <a:rPr lang="en-US" sz="2000" spc="-5" dirty="0">
                <a:solidFill>
                  <a:srgbClr val="0000FF"/>
                </a:solidFill>
                <a:latin typeface="Arial"/>
                <a:cs typeface="Arial"/>
              </a:rPr>
              <a:t>:</a:t>
            </a:r>
          </a:p>
          <a:p>
            <a:pPr marL="12700" marR="484505">
              <a:lnSpc>
                <a:spcPts val="2850"/>
              </a:lnSpc>
            </a:pPr>
            <a:r>
              <a:rPr sz="2000" spc="-5" dirty="0">
                <a:solidFill>
                  <a:srgbClr val="0000FF"/>
                </a:solidFill>
                <a:latin typeface="Arial"/>
                <a:cs typeface="Arial"/>
              </a:rPr>
              <a:t>[4096 </a:t>
            </a:r>
            <a:r>
              <a:rPr sz="2000" dirty="0">
                <a:solidFill>
                  <a:srgbClr val="0000FF"/>
                </a:solidFill>
                <a:latin typeface="Arial"/>
                <a:cs typeface="Arial"/>
              </a:rPr>
              <a:t>x</a:t>
            </a:r>
            <a:r>
              <a:rPr sz="2000" spc="-60" dirty="0">
                <a:solidFill>
                  <a:srgbClr val="0000FF"/>
                </a:solidFill>
                <a:latin typeface="Arial"/>
                <a:cs typeface="Arial"/>
              </a:rPr>
              <a:t> </a:t>
            </a:r>
            <a:r>
              <a:rPr sz="2000" spc="-5" dirty="0">
                <a:solidFill>
                  <a:srgbClr val="0000FF"/>
                </a:solidFill>
                <a:latin typeface="Arial"/>
                <a:cs typeface="Arial"/>
              </a:rPr>
              <a:t>4096]</a:t>
            </a:r>
            <a:endParaRPr sz="2000" dirty="0">
              <a:latin typeface="Arial"/>
              <a:cs typeface="Arial"/>
            </a:endParaRPr>
          </a:p>
        </p:txBody>
      </p:sp>
      <p:sp>
        <p:nvSpPr>
          <p:cNvPr id="24" name="object 24"/>
          <p:cNvSpPr txBox="1">
            <a:spLocks noGrp="1"/>
          </p:cNvSpPr>
          <p:nvPr>
            <p:ph type="title"/>
          </p:nvPr>
        </p:nvSpPr>
        <p:spPr>
          <a:xfrm>
            <a:off x="729355" y="0"/>
            <a:ext cx="3570489" cy="572700"/>
          </a:xfrm>
          <a:prstGeom prst="rect">
            <a:avLst/>
          </a:prstGeom>
        </p:spPr>
        <p:txBody>
          <a:bodyPr vert="horz" wrap="square" lIns="0" tIns="182344" rIns="0" bIns="0" rtlCol="0">
            <a:spAutoFit/>
          </a:bodyPr>
          <a:lstStyle/>
          <a:p>
            <a:pPr marL="412115">
              <a:lnSpc>
                <a:spcPct val="100000"/>
              </a:lnSpc>
            </a:pPr>
            <a:r>
              <a:rPr sz="2400" spc="-5" dirty="0">
                <a:solidFill>
                  <a:schemeClr val="bg2"/>
                </a:solidFill>
              </a:rPr>
              <a:t>Vectorized</a:t>
            </a:r>
            <a:r>
              <a:rPr sz="2400" spc="-20" dirty="0">
                <a:solidFill>
                  <a:schemeClr val="bg2"/>
                </a:solidFill>
              </a:rPr>
              <a:t> </a:t>
            </a:r>
            <a:r>
              <a:rPr sz="2400" spc="-5" dirty="0">
                <a:solidFill>
                  <a:schemeClr val="bg2"/>
                </a:solidFill>
              </a:rPr>
              <a:t>operations</a:t>
            </a:r>
            <a:endParaRPr sz="2400" dirty="0">
              <a:solidFill>
                <a:schemeClr val="bg2"/>
              </a:solidFill>
            </a:endParaRPr>
          </a:p>
        </p:txBody>
      </p:sp>
      <p:sp>
        <p:nvSpPr>
          <p:cNvPr id="25" name="object 25"/>
          <p:cNvSpPr txBox="1"/>
          <p:nvPr/>
        </p:nvSpPr>
        <p:spPr>
          <a:xfrm>
            <a:off x="7240334" y="1022278"/>
            <a:ext cx="1625600" cy="285115"/>
          </a:xfrm>
          <a:prstGeom prst="rect">
            <a:avLst/>
          </a:prstGeom>
        </p:spPr>
        <p:txBody>
          <a:bodyPr vert="horz" wrap="square" lIns="0" tIns="0" rIns="0" bIns="0" rtlCol="0">
            <a:spAutoFit/>
          </a:bodyPr>
          <a:lstStyle/>
          <a:p>
            <a:pPr marL="12700">
              <a:lnSpc>
                <a:spcPct val="100000"/>
              </a:lnSpc>
            </a:pPr>
            <a:r>
              <a:rPr sz="1800" spc="-5" dirty="0">
                <a:solidFill>
                  <a:srgbClr val="0000FF"/>
                </a:solidFill>
                <a:latin typeface="Arial"/>
                <a:cs typeface="Arial"/>
              </a:rPr>
              <a:t>Jacobian</a:t>
            </a:r>
            <a:r>
              <a:rPr sz="1800" spc="-40" dirty="0">
                <a:solidFill>
                  <a:srgbClr val="0000FF"/>
                </a:solidFill>
                <a:latin typeface="Arial"/>
                <a:cs typeface="Arial"/>
              </a:rPr>
              <a:t> </a:t>
            </a:r>
            <a:r>
              <a:rPr sz="1800" spc="-5" dirty="0">
                <a:solidFill>
                  <a:srgbClr val="0000FF"/>
                </a:solidFill>
                <a:latin typeface="Arial"/>
                <a:cs typeface="Arial"/>
              </a:rPr>
              <a:t>matrix</a:t>
            </a:r>
            <a:endParaRPr sz="1800">
              <a:latin typeface="Arial"/>
              <a:cs typeface="Arial"/>
            </a:endParaRPr>
          </a:p>
        </p:txBody>
      </p:sp>
      <p:sp>
        <p:nvSpPr>
          <p:cNvPr id="27" name="object 27"/>
          <p:cNvSpPr/>
          <p:nvPr/>
        </p:nvSpPr>
        <p:spPr>
          <a:xfrm>
            <a:off x="6338412" y="106662"/>
            <a:ext cx="2047870" cy="790573"/>
          </a:xfrm>
          <a:prstGeom prst="rect">
            <a:avLst/>
          </a:prstGeom>
          <a:blipFill>
            <a:blip r:embed="rId3" cstate="print"/>
            <a:stretch>
              <a:fillRect/>
            </a:stretch>
          </a:blipFill>
        </p:spPr>
        <p:txBody>
          <a:bodyPr wrap="square" lIns="0" tIns="0" rIns="0" bIns="0" rtlCol="0"/>
          <a:lstStyle/>
          <a:p>
            <a:endParaRPr/>
          </a:p>
        </p:txBody>
      </p:sp>
      <p:sp>
        <p:nvSpPr>
          <p:cNvPr id="28" name="object 28"/>
          <p:cNvSpPr/>
          <p:nvPr/>
        </p:nvSpPr>
        <p:spPr>
          <a:xfrm>
            <a:off x="7394835" y="78224"/>
            <a:ext cx="467995" cy="790575"/>
          </a:xfrm>
          <a:custGeom>
            <a:avLst/>
            <a:gdLst/>
            <a:ahLst/>
            <a:cxnLst/>
            <a:rect l="l" t="t" r="r" b="b"/>
            <a:pathLst>
              <a:path w="467995" h="790575">
                <a:moveTo>
                  <a:pt x="0" y="0"/>
                </a:moveTo>
                <a:lnTo>
                  <a:pt x="467699" y="0"/>
                </a:lnTo>
                <a:lnTo>
                  <a:pt x="467699" y="790498"/>
                </a:lnTo>
                <a:lnTo>
                  <a:pt x="0" y="790498"/>
                </a:lnTo>
                <a:lnTo>
                  <a:pt x="0" y="0"/>
                </a:lnTo>
                <a:close/>
              </a:path>
            </a:pathLst>
          </a:custGeom>
          <a:ln w="28574">
            <a:solidFill>
              <a:srgbClr val="0000FF"/>
            </a:solidFill>
          </a:ln>
        </p:spPr>
        <p:txBody>
          <a:bodyPr wrap="square" lIns="0" tIns="0" rIns="0" bIns="0" rtlCol="0"/>
          <a:lstStyle/>
          <a:p>
            <a:endParaRPr/>
          </a:p>
        </p:txBody>
      </p:sp>
      <p:pic>
        <p:nvPicPr>
          <p:cNvPr id="32" name="图片 31"/>
          <p:cNvPicPr>
            <a:picLocks noChangeAspect="1"/>
          </p:cNvPicPr>
          <p:nvPr/>
        </p:nvPicPr>
        <p:blipFill>
          <a:blip r:embed="rId4"/>
          <a:stretch>
            <a:fillRect/>
          </a:stretch>
        </p:blipFill>
        <p:spPr>
          <a:xfrm>
            <a:off x="2514600" y="1428750"/>
            <a:ext cx="3317577" cy="2774216"/>
          </a:xfrm>
          <a:prstGeom prst="rect">
            <a:avLst/>
          </a:prstGeom>
        </p:spPr>
      </p:pic>
      <p:sp>
        <p:nvSpPr>
          <p:cNvPr id="4" name="Slide Number Placeholder 3">
            <a:extLst>
              <a:ext uri="{FF2B5EF4-FFF2-40B4-BE49-F238E27FC236}">
                <a16:creationId xmlns:a16="http://schemas.microsoft.com/office/drawing/2014/main" id="{5C3B4DD5-C220-03FB-E64A-28957C2035A2}"/>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79</a:t>
            </a:fld>
            <a:endParaRPr lang="en-US" altLang="zh-CN" spc="-5" dirty="0"/>
          </a:p>
        </p:txBody>
      </p:sp>
      <p:sp>
        <p:nvSpPr>
          <p:cNvPr id="2" name="Slide Number Placeholder 1">
            <a:extLst>
              <a:ext uri="{FF2B5EF4-FFF2-40B4-BE49-F238E27FC236}">
                <a16:creationId xmlns:a16="http://schemas.microsoft.com/office/drawing/2014/main" id="{07D17306-B878-13C3-66FC-35EA2DA92619}"/>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79</a:t>
            </a:fld>
            <a:endParaRPr lang="en" sz="1000" dirty="0">
              <a:latin typeface="Lato" panose="020F0502020204030203" pitchFamily="34" charset="0"/>
              <a:ea typeface="Lato" panose="020F0502020204030203" pitchFamily="34" charset="0"/>
              <a:cs typeface="Lato" panose="020F0502020204030203" pitchFamily="34" charset="0"/>
            </a:endParaRPr>
          </a:p>
        </p:txBody>
      </p:sp>
      <p:sp>
        <p:nvSpPr>
          <p:cNvPr id="3" name="object 24">
            <a:extLst>
              <a:ext uri="{FF2B5EF4-FFF2-40B4-BE49-F238E27FC236}">
                <a16:creationId xmlns:a16="http://schemas.microsoft.com/office/drawing/2014/main" id="{C86ADC2F-097F-854E-B672-E645E4B20E4D}"/>
              </a:ext>
            </a:extLst>
          </p:cNvPr>
          <p:cNvSpPr txBox="1"/>
          <p:nvPr/>
        </p:nvSpPr>
        <p:spPr>
          <a:xfrm>
            <a:off x="250438" y="1363700"/>
            <a:ext cx="2679700" cy="291555"/>
          </a:xfrm>
          <a:prstGeom prst="rect">
            <a:avLst/>
          </a:prstGeom>
        </p:spPr>
        <p:txBody>
          <a:bodyPr vert="horz" wrap="square" lIns="0" tIns="0" rIns="0" bIns="0" rtlCol="0">
            <a:spAutoFit/>
          </a:bodyPr>
          <a:lstStyle/>
          <a:p>
            <a:pPr marL="12700" marR="5080">
              <a:lnSpc>
                <a:spcPct val="100699"/>
              </a:lnSpc>
            </a:pPr>
            <a:r>
              <a:rPr lang="en-US" altLang="zh-CN" sz="2000" spc="-5" dirty="0">
                <a:solidFill>
                  <a:srgbClr val="0000FF"/>
                </a:solidFill>
                <a:latin typeface="Arial"/>
                <a:cs typeface="Arial"/>
              </a:rPr>
              <a:t>For one </a:t>
            </a:r>
            <a:r>
              <a:rPr lang="en-US" sz="2000" spc="-5" dirty="0">
                <a:solidFill>
                  <a:srgbClr val="0000FF"/>
                </a:solidFill>
                <a:latin typeface="Arial"/>
                <a:cs typeface="Arial"/>
              </a:rPr>
              <a:t>training s</a:t>
            </a:r>
            <a:r>
              <a:rPr sz="2000" spc="-5" dirty="0">
                <a:solidFill>
                  <a:srgbClr val="0000FF"/>
                </a:solidFill>
                <a:latin typeface="Arial"/>
                <a:cs typeface="Arial"/>
              </a:rPr>
              <a:t>ample</a:t>
            </a:r>
            <a:endParaRPr sz="2000" dirty="0">
              <a:latin typeface="Arial"/>
              <a:cs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p:cNvPicPr>
            <a:picLocks noChangeAspect="1"/>
          </p:cNvPicPr>
          <p:nvPr/>
        </p:nvPicPr>
        <p:blipFill>
          <a:blip r:embed="rId2"/>
          <a:stretch>
            <a:fillRect/>
          </a:stretch>
        </p:blipFill>
        <p:spPr>
          <a:xfrm>
            <a:off x="2514600" y="1428750"/>
            <a:ext cx="3317577" cy="2774216"/>
          </a:xfrm>
          <a:prstGeom prst="rect">
            <a:avLst/>
          </a:prstGeom>
        </p:spPr>
      </p:pic>
      <p:sp>
        <p:nvSpPr>
          <p:cNvPr id="15" name="object 15"/>
          <p:cNvSpPr txBox="1"/>
          <p:nvPr/>
        </p:nvSpPr>
        <p:spPr>
          <a:xfrm>
            <a:off x="778022" y="2229057"/>
            <a:ext cx="2430780" cy="621665"/>
          </a:xfrm>
          <a:prstGeom prst="rect">
            <a:avLst/>
          </a:prstGeom>
        </p:spPr>
        <p:txBody>
          <a:bodyPr vert="horz" wrap="square" lIns="0" tIns="0" rIns="0" bIns="0" rtlCol="0">
            <a:spAutoFit/>
          </a:bodyPr>
          <a:lstStyle/>
          <a:p>
            <a:pPr marL="12700">
              <a:lnSpc>
                <a:spcPct val="100000"/>
              </a:lnSpc>
              <a:tabLst>
                <a:tab pos="1737995" algn="l"/>
                <a:tab pos="2417445" algn="l"/>
              </a:tabLst>
            </a:pPr>
            <a:r>
              <a:rPr sz="2000" spc="-5" dirty="0">
                <a:latin typeface="Arial"/>
                <a:cs typeface="Arial"/>
              </a:rPr>
              <a:t>100</a:t>
            </a:r>
            <a:r>
              <a:rPr sz="2000" spc="-65" dirty="0">
                <a:latin typeface="Arial"/>
                <a:cs typeface="Arial"/>
              </a:rPr>
              <a:t> </a:t>
            </a:r>
            <a:r>
              <a:rPr sz="2000" spc="-5" dirty="0">
                <a:latin typeface="Arial"/>
                <a:cs typeface="Arial"/>
              </a:rPr>
              <a:t>4096-d	</a:t>
            </a:r>
            <a:endParaRPr sz="2000" dirty="0">
              <a:latin typeface="Times New Roman"/>
              <a:cs typeface="Times New Roman"/>
            </a:endParaRPr>
          </a:p>
          <a:p>
            <a:pPr marL="12700">
              <a:lnSpc>
                <a:spcPct val="100000"/>
              </a:lnSpc>
              <a:tabLst>
                <a:tab pos="1737995" algn="l"/>
                <a:tab pos="2417445" algn="l"/>
              </a:tabLst>
            </a:pPr>
            <a:r>
              <a:rPr sz="2000" spc="-5" dirty="0">
                <a:latin typeface="Arial"/>
                <a:cs typeface="Arial"/>
              </a:rPr>
              <a:t>input</a:t>
            </a:r>
            <a:r>
              <a:rPr sz="2000" spc="-55" dirty="0">
                <a:latin typeface="Arial"/>
                <a:cs typeface="Arial"/>
              </a:rPr>
              <a:t> </a:t>
            </a:r>
            <a:r>
              <a:rPr sz="2000" spc="-5" dirty="0">
                <a:latin typeface="Arial"/>
                <a:cs typeface="Arial"/>
              </a:rPr>
              <a:t>vectors	</a:t>
            </a:r>
            <a:endParaRPr sz="2000" dirty="0">
              <a:latin typeface="Times New Roman"/>
              <a:cs typeface="Times New Roman"/>
            </a:endParaRPr>
          </a:p>
        </p:txBody>
      </p:sp>
      <p:sp>
        <p:nvSpPr>
          <p:cNvPr id="22" name="object 22"/>
          <p:cNvSpPr txBox="1"/>
          <p:nvPr/>
        </p:nvSpPr>
        <p:spPr>
          <a:xfrm>
            <a:off x="6365865" y="2229057"/>
            <a:ext cx="1619885" cy="619760"/>
          </a:xfrm>
          <a:prstGeom prst="rect">
            <a:avLst/>
          </a:prstGeom>
        </p:spPr>
        <p:txBody>
          <a:bodyPr vert="horz" wrap="square" lIns="0" tIns="0" rIns="0" bIns="0" rtlCol="0">
            <a:spAutoFit/>
          </a:bodyPr>
          <a:lstStyle/>
          <a:p>
            <a:pPr marL="12700">
              <a:lnSpc>
                <a:spcPct val="100000"/>
              </a:lnSpc>
            </a:pPr>
            <a:r>
              <a:rPr sz="2000" spc="-5" dirty="0">
                <a:latin typeface="Arial"/>
                <a:cs typeface="Arial"/>
              </a:rPr>
              <a:t>100</a:t>
            </a:r>
            <a:r>
              <a:rPr sz="2000" spc="-65" dirty="0">
                <a:latin typeface="Arial"/>
                <a:cs typeface="Arial"/>
              </a:rPr>
              <a:t> </a:t>
            </a:r>
            <a:r>
              <a:rPr sz="2000" spc="-5" dirty="0">
                <a:latin typeface="Arial"/>
                <a:cs typeface="Arial"/>
              </a:rPr>
              <a:t>4096-d</a:t>
            </a:r>
            <a:endParaRPr sz="2000">
              <a:latin typeface="Arial"/>
              <a:cs typeface="Arial"/>
            </a:endParaRPr>
          </a:p>
          <a:p>
            <a:pPr marL="12700">
              <a:lnSpc>
                <a:spcPct val="100000"/>
              </a:lnSpc>
            </a:pPr>
            <a:r>
              <a:rPr sz="2000" spc="-5" dirty="0">
                <a:latin typeface="Arial"/>
                <a:cs typeface="Arial"/>
              </a:rPr>
              <a:t>output</a:t>
            </a:r>
            <a:r>
              <a:rPr sz="2000" spc="-50" dirty="0">
                <a:latin typeface="Arial"/>
                <a:cs typeface="Arial"/>
              </a:rPr>
              <a:t> </a:t>
            </a:r>
            <a:r>
              <a:rPr sz="2000" spc="-5" dirty="0">
                <a:latin typeface="Arial"/>
                <a:cs typeface="Arial"/>
              </a:rPr>
              <a:t>vectors</a:t>
            </a:r>
            <a:endParaRPr sz="2000">
              <a:latin typeface="Arial"/>
              <a:cs typeface="Arial"/>
            </a:endParaRPr>
          </a:p>
        </p:txBody>
      </p:sp>
      <p:sp>
        <p:nvSpPr>
          <p:cNvPr id="23" name="object 23"/>
          <p:cNvSpPr txBox="1">
            <a:spLocks noGrp="1"/>
          </p:cNvSpPr>
          <p:nvPr>
            <p:ph type="title"/>
          </p:nvPr>
        </p:nvSpPr>
        <p:spPr>
          <a:xfrm>
            <a:off x="178249" y="54737"/>
            <a:ext cx="8319134" cy="797560"/>
          </a:xfrm>
          <a:prstGeom prst="rect">
            <a:avLst/>
          </a:prstGeom>
        </p:spPr>
        <p:txBody>
          <a:bodyPr vert="horz" wrap="square" lIns="0" tIns="182344" rIns="0" bIns="0" rtlCol="0">
            <a:spAutoFit/>
          </a:bodyPr>
          <a:lstStyle/>
          <a:p>
            <a:pPr marL="412115">
              <a:lnSpc>
                <a:spcPct val="100000"/>
              </a:lnSpc>
            </a:pPr>
            <a:r>
              <a:rPr sz="2400" spc="-5" dirty="0"/>
              <a:t>Vectorized</a:t>
            </a:r>
            <a:r>
              <a:rPr sz="2400" spc="-20" dirty="0"/>
              <a:t> </a:t>
            </a:r>
            <a:r>
              <a:rPr sz="2400" spc="-5" dirty="0"/>
              <a:t>operations</a:t>
            </a:r>
            <a:endParaRPr sz="2400"/>
          </a:p>
        </p:txBody>
      </p:sp>
      <p:sp>
        <p:nvSpPr>
          <p:cNvPr id="24" name="object 24"/>
          <p:cNvSpPr txBox="1"/>
          <p:nvPr/>
        </p:nvSpPr>
        <p:spPr>
          <a:xfrm>
            <a:off x="178249" y="940534"/>
            <a:ext cx="2679700" cy="1224118"/>
          </a:xfrm>
          <a:prstGeom prst="rect">
            <a:avLst/>
          </a:prstGeom>
        </p:spPr>
        <p:txBody>
          <a:bodyPr vert="horz" wrap="square" lIns="0" tIns="0" rIns="0" bIns="0" rtlCol="0">
            <a:spAutoFit/>
          </a:bodyPr>
          <a:lstStyle/>
          <a:p>
            <a:pPr marL="12700" marR="5080">
              <a:lnSpc>
                <a:spcPct val="100699"/>
              </a:lnSpc>
            </a:pPr>
            <a:r>
              <a:rPr lang="en-US" sz="2000" spc="-5" dirty="0">
                <a:solidFill>
                  <a:srgbClr val="0000FF"/>
                </a:solidFill>
              </a:rPr>
              <a:t>I</a:t>
            </a:r>
            <a:r>
              <a:rPr sz="2000" spc="-5" dirty="0">
                <a:solidFill>
                  <a:srgbClr val="0000FF"/>
                </a:solidFill>
                <a:latin typeface="Arial"/>
                <a:cs typeface="Arial"/>
              </a:rPr>
              <a:t>n practice we process </a:t>
            </a:r>
            <a:r>
              <a:rPr lang="en-US" sz="2000" spc="-5" dirty="0">
                <a:solidFill>
                  <a:srgbClr val="0000FF"/>
                </a:solidFill>
              </a:rPr>
              <a:t>one</a:t>
            </a:r>
            <a:r>
              <a:rPr sz="2000" spc="-5" dirty="0">
                <a:solidFill>
                  <a:srgbClr val="0000FF"/>
                </a:solidFill>
                <a:latin typeface="Arial"/>
                <a:cs typeface="Arial"/>
              </a:rPr>
              <a:t> minibatch (e.g. 100) </a:t>
            </a:r>
            <a:r>
              <a:rPr lang="en-US" sz="2000" spc="-5" dirty="0">
                <a:solidFill>
                  <a:srgbClr val="0000FF"/>
                </a:solidFill>
                <a:latin typeface="Arial"/>
                <a:cs typeface="Arial"/>
              </a:rPr>
              <a:t>training s</a:t>
            </a:r>
            <a:r>
              <a:rPr sz="2000" spc="-5" dirty="0">
                <a:solidFill>
                  <a:srgbClr val="0000FF"/>
                </a:solidFill>
                <a:latin typeface="Arial"/>
                <a:cs typeface="Arial"/>
              </a:rPr>
              <a:t>amples at on</a:t>
            </a:r>
            <a:r>
              <a:rPr lang="en-US" sz="2000" spc="-5" dirty="0">
                <a:solidFill>
                  <a:srgbClr val="0000FF"/>
                </a:solidFill>
                <a:latin typeface="Arial"/>
                <a:cs typeface="Arial"/>
              </a:rPr>
              <a:t>ce</a:t>
            </a:r>
            <a:endParaRPr sz="2000" dirty="0">
              <a:latin typeface="Arial"/>
              <a:cs typeface="Arial"/>
            </a:endParaRPr>
          </a:p>
        </p:txBody>
      </p:sp>
      <p:sp>
        <p:nvSpPr>
          <p:cNvPr id="4" name="Slide Number Placeholder 3">
            <a:extLst>
              <a:ext uri="{FF2B5EF4-FFF2-40B4-BE49-F238E27FC236}">
                <a16:creationId xmlns:a16="http://schemas.microsoft.com/office/drawing/2014/main" id="{FB193C52-D650-08E3-C260-CA2E530903FA}"/>
              </a:ext>
            </a:extLst>
          </p:cNvPr>
          <p:cNvSpPr>
            <a:spLocks noGrp="1"/>
          </p:cNvSpPr>
          <p:nvPr>
            <p:ph type="sldNum" sz="quarter" idx="7"/>
          </p:nvPr>
        </p:nvSpPr>
        <p:spPr/>
        <p:txBody>
          <a:bodyPr/>
          <a:lstStyle/>
          <a:p>
            <a:pPr marL="25400">
              <a:lnSpc>
                <a:spcPts val="2120"/>
              </a:lnSpc>
            </a:pPr>
            <a:fld id="{81D60167-4931-47E6-BA6A-407CBD079E47}" type="slidenum">
              <a:rPr lang="en-US" altLang="zh-CN" spc="-5" smtClean="0"/>
              <a:t>80</a:t>
            </a:fld>
            <a:endParaRPr lang="en-US" altLang="zh-CN" spc="-5" dirty="0"/>
          </a:p>
        </p:txBody>
      </p:sp>
      <p:sp>
        <p:nvSpPr>
          <p:cNvPr id="2" name="Slide Number Placeholder 1">
            <a:extLst>
              <a:ext uri="{FF2B5EF4-FFF2-40B4-BE49-F238E27FC236}">
                <a16:creationId xmlns:a16="http://schemas.microsoft.com/office/drawing/2014/main" id="{21E74EB0-646C-033D-80E2-1ABE1BEE3962}"/>
              </a:ext>
            </a:extLst>
          </p:cNvPr>
          <p:cNvSpPr txBox="1">
            <a:spLocks/>
          </p:cNvSpPr>
          <p:nvPr/>
        </p:nvSpPr>
        <p:spPr>
          <a:xfrm>
            <a:off x="8557950" y="4854601"/>
            <a:ext cx="548700" cy="2888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00000000-1234-1234-1234-123412341234}" type="slidenum">
              <a:rPr lang="en" sz="1000" smtClean="0">
                <a:latin typeface="Lato" panose="020F0502020204030203" pitchFamily="34" charset="0"/>
                <a:ea typeface="Lato" panose="020F0502020204030203" pitchFamily="34" charset="0"/>
                <a:cs typeface="Lato" panose="020F0502020204030203" pitchFamily="34" charset="0"/>
              </a:rPr>
              <a:pPr algn="r"/>
              <a:t>80</a:t>
            </a:fld>
            <a:endParaRPr lang="en" sz="1000" dirty="0">
              <a:latin typeface="Lato" panose="020F0502020204030203" pitchFamily="34" charset="0"/>
              <a:ea typeface="Lato" panose="020F0502020204030203" pitchFamily="34" charset="0"/>
              <a:cs typeface="Lato" panose="020F0502020204030203" pitchFamily="34" charset="0"/>
            </a:endParaRPr>
          </a:p>
        </p:txBody>
      </p:sp>
      <p:sp>
        <p:nvSpPr>
          <p:cNvPr id="5" name="object 22">
            <a:extLst>
              <a:ext uri="{FF2B5EF4-FFF2-40B4-BE49-F238E27FC236}">
                <a16:creationId xmlns:a16="http://schemas.microsoft.com/office/drawing/2014/main" id="{4E6A7B21-3A26-59BF-6428-FD9390136B49}"/>
              </a:ext>
            </a:extLst>
          </p:cNvPr>
          <p:cNvSpPr txBox="1"/>
          <p:nvPr/>
        </p:nvSpPr>
        <p:spPr>
          <a:xfrm>
            <a:off x="178249" y="3239985"/>
            <a:ext cx="3094340" cy="1092735"/>
          </a:xfrm>
          <a:prstGeom prst="rect">
            <a:avLst/>
          </a:prstGeom>
        </p:spPr>
        <p:txBody>
          <a:bodyPr vert="horz" wrap="square" lIns="0" tIns="0" rIns="0" bIns="0" rtlCol="0">
            <a:spAutoFit/>
          </a:bodyPr>
          <a:lstStyle/>
          <a:p>
            <a:pPr marL="12700" marR="484505">
              <a:lnSpc>
                <a:spcPts val="2850"/>
              </a:lnSpc>
            </a:pPr>
            <a:r>
              <a:rPr lang="en-US" altLang="zh-CN" sz="2000" spc="-5" dirty="0">
                <a:solidFill>
                  <a:srgbClr val="0000FF"/>
                </a:solidFill>
                <a:latin typeface="Arial"/>
                <a:cs typeface="Arial"/>
              </a:rPr>
              <a:t>S</a:t>
            </a:r>
            <a:r>
              <a:rPr sz="2000" spc="-5" dirty="0">
                <a:solidFill>
                  <a:srgbClr val="0000FF"/>
                </a:solidFill>
                <a:latin typeface="Arial"/>
                <a:cs typeface="Arial"/>
              </a:rPr>
              <a:t>ize of Jacobian</a:t>
            </a:r>
            <a:r>
              <a:rPr sz="2000" spc="-35" dirty="0">
                <a:solidFill>
                  <a:srgbClr val="0000FF"/>
                </a:solidFill>
                <a:latin typeface="Arial"/>
                <a:cs typeface="Arial"/>
              </a:rPr>
              <a:t> </a:t>
            </a:r>
            <a:r>
              <a:rPr sz="2000" spc="-5" dirty="0">
                <a:solidFill>
                  <a:srgbClr val="0000FF"/>
                </a:solidFill>
                <a:latin typeface="Arial"/>
                <a:cs typeface="Arial"/>
              </a:rPr>
              <a:t>matrix</a:t>
            </a:r>
            <a:r>
              <a:rPr lang="en-US" sz="2000" spc="-5" dirty="0">
                <a:solidFill>
                  <a:srgbClr val="0000FF"/>
                </a:solidFill>
              </a:rPr>
              <a:t>:</a:t>
            </a:r>
            <a:endParaRPr lang="en-US" sz="2000" spc="-5" dirty="0">
              <a:solidFill>
                <a:srgbClr val="0000FF"/>
              </a:solidFill>
              <a:latin typeface="Arial"/>
              <a:cs typeface="Arial"/>
            </a:endParaRPr>
          </a:p>
          <a:p>
            <a:pPr marR="484505">
              <a:lnSpc>
                <a:spcPts val="2850"/>
              </a:lnSpc>
            </a:pPr>
            <a:r>
              <a:rPr lang="en-US" altLang="zh-CN" sz="2000" spc="-5" dirty="0">
                <a:solidFill>
                  <a:srgbClr val="0000FF"/>
                </a:solidFill>
              </a:rPr>
              <a:t>[409,600 x 409,600] </a:t>
            </a:r>
          </a:p>
        </p:txBody>
      </p:sp>
      <p:sp>
        <p:nvSpPr>
          <p:cNvPr id="6" name="object 25">
            <a:extLst>
              <a:ext uri="{FF2B5EF4-FFF2-40B4-BE49-F238E27FC236}">
                <a16:creationId xmlns:a16="http://schemas.microsoft.com/office/drawing/2014/main" id="{5DCCC2A1-F0C2-AEE7-72B5-0B84F6E6F652}"/>
              </a:ext>
            </a:extLst>
          </p:cNvPr>
          <p:cNvSpPr txBox="1"/>
          <p:nvPr/>
        </p:nvSpPr>
        <p:spPr>
          <a:xfrm>
            <a:off x="7240334" y="1022278"/>
            <a:ext cx="1625600" cy="285115"/>
          </a:xfrm>
          <a:prstGeom prst="rect">
            <a:avLst/>
          </a:prstGeom>
        </p:spPr>
        <p:txBody>
          <a:bodyPr vert="horz" wrap="square" lIns="0" tIns="0" rIns="0" bIns="0" rtlCol="0">
            <a:spAutoFit/>
          </a:bodyPr>
          <a:lstStyle/>
          <a:p>
            <a:pPr marL="12700">
              <a:lnSpc>
                <a:spcPct val="100000"/>
              </a:lnSpc>
            </a:pPr>
            <a:r>
              <a:rPr sz="1800" spc="-5" dirty="0">
                <a:solidFill>
                  <a:srgbClr val="0000FF"/>
                </a:solidFill>
                <a:latin typeface="Arial"/>
                <a:cs typeface="Arial"/>
              </a:rPr>
              <a:t>Jacobian</a:t>
            </a:r>
            <a:r>
              <a:rPr sz="1800" spc="-40" dirty="0">
                <a:solidFill>
                  <a:srgbClr val="0000FF"/>
                </a:solidFill>
                <a:latin typeface="Arial"/>
                <a:cs typeface="Arial"/>
              </a:rPr>
              <a:t> </a:t>
            </a:r>
            <a:r>
              <a:rPr sz="1800" spc="-5" dirty="0">
                <a:solidFill>
                  <a:srgbClr val="0000FF"/>
                </a:solidFill>
                <a:latin typeface="Arial"/>
                <a:cs typeface="Arial"/>
              </a:rPr>
              <a:t>matrix</a:t>
            </a:r>
            <a:endParaRPr sz="1800">
              <a:latin typeface="Arial"/>
              <a:cs typeface="Arial"/>
            </a:endParaRPr>
          </a:p>
        </p:txBody>
      </p:sp>
      <p:sp>
        <p:nvSpPr>
          <p:cNvPr id="7" name="object 27">
            <a:extLst>
              <a:ext uri="{FF2B5EF4-FFF2-40B4-BE49-F238E27FC236}">
                <a16:creationId xmlns:a16="http://schemas.microsoft.com/office/drawing/2014/main" id="{7474F6FA-3E8E-9B82-0BC4-529159E8230F}"/>
              </a:ext>
            </a:extLst>
          </p:cNvPr>
          <p:cNvSpPr/>
          <p:nvPr/>
        </p:nvSpPr>
        <p:spPr>
          <a:xfrm>
            <a:off x="6338412" y="106662"/>
            <a:ext cx="2047870" cy="790573"/>
          </a:xfrm>
          <a:prstGeom prst="rect">
            <a:avLst/>
          </a:prstGeom>
          <a:blipFill>
            <a:blip r:embed="rId3" cstate="print"/>
            <a:stretch>
              <a:fillRect/>
            </a:stretch>
          </a:blipFill>
        </p:spPr>
        <p:txBody>
          <a:bodyPr wrap="square" lIns="0" tIns="0" rIns="0" bIns="0" rtlCol="0"/>
          <a:lstStyle/>
          <a:p>
            <a:endParaRPr/>
          </a:p>
        </p:txBody>
      </p:sp>
      <p:sp>
        <p:nvSpPr>
          <p:cNvPr id="8" name="object 28">
            <a:extLst>
              <a:ext uri="{FF2B5EF4-FFF2-40B4-BE49-F238E27FC236}">
                <a16:creationId xmlns:a16="http://schemas.microsoft.com/office/drawing/2014/main" id="{64C1A6B0-9188-98B5-0ACA-C9D4124AF987}"/>
              </a:ext>
            </a:extLst>
          </p:cNvPr>
          <p:cNvSpPr/>
          <p:nvPr/>
        </p:nvSpPr>
        <p:spPr>
          <a:xfrm>
            <a:off x="7394835" y="78224"/>
            <a:ext cx="467995" cy="790575"/>
          </a:xfrm>
          <a:custGeom>
            <a:avLst/>
            <a:gdLst/>
            <a:ahLst/>
            <a:cxnLst/>
            <a:rect l="l" t="t" r="r" b="b"/>
            <a:pathLst>
              <a:path w="467995" h="790575">
                <a:moveTo>
                  <a:pt x="0" y="0"/>
                </a:moveTo>
                <a:lnTo>
                  <a:pt x="467699" y="0"/>
                </a:lnTo>
                <a:lnTo>
                  <a:pt x="467699" y="790498"/>
                </a:lnTo>
                <a:lnTo>
                  <a:pt x="0" y="790498"/>
                </a:lnTo>
                <a:lnTo>
                  <a:pt x="0" y="0"/>
                </a:lnTo>
                <a:close/>
              </a:path>
            </a:pathLst>
          </a:custGeom>
          <a:ln w="28574">
            <a:solidFill>
              <a:srgbClr val="0000FF"/>
            </a:solidFill>
          </a:ln>
        </p:spPr>
        <p:txBody>
          <a:bodyPr wrap="square" lIns="0" tIns="0" rIns="0" bIns="0" rtlCol="0"/>
          <a:lstStyle/>
          <a:p>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g2e7c7bc5007_0_6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Optimizers</a:t>
            </a:r>
            <a:endParaRPr/>
          </a:p>
        </p:txBody>
      </p:sp>
      <p:sp>
        <p:nvSpPr>
          <p:cNvPr id="686" name="Google Shape;686;g2e7c7bc5007_0_65"/>
          <p:cNvSpPr txBox="1">
            <a:spLocks noGrp="1"/>
          </p:cNvSpPr>
          <p:nvPr>
            <p:ph type="body" idx="1"/>
          </p:nvPr>
        </p:nvSpPr>
        <p:spPr>
          <a:xfrm>
            <a:off x="665281" y="1797445"/>
            <a:ext cx="4363918" cy="3209809"/>
          </a:xfrm>
          <a:prstGeom prst="rect">
            <a:avLst/>
          </a:prstGeom>
          <a:noFill/>
          <a:ln>
            <a:noFill/>
          </a:ln>
        </p:spPr>
        <p:txBody>
          <a:bodyPr spcFirstLastPara="1" wrap="square" lIns="91425" tIns="91425" rIns="91425" bIns="91425" anchor="t" anchorCtr="0">
            <a:normAutofit/>
          </a:bodyPr>
          <a:lstStyle/>
          <a:p>
            <a:pPr marL="0" lvl="0" indent="0">
              <a:buNone/>
            </a:pPr>
            <a:r>
              <a:rPr lang="en" sz="1100" dirty="0"/>
              <a:t>Stochastic/Mini-batch GD: </a:t>
            </a:r>
            <a:r>
              <a:rPr lang="en" sz="1100" i="1" dirty="0"/>
              <a:t>Speed improvement</a:t>
            </a:r>
            <a:br>
              <a:rPr lang="en" sz="1100" dirty="0"/>
            </a:br>
            <a:r>
              <a:rPr lang="en" sz="1100" dirty="0"/>
              <a:t>	</a:t>
            </a:r>
            <a:r>
              <a:rPr lang="en" altLang="zh-CN" sz="1100" dirty="0"/>
              <a:t> - </a:t>
            </a:r>
            <a:r>
              <a:rPr lang="en" sz="1100" dirty="0"/>
              <a:t>Performs backprop on </a:t>
            </a:r>
            <a:r>
              <a:rPr lang="en" sz="1100" i="1" dirty="0"/>
              <a:t>one</a:t>
            </a:r>
            <a:r>
              <a:rPr lang="en" sz="1100" dirty="0"/>
              <a:t> training sample, or a </a:t>
            </a:r>
            <a:r>
              <a:rPr lang="en" sz="1100" i="1" dirty="0"/>
              <a:t>mini-batch </a:t>
            </a:r>
            <a:r>
              <a:rPr lang="en" sz="1100" dirty="0"/>
              <a:t>of samples instead of all samples</a:t>
            </a:r>
            <a:br>
              <a:rPr lang="en" sz="1100" dirty="0"/>
            </a:br>
            <a:r>
              <a:rPr lang="en" sz="1100" dirty="0"/>
              <a:t>	- Reduces the number of expensive backward passes</a:t>
            </a:r>
            <a:endParaRPr sz="1100" dirty="0"/>
          </a:p>
          <a:p>
            <a:pPr marL="127000" lvl="0" indent="0">
              <a:buSzPts val="1600"/>
              <a:buNone/>
            </a:pPr>
            <a:r>
              <a:rPr lang="en" altLang="zh-CN" sz="1100" dirty="0"/>
              <a:t>                      - </a:t>
            </a:r>
            <a:r>
              <a:rPr lang="en" sz="1100" dirty="0"/>
              <a:t>Helps with getting out of local minima (due to higher gradient noise)</a:t>
            </a:r>
            <a:endParaRPr sz="1100" dirty="0"/>
          </a:p>
          <a:p>
            <a:pPr marL="0" lvl="0" indent="0" algn="l" rtl="0">
              <a:lnSpc>
                <a:spcPct val="115000"/>
              </a:lnSpc>
              <a:spcBef>
                <a:spcPts val="1200"/>
              </a:spcBef>
              <a:buSzPts val="1300"/>
              <a:buNone/>
            </a:pPr>
            <a:r>
              <a:rPr lang="en" sz="1100" dirty="0"/>
              <a:t>Optimizers</a:t>
            </a:r>
            <a:br>
              <a:rPr lang="en" sz="1100" dirty="0"/>
            </a:br>
            <a:r>
              <a:rPr lang="en" sz="1100" dirty="0"/>
              <a:t>	- Gradient Descent</a:t>
            </a:r>
            <a:br>
              <a:rPr lang="en" sz="1100" dirty="0"/>
            </a:br>
            <a:r>
              <a:rPr lang="en" sz="1100" dirty="0"/>
              <a:t>	- RMSProp</a:t>
            </a:r>
            <a:br>
              <a:rPr lang="en" sz="1100" dirty="0"/>
            </a:br>
            <a:r>
              <a:rPr lang="en" sz="1100" dirty="0"/>
              <a:t>	- Adaptive Momentum Estimation (</a:t>
            </a:r>
            <a:r>
              <a:rPr lang="en" sz="1100" b="1" dirty="0"/>
              <a:t>Adam</a:t>
            </a:r>
            <a:r>
              <a:rPr lang="en" sz="1100" dirty="0"/>
              <a:t>)</a:t>
            </a:r>
          </a:p>
          <a:p>
            <a:pPr marL="0" lvl="0" indent="0" algn="l" rtl="0">
              <a:lnSpc>
                <a:spcPct val="115000"/>
              </a:lnSpc>
              <a:spcBef>
                <a:spcPts val="1200"/>
              </a:spcBef>
              <a:buSzPts val="1300"/>
              <a:buNone/>
            </a:pPr>
            <a:r>
              <a:rPr lang="en-US" altLang="zh-CN" sz="1100" dirty="0"/>
              <a:t>Figure shows </a:t>
            </a:r>
            <a:r>
              <a:rPr lang="en-US" sz="1100" dirty="0"/>
              <a:t>G</a:t>
            </a:r>
            <a:r>
              <a:rPr lang="en-US" altLang="zh-CN" sz="1100" dirty="0"/>
              <a:t>D</a:t>
            </a:r>
            <a:r>
              <a:rPr lang="en-US" sz="1100" dirty="0"/>
              <a:t> struggles with oscillations in narrow valleys, leading to slower convergence, while Adam smoothly adjusts its path, leveraging adaptive learning rates and momentum to converge efficiently. </a:t>
            </a:r>
            <a:endParaRPr sz="1100" dirty="0"/>
          </a:p>
        </p:txBody>
      </p:sp>
      <p:sp>
        <p:nvSpPr>
          <p:cNvPr id="2" name="Slide Number Placeholder 1">
            <a:extLst>
              <a:ext uri="{FF2B5EF4-FFF2-40B4-BE49-F238E27FC236}">
                <a16:creationId xmlns:a16="http://schemas.microsoft.com/office/drawing/2014/main" id="{10C0B6D3-98AE-6530-B0BA-6AC7BF9DFD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81</a:t>
            </a:fld>
            <a:endParaRPr lang="en"/>
          </a:p>
        </p:txBody>
      </p:sp>
      <p:pic>
        <p:nvPicPr>
          <p:cNvPr id="1026" name="Picture 2">
            <a:extLst>
              <a:ext uri="{FF2B5EF4-FFF2-40B4-BE49-F238E27FC236}">
                <a16:creationId xmlns:a16="http://schemas.microsoft.com/office/drawing/2014/main" id="{9569B55A-C551-D7DF-55C0-17DB625CA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9162" y="1427529"/>
            <a:ext cx="4183650" cy="32098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DBF8708-A448-2554-2741-AD31ACEE8EF5}"/>
              </a:ext>
            </a:extLst>
          </p:cNvPr>
          <p:cNvSpPr txBox="1"/>
          <p:nvPr/>
        </p:nvSpPr>
        <p:spPr>
          <a:xfrm>
            <a:off x="5415425" y="4532161"/>
            <a:ext cx="3553326" cy="215444"/>
          </a:xfrm>
          <a:prstGeom prst="rect">
            <a:avLst/>
          </a:prstGeom>
          <a:noFill/>
        </p:spPr>
        <p:txBody>
          <a:bodyPr wrap="square">
            <a:spAutoFit/>
          </a:bodyPr>
          <a:lstStyle/>
          <a:p>
            <a:r>
              <a:rPr lang="zh-CN" altLang="en-US" sz="800" i="1" dirty="0">
                <a:latin typeface="Lato" panose="020F0502020204030203" pitchFamily="34" charset="0"/>
                <a:cs typeface="Lato" panose="020F0502020204030203" pitchFamily="34" charset="0"/>
              </a:rPr>
              <a:t>https://www.vizuaranewsletter.com/p/adam-the-most-famous-ml-optimizer</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67"/>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600"/>
              <a:buNone/>
            </a:pPr>
            <a:r>
              <a:rPr lang="en" dirty="0"/>
              <a:t>Types of Neural Networks</a:t>
            </a:r>
            <a:endParaRPr dirty="0"/>
          </a:p>
        </p:txBody>
      </p:sp>
      <p:sp>
        <p:nvSpPr>
          <p:cNvPr id="2" name="Slide Number Placeholder 1">
            <a:extLst>
              <a:ext uri="{FF2B5EF4-FFF2-40B4-BE49-F238E27FC236}">
                <a16:creationId xmlns:a16="http://schemas.microsoft.com/office/drawing/2014/main" id="{9135AFD7-6EA9-DB64-846C-A45609EFF0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82</a:t>
            </a:fld>
            <a:endParaRPr lang="en"/>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68"/>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Multi-layer Perceptrons</a:t>
            </a:r>
            <a:endParaRPr/>
          </a:p>
        </p:txBody>
      </p:sp>
      <p:sp>
        <p:nvSpPr>
          <p:cNvPr id="704" name="Google Shape;704;p68"/>
          <p:cNvSpPr txBox="1">
            <a:spLocks noGrp="1"/>
          </p:cNvSpPr>
          <p:nvPr>
            <p:ph type="body" idx="1"/>
          </p:nvPr>
        </p:nvSpPr>
        <p:spPr>
          <a:xfrm>
            <a:off x="729450" y="2069475"/>
            <a:ext cx="3050400" cy="2547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dirty="0"/>
              <a:t>Useful for </a:t>
            </a:r>
            <a:r>
              <a:rPr lang="en" sz="1600" b="1" dirty="0"/>
              <a:t>static </a:t>
            </a:r>
            <a:r>
              <a:rPr lang="en" sz="1600" dirty="0"/>
              <a:t>input-output relations</a:t>
            </a:r>
            <a:endParaRPr sz="1600" dirty="0"/>
          </a:p>
          <a:p>
            <a:pPr marL="0" lvl="0" indent="0" algn="l" rtl="0">
              <a:lnSpc>
                <a:spcPct val="115000"/>
              </a:lnSpc>
              <a:spcBef>
                <a:spcPts val="1200"/>
              </a:spcBef>
              <a:spcAft>
                <a:spcPts val="0"/>
              </a:spcAft>
              <a:buSzPts val="1300"/>
              <a:buNone/>
            </a:pPr>
            <a:r>
              <a:rPr lang="en" sz="1600" b="1" dirty="0"/>
              <a:t>More hidden layers </a:t>
            </a:r>
            <a:r>
              <a:rPr lang="en" sz="1600" b="1" dirty="0">
                <a:sym typeface="Wingdings" panose="05000000000000000000" pitchFamily="2" charset="2"/>
              </a:rPr>
              <a:t></a:t>
            </a:r>
            <a:r>
              <a:rPr lang="en" sz="1600" b="1" dirty="0"/>
              <a:t> better approximation</a:t>
            </a:r>
            <a:r>
              <a:rPr lang="en" sz="1600" dirty="0"/>
              <a:t> of</a:t>
            </a:r>
            <a:r>
              <a:rPr lang="en" sz="1600" b="1" dirty="0"/>
              <a:t> </a:t>
            </a:r>
            <a:r>
              <a:rPr lang="en" sz="1600" dirty="0"/>
              <a:t>more complicated functions</a:t>
            </a:r>
            <a:endParaRPr sz="1600" dirty="0"/>
          </a:p>
          <a:p>
            <a:pPr marL="0" lvl="0" indent="0" algn="l" rtl="0">
              <a:lnSpc>
                <a:spcPct val="115000"/>
              </a:lnSpc>
              <a:spcBef>
                <a:spcPts val="1200"/>
              </a:spcBef>
              <a:spcAft>
                <a:spcPts val="1200"/>
              </a:spcAft>
              <a:buSzPts val="1300"/>
              <a:buNone/>
            </a:pPr>
            <a:r>
              <a:rPr lang="en" sz="1600" b="1" dirty="0"/>
              <a:t>Quick </a:t>
            </a:r>
            <a:r>
              <a:rPr lang="en" sz="1600" dirty="0"/>
              <a:t>to design and implement</a:t>
            </a:r>
            <a:endParaRPr sz="1600" dirty="0"/>
          </a:p>
        </p:txBody>
      </p:sp>
      <p:pic>
        <p:nvPicPr>
          <p:cNvPr id="705" name="Google Shape;705;p68"/>
          <p:cNvPicPr preferRelativeResize="0"/>
          <p:nvPr/>
        </p:nvPicPr>
        <p:blipFill rotWithShape="1">
          <a:blip r:embed="rId3">
            <a:alphaModFix/>
          </a:blip>
          <a:srcRect l="7166" t="27787" r="6693"/>
          <a:stretch/>
        </p:blipFill>
        <p:spPr>
          <a:xfrm>
            <a:off x="3860125" y="1853850"/>
            <a:ext cx="5283876" cy="2978825"/>
          </a:xfrm>
          <a:prstGeom prst="rect">
            <a:avLst/>
          </a:prstGeom>
          <a:noFill/>
          <a:ln>
            <a:noFill/>
          </a:ln>
        </p:spPr>
      </p:pic>
      <p:sp>
        <p:nvSpPr>
          <p:cNvPr id="2" name="Slide Number Placeholder 1">
            <a:extLst>
              <a:ext uri="{FF2B5EF4-FFF2-40B4-BE49-F238E27FC236}">
                <a16:creationId xmlns:a16="http://schemas.microsoft.com/office/drawing/2014/main" id="{BD3947BE-D835-89C2-5E1F-D8C8638F9B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83</a:t>
            </a:fld>
            <a:endParaRPr lang="en"/>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2FBE1-706F-E791-FC66-5C2748B22951}"/>
              </a:ext>
            </a:extLst>
          </p:cNvPr>
          <p:cNvSpPr>
            <a:spLocks noGrp="1"/>
          </p:cNvSpPr>
          <p:nvPr>
            <p:ph type="title"/>
          </p:nvPr>
        </p:nvSpPr>
        <p:spPr/>
        <p:txBody>
          <a:bodyPr>
            <a:normAutofit fontScale="90000"/>
          </a:bodyPr>
          <a:lstStyle/>
          <a:p>
            <a:r>
              <a:rPr lang="en-US" altLang="zh-CN" dirty="0"/>
              <a:t>ALVINN</a:t>
            </a:r>
            <a:endParaRPr lang="zh-CN" altLang="en-US" dirty="0"/>
          </a:p>
        </p:txBody>
      </p:sp>
      <p:sp>
        <p:nvSpPr>
          <p:cNvPr id="3" name="Text Placeholder 2">
            <a:extLst>
              <a:ext uri="{FF2B5EF4-FFF2-40B4-BE49-F238E27FC236}">
                <a16:creationId xmlns:a16="http://schemas.microsoft.com/office/drawing/2014/main" id="{081FBF7B-E4F6-2101-7D53-70FFB54FEB9B}"/>
              </a:ext>
            </a:extLst>
          </p:cNvPr>
          <p:cNvSpPr>
            <a:spLocks noGrp="1"/>
          </p:cNvSpPr>
          <p:nvPr>
            <p:ph type="body" idx="1"/>
          </p:nvPr>
        </p:nvSpPr>
        <p:spPr>
          <a:xfrm>
            <a:off x="481263" y="2078875"/>
            <a:ext cx="4090737" cy="2261100"/>
          </a:xfrm>
        </p:spPr>
        <p:txBody>
          <a:bodyPr>
            <a:normAutofit fontScale="92500"/>
          </a:bodyPr>
          <a:lstStyle/>
          <a:p>
            <a:pPr marL="146050" indent="0">
              <a:buNone/>
            </a:pPr>
            <a:r>
              <a:rPr lang="en-US" altLang="zh-CN" dirty="0"/>
              <a:t>CMU’s </a:t>
            </a:r>
            <a:r>
              <a:rPr lang="en-US" altLang="zh-CN" dirty="0">
                <a:solidFill>
                  <a:srgbClr val="C00000"/>
                </a:solidFill>
              </a:rPr>
              <a:t>Autonomous Land Vehicle In a Neural Network (ALVINN) </a:t>
            </a:r>
            <a:r>
              <a:rPr lang="en-US" altLang="zh-CN" dirty="0"/>
              <a:t>(1988-89) can drive 70mph on highways.</a:t>
            </a:r>
          </a:p>
          <a:p>
            <a:pPr marL="146050" indent="0">
              <a:buNone/>
            </a:pPr>
            <a:r>
              <a:rPr lang="en-US" altLang="zh-CN" dirty="0"/>
              <a:t>ALVINN's architecture is a MLP with a single hidden layer.</a:t>
            </a:r>
          </a:p>
          <a:p>
            <a:pPr marL="146050" indent="0">
              <a:buNone/>
            </a:pPr>
            <a:r>
              <a:rPr lang="en-US" altLang="zh-CN" dirty="0"/>
              <a:t>Input layer is a 30x32 two dimensional "retina" which receives input from camera.</a:t>
            </a:r>
          </a:p>
          <a:p>
            <a:pPr marL="146050" indent="0">
              <a:buNone/>
            </a:pPr>
            <a:r>
              <a:rPr lang="en-US" altLang="zh-CN" dirty="0"/>
              <a:t>Output layer (30 neurons) encodes the direction the vehicle should travel to keep it on the road (as a </a:t>
            </a:r>
            <a:r>
              <a:rPr lang="en-US" altLang="zh-CN" dirty="0">
                <a:solidFill>
                  <a:srgbClr val="C00000"/>
                </a:solidFill>
              </a:rPr>
              <a:t>30-class classification task</a:t>
            </a:r>
            <a:r>
              <a:rPr lang="en-US" altLang="zh-CN" dirty="0"/>
              <a:t>)</a:t>
            </a:r>
            <a:endParaRPr lang="zh-CN" altLang="en-US" dirty="0"/>
          </a:p>
        </p:txBody>
      </p:sp>
      <p:sp>
        <p:nvSpPr>
          <p:cNvPr id="4" name="Slide Number Placeholder 3">
            <a:extLst>
              <a:ext uri="{FF2B5EF4-FFF2-40B4-BE49-F238E27FC236}">
                <a16:creationId xmlns:a16="http://schemas.microsoft.com/office/drawing/2014/main" id="{2F89DFDB-109B-7A74-02F1-40E9FB5A42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84</a:t>
            </a:fld>
            <a:endParaRPr lang="en"/>
          </a:p>
        </p:txBody>
      </p:sp>
      <p:pic>
        <p:nvPicPr>
          <p:cNvPr id="3074" name="Picture 2">
            <a:extLst>
              <a:ext uri="{FF2B5EF4-FFF2-40B4-BE49-F238E27FC236}">
                <a16:creationId xmlns:a16="http://schemas.microsoft.com/office/drawing/2014/main" id="{D7DFCFAF-7C64-449A-3E1C-599E9C37F6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6846" y="533400"/>
            <a:ext cx="3777704" cy="451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6787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F4D75D-AF86-9D1B-3BF8-9C1715CA59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85</a:t>
            </a:fld>
            <a:endParaRPr lang="en"/>
          </a:p>
        </p:txBody>
      </p:sp>
      <p:sp>
        <p:nvSpPr>
          <p:cNvPr id="5" name="Content Placeholder 2">
            <a:extLst>
              <a:ext uri="{FF2B5EF4-FFF2-40B4-BE49-F238E27FC236}">
                <a16:creationId xmlns:a16="http://schemas.microsoft.com/office/drawing/2014/main" id="{A80AD3C0-781C-3444-D469-7A0A8464C972}"/>
              </a:ext>
            </a:extLst>
          </p:cNvPr>
          <p:cNvSpPr txBox="1">
            <a:spLocks/>
          </p:cNvSpPr>
          <p:nvPr/>
        </p:nvSpPr>
        <p:spPr>
          <a:xfrm>
            <a:off x="52870" y="3628801"/>
            <a:ext cx="4061929" cy="1336229"/>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146050" indent="0">
              <a:buNone/>
            </a:pPr>
            <a:r>
              <a:rPr lang="en-US" sz="1400" dirty="0"/>
              <a:t>In an </a:t>
            </a:r>
            <a:r>
              <a:rPr lang="en-US" sz="1400" dirty="0">
                <a:solidFill>
                  <a:srgbClr val="C00000"/>
                </a:solidFill>
              </a:rPr>
              <a:t>MLP</a:t>
            </a:r>
            <a:r>
              <a:rPr lang="en-US" sz="1400" dirty="0"/>
              <a:t>, all layers are Fully-Connected</a:t>
            </a:r>
          </a:p>
          <a:p>
            <a:pPr marL="146050" indent="0">
              <a:buNone/>
            </a:pPr>
            <a:r>
              <a:rPr lang="en-US" sz="1400" dirty="0"/>
              <a:t>Cannot alter input image size</a:t>
            </a:r>
          </a:p>
          <a:p>
            <a:pPr marL="146050" indent="0">
              <a:buNone/>
            </a:pPr>
            <a:r>
              <a:rPr lang="en-US" sz="1400" dirty="0"/>
              <a:t>No translation invariance</a:t>
            </a:r>
            <a:endParaRPr lang="en-US" sz="1100" dirty="0"/>
          </a:p>
          <a:p>
            <a:pPr marL="146050" indent="0">
              <a:buNone/>
            </a:pPr>
            <a:r>
              <a:rPr lang="en-US" sz="1400" dirty="0"/>
              <a:t>N</a:t>
            </a:r>
            <a:r>
              <a:rPr lang="en-US" altLang="zh-CN" sz="1400" dirty="0"/>
              <a:t>o</a:t>
            </a:r>
            <a:r>
              <a:rPr lang="en-US" sz="1400" dirty="0"/>
              <a:t>. weight params can grow very large, prune to overfitting</a:t>
            </a:r>
            <a:endParaRPr lang="en-SE" sz="1400" dirty="0"/>
          </a:p>
        </p:txBody>
      </p:sp>
      <p:pic>
        <p:nvPicPr>
          <p:cNvPr id="6" name="Picture 2" descr="“deep learning”的图片搜索结果">
            <a:extLst>
              <a:ext uri="{FF2B5EF4-FFF2-40B4-BE49-F238E27FC236}">
                <a16:creationId xmlns:a16="http://schemas.microsoft.com/office/drawing/2014/main" id="{4454BE0D-0E4D-F48A-CCB8-75F8B552D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23" y="1189497"/>
            <a:ext cx="3863906" cy="2319896"/>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D50597D5-7204-92B7-CF22-9126CE26F8F8}"/>
              </a:ext>
            </a:extLst>
          </p:cNvPr>
          <p:cNvSpPr txBox="1">
            <a:spLocks/>
          </p:cNvSpPr>
          <p:nvPr/>
        </p:nvSpPr>
        <p:spPr bwMode="auto">
          <a:xfrm>
            <a:off x="4050968" y="3628802"/>
            <a:ext cx="5000707" cy="13362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146050" indent="0">
              <a:lnSpc>
                <a:spcPct val="115000"/>
              </a:lnSpc>
              <a:spcBef>
                <a:spcPts val="0"/>
              </a:spcBef>
              <a:spcAft>
                <a:spcPts val="0"/>
              </a:spcAft>
              <a:buClr>
                <a:schemeClr val="accent1"/>
              </a:buClr>
              <a:buSzPts val="1300"/>
              <a:buNone/>
            </a:pPr>
            <a:r>
              <a:rPr lang="en-US" sz="1400" dirty="0">
                <a:solidFill>
                  <a:schemeClr val="accent1"/>
                </a:solidFill>
                <a:latin typeface="Lato"/>
                <a:ea typeface="Lato"/>
                <a:cs typeface="Lato"/>
                <a:sym typeface="Lato"/>
              </a:rPr>
              <a:t>In a </a:t>
            </a:r>
            <a:r>
              <a:rPr lang="en-US" sz="1400" dirty="0">
                <a:solidFill>
                  <a:srgbClr val="C00000"/>
                </a:solidFill>
                <a:latin typeface="Lato"/>
                <a:ea typeface="Lato"/>
                <a:cs typeface="Lato"/>
                <a:sym typeface="Lato"/>
              </a:rPr>
              <a:t>CNN</a:t>
            </a:r>
            <a:r>
              <a:rPr lang="en-US" sz="1400" dirty="0">
                <a:solidFill>
                  <a:schemeClr val="accent1"/>
                </a:solidFill>
                <a:latin typeface="Lato"/>
                <a:ea typeface="Lato"/>
                <a:cs typeface="Lato"/>
                <a:sym typeface="Lato"/>
              </a:rPr>
              <a:t>, only the last few layers are FC</a:t>
            </a:r>
          </a:p>
          <a:p>
            <a:pPr marL="146050" indent="0">
              <a:lnSpc>
                <a:spcPct val="115000"/>
              </a:lnSpc>
              <a:spcBef>
                <a:spcPts val="0"/>
              </a:spcBef>
              <a:spcAft>
                <a:spcPts val="0"/>
              </a:spcAft>
              <a:buClr>
                <a:schemeClr val="accent1"/>
              </a:buClr>
              <a:buSzPts val="1300"/>
              <a:buNone/>
            </a:pPr>
            <a:r>
              <a:rPr lang="en-US" sz="1400" dirty="0">
                <a:solidFill>
                  <a:schemeClr val="accent1"/>
                </a:solidFill>
                <a:latin typeface="Lato"/>
                <a:ea typeface="Lato"/>
                <a:cs typeface="Lato"/>
                <a:sym typeface="Lato"/>
              </a:rPr>
              <a:t>Each CONV layer extracts increasingly higher level features, followed by FC layers for classification</a:t>
            </a:r>
          </a:p>
          <a:p>
            <a:pPr marL="146050" indent="0">
              <a:lnSpc>
                <a:spcPct val="115000"/>
              </a:lnSpc>
              <a:spcBef>
                <a:spcPts val="0"/>
              </a:spcBef>
              <a:spcAft>
                <a:spcPts val="0"/>
              </a:spcAft>
              <a:buClr>
                <a:schemeClr val="accent1"/>
              </a:buClr>
              <a:buSzPts val="1300"/>
              <a:buNone/>
            </a:pPr>
            <a:r>
              <a:rPr lang="en-US" sz="1400" dirty="0">
                <a:solidFill>
                  <a:schemeClr val="accent1"/>
                </a:solidFill>
                <a:latin typeface="Lato"/>
                <a:ea typeface="Lato"/>
                <a:cs typeface="Lato"/>
                <a:sym typeface="Lato"/>
              </a:rPr>
              <a:t>Translation invariance (object can be anywhere in the image)</a:t>
            </a:r>
          </a:p>
          <a:p>
            <a:pPr marL="146050" indent="0">
              <a:lnSpc>
                <a:spcPct val="115000"/>
              </a:lnSpc>
              <a:spcBef>
                <a:spcPts val="0"/>
              </a:spcBef>
              <a:spcAft>
                <a:spcPts val="0"/>
              </a:spcAft>
              <a:buClr>
                <a:schemeClr val="accent1"/>
              </a:buClr>
              <a:buSzPts val="1300"/>
              <a:buNone/>
            </a:pPr>
            <a:r>
              <a:rPr lang="en-US" sz="1400" dirty="0">
                <a:solidFill>
                  <a:schemeClr val="accent1"/>
                </a:solidFill>
                <a:latin typeface="Lato"/>
                <a:ea typeface="Lato"/>
                <a:cs typeface="Lato"/>
                <a:sym typeface="Lato"/>
              </a:rPr>
              <a:t>Fewer params than MLP</a:t>
            </a:r>
            <a:endParaRPr lang="en-SE" sz="1400" dirty="0">
              <a:solidFill>
                <a:schemeClr val="accent1"/>
              </a:solidFill>
              <a:latin typeface="Lato"/>
              <a:ea typeface="Lato"/>
              <a:cs typeface="Lato"/>
              <a:sym typeface="Lato"/>
            </a:endParaRPr>
          </a:p>
        </p:txBody>
      </p:sp>
      <p:sp>
        <p:nvSpPr>
          <p:cNvPr id="10" name="Google Shape;710;p69">
            <a:extLst>
              <a:ext uri="{FF2B5EF4-FFF2-40B4-BE49-F238E27FC236}">
                <a16:creationId xmlns:a16="http://schemas.microsoft.com/office/drawing/2014/main" id="{6F767214-152C-166E-9EFB-97ADF0CA5A90}"/>
              </a:ext>
            </a:extLst>
          </p:cNvPr>
          <p:cNvSpPr txBox="1">
            <a:spLocks/>
          </p:cNvSpPr>
          <p:nvPr/>
        </p:nvSpPr>
        <p:spPr>
          <a:xfrm>
            <a:off x="247669" y="734286"/>
            <a:ext cx="4324331" cy="791014"/>
          </a:xfrm>
          <a:prstGeom prst="rect">
            <a:avLst/>
          </a:prstGeom>
          <a:solidFill>
            <a:schemeClr val="bg1"/>
          </a:solid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a:buSzPct val="111111"/>
            </a:pPr>
            <a:r>
              <a:rPr lang="en-US" altLang="zh-CN" sz="2000" dirty="0"/>
              <a:t>MLP vs. Convolutional Neural Network (CNN)</a:t>
            </a:r>
            <a:endParaRPr lang="nl-NL" sz="2000" dirty="0"/>
          </a:p>
        </p:txBody>
      </p:sp>
      <p:sp>
        <p:nvSpPr>
          <p:cNvPr id="9" name="object 4">
            <a:extLst>
              <a:ext uri="{FF2B5EF4-FFF2-40B4-BE49-F238E27FC236}">
                <a16:creationId xmlns:a16="http://schemas.microsoft.com/office/drawing/2014/main" id="{90D96E04-B14A-4DA7-7966-BFABD4576880}"/>
              </a:ext>
            </a:extLst>
          </p:cNvPr>
          <p:cNvSpPr/>
          <p:nvPr/>
        </p:nvSpPr>
        <p:spPr>
          <a:xfrm>
            <a:off x="4860890" y="1989263"/>
            <a:ext cx="3512139" cy="1681912"/>
          </a:xfrm>
          <a:prstGeom prst="rect">
            <a:avLst/>
          </a:prstGeom>
          <a:blipFill>
            <a:blip r:embed="rId4" cstate="print"/>
            <a:stretch>
              <a:fillRect/>
            </a:stretch>
          </a:blipFill>
        </p:spPr>
        <p:txBody>
          <a:bodyPr wrap="square" lIns="0" tIns="0" rIns="0" bIns="0" rtlCol="0"/>
          <a:lstStyle/>
          <a:p>
            <a:endParaRPr/>
          </a:p>
        </p:txBody>
      </p:sp>
      <p:pic>
        <p:nvPicPr>
          <p:cNvPr id="11" name="Picture 10">
            <a:extLst>
              <a:ext uri="{FF2B5EF4-FFF2-40B4-BE49-F238E27FC236}">
                <a16:creationId xmlns:a16="http://schemas.microsoft.com/office/drawing/2014/main" id="{B2014B44-A8D6-DBB4-B07B-956EEA910C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9646" y="734286"/>
            <a:ext cx="3714628" cy="1254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67639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258C21-D79A-41C2-87FF-1878D41D5DCB}"/>
              </a:ext>
            </a:extLst>
          </p:cNvPr>
          <p:cNvSpPr>
            <a:spLocks noGrp="1"/>
          </p:cNvSpPr>
          <p:nvPr>
            <p:ph idx="1"/>
          </p:nvPr>
        </p:nvSpPr>
        <p:spPr>
          <a:xfrm>
            <a:off x="196612" y="1250817"/>
            <a:ext cx="5007380" cy="572952"/>
          </a:xfrm>
        </p:spPr>
        <p:txBody>
          <a:bodyPr>
            <a:normAutofit/>
          </a:bodyPr>
          <a:lstStyle/>
          <a:p>
            <a:pPr marL="146050" indent="0">
              <a:buNone/>
            </a:pPr>
            <a:r>
              <a:rPr lang="en-US" altLang="zh-CN" sz="1600" dirty="0"/>
              <a:t>ImageNet Large Scale Visual Recognition Challenge: </a:t>
            </a:r>
            <a:r>
              <a:rPr lang="en-US" sz="1600" dirty="0"/>
              <a:t>1000 object classes, 1.4 M labeled images.</a:t>
            </a:r>
            <a:endParaRPr lang="en-SE" sz="1600" dirty="0"/>
          </a:p>
        </p:txBody>
      </p:sp>
      <p:sp>
        <p:nvSpPr>
          <p:cNvPr id="4" name="Slide Number Placeholder 3">
            <a:extLst>
              <a:ext uri="{FF2B5EF4-FFF2-40B4-BE49-F238E27FC236}">
                <a16:creationId xmlns:a16="http://schemas.microsoft.com/office/drawing/2014/main" id="{B0AB00E9-6ADB-4A4F-A9D3-E164277A922E}"/>
              </a:ext>
            </a:extLst>
          </p:cNvPr>
          <p:cNvSpPr>
            <a:spLocks noGrp="1"/>
          </p:cNvSpPr>
          <p:nvPr>
            <p:ph type="sldNum" sz="quarter" idx="12"/>
          </p:nvPr>
        </p:nvSpPr>
        <p:spPr bwMode="auto">
          <a:xfrm>
            <a:off x="6934200" y="6530035"/>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fld id="{F57F456A-00AF-44E6-8D70-638C0D0130FF}" type="slidenum">
              <a:rPr lang="en-US" altLang="zh-CN" smtClean="0"/>
              <a:pPr>
                <a:defRPr/>
              </a:pPr>
              <a:t>86</a:t>
            </a:fld>
            <a:endParaRPr lang="en-US" altLang="zh-CN"/>
          </a:p>
        </p:txBody>
      </p:sp>
      <p:pic>
        <p:nvPicPr>
          <p:cNvPr id="6" name="Picture 5">
            <a:extLst>
              <a:ext uri="{FF2B5EF4-FFF2-40B4-BE49-F238E27FC236}">
                <a16:creationId xmlns:a16="http://schemas.microsoft.com/office/drawing/2014/main" id="{751885CA-424E-4D18-824E-45FE8DE53BA9}"/>
              </a:ext>
            </a:extLst>
          </p:cNvPr>
          <p:cNvPicPr>
            <a:picLocks noChangeAspect="1"/>
          </p:cNvPicPr>
          <p:nvPr/>
        </p:nvPicPr>
        <p:blipFill>
          <a:blip r:embed="rId2"/>
          <a:stretch>
            <a:fillRect/>
          </a:stretch>
        </p:blipFill>
        <p:spPr>
          <a:xfrm>
            <a:off x="54790" y="2075377"/>
            <a:ext cx="5760473" cy="2594194"/>
          </a:xfrm>
          <a:prstGeom prst="rect">
            <a:avLst/>
          </a:prstGeom>
        </p:spPr>
      </p:pic>
      <p:pic>
        <p:nvPicPr>
          <p:cNvPr id="5" name="Picture 2">
            <a:extLst>
              <a:ext uri="{FF2B5EF4-FFF2-40B4-BE49-F238E27FC236}">
                <a16:creationId xmlns:a16="http://schemas.microsoft.com/office/drawing/2014/main" id="{5C3D2BA7-7697-278D-2C35-85C1E0B2FA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8434" y="3497228"/>
            <a:ext cx="2334511" cy="155508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The image illustrates a comparison of the number of layers in different neural network architectures, specifically AlexNet, VGG, and ResNet, over consecutive years.&#10;&#10;AI-generated content may be incorrect.">
            <a:extLst>
              <a:ext uri="{FF2B5EF4-FFF2-40B4-BE49-F238E27FC236}">
                <a16:creationId xmlns:a16="http://schemas.microsoft.com/office/drawing/2014/main" id="{51CEFF49-F4BD-B6C6-233A-8E757D3B8676}"/>
              </a:ext>
            </a:extLst>
          </p:cNvPr>
          <p:cNvPicPr>
            <a:picLocks noChangeAspect="1"/>
          </p:cNvPicPr>
          <p:nvPr/>
        </p:nvPicPr>
        <p:blipFill>
          <a:blip r:embed="rId4"/>
          <a:stretch>
            <a:fillRect/>
          </a:stretch>
        </p:blipFill>
        <p:spPr>
          <a:xfrm>
            <a:off x="5203992" y="1187116"/>
            <a:ext cx="3925943" cy="2248436"/>
          </a:xfrm>
          <a:prstGeom prst="rect">
            <a:avLst/>
          </a:prstGeom>
        </p:spPr>
      </p:pic>
      <p:sp>
        <p:nvSpPr>
          <p:cNvPr id="12" name="Google Shape;710;p69">
            <a:extLst>
              <a:ext uri="{FF2B5EF4-FFF2-40B4-BE49-F238E27FC236}">
                <a16:creationId xmlns:a16="http://schemas.microsoft.com/office/drawing/2014/main" id="{E82A1787-B9BA-89B1-EAE5-9A23A4A00097}"/>
              </a:ext>
            </a:extLst>
          </p:cNvPr>
          <p:cNvSpPr txBox="1">
            <a:spLocks/>
          </p:cNvSpPr>
          <p:nvPr/>
        </p:nvSpPr>
        <p:spPr>
          <a:xfrm>
            <a:off x="196612" y="697783"/>
            <a:ext cx="4637152" cy="508977"/>
          </a:xfrm>
          <a:prstGeom prst="rect">
            <a:avLst/>
          </a:prstGeom>
          <a:solidFill>
            <a:schemeClr val="bg1"/>
          </a:solid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a:buSzPct val="111111"/>
            </a:pPr>
            <a:r>
              <a:rPr lang="en-US" altLang="zh-CN" sz="2000" dirty="0"/>
              <a:t>Convolutional Neural Network (CNN)</a:t>
            </a:r>
            <a:endParaRPr lang="nl-NL" sz="2000" dirty="0"/>
          </a:p>
        </p:txBody>
      </p:sp>
    </p:spTree>
    <p:extLst>
      <p:ext uri="{BB962C8B-B14F-4D97-AF65-F5344CB8AC3E}">
        <p14:creationId xmlns:p14="http://schemas.microsoft.com/office/powerpoint/2010/main" val="44586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4CEC-C4C3-1C3A-C82B-02DD0E01719D}"/>
              </a:ext>
            </a:extLst>
          </p:cNvPr>
          <p:cNvSpPr>
            <a:spLocks noGrp="1"/>
          </p:cNvSpPr>
          <p:nvPr>
            <p:ph type="title"/>
          </p:nvPr>
        </p:nvSpPr>
        <p:spPr/>
        <p:txBody>
          <a:bodyPr>
            <a:normAutofit fontScale="90000"/>
          </a:bodyPr>
          <a:lstStyle/>
          <a:p>
            <a:r>
              <a:rPr lang="nl-NL" altLang="zh-CN" dirty="0"/>
              <a:t>NVIDIA PilotNet</a:t>
            </a:r>
            <a:endParaRPr lang="zh-CN" altLang="en-US" dirty="0"/>
          </a:p>
        </p:txBody>
      </p:sp>
      <p:sp>
        <p:nvSpPr>
          <p:cNvPr id="3" name="Text Placeholder 2">
            <a:extLst>
              <a:ext uri="{FF2B5EF4-FFF2-40B4-BE49-F238E27FC236}">
                <a16:creationId xmlns:a16="http://schemas.microsoft.com/office/drawing/2014/main" id="{7BFC727E-1D2A-1BAE-F70F-A47AF1D4A08F}"/>
              </a:ext>
            </a:extLst>
          </p:cNvPr>
          <p:cNvSpPr>
            <a:spLocks noGrp="1"/>
          </p:cNvSpPr>
          <p:nvPr>
            <p:ph type="body" idx="1"/>
          </p:nvPr>
        </p:nvSpPr>
        <p:spPr>
          <a:xfrm>
            <a:off x="729450" y="2078875"/>
            <a:ext cx="4556424" cy="2261100"/>
          </a:xfrm>
        </p:spPr>
        <p:txBody>
          <a:bodyPr/>
          <a:lstStyle/>
          <a:p>
            <a:pPr marL="146050" indent="0">
              <a:buNone/>
            </a:pPr>
            <a:r>
              <a:rPr lang="en-US" altLang="zh-CN" b="1" dirty="0">
                <a:solidFill>
                  <a:srgbClr val="C00000"/>
                </a:solidFill>
              </a:rPr>
              <a:t>NVIDIA </a:t>
            </a:r>
            <a:r>
              <a:rPr lang="en-US" altLang="zh-CN" b="1" dirty="0" err="1">
                <a:solidFill>
                  <a:srgbClr val="C00000"/>
                </a:solidFill>
              </a:rPr>
              <a:t>PilotNet</a:t>
            </a:r>
            <a:r>
              <a:rPr lang="en-US" altLang="zh-CN" b="1" dirty="0">
                <a:solidFill>
                  <a:srgbClr val="C00000"/>
                </a:solidFill>
              </a:rPr>
              <a:t> </a:t>
            </a:r>
            <a:r>
              <a:rPr lang="en-US" altLang="zh-CN" dirty="0"/>
              <a:t>(2016) is an </a:t>
            </a:r>
            <a:r>
              <a:rPr lang="en-US" altLang="zh-CN" dirty="0">
                <a:solidFill>
                  <a:srgbClr val="C00000"/>
                </a:solidFill>
              </a:rPr>
              <a:t>end-to-end autonomous driving </a:t>
            </a:r>
            <a:r>
              <a:rPr lang="en-US" altLang="zh-CN" dirty="0"/>
              <a:t>system that uses a CNN to directly predict steering commands from camera images (as a </a:t>
            </a:r>
            <a:r>
              <a:rPr lang="en-US" altLang="zh-CN" dirty="0">
                <a:solidFill>
                  <a:srgbClr val="C00000"/>
                </a:solidFill>
              </a:rPr>
              <a:t>regression task</a:t>
            </a:r>
            <a:r>
              <a:rPr lang="en-US" altLang="zh-CN" dirty="0"/>
              <a:t>)</a:t>
            </a:r>
          </a:p>
          <a:p>
            <a:pPr marL="146050" indent="0">
              <a:buNone/>
            </a:pPr>
            <a:r>
              <a:rPr lang="en-US" altLang="zh-CN" dirty="0"/>
              <a:t>It demonstrated feasibility of learning driving behavior directly from data, paving the way for modern AI-based self-driving technologies.</a:t>
            </a:r>
          </a:p>
        </p:txBody>
      </p:sp>
      <p:sp>
        <p:nvSpPr>
          <p:cNvPr id="4" name="Slide Number Placeholder 3">
            <a:extLst>
              <a:ext uri="{FF2B5EF4-FFF2-40B4-BE49-F238E27FC236}">
                <a16:creationId xmlns:a16="http://schemas.microsoft.com/office/drawing/2014/main" id="{7F7A989B-8C1F-AC2A-D112-2B1CBB4BE1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87</a:t>
            </a:fld>
            <a:endParaRPr lang="en"/>
          </a:p>
        </p:txBody>
      </p:sp>
      <p:pic>
        <p:nvPicPr>
          <p:cNvPr id="6" name="Picture 5" descr="The image depicts a neural network architecture with sequentially increasing numbers of neurons in fully connected and convolutional layers, ending with normalized input planes.&#10;&#10;AI-generated content may be incorrect.">
            <a:extLst>
              <a:ext uri="{FF2B5EF4-FFF2-40B4-BE49-F238E27FC236}">
                <a16:creationId xmlns:a16="http://schemas.microsoft.com/office/drawing/2014/main" id="{80374847-0F8B-0720-9DC2-64458712B2E8}"/>
              </a:ext>
            </a:extLst>
          </p:cNvPr>
          <p:cNvPicPr>
            <a:picLocks noChangeAspect="1"/>
          </p:cNvPicPr>
          <p:nvPr/>
        </p:nvPicPr>
        <p:blipFill>
          <a:blip r:embed="rId2"/>
          <a:stretch>
            <a:fillRect/>
          </a:stretch>
        </p:blipFill>
        <p:spPr>
          <a:xfrm>
            <a:off x="5526504" y="551210"/>
            <a:ext cx="3009797" cy="4298855"/>
          </a:xfrm>
          <a:prstGeom prst="rect">
            <a:avLst/>
          </a:prstGeom>
        </p:spPr>
      </p:pic>
      <p:sp>
        <p:nvSpPr>
          <p:cNvPr id="7" name="TextBox 6">
            <a:extLst>
              <a:ext uri="{FF2B5EF4-FFF2-40B4-BE49-F238E27FC236}">
                <a16:creationId xmlns:a16="http://schemas.microsoft.com/office/drawing/2014/main" id="{54FB2F81-BD5F-4FA6-05BB-7719ECFA37EA}"/>
              </a:ext>
            </a:extLst>
          </p:cNvPr>
          <p:cNvSpPr txBox="1"/>
          <p:nvPr/>
        </p:nvSpPr>
        <p:spPr>
          <a:xfrm>
            <a:off x="6472990" y="4838929"/>
            <a:ext cx="1788695" cy="215444"/>
          </a:xfrm>
          <a:prstGeom prst="rect">
            <a:avLst/>
          </a:prstGeom>
          <a:noFill/>
        </p:spPr>
        <p:txBody>
          <a:bodyPr wrap="square">
            <a:spAutoFit/>
          </a:bodyPr>
          <a:lstStyle/>
          <a:p>
            <a:r>
              <a:rPr lang="zh-CN" altLang="en-US" sz="800" dirty="0"/>
              <a:t>https://github.com/lhzlhz/PilotNet</a:t>
            </a:r>
          </a:p>
        </p:txBody>
      </p:sp>
    </p:spTree>
    <p:extLst>
      <p:ext uri="{BB962C8B-B14F-4D97-AF65-F5344CB8AC3E}">
        <p14:creationId xmlns:p14="http://schemas.microsoft.com/office/powerpoint/2010/main" val="31504317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2B307-16B1-9B7C-7286-EB51D8A30FDD}"/>
              </a:ext>
            </a:extLst>
          </p:cNvPr>
          <p:cNvSpPr>
            <a:spLocks noGrp="1"/>
          </p:cNvSpPr>
          <p:nvPr>
            <p:ph type="title"/>
          </p:nvPr>
        </p:nvSpPr>
        <p:spPr/>
        <p:txBody>
          <a:bodyPr>
            <a:normAutofit fontScale="90000"/>
          </a:bodyPr>
          <a:lstStyle/>
          <a:p>
            <a:endParaRPr lang="zh-CN" altLang="en-US"/>
          </a:p>
        </p:txBody>
      </p:sp>
      <p:sp>
        <p:nvSpPr>
          <p:cNvPr id="3" name="Text Placeholder 2">
            <a:extLst>
              <a:ext uri="{FF2B5EF4-FFF2-40B4-BE49-F238E27FC236}">
                <a16:creationId xmlns:a16="http://schemas.microsoft.com/office/drawing/2014/main" id="{DFBAE24A-1EE1-7A50-F525-7676E2A46F21}"/>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C2F53E8D-BBDE-A467-67C8-363BC59D75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88</a:t>
            </a:fld>
            <a:endParaRPr lang="en"/>
          </a:p>
        </p:txBody>
      </p:sp>
      <p:sp>
        <p:nvSpPr>
          <p:cNvPr id="5" name="object 4">
            <a:extLst>
              <a:ext uri="{FF2B5EF4-FFF2-40B4-BE49-F238E27FC236}">
                <a16:creationId xmlns:a16="http://schemas.microsoft.com/office/drawing/2014/main" id="{61BEEA0C-A751-4123-B7AC-E7B2268A5D01}"/>
              </a:ext>
            </a:extLst>
          </p:cNvPr>
          <p:cNvSpPr/>
          <p:nvPr/>
        </p:nvSpPr>
        <p:spPr>
          <a:xfrm>
            <a:off x="400068" y="1508818"/>
            <a:ext cx="8743932" cy="2729144"/>
          </a:xfrm>
          <a:prstGeom prst="rect">
            <a:avLst/>
          </a:prstGeom>
          <a:blipFill>
            <a:blip r:embed="rId2" cstate="print"/>
            <a:stretch>
              <a:fillRect/>
            </a:stretch>
          </a:blipFill>
        </p:spPr>
        <p:txBody>
          <a:bodyPr wrap="square" lIns="0" tIns="0" rIns="0" bIns="0" rtlCol="0"/>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SE"/>
          </a:p>
        </p:txBody>
      </p:sp>
      <p:sp>
        <p:nvSpPr>
          <p:cNvPr id="6" name="object 7">
            <a:extLst>
              <a:ext uri="{FF2B5EF4-FFF2-40B4-BE49-F238E27FC236}">
                <a16:creationId xmlns:a16="http://schemas.microsoft.com/office/drawing/2014/main" id="{5580F489-2EB9-4F1D-BE76-FB37D40062E8}"/>
              </a:ext>
            </a:extLst>
          </p:cNvPr>
          <p:cNvSpPr/>
          <p:nvPr/>
        </p:nvSpPr>
        <p:spPr>
          <a:xfrm>
            <a:off x="8355442" y="3712826"/>
            <a:ext cx="71120" cy="90805"/>
          </a:xfrm>
          <a:custGeom>
            <a:avLst/>
            <a:gdLst/>
            <a:ahLst/>
            <a:cxnLst/>
            <a:rect l="l" t="t" r="r" b="b"/>
            <a:pathLst>
              <a:path w="71120" h="90804">
                <a:moveTo>
                  <a:pt x="54349" y="90524"/>
                </a:moveTo>
                <a:lnTo>
                  <a:pt x="70749" y="0"/>
                </a:lnTo>
                <a:lnTo>
                  <a:pt x="0" y="58799"/>
                </a:lnTo>
                <a:lnTo>
                  <a:pt x="54349" y="90524"/>
                </a:lnTo>
                <a:close/>
              </a:path>
            </a:pathLst>
          </a:custGeom>
          <a:ln w="19049">
            <a:solidFill>
              <a:srgbClr val="666666"/>
            </a:solidFill>
          </a:ln>
        </p:spPr>
        <p:txBody>
          <a:bodyPr wrap="square" lIns="0" tIns="0" rIns="0" bIns="0" rtlCol="0"/>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a:p>
        </p:txBody>
      </p:sp>
      <p:sp>
        <p:nvSpPr>
          <p:cNvPr id="7" name="TextBox 7">
            <a:extLst>
              <a:ext uri="{FF2B5EF4-FFF2-40B4-BE49-F238E27FC236}">
                <a16:creationId xmlns:a16="http://schemas.microsoft.com/office/drawing/2014/main" id="{9A6E9ACC-1103-4C6B-905F-1308D18E1E72}"/>
              </a:ext>
            </a:extLst>
          </p:cNvPr>
          <p:cNvSpPr txBox="1"/>
          <p:nvPr/>
        </p:nvSpPr>
        <p:spPr>
          <a:xfrm>
            <a:off x="7608507" y="4130532"/>
            <a:ext cx="1689922" cy="646331"/>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200" dirty="0">
                <a:solidFill>
                  <a:schemeClr val="bg2"/>
                </a:solidFill>
              </a:rPr>
              <a:t>e.g., video classification </a:t>
            </a:r>
          </a:p>
          <a:p>
            <a:r>
              <a:rPr lang="en-US" sz="1200" dirty="0">
                <a:solidFill>
                  <a:schemeClr val="bg2"/>
                </a:solidFill>
              </a:rPr>
              <a:t>on frame level</a:t>
            </a:r>
          </a:p>
        </p:txBody>
      </p:sp>
      <p:sp>
        <p:nvSpPr>
          <p:cNvPr id="8" name="TextBox 9">
            <a:extLst>
              <a:ext uri="{FF2B5EF4-FFF2-40B4-BE49-F238E27FC236}">
                <a16:creationId xmlns:a16="http://schemas.microsoft.com/office/drawing/2014/main" id="{FECC5275-F0E4-43F8-96CA-7B3BD08066DB}"/>
              </a:ext>
            </a:extLst>
          </p:cNvPr>
          <p:cNvSpPr txBox="1"/>
          <p:nvPr/>
        </p:nvSpPr>
        <p:spPr>
          <a:xfrm>
            <a:off x="4988058" y="4130532"/>
            <a:ext cx="2934072" cy="46166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200" dirty="0">
                <a:solidFill>
                  <a:schemeClr val="bg2"/>
                </a:solidFill>
              </a:rPr>
              <a:t>e.g. Machine Translation</a:t>
            </a:r>
          </a:p>
          <a:p>
            <a:r>
              <a:rPr lang="en-US" sz="1200" dirty="0">
                <a:solidFill>
                  <a:schemeClr val="bg2"/>
                </a:solidFill>
              </a:rPr>
              <a:t>seq of words -&gt; seq of words</a:t>
            </a:r>
          </a:p>
        </p:txBody>
      </p:sp>
      <p:sp>
        <p:nvSpPr>
          <p:cNvPr id="9" name="TextBox 15">
            <a:extLst>
              <a:ext uri="{FF2B5EF4-FFF2-40B4-BE49-F238E27FC236}">
                <a16:creationId xmlns:a16="http://schemas.microsoft.com/office/drawing/2014/main" id="{8929B679-99F7-4999-A93C-A09A0F7FF47D}"/>
              </a:ext>
            </a:extLst>
          </p:cNvPr>
          <p:cNvSpPr txBox="1"/>
          <p:nvPr/>
        </p:nvSpPr>
        <p:spPr>
          <a:xfrm>
            <a:off x="3311812" y="4130532"/>
            <a:ext cx="2007095" cy="83099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200" dirty="0">
                <a:solidFill>
                  <a:schemeClr val="bg2"/>
                </a:solidFill>
              </a:rPr>
              <a:t>e.g. Sentiment Classification</a:t>
            </a:r>
          </a:p>
          <a:p>
            <a:r>
              <a:rPr lang="en-US" sz="1200" dirty="0">
                <a:solidFill>
                  <a:schemeClr val="bg2"/>
                </a:solidFill>
              </a:rPr>
              <a:t>sequence of words -&gt; sentiment</a:t>
            </a:r>
          </a:p>
        </p:txBody>
      </p:sp>
      <p:sp>
        <p:nvSpPr>
          <p:cNvPr id="10" name="TextBox 17">
            <a:extLst>
              <a:ext uri="{FF2B5EF4-FFF2-40B4-BE49-F238E27FC236}">
                <a16:creationId xmlns:a16="http://schemas.microsoft.com/office/drawing/2014/main" id="{6A473610-0CED-4E0B-BB41-DA5C796E19D1}"/>
              </a:ext>
            </a:extLst>
          </p:cNvPr>
          <p:cNvSpPr txBox="1"/>
          <p:nvPr/>
        </p:nvSpPr>
        <p:spPr>
          <a:xfrm>
            <a:off x="1747698" y="4130532"/>
            <a:ext cx="1816272" cy="646331"/>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200" dirty="0">
                <a:solidFill>
                  <a:schemeClr val="bg2"/>
                </a:solidFill>
              </a:rPr>
              <a:t>e.g. Image Captioning</a:t>
            </a:r>
          </a:p>
          <a:p>
            <a:r>
              <a:rPr lang="en-US" sz="1200" dirty="0">
                <a:solidFill>
                  <a:schemeClr val="bg2"/>
                </a:solidFill>
              </a:rPr>
              <a:t>image -&gt; sequence of words</a:t>
            </a:r>
          </a:p>
        </p:txBody>
      </p:sp>
      <p:sp>
        <p:nvSpPr>
          <p:cNvPr id="11" name="TextBox 19">
            <a:extLst>
              <a:ext uri="{FF2B5EF4-FFF2-40B4-BE49-F238E27FC236}">
                <a16:creationId xmlns:a16="http://schemas.microsoft.com/office/drawing/2014/main" id="{47917235-8298-419D-87CC-B12CCF867EC8}"/>
              </a:ext>
            </a:extLst>
          </p:cNvPr>
          <p:cNvSpPr txBox="1"/>
          <p:nvPr/>
        </p:nvSpPr>
        <p:spPr>
          <a:xfrm>
            <a:off x="253853" y="4130532"/>
            <a:ext cx="1410486" cy="46166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200" dirty="0">
                <a:solidFill>
                  <a:schemeClr val="bg2"/>
                </a:solidFill>
              </a:rPr>
              <a:t>Regular Feedforward NN</a:t>
            </a:r>
          </a:p>
        </p:txBody>
      </p:sp>
      <p:sp>
        <p:nvSpPr>
          <p:cNvPr id="12" name="Google Shape;710;p69">
            <a:extLst>
              <a:ext uri="{FF2B5EF4-FFF2-40B4-BE49-F238E27FC236}">
                <a16:creationId xmlns:a16="http://schemas.microsoft.com/office/drawing/2014/main" id="{D1303225-AD13-F4BB-539D-2E1F291E384B}"/>
              </a:ext>
            </a:extLst>
          </p:cNvPr>
          <p:cNvSpPr txBox="1">
            <a:spLocks/>
          </p:cNvSpPr>
          <p:nvPr/>
        </p:nvSpPr>
        <p:spPr>
          <a:xfrm>
            <a:off x="400068" y="973618"/>
            <a:ext cx="4805076" cy="535200"/>
          </a:xfrm>
          <a:prstGeom prst="rect">
            <a:avLst/>
          </a:prstGeom>
          <a:solidFill>
            <a:schemeClr val="bg1"/>
          </a:solid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a:buSzPct val="111111"/>
            </a:pPr>
            <a:r>
              <a:rPr lang="en-US" altLang="zh-CN" dirty="0"/>
              <a:t>Recurrent </a:t>
            </a:r>
            <a:r>
              <a:rPr lang="nl-NL" dirty="0"/>
              <a:t>Neural Network</a:t>
            </a:r>
          </a:p>
        </p:txBody>
      </p:sp>
    </p:spTree>
    <p:extLst>
      <p:ext uri="{BB962C8B-B14F-4D97-AF65-F5344CB8AC3E}">
        <p14:creationId xmlns:p14="http://schemas.microsoft.com/office/powerpoint/2010/main" val="42804350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525F7-7384-854D-22C2-F0E003FC4F30}"/>
              </a:ext>
            </a:extLst>
          </p:cNvPr>
          <p:cNvSpPr>
            <a:spLocks noGrp="1"/>
          </p:cNvSpPr>
          <p:nvPr>
            <p:ph type="title"/>
          </p:nvPr>
        </p:nvSpPr>
        <p:spPr/>
        <p:txBody>
          <a:bodyPr>
            <a:normAutofit fontScale="90000"/>
          </a:bodyPr>
          <a:lstStyle/>
          <a:p>
            <a:r>
              <a:rPr lang="en-US" altLang="zh-CN" sz="2800" dirty="0"/>
              <a:t>Image Captioning: CNN + RNN</a:t>
            </a:r>
            <a:endParaRPr lang="zh-CN" altLang="en-US" dirty="0"/>
          </a:p>
        </p:txBody>
      </p:sp>
      <p:sp>
        <p:nvSpPr>
          <p:cNvPr id="4" name="Slide Number Placeholder 3">
            <a:extLst>
              <a:ext uri="{FF2B5EF4-FFF2-40B4-BE49-F238E27FC236}">
                <a16:creationId xmlns:a16="http://schemas.microsoft.com/office/drawing/2014/main" id="{0E95D29B-1419-0740-5C49-4FA0EB3EA31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89</a:t>
            </a:fld>
            <a:endParaRPr lang="en"/>
          </a:p>
        </p:txBody>
      </p:sp>
      <p:pic>
        <p:nvPicPr>
          <p:cNvPr id="61" name="Picture 60" descr="The image shows a visual representation of a convolutional neural network (CNN) architecture, including layers for convolution, max pooling, and fully connected (FC) layers, followed by a softmax activation function.&#10;&#10;AI-generated content may be incorrect.">
            <a:extLst>
              <a:ext uri="{FF2B5EF4-FFF2-40B4-BE49-F238E27FC236}">
                <a16:creationId xmlns:a16="http://schemas.microsoft.com/office/drawing/2014/main" id="{67FB634F-77B4-DD90-1A68-6E1C369F7EAB}"/>
              </a:ext>
            </a:extLst>
          </p:cNvPr>
          <p:cNvPicPr>
            <a:picLocks noChangeAspect="1"/>
          </p:cNvPicPr>
          <p:nvPr/>
        </p:nvPicPr>
        <p:blipFill>
          <a:blip r:embed="rId3"/>
          <a:stretch>
            <a:fillRect/>
          </a:stretch>
        </p:blipFill>
        <p:spPr>
          <a:xfrm>
            <a:off x="5045347" y="1756562"/>
            <a:ext cx="3984812" cy="3386889"/>
          </a:xfrm>
          <a:prstGeom prst="rect">
            <a:avLst/>
          </a:prstGeom>
        </p:spPr>
      </p:pic>
      <p:grpSp>
        <p:nvGrpSpPr>
          <p:cNvPr id="67" name="Group 66">
            <a:extLst>
              <a:ext uri="{FF2B5EF4-FFF2-40B4-BE49-F238E27FC236}">
                <a16:creationId xmlns:a16="http://schemas.microsoft.com/office/drawing/2014/main" id="{04F8368D-39EC-B7A6-CEE0-D408ED742351}"/>
              </a:ext>
            </a:extLst>
          </p:cNvPr>
          <p:cNvGrpSpPr/>
          <p:nvPr/>
        </p:nvGrpSpPr>
        <p:grpSpPr>
          <a:xfrm>
            <a:off x="1151068" y="3091531"/>
            <a:ext cx="3420932" cy="1947695"/>
            <a:chOff x="1086900" y="1408759"/>
            <a:chExt cx="5071610" cy="2887503"/>
          </a:xfrm>
        </p:grpSpPr>
        <p:sp>
          <p:nvSpPr>
            <p:cNvPr id="62" name="object 4">
              <a:extLst>
                <a:ext uri="{FF2B5EF4-FFF2-40B4-BE49-F238E27FC236}">
                  <a16:creationId xmlns:a16="http://schemas.microsoft.com/office/drawing/2014/main" id="{909D54D4-4152-41E1-A51B-3341B6023E51}"/>
                </a:ext>
              </a:extLst>
            </p:cNvPr>
            <p:cNvSpPr/>
            <p:nvPr/>
          </p:nvSpPr>
          <p:spPr>
            <a:xfrm>
              <a:off x="1086900" y="1408759"/>
              <a:ext cx="4993089" cy="2847116"/>
            </a:xfrm>
            <a:prstGeom prst="rect">
              <a:avLst/>
            </a:prstGeom>
            <a:blipFill>
              <a:blip r:embed="rId4" cstate="print"/>
              <a:stretch>
                <a:fillRect/>
              </a:stretch>
            </a:blipFill>
          </p:spPr>
          <p:txBody>
            <a:bodyPr wrap="square" lIns="0" tIns="0" rIns="0" bIns="0" rtlCol="0"/>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a:p>
          </p:txBody>
        </p:sp>
        <p:sp>
          <p:nvSpPr>
            <p:cNvPr id="63" name="object 5">
              <a:extLst>
                <a:ext uri="{FF2B5EF4-FFF2-40B4-BE49-F238E27FC236}">
                  <a16:creationId xmlns:a16="http://schemas.microsoft.com/office/drawing/2014/main" id="{341C323E-4268-4A32-B194-814393E39538}"/>
                </a:ext>
              </a:extLst>
            </p:cNvPr>
            <p:cNvSpPr/>
            <p:nvPr/>
          </p:nvSpPr>
          <p:spPr>
            <a:xfrm>
              <a:off x="1086900" y="3073511"/>
              <a:ext cx="1990725" cy="942340"/>
            </a:xfrm>
            <a:custGeom>
              <a:avLst/>
              <a:gdLst/>
              <a:ahLst/>
              <a:cxnLst/>
              <a:rect l="l" t="t" r="r" b="b"/>
              <a:pathLst>
                <a:path w="1990725" h="942339">
                  <a:moveTo>
                    <a:pt x="0" y="0"/>
                  </a:moveTo>
                  <a:lnTo>
                    <a:pt x="1990195" y="0"/>
                  </a:lnTo>
                  <a:lnTo>
                    <a:pt x="1990195" y="942290"/>
                  </a:lnTo>
                  <a:lnTo>
                    <a:pt x="0" y="942290"/>
                  </a:lnTo>
                  <a:lnTo>
                    <a:pt x="0" y="0"/>
                  </a:lnTo>
                  <a:close/>
                </a:path>
              </a:pathLst>
            </a:custGeom>
            <a:ln w="76199">
              <a:solidFill>
                <a:srgbClr val="FF0000"/>
              </a:solidFill>
            </a:ln>
          </p:spPr>
          <p:txBody>
            <a:bodyPr wrap="square" lIns="0" tIns="0" rIns="0" bIns="0" rtlCol="0"/>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a:p>
          </p:txBody>
        </p:sp>
        <p:sp>
          <p:nvSpPr>
            <p:cNvPr id="64" name="object 6">
              <a:extLst>
                <a:ext uri="{FF2B5EF4-FFF2-40B4-BE49-F238E27FC236}">
                  <a16:creationId xmlns:a16="http://schemas.microsoft.com/office/drawing/2014/main" id="{65378816-4D56-462E-9D6E-FE5662538988}"/>
                </a:ext>
              </a:extLst>
            </p:cNvPr>
            <p:cNvSpPr/>
            <p:nvPr/>
          </p:nvSpPr>
          <p:spPr>
            <a:xfrm>
              <a:off x="3247670" y="1478767"/>
              <a:ext cx="2910840" cy="2817495"/>
            </a:xfrm>
            <a:custGeom>
              <a:avLst/>
              <a:gdLst/>
              <a:ahLst/>
              <a:cxnLst/>
              <a:rect l="l" t="t" r="r" b="b"/>
              <a:pathLst>
                <a:path w="2910840" h="2817495">
                  <a:moveTo>
                    <a:pt x="0" y="0"/>
                  </a:moveTo>
                  <a:lnTo>
                    <a:pt x="2910294" y="0"/>
                  </a:lnTo>
                  <a:lnTo>
                    <a:pt x="2910294" y="2817284"/>
                  </a:lnTo>
                  <a:lnTo>
                    <a:pt x="0" y="2817284"/>
                  </a:lnTo>
                  <a:lnTo>
                    <a:pt x="0" y="0"/>
                  </a:lnTo>
                  <a:close/>
                </a:path>
              </a:pathLst>
            </a:custGeom>
            <a:ln w="76199">
              <a:solidFill>
                <a:srgbClr val="38751C"/>
              </a:solidFill>
            </a:ln>
          </p:spPr>
          <p:txBody>
            <a:bodyPr wrap="square" lIns="0" tIns="0" rIns="0" bIns="0" rtlCol="0"/>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a:p>
          </p:txBody>
        </p:sp>
      </p:grpSp>
      <p:sp>
        <p:nvSpPr>
          <p:cNvPr id="68" name="Google Shape;729;g2e78df7ea50_0_26">
            <a:extLst>
              <a:ext uri="{FF2B5EF4-FFF2-40B4-BE49-F238E27FC236}">
                <a16:creationId xmlns:a16="http://schemas.microsoft.com/office/drawing/2014/main" id="{130D1E72-7045-62C6-0B05-D470CCCABB83}"/>
              </a:ext>
            </a:extLst>
          </p:cNvPr>
          <p:cNvSpPr txBox="1">
            <a:spLocks/>
          </p:cNvSpPr>
          <p:nvPr/>
        </p:nvSpPr>
        <p:spPr>
          <a:xfrm>
            <a:off x="566729" y="1838474"/>
            <a:ext cx="4363918" cy="1221211"/>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146050" indent="0">
              <a:buNone/>
            </a:pPr>
            <a:r>
              <a:rPr lang="en-US" altLang="zh-CN" sz="1600" dirty="0">
                <a:solidFill>
                  <a:srgbClr val="C00000"/>
                </a:solidFill>
              </a:rPr>
              <a:t>CNN</a:t>
            </a:r>
            <a:r>
              <a:rPr lang="en-US" altLang="zh-CN" sz="1600" dirty="0"/>
              <a:t> processes the input image and generates a feature vector as input to </a:t>
            </a:r>
            <a:r>
              <a:rPr lang="en-US" altLang="zh-CN" sz="1600" dirty="0">
                <a:solidFill>
                  <a:srgbClr val="00B050"/>
                </a:solidFill>
              </a:rPr>
              <a:t>RNN</a:t>
            </a:r>
          </a:p>
          <a:p>
            <a:pPr marL="146050" indent="0">
              <a:buNone/>
            </a:pPr>
            <a:r>
              <a:rPr lang="en-US" altLang="zh-CN" sz="1600" dirty="0"/>
              <a:t>Last 2 layers of the CNN for classification (FC-1000 and SoftMax) are not used, since we only need the extracted features from the layer FC-4096</a:t>
            </a:r>
            <a:endParaRPr lang="en-SE" altLang="zh-CN" sz="1600" dirty="0"/>
          </a:p>
        </p:txBody>
      </p:sp>
    </p:spTree>
    <p:extLst>
      <p:ext uri="{BB962C8B-B14F-4D97-AF65-F5344CB8AC3E}">
        <p14:creationId xmlns:p14="http://schemas.microsoft.com/office/powerpoint/2010/main" val="8404669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g2e78df7ea50_0_2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spcBef>
                <a:spcPts val="0"/>
              </a:spcBef>
              <a:spcAft>
                <a:spcPts val="0"/>
              </a:spcAft>
              <a:buSzPct val="111111"/>
              <a:buNone/>
            </a:pPr>
            <a:r>
              <a:rPr lang="en" dirty="0"/>
              <a:t>Graph Neural Network</a:t>
            </a:r>
            <a:endParaRPr dirty="0"/>
          </a:p>
          <a:p>
            <a:pPr marL="0" lvl="0" indent="0" algn="l" rtl="0">
              <a:lnSpc>
                <a:spcPct val="100000"/>
              </a:lnSpc>
              <a:spcBef>
                <a:spcPts val="0"/>
              </a:spcBef>
              <a:spcAft>
                <a:spcPts val="0"/>
              </a:spcAft>
              <a:buSzPct val="111111"/>
              <a:buNone/>
            </a:pPr>
            <a:endParaRPr dirty="0"/>
          </a:p>
        </p:txBody>
      </p:sp>
      <p:sp>
        <p:nvSpPr>
          <p:cNvPr id="729" name="Google Shape;729;g2e78df7ea50_0_26"/>
          <p:cNvSpPr txBox="1">
            <a:spLocks noGrp="1"/>
          </p:cNvSpPr>
          <p:nvPr>
            <p:ph type="body" idx="1"/>
          </p:nvPr>
        </p:nvSpPr>
        <p:spPr>
          <a:xfrm>
            <a:off x="620335" y="2056151"/>
            <a:ext cx="3898697" cy="2693700"/>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15000"/>
              </a:lnSpc>
              <a:spcBef>
                <a:spcPts val="0"/>
              </a:spcBef>
              <a:spcAft>
                <a:spcPts val="0"/>
              </a:spcAft>
              <a:buSzPts val="1300"/>
              <a:buNone/>
            </a:pPr>
            <a:r>
              <a:rPr lang="en-US" sz="1600" dirty="0">
                <a:solidFill>
                  <a:srgbClr val="C00000"/>
                </a:solidFill>
              </a:rPr>
              <a:t>GNNs</a:t>
            </a:r>
            <a:r>
              <a:rPr lang="en-US" sz="1600" dirty="0"/>
              <a:t> operate on graphs made of nodes and edges.</a:t>
            </a:r>
          </a:p>
          <a:p>
            <a:pPr marL="0" lvl="0" indent="0" algn="l" rtl="0">
              <a:lnSpc>
                <a:spcPct val="115000"/>
              </a:lnSpc>
              <a:spcBef>
                <a:spcPts val="0"/>
              </a:spcBef>
              <a:spcAft>
                <a:spcPts val="0"/>
              </a:spcAft>
              <a:buSzPts val="1300"/>
              <a:buNone/>
            </a:pPr>
            <a:r>
              <a:rPr lang="en-US" sz="1600" dirty="0"/>
              <a:t>Information is passed between connected nodes (neighbors) through message-passing.</a:t>
            </a:r>
          </a:p>
          <a:p>
            <a:pPr marL="0" lvl="0" indent="0" algn="l" rtl="0">
              <a:lnSpc>
                <a:spcPct val="115000"/>
              </a:lnSpc>
              <a:spcBef>
                <a:spcPts val="0"/>
              </a:spcBef>
              <a:spcAft>
                <a:spcPts val="0"/>
              </a:spcAft>
              <a:buSzPts val="1300"/>
              <a:buNone/>
            </a:pPr>
            <a:r>
              <a:rPr lang="en-US" sz="1600" dirty="0">
                <a:solidFill>
                  <a:srgbClr val="C00000"/>
                </a:solidFill>
              </a:rPr>
              <a:t>Graph Convolutional Networks (GCNs) </a:t>
            </a:r>
            <a:r>
              <a:rPr lang="en-US" sz="1600" dirty="0"/>
              <a:t>extend the idea of convolution from grid data to graphs.</a:t>
            </a:r>
          </a:p>
          <a:p>
            <a:pPr marL="0" indent="0">
              <a:buNone/>
            </a:pPr>
            <a:r>
              <a:rPr lang="en-US" altLang="zh-CN" sz="1600" dirty="0"/>
              <a:t>Useful for tasks like social network analysis, molecule prediction, and recommendation systems.</a:t>
            </a:r>
          </a:p>
        </p:txBody>
      </p:sp>
      <p:pic>
        <p:nvPicPr>
          <p:cNvPr id="730" name="Google Shape;730;g2e78df7ea50_0_26"/>
          <p:cNvPicPr preferRelativeResize="0"/>
          <p:nvPr/>
        </p:nvPicPr>
        <p:blipFill rotWithShape="1">
          <a:blip r:embed="rId3">
            <a:alphaModFix/>
          </a:blip>
          <a:srcRect/>
          <a:stretch/>
        </p:blipFill>
        <p:spPr>
          <a:xfrm>
            <a:off x="4519032" y="521369"/>
            <a:ext cx="4191831" cy="2095916"/>
          </a:xfrm>
          <a:prstGeom prst="rect">
            <a:avLst/>
          </a:prstGeom>
          <a:noFill/>
          <a:ln>
            <a:noFill/>
          </a:ln>
        </p:spPr>
      </p:pic>
      <p:sp>
        <p:nvSpPr>
          <p:cNvPr id="731" name="Google Shape;731;g2e78df7ea50_0_26"/>
          <p:cNvSpPr txBox="1"/>
          <p:nvPr/>
        </p:nvSpPr>
        <p:spPr>
          <a:xfrm>
            <a:off x="4313947" y="4749851"/>
            <a:ext cx="4602000" cy="307746"/>
          </a:xfrm>
          <a:prstGeom prst="rect">
            <a:avLst/>
          </a:prstGeom>
          <a:noFill/>
          <a:ln>
            <a:noFill/>
          </a:ln>
        </p:spPr>
        <p:txBody>
          <a:bodyPr spcFirstLastPara="1" wrap="square" lIns="91425" tIns="91425" rIns="91425" bIns="91425" anchor="t" anchorCtr="0">
            <a:spAutoFit/>
          </a:bodyPr>
          <a:lstStyle/>
          <a:p>
            <a:pPr lvl="0" algn="ctr">
              <a:buSzPts val="1000"/>
            </a:pPr>
            <a:r>
              <a:rPr lang="en-US" altLang="zh-CN" sz="800" i="1" dirty="0">
                <a:latin typeface="Lato"/>
                <a:ea typeface="Lato"/>
                <a:cs typeface="Lato"/>
                <a:sym typeface="Lato"/>
              </a:rPr>
              <a:t>https://www.geeksforgeeks.org/deep-learning/what-are-graph-neural-networks/</a:t>
            </a:r>
            <a:endParaRPr sz="800" b="0" i="1"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73FF357D-4C5A-F584-F754-34EFFEB81A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90</a:t>
            </a:fld>
            <a:endParaRPr lang="en"/>
          </a:p>
        </p:txBody>
      </p:sp>
      <p:pic>
        <p:nvPicPr>
          <p:cNvPr id="4" name="Picture 3" descr="The image depicts a neural network architecture with an input layer, a hidden layer, and an output layer, featuring ReLU activation functions.&#10;&#10;AI-generated content may be incorrect.">
            <a:extLst>
              <a:ext uri="{FF2B5EF4-FFF2-40B4-BE49-F238E27FC236}">
                <a16:creationId xmlns:a16="http://schemas.microsoft.com/office/drawing/2014/main" id="{C1B39A8C-9C4C-A7FB-0548-A896836D2E70}"/>
              </a:ext>
            </a:extLst>
          </p:cNvPr>
          <p:cNvPicPr>
            <a:picLocks noChangeAspect="1"/>
          </p:cNvPicPr>
          <p:nvPr/>
        </p:nvPicPr>
        <p:blipFill>
          <a:blip r:embed="rId4"/>
          <a:stretch>
            <a:fillRect/>
          </a:stretch>
        </p:blipFill>
        <p:spPr>
          <a:xfrm>
            <a:off x="4519032" y="2653935"/>
            <a:ext cx="4191831" cy="2095916"/>
          </a:xfrm>
          <a:prstGeom prst="rect">
            <a:avLst/>
          </a:prstGeom>
        </p:spPr>
      </p:pic>
      <p:sp>
        <p:nvSpPr>
          <p:cNvPr id="5" name="TextBox 4">
            <a:extLst>
              <a:ext uri="{FF2B5EF4-FFF2-40B4-BE49-F238E27FC236}">
                <a16:creationId xmlns:a16="http://schemas.microsoft.com/office/drawing/2014/main" id="{1975A638-7306-3903-B0E8-AAA89C07116A}"/>
              </a:ext>
            </a:extLst>
          </p:cNvPr>
          <p:cNvSpPr txBox="1"/>
          <p:nvPr/>
        </p:nvSpPr>
        <p:spPr>
          <a:xfrm>
            <a:off x="6464969" y="2352435"/>
            <a:ext cx="601579" cy="307777"/>
          </a:xfrm>
          <a:prstGeom prst="rect">
            <a:avLst/>
          </a:prstGeom>
          <a:noFill/>
        </p:spPr>
        <p:txBody>
          <a:bodyPr wrap="square" rtlCol="0">
            <a:spAutoFit/>
          </a:bodyPr>
          <a:lstStyle/>
          <a:p>
            <a:r>
              <a:rPr lang="en-US" altLang="zh-CN" dirty="0"/>
              <a:t>GNN</a:t>
            </a:r>
            <a:endParaRPr lang="zh-CN" altLang="en-US" dirty="0"/>
          </a:p>
        </p:txBody>
      </p:sp>
      <p:sp>
        <p:nvSpPr>
          <p:cNvPr id="6" name="TextBox 5">
            <a:extLst>
              <a:ext uri="{FF2B5EF4-FFF2-40B4-BE49-F238E27FC236}">
                <a16:creationId xmlns:a16="http://schemas.microsoft.com/office/drawing/2014/main" id="{A5C3E63A-6DF8-753D-6A48-089F8DECBA69}"/>
              </a:ext>
            </a:extLst>
          </p:cNvPr>
          <p:cNvSpPr txBox="1"/>
          <p:nvPr/>
        </p:nvSpPr>
        <p:spPr>
          <a:xfrm>
            <a:off x="6541169" y="4547550"/>
            <a:ext cx="613610" cy="307777"/>
          </a:xfrm>
          <a:prstGeom prst="rect">
            <a:avLst/>
          </a:prstGeom>
          <a:noFill/>
        </p:spPr>
        <p:txBody>
          <a:bodyPr wrap="square" rtlCol="0">
            <a:spAutoFit/>
          </a:bodyPr>
          <a:lstStyle/>
          <a:p>
            <a:r>
              <a:rPr lang="en-US" altLang="zh-CN" dirty="0"/>
              <a:t>DCN</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71"/>
          <p:cNvSpPr txBox="1">
            <a:spLocks noGrp="1"/>
          </p:cNvSpPr>
          <p:nvPr>
            <p:ph type="body" idx="1"/>
          </p:nvPr>
        </p:nvSpPr>
        <p:spPr>
          <a:xfrm>
            <a:off x="729450" y="2078875"/>
            <a:ext cx="4781013" cy="2693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US" sz="1600" dirty="0"/>
              <a:t>Uses attention mechanisms to capture relationships between inputs</a:t>
            </a:r>
          </a:p>
          <a:p>
            <a:pPr marL="0" lvl="0" indent="0" algn="l" rtl="0">
              <a:lnSpc>
                <a:spcPct val="115000"/>
              </a:lnSpc>
              <a:spcBef>
                <a:spcPts val="0"/>
              </a:spcBef>
              <a:spcAft>
                <a:spcPts val="0"/>
              </a:spcAft>
              <a:buSzPts val="1300"/>
              <a:buNone/>
            </a:pPr>
            <a:r>
              <a:rPr lang="en-US" sz="1600" dirty="0"/>
              <a:t>Processes entire sequences at once instead of step by step</a:t>
            </a:r>
          </a:p>
          <a:p>
            <a:pPr marL="0" lvl="0" indent="0" algn="l" rtl="0">
              <a:lnSpc>
                <a:spcPct val="115000"/>
              </a:lnSpc>
              <a:spcBef>
                <a:spcPts val="0"/>
              </a:spcBef>
              <a:spcAft>
                <a:spcPts val="0"/>
              </a:spcAft>
              <a:buSzPts val="1300"/>
              <a:buNone/>
            </a:pPr>
            <a:r>
              <a:rPr lang="en-US" sz="1600" dirty="0"/>
              <a:t>Improves performance on tasks involving context and dependencies</a:t>
            </a:r>
          </a:p>
          <a:p>
            <a:pPr marL="0" lvl="0" indent="0" algn="l" rtl="0">
              <a:lnSpc>
                <a:spcPct val="115000"/>
              </a:lnSpc>
              <a:spcBef>
                <a:spcPts val="0"/>
              </a:spcBef>
              <a:spcAft>
                <a:spcPts val="0"/>
              </a:spcAft>
              <a:buSzPts val="1300"/>
              <a:buNone/>
            </a:pPr>
            <a:r>
              <a:rPr lang="en-US" sz="1600" dirty="0"/>
              <a:t>Basis for modern </a:t>
            </a:r>
            <a:r>
              <a:rPr lang="en-US" altLang="zh-CN" sz="1600" dirty="0"/>
              <a:t>Foundation Models (LLMs/VLMs…)</a:t>
            </a:r>
            <a:endParaRPr sz="1600" dirty="0"/>
          </a:p>
        </p:txBody>
      </p:sp>
      <p:sp>
        <p:nvSpPr>
          <p:cNvPr id="737" name="Google Shape;737;p71"/>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CN" dirty="0"/>
              <a:t>Transformer</a:t>
            </a:r>
            <a:endParaRPr dirty="0"/>
          </a:p>
        </p:txBody>
      </p:sp>
      <p:sp>
        <p:nvSpPr>
          <p:cNvPr id="2" name="Slide Number Placeholder 1">
            <a:extLst>
              <a:ext uri="{FF2B5EF4-FFF2-40B4-BE49-F238E27FC236}">
                <a16:creationId xmlns:a16="http://schemas.microsoft.com/office/drawing/2014/main" id="{D81D1E28-3C12-CF8A-3FCC-71CD3DDEF68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91</a:t>
            </a:fld>
            <a:endParaRPr lang="en"/>
          </a:p>
        </p:txBody>
      </p:sp>
      <p:pic>
        <p:nvPicPr>
          <p:cNvPr id="5" name="Picture 4">
            <a:extLst>
              <a:ext uri="{FF2B5EF4-FFF2-40B4-BE49-F238E27FC236}">
                <a16:creationId xmlns:a16="http://schemas.microsoft.com/office/drawing/2014/main" id="{FBFA32BB-1DCB-3949-6696-E3437B93FD03}"/>
              </a:ext>
            </a:extLst>
          </p:cNvPr>
          <p:cNvPicPr>
            <a:picLocks noChangeAspect="1"/>
          </p:cNvPicPr>
          <p:nvPr/>
        </p:nvPicPr>
        <p:blipFill>
          <a:blip r:embed="rId3"/>
          <a:srcRect/>
          <a:stretch/>
        </p:blipFill>
        <p:spPr>
          <a:xfrm>
            <a:off x="5328622" y="569495"/>
            <a:ext cx="3291768" cy="4573956"/>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3C322-0432-4DE8-BB80-4A1E7C99A8E7}"/>
              </a:ext>
            </a:extLst>
          </p:cNvPr>
          <p:cNvSpPr>
            <a:spLocks noGrp="1"/>
          </p:cNvSpPr>
          <p:nvPr>
            <p:ph type="title"/>
          </p:nvPr>
        </p:nvSpPr>
        <p:spPr/>
        <p:txBody>
          <a:bodyPr>
            <a:normAutofit fontScale="90000"/>
          </a:bodyPr>
          <a:lstStyle/>
          <a:p>
            <a:endParaRPr lang="zh-CN" altLang="en-US"/>
          </a:p>
        </p:txBody>
      </p:sp>
      <p:sp>
        <p:nvSpPr>
          <p:cNvPr id="3" name="Text Placeholder 2">
            <a:extLst>
              <a:ext uri="{FF2B5EF4-FFF2-40B4-BE49-F238E27FC236}">
                <a16:creationId xmlns:a16="http://schemas.microsoft.com/office/drawing/2014/main" id="{6EB6C8B0-9A5D-3AE4-2FC6-3F3CFACF342B}"/>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5E18B0DF-A269-3BCE-DD91-969EBE0050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92</a:t>
            </a:fld>
            <a:endParaRPr lang="en"/>
          </a:p>
        </p:txBody>
      </p:sp>
      <p:pic>
        <p:nvPicPr>
          <p:cNvPr id="1026" name="Picture 2">
            <a:extLst>
              <a:ext uri="{FF2B5EF4-FFF2-40B4-BE49-F238E27FC236}">
                <a16:creationId xmlns:a16="http://schemas.microsoft.com/office/drawing/2014/main" id="{E3207D41-4BD0-8477-743B-D4B4C647DE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551" y="474762"/>
            <a:ext cx="8083176" cy="44261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5104EC5-58AD-AC37-7F06-95943FC0961B}"/>
              </a:ext>
            </a:extLst>
          </p:cNvPr>
          <p:cNvSpPr txBox="1"/>
          <p:nvPr/>
        </p:nvSpPr>
        <p:spPr>
          <a:xfrm>
            <a:off x="2949742" y="4872777"/>
            <a:ext cx="3244515" cy="215444"/>
          </a:xfrm>
          <a:prstGeom prst="rect">
            <a:avLst/>
          </a:prstGeom>
          <a:noFill/>
        </p:spPr>
        <p:txBody>
          <a:bodyPr wrap="square">
            <a:spAutoFit/>
          </a:bodyPr>
          <a:lstStyle/>
          <a:p>
            <a:r>
              <a:rPr lang="zh-CN" altLang="en-US" sz="800" dirty="0">
                <a:latin typeface="Lato" panose="020F0502020204030203" pitchFamily="34" charset="0"/>
                <a:cs typeface="Lato" panose="020F0502020204030203" pitchFamily="34" charset="0"/>
              </a:rPr>
              <a:t>https://www.thinkautonomous.ai/blog/how-tesla-autopilot-works/</a:t>
            </a:r>
          </a:p>
        </p:txBody>
      </p:sp>
      <p:sp>
        <p:nvSpPr>
          <p:cNvPr id="7" name="TextBox 6">
            <a:extLst>
              <a:ext uri="{FF2B5EF4-FFF2-40B4-BE49-F238E27FC236}">
                <a16:creationId xmlns:a16="http://schemas.microsoft.com/office/drawing/2014/main" id="{D27392FE-8C89-2CBE-B8DD-42E943B88B4F}"/>
              </a:ext>
            </a:extLst>
          </p:cNvPr>
          <p:cNvSpPr txBox="1"/>
          <p:nvPr/>
        </p:nvSpPr>
        <p:spPr>
          <a:xfrm>
            <a:off x="5454315" y="2078875"/>
            <a:ext cx="1247457" cy="307777"/>
          </a:xfrm>
          <a:prstGeom prst="rect">
            <a:avLst/>
          </a:prstGeom>
          <a:noFill/>
        </p:spPr>
        <p:txBody>
          <a:bodyPr wrap="none" rtlCol="0">
            <a:spAutoFit/>
          </a:bodyPr>
          <a:lstStyle/>
          <a:p>
            <a:r>
              <a:rPr lang="en-US" altLang="zh-CN" dirty="0">
                <a:solidFill>
                  <a:srgbClr val="FF0000"/>
                </a:solidFill>
              </a:rPr>
              <a:t>Transformers</a:t>
            </a:r>
            <a:endParaRPr lang="zh-CN" altLang="en-US" dirty="0">
              <a:solidFill>
                <a:srgbClr val="FF0000"/>
              </a:solidFill>
            </a:endParaRPr>
          </a:p>
        </p:txBody>
      </p:sp>
      <p:sp>
        <p:nvSpPr>
          <p:cNvPr id="8" name="TextBox 7">
            <a:extLst>
              <a:ext uri="{FF2B5EF4-FFF2-40B4-BE49-F238E27FC236}">
                <a16:creationId xmlns:a16="http://schemas.microsoft.com/office/drawing/2014/main" id="{3E7DFD6D-5DD9-6971-3212-9776087A9E08}"/>
              </a:ext>
            </a:extLst>
          </p:cNvPr>
          <p:cNvSpPr txBox="1"/>
          <p:nvPr/>
        </p:nvSpPr>
        <p:spPr>
          <a:xfrm>
            <a:off x="5479090" y="1426032"/>
            <a:ext cx="663964" cy="307777"/>
          </a:xfrm>
          <a:prstGeom prst="rect">
            <a:avLst/>
          </a:prstGeom>
          <a:noFill/>
        </p:spPr>
        <p:txBody>
          <a:bodyPr wrap="none" rtlCol="0">
            <a:spAutoFit/>
          </a:bodyPr>
          <a:lstStyle/>
          <a:p>
            <a:r>
              <a:rPr lang="en-US" altLang="zh-CN" dirty="0">
                <a:solidFill>
                  <a:srgbClr val="FF0000"/>
                </a:solidFill>
              </a:rPr>
              <a:t>CNNs</a:t>
            </a:r>
            <a:endParaRPr lang="zh-CN" altLang="en-US" dirty="0">
              <a:solidFill>
                <a:srgbClr val="FF0000"/>
              </a:solidFill>
            </a:endParaRPr>
          </a:p>
        </p:txBody>
      </p:sp>
      <p:sp>
        <p:nvSpPr>
          <p:cNvPr id="10" name="TextBox 9">
            <a:extLst>
              <a:ext uri="{FF2B5EF4-FFF2-40B4-BE49-F238E27FC236}">
                <a16:creationId xmlns:a16="http://schemas.microsoft.com/office/drawing/2014/main" id="{5592189C-9664-3EF0-08D7-C697E5877652}"/>
              </a:ext>
            </a:extLst>
          </p:cNvPr>
          <p:cNvSpPr txBox="1"/>
          <p:nvPr/>
        </p:nvSpPr>
        <p:spPr>
          <a:xfrm>
            <a:off x="3385628" y="2624453"/>
            <a:ext cx="1636987" cy="461665"/>
          </a:xfrm>
          <a:prstGeom prst="rect">
            <a:avLst/>
          </a:prstGeom>
          <a:noFill/>
        </p:spPr>
        <p:txBody>
          <a:bodyPr wrap="none" rtlCol="0">
            <a:spAutoFit/>
          </a:bodyPr>
          <a:lstStyle/>
          <a:p>
            <a:r>
              <a:rPr lang="en-US" altLang="zh-CN" sz="1200" dirty="0">
                <a:solidFill>
                  <a:srgbClr val="FF0000"/>
                </a:solidFill>
              </a:rPr>
              <a:t>CNNs, Transformers,</a:t>
            </a:r>
          </a:p>
          <a:p>
            <a:r>
              <a:rPr lang="en-US" altLang="zh-CN" sz="1200" dirty="0">
                <a:solidFill>
                  <a:srgbClr val="FF0000"/>
                </a:solidFill>
              </a:rPr>
              <a:t>RNNs</a:t>
            </a:r>
            <a:endParaRPr lang="zh-CN" altLang="en-US" sz="1200" dirty="0">
              <a:solidFill>
                <a:srgbClr val="FF0000"/>
              </a:solidFill>
            </a:endParaRPr>
          </a:p>
        </p:txBody>
      </p:sp>
      <p:sp>
        <p:nvSpPr>
          <p:cNvPr id="11" name="TextBox 10">
            <a:extLst>
              <a:ext uri="{FF2B5EF4-FFF2-40B4-BE49-F238E27FC236}">
                <a16:creationId xmlns:a16="http://schemas.microsoft.com/office/drawing/2014/main" id="{46B9F2A8-CB8B-D6F5-794B-BCE73323446D}"/>
              </a:ext>
            </a:extLst>
          </p:cNvPr>
          <p:cNvSpPr txBox="1"/>
          <p:nvPr/>
        </p:nvSpPr>
        <p:spPr>
          <a:xfrm>
            <a:off x="6938212" y="2847265"/>
            <a:ext cx="2061410" cy="523220"/>
          </a:xfrm>
          <a:prstGeom prst="rect">
            <a:avLst/>
          </a:prstGeom>
          <a:noFill/>
        </p:spPr>
        <p:txBody>
          <a:bodyPr wrap="square" rtlCol="0">
            <a:spAutoFit/>
          </a:bodyPr>
          <a:lstStyle/>
          <a:p>
            <a:r>
              <a:rPr lang="en-US" altLang="zh-CN" dirty="0"/>
              <a:t>Tesla’s Full Self-Driving (FSD) Chip</a:t>
            </a:r>
            <a:endParaRPr lang="zh-CN" altLang="en-US" dirty="0"/>
          </a:p>
        </p:txBody>
      </p:sp>
      <p:sp>
        <p:nvSpPr>
          <p:cNvPr id="12" name="TextBox 11">
            <a:extLst>
              <a:ext uri="{FF2B5EF4-FFF2-40B4-BE49-F238E27FC236}">
                <a16:creationId xmlns:a16="http://schemas.microsoft.com/office/drawing/2014/main" id="{EC111308-9CE4-AE06-F422-D171C35ABFDE}"/>
              </a:ext>
            </a:extLst>
          </p:cNvPr>
          <p:cNvSpPr txBox="1"/>
          <p:nvPr/>
        </p:nvSpPr>
        <p:spPr>
          <a:xfrm>
            <a:off x="4943594" y="517241"/>
            <a:ext cx="1250663" cy="307777"/>
          </a:xfrm>
          <a:prstGeom prst="rect">
            <a:avLst/>
          </a:prstGeom>
          <a:noFill/>
        </p:spPr>
        <p:txBody>
          <a:bodyPr wrap="none" rtlCol="0">
            <a:spAutoFit/>
          </a:bodyPr>
          <a:lstStyle/>
          <a:p>
            <a:r>
              <a:rPr lang="en-US" altLang="zh-CN" dirty="0">
                <a:solidFill>
                  <a:srgbClr val="C00000"/>
                </a:solidFill>
              </a:rPr>
              <a:t>(CVPR 2021)</a:t>
            </a:r>
            <a:endParaRPr lang="zh-CN" altLang="en-US" dirty="0">
              <a:solidFill>
                <a:srgbClr val="C00000"/>
              </a:solidFill>
            </a:endParaRPr>
          </a:p>
        </p:txBody>
      </p:sp>
    </p:spTree>
    <p:extLst>
      <p:ext uri="{BB962C8B-B14F-4D97-AF65-F5344CB8AC3E}">
        <p14:creationId xmlns:p14="http://schemas.microsoft.com/office/powerpoint/2010/main" val="1304670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79"/>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600"/>
              <a:buNone/>
            </a:pPr>
            <a:r>
              <a:rPr lang="en"/>
              <a:t>Training tips</a:t>
            </a:r>
            <a:endParaRPr/>
          </a:p>
        </p:txBody>
      </p:sp>
      <p:sp>
        <p:nvSpPr>
          <p:cNvPr id="2" name="Slide Number Placeholder 1">
            <a:extLst>
              <a:ext uri="{FF2B5EF4-FFF2-40B4-BE49-F238E27FC236}">
                <a16:creationId xmlns:a16="http://schemas.microsoft.com/office/drawing/2014/main" id="{8DC101CF-E2BC-1AFD-3AFB-5C3F0972B0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93</a:t>
            </a:fld>
            <a:endParaRPr lang="en"/>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e7c7bc5007_0_7"/>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Overfitting &amp; Underfitting</a:t>
            </a:r>
            <a:endParaRPr/>
          </a:p>
        </p:txBody>
      </p:sp>
      <p:sp>
        <p:nvSpPr>
          <p:cNvPr id="780" name="Google Shape;780;g2e7c7bc5007_0_7"/>
          <p:cNvSpPr txBox="1">
            <a:spLocks noGrp="1"/>
          </p:cNvSpPr>
          <p:nvPr>
            <p:ph type="body" idx="1"/>
          </p:nvPr>
        </p:nvSpPr>
        <p:spPr>
          <a:xfrm>
            <a:off x="729450" y="2078875"/>
            <a:ext cx="7688700" cy="27669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SzPts val="1300"/>
              <a:buNone/>
            </a:pPr>
            <a:r>
              <a:rPr lang="en" sz="1600" b="1"/>
              <a:t>The real troublemakers in ML in general!</a:t>
            </a:r>
            <a:endParaRPr sz="1600" b="1"/>
          </a:p>
          <a:p>
            <a:pPr marL="0" lvl="0" indent="0" algn="l" rtl="0">
              <a:lnSpc>
                <a:spcPct val="115000"/>
              </a:lnSpc>
              <a:spcBef>
                <a:spcPts val="1200"/>
              </a:spcBef>
              <a:spcAft>
                <a:spcPts val="0"/>
              </a:spcAft>
              <a:buSzPts val="1300"/>
              <a:buNone/>
            </a:pPr>
            <a:r>
              <a:rPr lang="en" sz="1600" b="1"/>
              <a:t>Underfitting</a:t>
            </a:r>
            <a:r>
              <a:rPr lang="en" sz="1600"/>
              <a:t>: When the model fits the training data not well enough</a:t>
            </a:r>
            <a:br>
              <a:rPr lang="en" sz="1600"/>
            </a:br>
            <a:r>
              <a:rPr lang="en" sz="1600"/>
              <a:t>	- Empirical risk is high, actual risk is high</a:t>
            </a:r>
            <a:br>
              <a:rPr lang="en" sz="1600"/>
            </a:br>
            <a:r>
              <a:rPr lang="en" sz="1600"/>
              <a:t>	- Training loss is high, testing loss is not optimal</a:t>
            </a:r>
            <a:endParaRPr sz="1600"/>
          </a:p>
          <a:p>
            <a:pPr marL="0" lvl="0" indent="0" algn="l" rtl="0">
              <a:lnSpc>
                <a:spcPct val="115000"/>
              </a:lnSpc>
              <a:spcBef>
                <a:spcPts val="1200"/>
              </a:spcBef>
              <a:spcAft>
                <a:spcPts val="1200"/>
              </a:spcAft>
              <a:buSzPts val="1300"/>
              <a:buNone/>
            </a:pPr>
            <a:r>
              <a:rPr lang="en" sz="1600" b="1"/>
              <a:t>Overfitting</a:t>
            </a:r>
            <a:r>
              <a:rPr lang="en" sz="1600"/>
              <a:t>: When the model fits the training data </a:t>
            </a:r>
            <a:r>
              <a:rPr lang="en" sz="1600" i="1"/>
              <a:t>too </a:t>
            </a:r>
            <a:r>
              <a:rPr lang="en" sz="1600"/>
              <a:t>closely (incl. noise)</a:t>
            </a:r>
            <a:br>
              <a:rPr lang="en" sz="1600"/>
            </a:br>
            <a:r>
              <a:rPr lang="en" sz="1600"/>
              <a:t>	- Empirical risk is low, actual risk is high</a:t>
            </a:r>
            <a:br>
              <a:rPr lang="en" sz="1600"/>
            </a:br>
            <a:r>
              <a:rPr lang="en" sz="1600"/>
              <a:t>	- Training loss is low, testing loss is not optimal</a:t>
            </a:r>
            <a:br>
              <a:rPr lang="en" sz="1600"/>
            </a:br>
            <a:r>
              <a:rPr lang="en" sz="1600"/>
              <a:t>	- e.g. An </a:t>
            </a:r>
            <a:r>
              <a:rPr lang="en" sz="1600" i="1"/>
              <a:t>D</a:t>
            </a:r>
            <a:r>
              <a:rPr lang="en" sz="1600"/>
              <a:t>-degree polynomial can fit </a:t>
            </a:r>
            <a:r>
              <a:rPr lang="en" sz="1600" i="1"/>
              <a:t>D-1 </a:t>
            </a:r>
            <a:r>
              <a:rPr lang="en" sz="1600"/>
              <a:t>training points with </a:t>
            </a:r>
            <a:r>
              <a:rPr lang="en" sz="1600" i="1"/>
              <a:t>zero </a:t>
            </a:r>
            <a:r>
              <a:rPr lang="en" sz="1600"/>
              <a:t>error</a:t>
            </a:r>
            <a:endParaRPr sz="1600"/>
          </a:p>
        </p:txBody>
      </p:sp>
      <p:sp>
        <p:nvSpPr>
          <p:cNvPr id="2" name="Slide Number Placeholder 1">
            <a:extLst>
              <a:ext uri="{FF2B5EF4-FFF2-40B4-BE49-F238E27FC236}">
                <a16:creationId xmlns:a16="http://schemas.microsoft.com/office/drawing/2014/main" id="{9C0FEF44-0CB3-DA31-3135-FE727AEBDD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94</a:t>
            </a:fld>
            <a:endParaRPr lang="en"/>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81"/>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Overfitting &amp; Underfitting</a:t>
            </a:r>
            <a:endParaRPr/>
          </a:p>
        </p:txBody>
      </p:sp>
      <p:pic>
        <p:nvPicPr>
          <p:cNvPr id="786" name="Google Shape;786;p81"/>
          <p:cNvPicPr preferRelativeResize="0"/>
          <p:nvPr/>
        </p:nvPicPr>
        <p:blipFill rotWithShape="1">
          <a:blip r:embed="rId3">
            <a:alphaModFix/>
          </a:blip>
          <a:srcRect l="3636" t="11417" r="3599" b="12616"/>
          <a:stretch/>
        </p:blipFill>
        <p:spPr>
          <a:xfrm>
            <a:off x="1190775" y="2217350"/>
            <a:ext cx="6317751" cy="1562900"/>
          </a:xfrm>
          <a:prstGeom prst="rect">
            <a:avLst/>
          </a:prstGeom>
          <a:noFill/>
          <a:ln>
            <a:noFill/>
          </a:ln>
        </p:spPr>
      </p:pic>
      <p:sp>
        <p:nvSpPr>
          <p:cNvPr id="787" name="Google Shape;787;p81"/>
          <p:cNvSpPr txBox="1"/>
          <p:nvPr/>
        </p:nvSpPr>
        <p:spPr>
          <a:xfrm>
            <a:off x="2826300" y="4804800"/>
            <a:ext cx="63177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1" u="none" strike="noStrike" cap="none">
                <a:solidFill>
                  <a:srgbClr val="000000"/>
                </a:solidFill>
                <a:latin typeface="Lato"/>
                <a:ea typeface="Lato"/>
                <a:cs typeface="Lato"/>
                <a:sym typeface="Lato"/>
              </a:rPr>
              <a:t>Image source: https://docs.aws.amazon.com/machine-learning/latest/dg/model-fit-underfitting-vs-overfitting.html</a:t>
            </a:r>
            <a:endParaRPr sz="1000" b="0" i="1" u="none" strike="noStrike" cap="none">
              <a:solidFill>
                <a:srgbClr val="000000"/>
              </a:solidFill>
              <a:latin typeface="Lato"/>
              <a:ea typeface="Lato"/>
              <a:cs typeface="Lato"/>
              <a:sym typeface="Lato"/>
            </a:endParaRPr>
          </a:p>
        </p:txBody>
      </p:sp>
      <p:sp>
        <p:nvSpPr>
          <p:cNvPr id="788" name="Google Shape;788;p81"/>
          <p:cNvSpPr txBox="1"/>
          <p:nvPr/>
        </p:nvSpPr>
        <p:spPr>
          <a:xfrm>
            <a:off x="676800" y="4241150"/>
            <a:ext cx="7790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More complex models (e.g. more layers, neurons per layer) -&gt; higher likelihood of overfitting</a:t>
            </a:r>
            <a:endParaRPr sz="1400" b="0" i="0" u="none" strike="noStrike" cap="none">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49CB0F59-77A7-1542-76C6-F5E105AF95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95</a:t>
            </a:fld>
            <a:endParaRPr lang="e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82"/>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300"/>
              <a:buNone/>
            </a:pPr>
            <a:r>
              <a:rPr lang="en" sz="1600"/>
              <a:t>Split your training set into two!</a:t>
            </a:r>
            <a:br>
              <a:rPr lang="en" sz="1600"/>
            </a:br>
            <a:r>
              <a:rPr lang="en" sz="1600"/>
              <a:t>	- New train set</a:t>
            </a:r>
            <a:br>
              <a:rPr lang="en" sz="1600"/>
            </a:br>
            <a:r>
              <a:rPr lang="en" sz="1600"/>
              <a:t>	- Unseen-by-the-model “validation”set</a:t>
            </a:r>
            <a:endParaRPr sz="1600"/>
          </a:p>
        </p:txBody>
      </p:sp>
      <p:sp>
        <p:nvSpPr>
          <p:cNvPr id="794" name="Google Shape;794;p82"/>
          <p:cNvSpPr/>
          <p:nvPr/>
        </p:nvSpPr>
        <p:spPr>
          <a:xfrm>
            <a:off x="729450" y="3570000"/>
            <a:ext cx="50838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795" name="Google Shape;795;p82"/>
          <p:cNvSpPr/>
          <p:nvPr/>
        </p:nvSpPr>
        <p:spPr>
          <a:xfrm>
            <a:off x="6086200" y="3570000"/>
            <a:ext cx="2331900" cy="396900"/>
          </a:xfrm>
          <a:prstGeom prst="re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Test Set (unseen)</a:t>
            </a:r>
            <a:endParaRPr sz="1400" b="0" i="0" u="none" strike="noStrike" cap="none">
              <a:solidFill>
                <a:srgbClr val="000000"/>
              </a:solidFill>
              <a:latin typeface="Arial"/>
              <a:ea typeface="Arial"/>
              <a:cs typeface="Arial"/>
              <a:sym typeface="Arial"/>
            </a:endParaRPr>
          </a:p>
        </p:txBody>
      </p:sp>
      <p:sp>
        <p:nvSpPr>
          <p:cNvPr id="796" name="Google Shape;796;p82"/>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Validation</a:t>
            </a:r>
            <a:endParaRPr/>
          </a:p>
        </p:txBody>
      </p:sp>
      <p:sp>
        <p:nvSpPr>
          <p:cNvPr id="2" name="Slide Number Placeholder 1">
            <a:extLst>
              <a:ext uri="{FF2B5EF4-FFF2-40B4-BE49-F238E27FC236}">
                <a16:creationId xmlns:a16="http://schemas.microsoft.com/office/drawing/2014/main" id="{C327C22A-B0F1-8319-C53D-6FCD9F17C9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96</a:t>
            </a:fld>
            <a:endParaRPr lang="e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8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300"/>
              <a:buNone/>
            </a:pPr>
            <a:r>
              <a:rPr lang="en" sz="1600"/>
              <a:t>Split your training set into two!</a:t>
            </a:r>
            <a:br>
              <a:rPr lang="en" sz="1600"/>
            </a:br>
            <a:r>
              <a:rPr lang="en" sz="1600"/>
              <a:t>	- New train set</a:t>
            </a:r>
            <a:br>
              <a:rPr lang="en" sz="1600"/>
            </a:br>
            <a:r>
              <a:rPr lang="en" sz="1600"/>
              <a:t>	- Unseen-by-the-model “validation”set</a:t>
            </a:r>
            <a:br>
              <a:rPr lang="en" sz="1600"/>
            </a:br>
            <a:r>
              <a:rPr lang="en" sz="1600"/>
              <a:t>	- e.g. 80-20 split (Note: split ratio depends on the model, task and data)</a:t>
            </a:r>
            <a:endParaRPr sz="1600"/>
          </a:p>
        </p:txBody>
      </p:sp>
      <p:sp>
        <p:nvSpPr>
          <p:cNvPr id="802" name="Google Shape;802;p83"/>
          <p:cNvSpPr/>
          <p:nvPr/>
        </p:nvSpPr>
        <p:spPr>
          <a:xfrm>
            <a:off x="729450" y="3570000"/>
            <a:ext cx="38427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03" name="Google Shape;803;p83"/>
          <p:cNvSpPr/>
          <p:nvPr/>
        </p:nvSpPr>
        <p:spPr>
          <a:xfrm>
            <a:off x="6086200" y="3570000"/>
            <a:ext cx="2331900" cy="396900"/>
          </a:xfrm>
          <a:prstGeom prst="re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Test Set (unseen)</a:t>
            </a:r>
            <a:endParaRPr sz="1400" b="0" i="0" u="none" strike="noStrike" cap="none">
              <a:solidFill>
                <a:srgbClr val="000000"/>
              </a:solidFill>
              <a:latin typeface="Arial"/>
              <a:ea typeface="Arial"/>
              <a:cs typeface="Arial"/>
              <a:sym typeface="Arial"/>
            </a:endParaRPr>
          </a:p>
        </p:txBody>
      </p:sp>
      <p:sp>
        <p:nvSpPr>
          <p:cNvPr id="804" name="Google Shape;804;p8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Validation</a:t>
            </a:r>
            <a:endParaRPr/>
          </a:p>
        </p:txBody>
      </p:sp>
      <p:sp>
        <p:nvSpPr>
          <p:cNvPr id="805" name="Google Shape;805;p83"/>
          <p:cNvSpPr/>
          <p:nvPr/>
        </p:nvSpPr>
        <p:spPr>
          <a:xfrm>
            <a:off x="4572000" y="3572325"/>
            <a:ext cx="12498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Arial"/>
                <a:ea typeface="Arial"/>
                <a:cs typeface="Arial"/>
                <a:sym typeface="Arial"/>
              </a:rPr>
              <a:t>Validation Set</a:t>
            </a:r>
            <a:endParaRPr sz="1300" b="0" i="0" u="none" strike="noStrike" cap="none">
              <a:solidFill>
                <a:srgbClr val="000000"/>
              </a:solidFill>
              <a:latin typeface="Arial"/>
              <a:ea typeface="Arial"/>
              <a:cs typeface="Arial"/>
              <a:sym typeface="Arial"/>
            </a:endParaRPr>
          </a:p>
        </p:txBody>
      </p:sp>
      <p:sp>
        <p:nvSpPr>
          <p:cNvPr id="806" name="Google Shape;806;p83"/>
          <p:cNvSpPr txBox="1"/>
          <p:nvPr/>
        </p:nvSpPr>
        <p:spPr>
          <a:xfrm>
            <a:off x="2125650" y="4035450"/>
            <a:ext cx="10503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80%</a:t>
            </a:r>
            <a:endParaRPr sz="1200" b="0" i="0" u="none" strike="noStrike" cap="none">
              <a:solidFill>
                <a:srgbClr val="000000"/>
              </a:solidFill>
              <a:latin typeface="Lato"/>
              <a:ea typeface="Lato"/>
              <a:cs typeface="Lato"/>
              <a:sym typeface="Lato"/>
            </a:endParaRPr>
          </a:p>
        </p:txBody>
      </p:sp>
      <p:sp>
        <p:nvSpPr>
          <p:cNvPr id="807" name="Google Shape;807;p83"/>
          <p:cNvSpPr txBox="1"/>
          <p:nvPr/>
        </p:nvSpPr>
        <p:spPr>
          <a:xfrm>
            <a:off x="4671750" y="4035450"/>
            <a:ext cx="10503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20%</a:t>
            </a:r>
            <a:endParaRPr sz="1200" b="0" i="0" u="none" strike="noStrike" cap="none">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04109555-1EB5-3DF3-5292-D34660302C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97</a:t>
            </a:fld>
            <a:endParaRPr lang="en"/>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84"/>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13" name="Google Shape;813;p84"/>
          <p:cNvSpPr/>
          <p:nvPr/>
        </p:nvSpPr>
        <p:spPr>
          <a:xfrm>
            <a:off x="914400" y="3818675"/>
            <a:ext cx="73152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14" name="Google Shape;814;p84"/>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1200"/>
              </a:spcAft>
              <a:buSzPts val="1300"/>
              <a:buNone/>
            </a:pPr>
            <a:r>
              <a:rPr lang="en" sz="1600"/>
              <a:t>- Accounts for irregularities in training set</a:t>
            </a:r>
            <a:br>
              <a:rPr lang="en" sz="1600"/>
            </a:br>
            <a:r>
              <a:rPr lang="en" sz="1600"/>
              <a:t>- “Gold standard” for evaluating generality of neural network models</a:t>
            </a:r>
            <a:endParaRPr sz="1600"/>
          </a:p>
        </p:txBody>
      </p:sp>
      <p:sp>
        <p:nvSpPr>
          <p:cNvPr id="2" name="Slide Number Placeholder 1">
            <a:extLst>
              <a:ext uri="{FF2B5EF4-FFF2-40B4-BE49-F238E27FC236}">
                <a16:creationId xmlns:a16="http://schemas.microsoft.com/office/drawing/2014/main" id="{476F4308-6EB7-CA40-3131-C8962B86C1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98</a:t>
            </a:fld>
            <a:endParaRPr lang="en"/>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85"/>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1200"/>
              </a:spcAft>
              <a:buSzPts val="1300"/>
              <a:buNone/>
            </a:pPr>
            <a:r>
              <a:rPr lang="en" sz="1600"/>
              <a:t>e.g. </a:t>
            </a:r>
            <a:r>
              <a:rPr lang="en" sz="1600" i="1"/>
              <a:t>k</a:t>
            </a:r>
            <a:r>
              <a:rPr lang="en" sz="1600"/>
              <a:t>=5 (5-fold cross-validation)</a:t>
            </a:r>
            <a:endParaRPr sz="1600"/>
          </a:p>
        </p:txBody>
      </p:sp>
      <p:sp>
        <p:nvSpPr>
          <p:cNvPr id="820" name="Google Shape;820;p8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21" name="Google Shape;821;p85"/>
          <p:cNvSpPr/>
          <p:nvPr/>
        </p:nvSpPr>
        <p:spPr>
          <a:xfrm>
            <a:off x="9144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22" name="Google Shape;822;p85"/>
          <p:cNvSpPr/>
          <p:nvPr/>
        </p:nvSpPr>
        <p:spPr>
          <a:xfrm>
            <a:off x="23775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23" name="Google Shape;823;p85"/>
          <p:cNvSpPr/>
          <p:nvPr/>
        </p:nvSpPr>
        <p:spPr>
          <a:xfrm>
            <a:off x="38422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24" name="Google Shape;824;p85"/>
          <p:cNvSpPr/>
          <p:nvPr/>
        </p:nvSpPr>
        <p:spPr>
          <a:xfrm>
            <a:off x="53070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25" name="Google Shape;825;p85"/>
          <p:cNvSpPr/>
          <p:nvPr/>
        </p:nvSpPr>
        <p:spPr>
          <a:xfrm>
            <a:off x="67717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9F33045B-D63D-B89E-0046-029A566403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99</a:t>
            </a:fld>
            <a:endParaRPr lang="e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86"/>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1200"/>
              </a:spcAft>
              <a:buSzPts val="1300"/>
              <a:buNone/>
            </a:pPr>
            <a:r>
              <a:rPr lang="en" sz="1600"/>
              <a:t>e.g. </a:t>
            </a:r>
            <a:r>
              <a:rPr lang="en" sz="1600" i="1"/>
              <a:t>k</a:t>
            </a:r>
            <a:r>
              <a:rPr lang="en" sz="1600"/>
              <a:t>=5 (5-fold cross-validation)</a:t>
            </a:r>
            <a:endParaRPr sz="1600"/>
          </a:p>
        </p:txBody>
      </p:sp>
      <p:sp>
        <p:nvSpPr>
          <p:cNvPr id="831" name="Google Shape;831;p8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32" name="Google Shape;832;p86"/>
          <p:cNvSpPr/>
          <p:nvPr/>
        </p:nvSpPr>
        <p:spPr>
          <a:xfrm>
            <a:off x="914400" y="3818675"/>
            <a:ext cx="14631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Validation Set</a:t>
            </a:r>
            <a:endParaRPr sz="1400" b="0" i="0" u="none" strike="noStrike" cap="none">
              <a:solidFill>
                <a:srgbClr val="000000"/>
              </a:solidFill>
              <a:latin typeface="Arial"/>
              <a:ea typeface="Arial"/>
              <a:cs typeface="Arial"/>
              <a:sym typeface="Arial"/>
            </a:endParaRPr>
          </a:p>
        </p:txBody>
      </p:sp>
      <p:sp>
        <p:nvSpPr>
          <p:cNvPr id="833" name="Google Shape;833;p86"/>
          <p:cNvSpPr/>
          <p:nvPr/>
        </p:nvSpPr>
        <p:spPr>
          <a:xfrm>
            <a:off x="23775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34" name="Google Shape;834;p86"/>
          <p:cNvSpPr/>
          <p:nvPr/>
        </p:nvSpPr>
        <p:spPr>
          <a:xfrm>
            <a:off x="38422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35" name="Google Shape;835;p86"/>
          <p:cNvSpPr/>
          <p:nvPr/>
        </p:nvSpPr>
        <p:spPr>
          <a:xfrm>
            <a:off x="53070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36" name="Google Shape;836;p86"/>
          <p:cNvSpPr/>
          <p:nvPr/>
        </p:nvSpPr>
        <p:spPr>
          <a:xfrm>
            <a:off x="67717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9601018B-B958-964B-DDC4-B8A4A7E65A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100</a:t>
            </a:fld>
            <a:endParaRPr lang="en"/>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87"/>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1200"/>
              </a:spcAft>
              <a:buSzPts val="1300"/>
              <a:buNone/>
            </a:pPr>
            <a:r>
              <a:rPr lang="en" sz="1600"/>
              <a:t>e.g. </a:t>
            </a:r>
            <a:r>
              <a:rPr lang="en" sz="1600" i="1"/>
              <a:t>k</a:t>
            </a:r>
            <a:r>
              <a:rPr lang="en" sz="1600"/>
              <a:t>=5 (5-fold cross-validation)</a:t>
            </a:r>
            <a:endParaRPr sz="1600"/>
          </a:p>
        </p:txBody>
      </p:sp>
      <p:sp>
        <p:nvSpPr>
          <p:cNvPr id="842" name="Google Shape;842;p87"/>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43" name="Google Shape;843;p87"/>
          <p:cNvSpPr/>
          <p:nvPr/>
        </p:nvSpPr>
        <p:spPr>
          <a:xfrm>
            <a:off x="9144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44" name="Google Shape;844;p87"/>
          <p:cNvSpPr/>
          <p:nvPr/>
        </p:nvSpPr>
        <p:spPr>
          <a:xfrm>
            <a:off x="2377500" y="3818675"/>
            <a:ext cx="14631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Validation Set</a:t>
            </a:r>
            <a:endParaRPr sz="1400" b="0" i="0" u="none" strike="noStrike" cap="none">
              <a:solidFill>
                <a:srgbClr val="000000"/>
              </a:solidFill>
              <a:latin typeface="Arial"/>
              <a:ea typeface="Arial"/>
              <a:cs typeface="Arial"/>
              <a:sym typeface="Arial"/>
            </a:endParaRPr>
          </a:p>
        </p:txBody>
      </p:sp>
      <p:sp>
        <p:nvSpPr>
          <p:cNvPr id="845" name="Google Shape;845;p87"/>
          <p:cNvSpPr/>
          <p:nvPr/>
        </p:nvSpPr>
        <p:spPr>
          <a:xfrm>
            <a:off x="38422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46" name="Google Shape;846;p87"/>
          <p:cNvSpPr/>
          <p:nvPr/>
        </p:nvSpPr>
        <p:spPr>
          <a:xfrm>
            <a:off x="53070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47" name="Google Shape;847;p87"/>
          <p:cNvSpPr/>
          <p:nvPr/>
        </p:nvSpPr>
        <p:spPr>
          <a:xfrm>
            <a:off x="67717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78A12BCD-4D29-F674-4250-377A08F25E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101</a:t>
            </a:fld>
            <a:endParaRPr lang="en"/>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p88"/>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1200"/>
              </a:spcAft>
              <a:buSzPts val="1300"/>
              <a:buNone/>
            </a:pPr>
            <a:r>
              <a:rPr lang="en" sz="1600"/>
              <a:t>e.g. </a:t>
            </a:r>
            <a:r>
              <a:rPr lang="en" sz="1600" i="1"/>
              <a:t>k</a:t>
            </a:r>
            <a:r>
              <a:rPr lang="en" sz="1600"/>
              <a:t>=5 (5-fold cross-validation)</a:t>
            </a:r>
            <a:endParaRPr sz="1600"/>
          </a:p>
        </p:txBody>
      </p:sp>
      <p:sp>
        <p:nvSpPr>
          <p:cNvPr id="853" name="Google Shape;853;p88"/>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54" name="Google Shape;854;p88"/>
          <p:cNvSpPr/>
          <p:nvPr/>
        </p:nvSpPr>
        <p:spPr>
          <a:xfrm>
            <a:off x="9144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55" name="Google Shape;855;p88"/>
          <p:cNvSpPr/>
          <p:nvPr/>
        </p:nvSpPr>
        <p:spPr>
          <a:xfrm>
            <a:off x="23775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56" name="Google Shape;856;p88"/>
          <p:cNvSpPr/>
          <p:nvPr/>
        </p:nvSpPr>
        <p:spPr>
          <a:xfrm>
            <a:off x="3842250" y="3818675"/>
            <a:ext cx="14631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Validation Set</a:t>
            </a:r>
            <a:endParaRPr sz="1400" b="0" i="0" u="none" strike="noStrike" cap="none">
              <a:solidFill>
                <a:srgbClr val="000000"/>
              </a:solidFill>
              <a:latin typeface="Arial"/>
              <a:ea typeface="Arial"/>
              <a:cs typeface="Arial"/>
              <a:sym typeface="Arial"/>
            </a:endParaRPr>
          </a:p>
        </p:txBody>
      </p:sp>
      <p:sp>
        <p:nvSpPr>
          <p:cNvPr id="857" name="Google Shape;857;p88"/>
          <p:cNvSpPr/>
          <p:nvPr/>
        </p:nvSpPr>
        <p:spPr>
          <a:xfrm>
            <a:off x="53070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58" name="Google Shape;858;p88"/>
          <p:cNvSpPr/>
          <p:nvPr/>
        </p:nvSpPr>
        <p:spPr>
          <a:xfrm>
            <a:off x="67717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97044EDF-F612-8FCD-22A8-2F6B28AB6A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102</a:t>
            </a:fld>
            <a:endParaRPr lang="en"/>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89"/>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1200"/>
              </a:spcAft>
              <a:buSzPts val="1300"/>
              <a:buNone/>
            </a:pPr>
            <a:r>
              <a:rPr lang="en" sz="1600"/>
              <a:t>e.g. </a:t>
            </a:r>
            <a:r>
              <a:rPr lang="en" sz="1600" i="1"/>
              <a:t>k</a:t>
            </a:r>
            <a:r>
              <a:rPr lang="en" sz="1600"/>
              <a:t>=5 (5-fold cross-validation)</a:t>
            </a:r>
            <a:endParaRPr sz="1600"/>
          </a:p>
        </p:txBody>
      </p:sp>
      <p:sp>
        <p:nvSpPr>
          <p:cNvPr id="864" name="Google Shape;864;p89"/>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65" name="Google Shape;865;p89"/>
          <p:cNvSpPr/>
          <p:nvPr/>
        </p:nvSpPr>
        <p:spPr>
          <a:xfrm>
            <a:off x="9144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66" name="Google Shape;866;p89"/>
          <p:cNvSpPr/>
          <p:nvPr/>
        </p:nvSpPr>
        <p:spPr>
          <a:xfrm>
            <a:off x="23775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67" name="Google Shape;867;p89"/>
          <p:cNvSpPr/>
          <p:nvPr/>
        </p:nvSpPr>
        <p:spPr>
          <a:xfrm>
            <a:off x="38422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68" name="Google Shape;868;p89"/>
          <p:cNvSpPr/>
          <p:nvPr/>
        </p:nvSpPr>
        <p:spPr>
          <a:xfrm>
            <a:off x="5307000" y="3818675"/>
            <a:ext cx="14631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Validation Set</a:t>
            </a:r>
            <a:endParaRPr sz="1400" b="0" i="0" u="none" strike="noStrike" cap="none">
              <a:solidFill>
                <a:srgbClr val="000000"/>
              </a:solidFill>
              <a:latin typeface="Arial"/>
              <a:ea typeface="Arial"/>
              <a:cs typeface="Arial"/>
              <a:sym typeface="Arial"/>
            </a:endParaRPr>
          </a:p>
        </p:txBody>
      </p:sp>
      <p:sp>
        <p:nvSpPr>
          <p:cNvPr id="869" name="Google Shape;869;p89"/>
          <p:cNvSpPr/>
          <p:nvPr/>
        </p:nvSpPr>
        <p:spPr>
          <a:xfrm>
            <a:off x="67717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2E3F6BCB-4CE6-311B-3D53-5BB1397816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103</a:t>
            </a:fld>
            <a:endParaRPr lang="e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90"/>
          <p:cNvSpPr txBox="1">
            <a:spLocks noGrp="1"/>
          </p:cNvSpPr>
          <p:nvPr>
            <p:ph type="body" idx="1"/>
          </p:nvPr>
        </p:nvSpPr>
        <p:spPr>
          <a:xfrm>
            <a:off x="729450" y="2078875"/>
            <a:ext cx="7688700" cy="28740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SzPts val="1300"/>
              <a:buNone/>
            </a:pPr>
            <a:r>
              <a:rPr lang="en" sz="1600"/>
              <a:t>Split training set into k-segments, iteratively train and validate with each segment.</a:t>
            </a:r>
            <a:endParaRPr sz="1600"/>
          </a:p>
          <a:p>
            <a:pPr marL="0" lvl="0" indent="0" algn="l" rtl="0">
              <a:lnSpc>
                <a:spcPct val="115000"/>
              </a:lnSpc>
              <a:spcBef>
                <a:spcPts val="1200"/>
              </a:spcBef>
              <a:spcAft>
                <a:spcPts val="0"/>
              </a:spcAft>
              <a:buSzPts val="1300"/>
              <a:buNone/>
            </a:pPr>
            <a:r>
              <a:rPr lang="en" sz="1600"/>
              <a:t>- Accounts for irregularities in training set</a:t>
            </a:r>
            <a:br>
              <a:rPr lang="en" sz="1600"/>
            </a:br>
            <a:r>
              <a:rPr lang="en" sz="1600"/>
              <a:t>- “Gold standard” for evaluating generality of neural network models</a:t>
            </a:r>
            <a:endParaRPr sz="1600"/>
          </a:p>
          <a:p>
            <a:pPr marL="0" lvl="0" indent="0" algn="l" rtl="0">
              <a:lnSpc>
                <a:spcPct val="115000"/>
              </a:lnSpc>
              <a:spcBef>
                <a:spcPts val="1200"/>
              </a:spcBef>
              <a:spcAft>
                <a:spcPts val="0"/>
              </a:spcAft>
              <a:buSzPts val="1300"/>
              <a:buNone/>
            </a:pPr>
            <a:r>
              <a:rPr lang="en" sz="1600"/>
              <a:t>e.g. </a:t>
            </a:r>
            <a:r>
              <a:rPr lang="en" sz="1600" i="1"/>
              <a:t>k</a:t>
            </a:r>
            <a:r>
              <a:rPr lang="en" sz="1600"/>
              <a:t>=5 (5-fold cross-validation)</a:t>
            </a:r>
            <a:br>
              <a:rPr lang="en" sz="1600"/>
            </a:br>
            <a:endParaRPr sz="1600"/>
          </a:p>
          <a:p>
            <a:pPr marL="0" lvl="0" indent="0" algn="l" rtl="0">
              <a:lnSpc>
                <a:spcPct val="115000"/>
              </a:lnSpc>
              <a:spcBef>
                <a:spcPts val="1200"/>
              </a:spcBef>
              <a:spcAft>
                <a:spcPts val="0"/>
              </a:spcAft>
              <a:buSzPts val="1300"/>
              <a:buNone/>
            </a:pPr>
            <a:endParaRPr sz="1600"/>
          </a:p>
          <a:p>
            <a:pPr marL="0" lvl="0" indent="0" algn="l" rtl="0">
              <a:lnSpc>
                <a:spcPct val="115000"/>
              </a:lnSpc>
              <a:spcBef>
                <a:spcPts val="1200"/>
              </a:spcBef>
              <a:spcAft>
                <a:spcPts val="1200"/>
              </a:spcAft>
              <a:buSzPts val="1300"/>
              <a:buNone/>
            </a:pPr>
            <a:r>
              <a:rPr lang="en" sz="1600"/>
              <a:t>Result = average over all validation passes</a:t>
            </a:r>
            <a:endParaRPr sz="1600"/>
          </a:p>
        </p:txBody>
      </p:sp>
      <p:sp>
        <p:nvSpPr>
          <p:cNvPr id="875" name="Google Shape;875;p90"/>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i="1"/>
              <a:t>k</a:t>
            </a:r>
            <a:r>
              <a:rPr lang="en"/>
              <a:t>-fold Cross-validation</a:t>
            </a:r>
            <a:endParaRPr/>
          </a:p>
        </p:txBody>
      </p:sp>
      <p:sp>
        <p:nvSpPr>
          <p:cNvPr id="876" name="Google Shape;876;p90"/>
          <p:cNvSpPr/>
          <p:nvPr/>
        </p:nvSpPr>
        <p:spPr>
          <a:xfrm>
            <a:off x="9144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77" name="Google Shape;877;p90"/>
          <p:cNvSpPr/>
          <p:nvPr/>
        </p:nvSpPr>
        <p:spPr>
          <a:xfrm>
            <a:off x="23775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78" name="Google Shape;878;p90"/>
          <p:cNvSpPr/>
          <p:nvPr/>
        </p:nvSpPr>
        <p:spPr>
          <a:xfrm>
            <a:off x="384225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79" name="Google Shape;879;p90"/>
          <p:cNvSpPr/>
          <p:nvPr/>
        </p:nvSpPr>
        <p:spPr>
          <a:xfrm>
            <a:off x="5307000" y="3818675"/>
            <a:ext cx="1463100" cy="3969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Train Set</a:t>
            </a:r>
            <a:endParaRPr sz="1400" b="0" i="0" u="none" strike="noStrike" cap="none">
              <a:solidFill>
                <a:srgbClr val="000000"/>
              </a:solidFill>
              <a:latin typeface="Arial"/>
              <a:ea typeface="Arial"/>
              <a:cs typeface="Arial"/>
              <a:sym typeface="Arial"/>
            </a:endParaRPr>
          </a:p>
        </p:txBody>
      </p:sp>
      <p:sp>
        <p:nvSpPr>
          <p:cNvPr id="880" name="Google Shape;880;p90"/>
          <p:cNvSpPr/>
          <p:nvPr/>
        </p:nvSpPr>
        <p:spPr>
          <a:xfrm>
            <a:off x="6771750" y="3818675"/>
            <a:ext cx="1463100" cy="396900"/>
          </a:xfrm>
          <a:prstGeom prst="rect">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Validation Set</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311A249D-43BE-EECB-001E-EF95FFFE76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104</a:t>
            </a:fld>
            <a:endParaRPr lang="en"/>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91"/>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Training curves</a:t>
            </a:r>
            <a:endParaRPr/>
          </a:p>
        </p:txBody>
      </p:sp>
      <p:sp>
        <p:nvSpPr>
          <p:cNvPr id="886" name="Google Shape;886;p91"/>
          <p:cNvSpPr txBox="1">
            <a:spLocks noGrp="1"/>
          </p:cNvSpPr>
          <p:nvPr>
            <p:ph type="body" idx="1"/>
          </p:nvPr>
        </p:nvSpPr>
        <p:spPr>
          <a:xfrm>
            <a:off x="729450" y="2078875"/>
            <a:ext cx="7973400" cy="3064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300"/>
              <a:buNone/>
            </a:pPr>
            <a:r>
              <a:rPr lang="en" sz="1600" b="1"/>
              <a:t>Important to plot!</a:t>
            </a:r>
            <a:endParaRPr sz="1600"/>
          </a:p>
        </p:txBody>
      </p:sp>
      <p:pic>
        <p:nvPicPr>
          <p:cNvPr id="887" name="Google Shape;887;p91"/>
          <p:cNvPicPr preferRelativeResize="0"/>
          <p:nvPr/>
        </p:nvPicPr>
        <p:blipFill rotWithShape="1">
          <a:blip r:embed="rId3">
            <a:alphaModFix/>
          </a:blip>
          <a:srcRect/>
          <a:stretch/>
        </p:blipFill>
        <p:spPr>
          <a:xfrm>
            <a:off x="6382294" y="701900"/>
            <a:ext cx="2617407" cy="2234575"/>
          </a:xfrm>
          <a:prstGeom prst="rect">
            <a:avLst/>
          </a:prstGeom>
          <a:noFill/>
          <a:ln>
            <a:noFill/>
          </a:ln>
        </p:spPr>
      </p:pic>
      <p:pic>
        <p:nvPicPr>
          <p:cNvPr id="888" name="Google Shape;888;p91"/>
          <p:cNvPicPr preferRelativeResize="0"/>
          <p:nvPr/>
        </p:nvPicPr>
        <p:blipFill rotWithShape="1">
          <a:blip r:embed="rId4">
            <a:alphaModFix/>
          </a:blip>
          <a:srcRect/>
          <a:stretch/>
        </p:blipFill>
        <p:spPr>
          <a:xfrm>
            <a:off x="3843600" y="813319"/>
            <a:ext cx="2538688" cy="2011776"/>
          </a:xfrm>
          <a:prstGeom prst="rect">
            <a:avLst/>
          </a:prstGeom>
          <a:noFill/>
          <a:ln>
            <a:noFill/>
          </a:ln>
        </p:spPr>
      </p:pic>
      <p:sp>
        <p:nvSpPr>
          <p:cNvPr id="2" name="Slide Number Placeholder 1">
            <a:extLst>
              <a:ext uri="{FF2B5EF4-FFF2-40B4-BE49-F238E27FC236}">
                <a16:creationId xmlns:a16="http://schemas.microsoft.com/office/drawing/2014/main" id="{E66D7A19-085A-53C3-6995-889F385B4AC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105</a:t>
            </a:fld>
            <a:endParaRPr lang="en"/>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92"/>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Training curves</a:t>
            </a:r>
            <a:endParaRPr/>
          </a:p>
        </p:txBody>
      </p:sp>
      <p:sp>
        <p:nvSpPr>
          <p:cNvPr id="894" name="Google Shape;894;p92"/>
          <p:cNvSpPr txBox="1">
            <a:spLocks noGrp="1"/>
          </p:cNvSpPr>
          <p:nvPr>
            <p:ph type="body" idx="1"/>
          </p:nvPr>
        </p:nvSpPr>
        <p:spPr>
          <a:xfrm>
            <a:off x="729450" y="2078875"/>
            <a:ext cx="7973400" cy="3064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b="1"/>
              <a:t>Important to plot!(!!!!)</a:t>
            </a:r>
            <a:endParaRPr sz="1600" b="1"/>
          </a:p>
          <a:p>
            <a:pPr marL="0" lvl="0" indent="0" algn="l" rtl="0">
              <a:lnSpc>
                <a:spcPct val="115000"/>
              </a:lnSpc>
              <a:spcBef>
                <a:spcPts val="1200"/>
              </a:spcBef>
              <a:spcAft>
                <a:spcPts val="1200"/>
              </a:spcAft>
              <a:buSzPts val="1300"/>
              <a:buNone/>
            </a:pPr>
            <a:endParaRPr sz="1600"/>
          </a:p>
        </p:txBody>
      </p:sp>
      <p:pic>
        <p:nvPicPr>
          <p:cNvPr id="895" name="Google Shape;895;p92"/>
          <p:cNvPicPr preferRelativeResize="0"/>
          <p:nvPr/>
        </p:nvPicPr>
        <p:blipFill rotWithShape="1">
          <a:blip r:embed="rId3">
            <a:alphaModFix/>
          </a:blip>
          <a:srcRect/>
          <a:stretch/>
        </p:blipFill>
        <p:spPr>
          <a:xfrm>
            <a:off x="6382294" y="701900"/>
            <a:ext cx="2617407" cy="2234575"/>
          </a:xfrm>
          <a:prstGeom prst="rect">
            <a:avLst/>
          </a:prstGeom>
          <a:noFill/>
          <a:ln>
            <a:noFill/>
          </a:ln>
        </p:spPr>
      </p:pic>
      <p:pic>
        <p:nvPicPr>
          <p:cNvPr id="896" name="Google Shape;896;p92"/>
          <p:cNvPicPr preferRelativeResize="0"/>
          <p:nvPr/>
        </p:nvPicPr>
        <p:blipFill rotWithShape="1">
          <a:blip r:embed="rId4">
            <a:alphaModFix/>
          </a:blip>
          <a:srcRect/>
          <a:stretch/>
        </p:blipFill>
        <p:spPr>
          <a:xfrm>
            <a:off x="3843600" y="813319"/>
            <a:ext cx="2538688" cy="2011776"/>
          </a:xfrm>
          <a:prstGeom prst="rect">
            <a:avLst/>
          </a:prstGeom>
          <a:noFill/>
          <a:ln>
            <a:noFill/>
          </a:ln>
        </p:spPr>
      </p:pic>
      <p:sp>
        <p:nvSpPr>
          <p:cNvPr id="2" name="Slide Number Placeholder 1">
            <a:extLst>
              <a:ext uri="{FF2B5EF4-FFF2-40B4-BE49-F238E27FC236}">
                <a16:creationId xmlns:a16="http://schemas.microsoft.com/office/drawing/2014/main" id="{C3D7E4EC-82AD-4C6C-0218-8A5F361F41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106</a:t>
            </a:fld>
            <a:endParaRPr lang="en"/>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9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Training curves</a:t>
            </a:r>
            <a:endParaRPr/>
          </a:p>
        </p:txBody>
      </p:sp>
      <p:sp>
        <p:nvSpPr>
          <p:cNvPr id="902" name="Google Shape;902;p93"/>
          <p:cNvSpPr txBox="1">
            <a:spLocks noGrp="1"/>
          </p:cNvSpPr>
          <p:nvPr>
            <p:ph type="body" idx="1"/>
          </p:nvPr>
        </p:nvSpPr>
        <p:spPr>
          <a:xfrm>
            <a:off x="729450" y="2078875"/>
            <a:ext cx="7973400" cy="3064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b="1"/>
              <a:t>Important to plot!(!!!!)</a:t>
            </a:r>
            <a:endParaRPr sz="1600" b="1"/>
          </a:p>
          <a:p>
            <a:pPr marL="0" lvl="0" indent="0" algn="l" rtl="0">
              <a:lnSpc>
                <a:spcPct val="115000"/>
              </a:lnSpc>
              <a:spcBef>
                <a:spcPts val="1200"/>
              </a:spcBef>
              <a:spcAft>
                <a:spcPts val="0"/>
              </a:spcAft>
              <a:buSzPts val="1300"/>
              <a:buNone/>
            </a:pPr>
            <a:endParaRPr sz="1600"/>
          </a:p>
          <a:p>
            <a:pPr marL="0" lvl="0" indent="0" algn="l" rtl="0">
              <a:lnSpc>
                <a:spcPct val="115000"/>
              </a:lnSpc>
              <a:spcBef>
                <a:spcPts val="1200"/>
              </a:spcBef>
              <a:spcAft>
                <a:spcPts val="1200"/>
              </a:spcAft>
              <a:buSzPts val="1300"/>
              <a:buNone/>
            </a:pPr>
            <a:r>
              <a:rPr lang="en" sz="1600"/>
              <a:t>Shows if and how fast your model is learning on task-relevant metrics </a:t>
            </a:r>
            <a:br>
              <a:rPr lang="en" sz="1600"/>
            </a:br>
            <a:r>
              <a:rPr lang="en" sz="1600"/>
              <a:t>	- e.g. loss, accuracy, AUC, F1 score</a:t>
            </a:r>
            <a:br>
              <a:rPr lang="en" sz="1600"/>
            </a:br>
            <a:r>
              <a:rPr lang="en" sz="1600"/>
              <a:t>	- Plot scores over training epochs</a:t>
            </a:r>
            <a:endParaRPr sz="1600"/>
          </a:p>
        </p:txBody>
      </p:sp>
      <p:pic>
        <p:nvPicPr>
          <p:cNvPr id="903" name="Google Shape;903;p93"/>
          <p:cNvPicPr preferRelativeResize="0"/>
          <p:nvPr/>
        </p:nvPicPr>
        <p:blipFill rotWithShape="1">
          <a:blip r:embed="rId3">
            <a:alphaModFix/>
          </a:blip>
          <a:srcRect/>
          <a:stretch/>
        </p:blipFill>
        <p:spPr>
          <a:xfrm>
            <a:off x="6382294" y="701900"/>
            <a:ext cx="2617407" cy="2234575"/>
          </a:xfrm>
          <a:prstGeom prst="rect">
            <a:avLst/>
          </a:prstGeom>
          <a:noFill/>
          <a:ln>
            <a:noFill/>
          </a:ln>
        </p:spPr>
      </p:pic>
      <p:pic>
        <p:nvPicPr>
          <p:cNvPr id="904" name="Google Shape;904;p93"/>
          <p:cNvPicPr preferRelativeResize="0"/>
          <p:nvPr/>
        </p:nvPicPr>
        <p:blipFill rotWithShape="1">
          <a:blip r:embed="rId4">
            <a:alphaModFix/>
          </a:blip>
          <a:srcRect/>
          <a:stretch/>
        </p:blipFill>
        <p:spPr>
          <a:xfrm>
            <a:off x="3843600" y="813319"/>
            <a:ext cx="2538688" cy="2011776"/>
          </a:xfrm>
          <a:prstGeom prst="rect">
            <a:avLst/>
          </a:prstGeom>
          <a:noFill/>
          <a:ln>
            <a:noFill/>
          </a:ln>
        </p:spPr>
      </p:pic>
      <p:sp>
        <p:nvSpPr>
          <p:cNvPr id="2" name="Slide Number Placeholder 1">
            <a:extLst>
              <a:ext uri="{FF2B5EF4-FFF2-40B4-BE49-F238E27FC236}">
                <a16:creationId xmlns:a16="http://schemas.microsoft.com/office/drawing/2014/main" id="{D65C9BF5-3A39-A106-3C29-78DFCD577E0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107</a:t>
            </a:fld>
            <a:endParaRPr lang="en"/>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94"/>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Training curves</a:t>
            </a:r>
            <a:endParaRPr/>
          </a:p>
        </p:txBody>
      </p:sp>
      <p:sp>
        <p:nvSpPr>
          <p:cNvPr id="910" name="Google Shape;910;p94"/>
          <p:cNvSpPr txBox="1">
            <a:spLocks noGrp="1"/>
          </p:cNvSpPr>
          <p:nvPr>
            <p:ph type="body" idx="1"/>
          </p:nvPr>
        </p:nvSpPr>
        <p:spPr>
          <a:xfrm>
            <a:off x="729450" y="2078875"/>
            <a:ext cx="7973400" cy="3064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300"/>
              <a:buNone/>
            </a:pPr>
            <a:endParaRPr lang="en-US" sz="1600" dirty="0"/>
          </a:p>
          <a:p>
            <a:pPr marL="0" lvl="0" indent="0" algn="l" rtl="0">
              <a:lnSpc>
                <a:spcPct val="115000"/>
              </a:lnSpc>
              <a:spcBef>
                <a:spcPts val="1200"/>
              </a:spcBef>
              <a:spcAft>
                <a:spcPts val="0"/>
              </a:spcAft>
              <a:buSzPts val="1300"/>
              <a:buNone/>
            </a:pPr>
            <a:endParaRPr sz="1600" dirty="0"/>
          </a:p>
          <a:p>
            <a:pPr marL="0" lvl="0" indent="0" algn="l" rtl="0">
              <a:lnSpc>
                <a:spcPct val="115000"/>
              </a:lnSpc>
              <a:spcBef>
                <a:spcPts val="1200"/>
              </a:spcBef>
              <a:spcAft>
                <a:spcPts val="0"/>
              </a:spcAft>
              <a:buSzPts val="1300"/>
              <a:buNone/>
            </a:pPr>
            <a:r>
              <a:rPr lang="en" sz="1600" dirty="0"/>
              <a:t>Shows if and how fast your model is learning on task-relevant metrics </a:t>
            </a:r>
            <a:br>
              <a:rPr lang="en" sz="1600" dirty="0"/>
            </a:br>
            <a:r>
              <a:rPr lang="en" sz="1600" dirty="0"/>
              <a:t>	- e.g. loss, accuracy, AUC, F1 score</a:t>
            </a:r>
            <a:br>
              <a:rPr lang="en" sz="1600" dirty="0"/>
            </a:br>
            <a:r>
              <a:rPr lang="en" sz="1600" dirty="0"/>
              <a:t>	- Plot scores over training epochs</a:t>
            </a:r>
            <a:br>
              <a:rPr lang="en" sz="1600" dirty="0"/>
            </a:br>
            <a:endParaRPr sz="1600" dirty="0"/>
          </a:p>
          <a:p>
            <a:pPr marL="0" lvl="0" indent="0" algn="l" rtl="0">
              <a:lnSpc>
                <a:spcPct val="115000"/>
              </a:lnSpc>
              <a:spcBef>
                <a:spcPts val="1200"/>
              </a:spcBef>
              <a:spcAft>
                <a:spcPts val="1200"/>
              </a:spcAft>
              <a:buSzPts val="1300"/>
              <a:buNone/>
            </a:pPr>
            <a:r>
              <a:rPr lang="en" sz="1600" dirty="0"/>
              <a:t>May indicate potential over and underfitting</a:t>
            </a:r>
            <a:endParaRPr sz="1600" dirty="0"/>
          </a:p>
        </p:txBody>
      </p:sp>
      <p:pic>
        <p:nvPicPr>
          <p:cNvPr id="911" name="Google Shape;911;p94"/>
          <p:cNvPicPr preferRelativeResize="0"/>
          <p:nvPr/>
        </p:nvPicPr>
        <p:blipFill rotWithShape="1">
          <a:blip r:embed="rId3">
            <a:alphaModFix/>
          </a:blip>
          <a:srcRect/>
          <a:stretch/>
        </p:blipFill>
        <p:spPr>
          <a:xfrm>
            <a:off x="6382294" y="701900"/>
            <a:ext cx="2617407" cy="2234575"/>
          </a:xfrm>
          <a:prstGeom prst="rect">
            <a:avLst/>
          </a:prstGeom>
          <a:noFill/>
          <a:ln>
            <a:noFill/>
          </a:ln>
        </p:spPr>
      </p:pic>
      <p:pic>
        <p:nvPicPr>
          <p:cNvPr id="912" name="Google Shape;912;p94"/>
          <p:cNvPicPr preferRelativeResize="0"/>
          <p:nvPr/>
        </p:nvPicPr>
        <p:blipFill rotWithShape="1">
          <a:blip r:embed="rId4">
            <a:alphaModFix/>
          </a:blip>
          <a:srcRect/>
          <a:stretch/>
        </p:blipFill>
        <p:spPr>
          <a:xfrm>
            <a:off x="3843600" y="813319"/>
            <a:ext cx="2538688" cy="2011776"/>
          </a:xfrm>
          <a:prstGeom prst="rect">
            <a:avLst/>
          </a:prstGeom>
          <a:noFill/>
          <a:ln>
            <a:noFill/>
          </a:ln>
        </p:spPr>
      </p:pic>
      <p:sp>
        <p:nvSpPr>
          <p:cNvPr id="2" name="Slide Number Placeholder 1">
            <a:extLst>
              <a:ext uri="{FF2B5EF4-FFF2-40B4-BE49-F238E27FC236}">
                <a16:creationId xmlns:a16="http://schemas.microsoft.com/office/drawing/2014/main" id="{22945E07-3D64-5762-ED25-656B50F2DC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108</a:t>
            </a:fld>
            <a:endParaRPr lang="en"/>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9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Reading training curves</a:t>
            </a:r>
            <a:endParaRPr/>
          </a:p>
        </p:txBody>
      </p:sp>
      <p:sp>
        <p:nvSpPr>
          <p:cNvPr id="918" name="Google Shape;918;p95"/>
          <p:cNvSpPr txBox="1">
            <a:spLocks noGrp="1"/>
          </p:cNvSpPr>
          <p:nvPr>
            <p:ph type="body" idx="1"/>
          </p:nvPr>
        </p:nvSpPr>
        <p:spPr>
          <a:xfrm>
            <a:off x="729450" y="2571750"/>
            <a:ext cx="7973400" cy="2400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2100" i="1"/>
              <a:t>                If</a:t>
            </a:r>
            <a:r>
              <a:rPr lang="en" sz="2100"/>
              <a:t> </a:t>
            </a:r>
            <a:br>
              <a:rPr lang="en" sz="2100"/>
            </a:br>
            <a:r>
              <a:rPr lang="en" sz="2100"/>
              <a:t> </a:t>
            </a:r>
            <a:br>
              <a:rPr lang="en" sz="2100"/>
            </a:br>
            <a:r>
              <a:rPr lang="en" sz="2100"/>
              <a:t>                                    </a:t>
            </a:r>
            <a:r>
              <a:rPr lang="en" sz="2100">
                <a:solidFill>
                  <a:srgbClr val="0000FF"/>
                </a:solidFill>
              </a:rPr>
              <a:t> </a:t>
            </a:r>
            <a:r>
              <a:rPr lang="en" sz="2300">
                <a:solidFill>
                  <a:srgbClr val="0000FF"/>
                </a:solidFill>
              </a:rPr>
              <a:t>validation loss</a:t>
            </a:r>
            <a:r>
              <a:rPr lang="en" sz="2300"/>
              <a:t>  &gt;   </a:t>
            </a:r>
            <a:r>
              <a:rPr lang="en" sz="2300">
                <a:solidFill>
                  <a:srgbClr val="FF0000"/>
                </a:solidFill>
              </a:rPr>
              <a:t>training loss</a:t>
            </a:r>
            <a:r>
              <a:rPr lang="en" sz="2000">
                <a:solidFill>
                  <a:srgbClr val="FF0000"/>
                </a:solidFill>
              </a:rPr>
              <a:t> </a:t>
            </a:r>
            <a:br>
              <a:rPr lang="en" sz="2100">
                <a:solidFill>
                  <a:srgbClr val="FF0000"/>
                </a:solidFill>
              </a:rPr>
            </a:br>
            <a:endParaRPr sz="2100">
              <a:solidFill>
                <a:srgbClr val="FF0000"/>
              </a:solidFill>
            </a:endParaRPr>
          </a:p>
          <a:p>
            <a:pPr marL="0" lvl="0" indent="0" algn="r" rtl="0">
              <a:lnSpc>
                <a:spcPct val="115000"/>
              </a:lnSpc>
              <a:spcBef>
                <a:spcPts val="1200"/>
              </a:spcBef>
              <a:spcAft>
                <a:spcPts val="1200"/>
              </a:spcAft>
              <a:buSzPts val="1300"/>
              <a:buNone/>
            </a:pPr>
            <a:r>
              <a:rPr lang="en" sz="2100"/>
              <a:t>then often the model is </a:t>
            </a:r>
            <a:r>
              <a:rPr lang="en" sz="2100" i="1"/>
              <a:t>good!</a:t>
            </a:r>
            <a:endParaRPr sz="2100" b="1"/>
          </a:p>
        </p:txBody>
      </p:sp>
      <p:sp>
        <p:nvSpPr>
          <p:cNvPr id="919" name="Google Shape;919;p95"/>
          <p:cNvSpPr txBox="1"/>
          <p:nvPr/>
        </p:nvSpPr>
        <p:spPr>
          <a:xfrm>
            <a:off x="168349" y="4541250"/>
            <a:ext cx="1804829" cy="431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1" u="none" strike="noStrike" cap="none" dirty="0">
                <a:solidFill>
                  <a:srgbClr val="000000"/>
                </a:solidFill>
                <a:latin typeface="Lato"/>
                <a:ea typeface="Lato"/>
                <a:cs typeface="Lato"/>
                <a:sym typeface="Lato"/>
              </a:rPr>
              <a:t>Low loss == Better</a:t>
            </a:r>
            <a:endParaRPr sz="1600" b="0" i="1" u="none" strike="noStrike" cap="none" dirty="0">
              <a:solidFill>
                <a:srgbClr val="000000"/>
              </a:solidFill>
              <a:latin typeface="Lato"/>
              <a:ea typeface="Lato"/>
              <a:cs typeface="Lato"/>
              <a:sym typeface="Lato"/>
            </a:endParaRPr>
          </a:p>
        </p:txBody>
      </p:sp>
      <p:pic>
        <p:nvPicPr>
          <p:cNvPr id="920" name="Google Shape;920;p95"/>
          <p:cNvPicPr preferRelativeResize="0"/>
          <p:nvPr/>
        </p:nvPicPr>
        <p:blipFill rotWithShape="1">
          <a:blip r:embed="rId3">
            <a:alphaModFix/>
          </a:blip>
          <a:srcRect/>
          <a:stretch/>
        </p:blipFill>
        <p:spPr>
          <a:xfrm>
            <a:off x="4526250" y="695750"/>
            <a:ext cx="4466475" cy="2571075"/>
          </a:xfrm>
          <a:prstGeom prst="rect">
            <a:avLst/>
          </a:prstGeom>
          <a:noFill/>
          <a:ln>
            <a:noFill/>
          </a:ln>
        </p:spPr>
      </p:pic>
      <p:sp>
        <p:nvSpPr>
          <p:cNvPr id="2" name="Slide Number Placeholder 1">
            <a:extLst>
              <a:ext uri="{FF2B5EF4-FFF2-40B4-BE49-F238E27FC236}">
                <a16:creationId xmlns:a16="http://schemas.microsoft.com/office/drawing/2014/main" id="{5013AAA8-984E-8F71-38C9-4A61680EDE6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109</a:t>
            </a:fld>
            <a:endParaRPr lang="en"/>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9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Reading training curves</a:t>
            </a:r>
            <a:endParaRPr/>
          </a:p>
        </p:txBody>
      </p:sp>
      <p:sp>
        <p:nvSpPr>
          <p:cNvPr id="926" name="Google Shape;926;p96"/>
          <p:cNvSpPr txBox="1">
            <a:spLocks noGrp="1"/>
          </p:cNvSpPr>
          <p:nvPr>
            <p:ph type="body" idx="1"/>
          </p:nvPr>
        </p:nvSpPr>
        <p:spPr>
          <a:xfrm>
            <a:off x="729450" y="2571750"/>
            <a:ext cx="7973400" cy="2400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2100" i="1"/>
              <a:t>                If</a:t>
            </a:r>
            <a:r>
              <a:rPr lang="en" sz="2100"/>
              <a:t> </a:t>
            </a:r>
            <a:br>
              <a:rPr lang="en" sz="2100"/>
            </a:br>
            <a:r>
              <a:rPr lang="en" sz="2100"/>
              <a:t> </a:t>
            </a:r>
            <a:br>
              <a:rPr lang="en" sz="2100"/>
            </a:br>
            <a:r>
              <a:rPr lang="en" sz="2100"/>
              <a:t>                                     </a:t>
            </a:r>
            <a:r>
              <a:rPr lang="en" sz="2300">
                <a:solidFill>
                  <a:srgbClr val="0000FF"/>
                </a:solidFill>
              </a:rPr>
              <a:t>validation loss</a:t>
            </a:r>
            <a:r>
              <a:rPr lang="en" sz="2300"/>
              <a:t>  &gt;&gt;   </a:t>
            </a:r>
            <a:r>
              <a:rPr lang="en" sz="2300">
                <a:solidFill>
                  <a:srgbClr val="FF0000"/>
                </a:solidFill>
              </a:rPr>
              <a:t>training loss</a:t>
            </a:r>
            <a:br>
              <a:rPr lang="en" sz="2300"/>
            </a:br>
            <a:endParaRPr sz="2300"/>
          </a:p>
          <a:p>
            <a:pPr marL="0" lvl="0" indent="0" algn="r" rtl="0">
              <a:lnSpc>
                <a:spcPct val="115000"/>
              </a:lnSpc>
              <a:spcBef>
                <a:spcPts val="1200"/>
              </a:spcBef>
              <a:spcAft>
                <a:spcPts val="1200"/>
              </a:spcAft>
              <a:buSzPts val="1300"/>
              <a:buNone/>
            </a:pPr>
            <a:r>
              <a:rPr lang="en" sz="2100"/>
              <a:t>then often the model is </a:t>
            </a:r>
            <a:r>
              <a:rPr lang="en" sz="2100" i="1"/>
              <a:t>overfitting</a:t>
            </a:r>
            <a:endParaRPr sz="2100" b="1"/>
          </a:p>
        </p:txBody>
      </p:sp>
      <p:sp>
        <p:nvSpPr>
          <p:cNvPr id="927" name="Google Shape;927;p96"/>
          <p:cNvSpPr txBox="1"/>
          <p:nvPr/>
        </p:nvSpPr>
        <p:spPr>
          <a:xfrm>
            <a:off x="168349" y="4541250"/>
            <a:ext cx="1852955" cy="431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1" u="none" strike="noStrike" cap="none" dirty="0">
                <a:solidFill>
                  <a:srgbClr val="000000"/>
                </a:solidFill>
                <a:latin typeface="Lato"/>
                <a:ea typeface="Lato"/>
                <a:cs typeface="Lato"/>
                <a:sym typeface="Lato"/>
              </a:rPr>
              <a:t>Low loss == Better</a:t>
            </a:r>
            <a:endParaRPr sz="1600" b="0" i="1" u="none" strike="noStrike" cap="none" dirty="0">
              <a:solidFill>
                <a:srgbClr val="000000"/>
              </a:solidFill>
              <a:latin typeface="Lato"/>
              <a:ea typeface="Lato"/>
              <a:cs typeface="Lato"/>
              <a:sym typeface="Lato"/>
            </a:endParaRPr>
          </a:p>
        </p:txBody>
      </p:sp>
      <p:pic>
        <p:nvPicPr>
          <p:cNvPr id="928" name="Google Shape;928;p96"/>
          <p:cNvPicPr preferRelativeResize="0"/>
          <p:nvPr/>
        </p:nvPicPr>
        <p:blipFill rotWithShape="1">
          <a:blip r:embed="rId3">
            <a:alphaModFix/>
          </a:blip>
          <a:srcRect/>
          <a:stretch/>
        </p:blipFill>
        <p:spPr>
          <a:xfrm>
            <a:off x="4583775" y="577300"/>
            <a:ext cx="4320549" cy="2630475"/>
          </a:xfrm>
          <a:prstGeom prst="rect">
            <a:avLst/>
          </a:prstGeom>
          <a:noFill/>
          <a:ln>
            <a:noFill/>
          </a:ln>
        </p:spPr>
      </p:pic>
      <p:sp>
        <p:nvSpPr>
          <p:cNvPr id="2" name="Slide Number Placeholder 1">
            <a:extLst>
              <a:ext uri="{FF2B5EF4-FFF2-40B4-BE49-F238E27FC236}">
                <a16:creationId xmlns:a16="http://schemas.microsoft.com/office/drawing/2014/main" id="{329082B5-6A82-897E-78B4-4CB6271DDA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110</a:t>
            </a:fld>
            <a:endParaRPr lang="en"/>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97"/>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Reading training curves</a:t>
            </a:r>
            <a:endParaRPr dirty="0"/>
          </a:p>
        </p:txBody>
      </p:sp>
      <p:sp>
        <p:nvSpPr>
          <p:cNvPr id="934" name="Google Shape;934;p97"/>
          <p:cNvSpPr txBox="1">
            <a:spLocks noGrp="1"/>
          </p:cNvSpPr>
          <p:nvPr>
            <p:ph type="body" idx="1"/>
          </p:nvPr>
        </p:nvSpPr>
        <p:spPr>
          <a:xfrm>
            <a:off x="729450" y="2571750"/>
            <a:ext cx="7973400" cy="2400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2100" i="1"/>
              <a:t>                If</a:t>
            </a:r>
            <a:r>
              <a:rPr lang="en" sz="2100"/>
              <a:t> </a:t>
            </a:r>
            <a:br>
              <a:rPr lang="en" sz="2100"/>
            </a:br>
            <a:r>
              <a:rPr lang="en" sz="2100"/>
              <a:t> </a:t>
            </a:r>
            <a:br>
              <a:rPr lang="en" sz="2100"/>
            </a:br>
            <a:r>
              <a:rPr lang="en" sz="2100"/>
              <a:t>                                     </a:t>
            </a:r>
            <a:r>
              <a:rPr lang="en" sz="2300">
                <a:solidFill>
                  <a:srgbClr val="0000FF"/>
                </a:solidFill>
              </a:rPr>
              <a:t>validation loss</a:t>
            </a:r>
            <a:r>
              <a:rPr lang="en" sz="2300"/>
              <a:t>  ~   </a:t>
            </a:r>
            <a:r>
              <a:rPr lang="en" sz="2300">
                <a:solidFill>
                  <a:srgbClr val="FF0000"/>
                </a:solidFill>
              </a:rPr>
              <a:t>training loss</a:t>
            </a:r>
            <a:r>
              <a:rPr lang="en" sz="2300"/>
              <a:t> </a:t>
            </a:r>
            <a:br>
              <a:rPr lang="en" sz="2100"/>
            </a:br>
            <a:endParaRPr sz="2100"/>
          </a:p>
          <a:p>
            <a:pPr marL="0" lvl="0" indent="0" algn="r" rtl="0">
              <a:lnSpc>
                <a:spcPct val="115000"/>
              </a:lnSpc>
              <a:spcBef>
                <a:spcPts val="1200"/>
              </a:spcBef>
              <a:spcAft>
                <a:spcPts val="1200"/>
              </a:spcAft>
              <a:buSzPts val="1300"/>
              <a:buNone/>
            </a:pPr>
            <a:r>
              <a:rPr lang="en" sz="2100"/>
              <a:t>then often the model is </a:t>
            </a:r>
            <a:r>
              <a:rPr lang="en" sz="2100" i="1"/>
              <a:t>underfitting</a:t>
            </a:r>
            <a:endParaRPr sz="2100" b="1"/>
          </a:p>
        </p:txBody>
      </p:sp>
      <p:sp>
        <p:nvSpPr>
          <p:cNvPr id="935" name="Google Shape;935;p97"/>
          <p:cNvSpPr txBox="1"/>
          <p:nvPr/>
        </p:nvSpPr>
        <p:spPr>
          <a:xfrm>
            <a:off x="168350" y="4541250"/>
            <a:ext cx="1780766" cy="431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1" u="none" strike="noStrike" cap="none" dirty="0">
                <a:solidFill>
                  <a:srgbClr val="000000"/>
                </a:solidFill>
                <a:latin typeface="Lato"/>
                <a:ea typeface="Lato"/>
                <a:cs typeface="Lato"/>
                <a:sym typeface="Lato"/>
              </a:rPr>
              <a:t>Low loss == Better</a:t>
            </a:r>
            <a:endParaRPr sz="1600" b="0" i="1" u="none" strike="noStrike" cap="none" dirty="0">
              <a:solidFill>
                <a:srgbClr val="000000"/>
              </a:solidFill>
              <a:latin typeface="Lato"/>
              <a:ea typeface="Lato"/>
              <a:cs typeface="Lato"/>
              <a:sym typeface="Lato"/>
            </a:endParaRPr>
          </a:p>
        </p:txBody>
      </p:sp>
      <p:pic>
        <p:nvPicPr>
          <p:cNvPr id="936" name="Google Shape;936;p97"/>
          <p:cNvPicPr preferRelativeResize="0"/>
          <p:nvPr/>
        </p:nvPicPr>
        <p:blipFill rotWithShape="1">
          <a:blip r:embed="rId3">
            <a:alphaModFix/>
          </a:blip>
          <a:srcRect/>
          <a:stretch/>
        </p:blipFill>
        <p:spPr>
          <a:xfrm>
            <a:off x="4574425" y="622625"/>
            <a:ext cx="4396926" cy="2651900"/>
          </a:xfrm>
          <a:prstGeom prst="rect">
            <a:avLst/>
          </a:prstGeom>
          <a:noFill/>
          <a:ln>
            <a:noFill/>
          </a:ln>
        </p:spPr>
      </p:pic>
      <p:sp>
        <p:nvSpPr>
          <p:cNvPr id="2" name="Slide Number Placeholder 1">
            <a:extLst>
              <a:ext uri="{FF2B5EF4-FFF2-40B4-BE49-F238E27FC236}">
                <a16:creationId xmlns:a16="http://schemas.microsoft.com/office/drawing/2014/main" id="{84662E7A-4766-C22C-955B-ECCB7F5C3E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111</a:t>
            </a:fld>
            <a:endParaRPr lang="en"/>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98"/>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Reading training curves</a:t>
            </a:r>
            <a:endParaRPr/>
          </a:p>
        </p:txBody>
      </p:sp>
      <p:sp>
        <p:nvSpPr>
          <p:cNvPr id="942" name="Google Shape;942;p98"/>
          <p:cNvSpPr txBox="1">
            <a:spLocks noGrp="1"/>
          </p:cNvSpPr>
          <p:nvPr>
            <p:ph type="body" idx="1"/>
          </p:nvPr>
        </p:nvSpPr>
        <p:spPr>
          <a:xfrm>
            <a:off x="729450" y="2571750"/>
            <a:ext cx="7973400" cy="2400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2100" i="1" dirty="0"/>
              <a:t>                If</a:t>
            </a:r>
            <a:r>
              <a:rPr lang="en" sz="2100" dirty="0"/>
              <a:t> </a:t>
            </a:r>
            <a:br>
              <a:rPr lang="en" sz="2100" dirty="0"/>
            </a:br>
            <a:r>
              <a:rPr lang="en" sz="2100" dirty="0"/>
              <a:t> </a:t>
            </a:r>
            <a:br>
              <a:rPr lang="en" sz="2100" dirty="0"/>
            </a:br>
            <a:r>
              <a:rPr lang="en" sz="2100" dirty="0"/>
              <a:t>                                    </a:t>
            </a:r>
            <a:r>
              <a:rPr lang="en" sz="2300" dirty="0">
                <a:solidFill>
                  <a:srgbClr val="0000FF"/>
                </a:solidFill>
              </a:rPr>
              <a:t>validation loss</a:t>
            </a:r>
            <a:r>
              <a:rPr lang="en" sz="2300" dirty="0"/>
              <a:t>  &lt;   </a:t>
            </a:r>
            <a:r>
              <a:rPr lang="en" sz="2300" dirty="0">
                <a:solidFill>
                  <a:srgbClr val="FF0000"/>
                </a:solidFill>
              </a:rPr>
              <a:t>training loss</a:t>
            </a:r>
            <a:r>
              <a:rPr lang="en" sz="2300" dirty="0"/>
              <a:t> </a:t>
            </a:r>
            <a:br>
              <a:rPr lang="en" sz="2300" dirty="0"/>
            </a:br>
            <a:endParaRPr sz="2300" dirty="0"/>
          </a:p>
          <a:p>
            <a:pPr marL="0" lvl="0" indent="0" algn="r" rtl="0">
              <a:lnSpc>
                <a:spcPct val="115000"/>
              </a:lnSpc>
              <a:spcBef>
                <a:spcPts val="1200"/>
              </a:spcBef>
              <a:spcAft>
                <a:spcPts val="1200"/>
              </a:spcAft>
              <a:buSzPts val="1300"/>
              <a:buNone/>
            </a:pPr>
            <a:r>
              <a:rPr lang="en" sz="2100" dirty="0"/>
              <a:t>then something is </a:t>
            </a:r>
            <a:r>
              <a:rPr lang="en" sz="2100" i="1" dirty="0"/>
              <a:t>very</a:t>
            </a:r>
            <a:r>
              <a:rPr lang="en" sz="2100" dirty="0"/>
              <a:t> wrong!</a:t>
            </a:r>
            <a:endParaRPr sz="2100" b="1" dirty="0"/>
          </a:p>
        </p:txBody>
      </p:sp>
      <p:sp>
        <p:nvSpPr>
          <p:cNvPr id="943" name="Google Shape;943;p98"/>
          <p:cNvSpPr txBox="1"/>
          <p:nvPr/>
        </p:nvSpPr>
        <p:spPr>
          <a:xfrm>
            <a:off x="168349" y="4541250"/>
            <a:ext cx="1885039" cy="431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1" u="none" strike="noStrike" cap="none" dirty="0">
                <a:solidFill>
                  <a:srgbClr val="000000"/>
                </a:solidFill>
                <a:latin typeface="Lato"/>
                <a:ea typeface="Lato"/>
                <a:cs typeface="Lato"/>
                <a:sym typeface="Lato"/>
              </a:rPr>
              <a:t>Low loss == Better</a:t>
            </a:r>
            <a:endParaRPr sz="1600" b="0" i="1" u="none" strike="noStrike" cap="none" dirty="0">
              <a:solidFill>
                <a:srgbClr val="000000"/>
              </a:solidFill>
              <a:latin typeface="Lato"/>
              <a:ea typeface="Lato"/>
              <a:cs typeface="Lato"/>
              <a:sym typeface="Lato"/>
            </a:endParaRPr>
          </a:p>
        </p:txBody>
      </p:sp>
      <p:pic>
        <p:nvPicPr>
          <p:cNvPr id="944" name="Google Shape;944;p98"/>
          <p:cNvPicPr preferRelativeResize="0"/>
          <p:nvPr/>
        </p:nvPicPr>
        <p:blipFill rotWithShape="1">
          <a:blip r:embed="rId3">
            <a:alphaModFix/>
          </a:blip>
          <a:srcRect/>
          <a:stretch/>
        </p:blipFill>
        <p:spPr>
          <a:xfrm>
            <a:off x="4619800" y="561025"/>
            <a:ext cx="4376650" cy="2651849"/>
          </a:xfrm>
          <a:prstGeom prst="rect">
            <a:avLst/>
          </a:prstGeom>
          <a:noFill/>
          <a:ln>
            <a:noFill/>
          </a:ln>
        </p:spPr>
      </p:pic>
      <p:sp>
        <p:nvSpPr>
          <p:cNvPr id="2" name="Slide Number Placeholder 1">
            <a:extLst>
              <a:ext uri="{FF2B5EF4-FFF2-40B4-BE49-F238E27FC236}">
                <a16:creationId xmlns:a16="http://schemas.microsoft.com/office/drawing/2014/main" id="{384B70AD-AD30-B9E7-48FE-D1B868E1D1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112</a:t>
            </a:fld>
            <a:endParaRPr lang="en"/>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53186c61bb_0_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Weight Regularization</a:t>
            </a:r>
            <a:endParaRPr dirty="0"/>
          </a:p>
        </p:txBody>
      </p:sp>
      <p:sp>
        <p:nvSpPr>
          <p:cNvPr id="950" name="Google Shape;950;g253186c61bb_0_28"/>
          <p:cNvSpPr txBox="1">
            <a:spLocks noGrp="1"/>
          </p:cNvSpPr>
          <p:nvPr>
            <p:ph type="body" idx="1"/>
          </p:nvPr>
        </p:nvSpPr>
        <p:spPr>
          <a:xfrm>
            <a:off x="729450" y="2078875"/>
            <a:ext cx="7688700" cy="2645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 sz="1600" dirty="0"/>
              <a:t>L1/L2 Regularization helps make weights sparse (L1), or have small magnitude (L2):</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endParaRPr sz="1600" dirty="0"/>
          </a:p>
          <a:p>
            <a:pPr marL="0" lvl="0" indent="0" algn="l" rtl="0">
              <a:spcBef>
                <a:spcPts val="0"/>
              </a:spcBef>
              <a:spcAft>
                <a:spcPts val="0"/>
              </a:spcAft>
              <a:buNone/>
            </a:pPr>
            <a:endParaRPr sz="1600" dirty="0"/>
          </a:p>
          <a:p>
            <a:pPr marL="457200" lvl="0" indent="0" algn="l" rtl="0">
              <a:spcBef>
                <a:spcPts val="0"/>
              </a:spcBef>
              <a:spcAft>
                <a:spcPts val="0"/>
              </a:spcAft>
              <a:buNone/>
            </a:pPr>
            <a:endParaRPr sz="1600" dirty="0"/>
          </a:p>
          <a:p>
            <a:pPr marL="457200" lvl="0" indent="-330200" algn="l" rtl="0">
              <a:spcBef>
                <a:spcPts val="0"/>
              </a:spcBef>
              <a:spcAft>
                <a:spcPts val="0"/>
              </a:spcAft>
              <a:buSzPts val="1600"/>
              <a:buChar char="●"/>
            </a:pPr>
            <a:r>
              <a:rPr lang="en" sz="1600" dirty="0"/>
              <a:t>Dropout (on when training, off when testing/deploying)</a:t>
            </a:r>
            <a:endParaRPr sz="1600" dirty="0"/>
          </a:p>
          <a:p>
            <a:pPr marL="457200" lvl="0" indent="-330200" algn="l" rtl="0">
              <a:spcBef>
                <a:spcPts val="0"/>
              </a:spcBef>
              <a:spcAft>
                <a:spcPts val="0"/>
              </a:spcAft>
              <a:buSzPts val="1600"/>
              <a:buChar char="●"/>
            </a:pPr>
            <a:r>
              <a:rPr lang="en" sz="1600" dirty="0"/>
              <a:t>Early stopping</a:t>
            </a:r>
            <a:endParaRPr sz="1600" dirty="0"/>
          </a:p>
        </p:txBody>
      </p:sp>
      <p:pic>
        <p:nvPicPr>
          <p:cNvPr id="951" name="Google Shape;951;g253186c61bb_0_28"/>
          <p:cNvPicPr preferRelativeResize="0"/>
          <p:nvPr/>
        </p:nvPicPr>
        <p:blipFill>
          <a:blip r:embed="rId3">
            <a:alphaModFix/>
          </a:blip>
          <a:stretch>
            <a:fillRect/>
          </a:stretch>
        </p:blipFill>
        <p:spPr>
          <a:xfrm>
            <a:off x="5098700" y="2677525"/>
            <a:ext cx="1103750" cy="860925"/>
          </a:xfrm>
          <a:prstGeom prst="rect">
            <a:avLst/>
          </a:prstGeom>
          <a:noFill/>
          <a:ln>
            <a:noFill/>
          </a:ln>
        </p:spPr>
      </p:pic>
      <p:pic>
        <p:nvPicPr>
          <p:cNvPr id="952" name="Google Shape;952;g253186c61bb_0_28"/>
          <p:cNvPicPr preferRelativeResize="0"/>
          <p:nvPr/>
        </p:nvPicPr>
        <p:blipFill>
          <a:blip r:embed="rId4">
            <a:alphaModFix/>
          </a:blip>
          <a:stretch>
            <a:fillRect/>
          </a:stretch>
        </p:blipFill>
        <p:spPr>
          <a:xfrm>
            <a:off x="3034725" y="2646325"/>
            <a:ext cx="1286334" cy="923325"/>
          </a:xfrm>
          <a:prstGeom prst="rect">
            <a:avLst/>
          </a:prstGeom>
          <a:noFill/>
          <a:ln>
            <a:noFill/>
          </a:ln>
        </p:spPr>
      </p:pic>
      <p:sp>
        <p:nvSpPr>
          <p:cNvPr id="2" name="Slide Number Placeholder 1">
            <a:extLst>
              <a:ext uri="{FF2B5EF4-FFF2-40B4-BE49-F238E27FC236}">
                <a16:creationId xmlns:a16="http://schemas.microsoft.com/office/drawing/2014/main" id="{B3720758-F823-421E-6268-BB69AF6AE7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113</a:t>
            </a:fld>
            <a:endParaRPr lang="en"/>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99"/>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Parallelization: </a:t>
            </a:r>
            <a:br>
              <a:rPr lang="en"/>
            </a:br>
            <a:r>
              <a:rPr lang="en"/>
              <a:t>Speeding up NNs</a:t>
            </a:r>
            <a:endParaRPr/>
          </a:p>
        </p:txBody>
      </p:sp>
      <p:sp>
        <p:nvSpPr>
          <p:cNvPr id="958" name="Google Shape;958;p99"/>
          <p:cNvSpPr txBox="1">
            <a:spLocks noGrp="1"/>
          </p:cNvSpPr>
          <p:nvPr>
            <p:ph type="body" idx="1"/>
          </p:nvPr>
        </p:nvSpPr>
        <p:spPr>
          <a:xfrm>
            <a:off x="328838" y="2431249"/>
            <a:ext cx="5277878" cy="2950877"/>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15000"/>
              </a:lnSpc>
              <a:spcBef>
                <a:spcPts val="1200"/>
              </a:spcBef>
              <a:spcAft>
                <a:spcPts val="0"/>
              </a:spcAft>
              <a:buSzPts val="1300"/>
              <a:buNone/>
            </a:pPr>
            <a:r>
              <a:rPr lang="en" sz="1600" b="1" dirty="0"/>
              <a:t>Main math operation in NNs</a:t>
            </a:r>
            <a:r>
              <a:rPr lang="en" sz="1600" dirty="0"/>
              <a:t>: </a:t>
            </a:r>
            <a:br>
              <a:rPr lang="en" sz="1600" dirty="0"/>
            </a:br>
            <a:r>
              <a:rPr lang="en" sz="1600" dirty="0"/>
              <a:t>	- Matrix-vector multiplications </a:t>
            </a:r>
            <a:br>
              <a:rPr lang="en" sz="1600" dirty="0"/>
            </a:br>
            <a:r>
              <a:rPr lang="en" sz="1600" dirty="0"/>
              <a:t>	- Element-wise nonlinear activation functions</a:t>
            </a:r>
            <a:endParaRPr sz="1600" dirty="0"/>
          </a:p>
          <a:p>
            <a:pPr marL="0" lvl="0" indent="0" algn="l" rtl="0">
              <a:lnSpc>
                <a:spcPct val="115000"/>
              </a:lnSpc>
              <a:spcBef>
                <a:spcPts val="1200"/>
              </a:spcBef>
              <a:spcAft>
                <a:spcPts val="1200"/>
              </a:spcAft>
              <a:buSzPts val="1300"/>
              <a:buNone/>
            </a:pPr>
            <a:r>
              <a:rPr lang="en" sz="1600" dirty="0"/>
              <a:t>Parallelization can be used to </a:t>
            </a:r>
            <a:r>
              <a:rPr lang="en" sz="1600" b="1" dirty="0"/>
              <a:t>massively speed up</a:t>
            </a:r>
            <a:r>
              <a:rPr lang="en" sz="1600" dirty="0"/>
              <a:t> learning and deployment!</a:t>
            </a:r>
            <a:br>
              <a:rPr lang="en" sz="1600" dirty="0"/>
            </a:br>
            <a:r>
              <a:rPr lang="en" sz="1600" dirty="0"/>
              <a:t>	- Multi-core CPUs</a:t>
            </a:r>
            <a:br>
              <a:rPr lang="en" sz="1600" dirty="0"/>
            </a:br>
            <a:r>
              <a:rPr lang="en" sz="1600" dirty="0"/>
              <a:t>	- Graphics processing units (GPUs)</a:t>
            </a:r>
            <a:br>
              <a:rPr lang="en" sz="1600" dirty="0"/>
            </a:br>
            <a:r>
              <a:rPr lang="en" sz="1600" dirty="0"/>
              <a:t>	- Tensor processing units (TPUs)</a:t>
            </a:r>
            <a:br>
              <a:rPr lang="en" sz="1600" dirty="0"/>
            </a:br>
            <a:r>
              <a:rPr lang="en" sz="1600" dirty="0"/>
              <a:t>	- FPGAs</a:t>
            </a:r>
            <a:endParaRPr sz="1600" dirty="0"/>
          </a:p>
        </p:txBody>
      </p:sp>
      <p:pic>
        <p:nvPicPr>
          <p:cNvPr id="959" name="Google Shape;959;p99"/>
          <p:cNvPicPr preferRelativeResize="0"/>
          <p:nvPr/>
        </p:nvPicPr>
        <p:blipFill rotWithShape="1">
          <a:blip r:embed="rId3">
            <a:alphaModFix/>
          </a:blip>
          <a:srcRect/>
          <a:stretch/>
        </p:blipFill>
        <p:spPr>
          <a:xfrm>
            <a:off x="4668253" y="492038"/>
            <a:ext cx="4416749" cy="2681360"/>
          </a:xfrm>
          <a:prstGeom prst="rect">
            <a:avLst/>
          </a:prstGeom>
          <a:noFill/>
          <a:ln>
            <a:noFill/>
          </a:ln>
        </p:spPr>
      </p:pic>
      <p:sp>
        <p:nvSpPr>
          <p:cNvPr id="960" name="Google Shape;960;p99"/>
          <p:cNvSpPr txBox="1"/>
          <p:nvPr/>
        </p:nvSpPr>
        <p:spPr>
          <a:xfrm>
            <a:off x="5469262" y="3029350"/>
            <a:ext cx="33459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800" b="0" i="1" u="none" strike="noStrike" cap="none" dirty="0">
                <a:solidFill>
                  <a:srgbClr val="000000"/>
                </a:solidFill>
                <a:latin typeface="Lato"/>
                <a:ea typeface="Lato"/>
                <a:cs typeface="Lato"/>
                <a:sym typeface="Lato"/>
              </a:rPr>
              <a:t>https://cloud.google.com/blog/products/ai-machine-learning/an-in-depth-look-at-googles-first-tensor-processing-unit-tpu</a:t>
            </a:r>
            <a:endParaRPr sz="800" b="0" i="1" u="none" strike="noStrike" cap="none" dirty="0">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C30FF1E8-FC93-2DEA-5484-5A0F9CA5F2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114</a:t>
            </a:fld>
            <a:endParaRPr lang="en"/>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DC4460ED-2E51-9840-6C12-DBFFD9BE6C9F}"/>
            </a:ext>
          </a:extLst>
        </p:cNvPr>
        <p:cNvGrpSpPr/>
        <p:nvPr/>
      </p:nvGrpSpPr>
      <p:grpSpPr>
        <a:xfrm>
          <a:off x="0" y="0"/>
          <a:ext cx="0" cy="0"/>
          <a:chOff x="0" y="0"/>
          <a:chExt cx="0" cy="0"/>
        </a:xfrm>
      </p:grpSpPr>
      <p:sp>
        <p:nvSpPr>
          <p:cNvPr id="756" name="Google Shape;756;p74">
            <a:extLst>
              <a:ext uri="{FF2B5EF4-FFF2-40B4-BE49-F238E27FC236}">
                <a16:creationId xmlns:a16="http://schemas.microsoft.com/office/drawing/2014/main" id="{F9E9A2D3-37F0-5441-3655-FCA8C18F5A30}"/>
              </a:ext>
            </a:extLst>
          </p:cNvPr>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Where NNs thrive</a:t>
            </a:r>
            <a:endParaRPr/>
          </a:p>
        </p:txBody>
      </p:sp>
      <p:sp>
        <p:nvSpPr>
          <p:cNvPr id="758" name="Google Shape;758;p74">
            <a:extLst>
              <a:ext uri="{FF2B5EF4-FFF2-40B4-BE49-F238E27FC236}">
                <a16:creationId xmlns:a16="http://schemas.microsoft.com/office/drawing/2014/main" id="{5DA0D944-67CB-38A8-69C1-73D1BF4F8A6E}"/>
              </a:ext>
            </a:extLst>
          </p:cNvPr>
          <p:cNvSpPr txBox="1">
            <a:spLocks noGrp="1"/>
          </p:cNvSpPr>
          <p:nvPr>
            <p:ph type="body" idx="1"/>
          </p:nvPr>
        </p:nvSpPr>
        <p:spPr>
          <a:xfrm>
            <a:off x="729450" y="1774075"/>
            <a:ext cx="3842550" cy="3293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 sz="1600" dirty="0"/>
              <a:t>&gt; Statistical/correlation inference</a:t>
            </a:r>
            <a:endParaRPr sz="1600" dirty="0"/>
          </a:p>
          <a:p>
            <a:pPr marL="0" lvl="0" indent="0" algn="l" rtl="0">
              <a:lnSpc>
                <a:spcPct val="115000"/>
              </a:lnSpc>
              <a:spcBef>
                <a:spcPts val="1200"/>
              </a:spcBef>
              <a:spcAft>
                <a:spcPts val="0"/>
              </a:spcAft>
              <a:buSzPts val="1300"/>
              <a:buNone/>
            </a:pPr>
            <a:r>
              <a:rPr lang="en" sz="1600" dirty="0"/>
              <a:t>&gt; There exists a lot of good quality (labelled) training data</a:t>
            </a:r>
            <a:endParaRPr sz="1600" dirty="0"/>
          </a:p>
          <a:p>
            <a:pPr marL="0" lvl="0" indent="0" algn="l" rtl="0">
              <a:lnSpc>
                <a:spcPct val="115000"/>
              </a:lnSpc>
              <a:spcBef>
                <a:spcPts val="1200"/>
              </a:spcBef>
              <a:spcAft>
                <a:spcPts val="0"/>
              </a:spcAft>
              <a:buSzPts val="1300"/>
              <a:buNone/>
            </a:pPr>
            <a:r>
              <a:rPr lang="en" sz="1600" dirty="0"/>
              <a:t>&gt; Parallelizable training and deployment</a:t>
            </a:r>
            <a:endParaRPr sz="1600" dirty="0"/>
          </a:p>
        </p:txBody>
      </p:sp>
      <p:sp>
        <p:nvSpPr>
          <p:cNvPr id="2" name="Slide Number Placeholder 1">
            <a:extLst>
              <a:ext uri="{FF2B5EF4-FFF2-40B4-BE49-F238E27FC236}">
                <a16:creationId xmlns:a16="http://schemas.microsoft.com/office/drawing/2014/main" id="{55AC37C9-71D7-80BF-C96D-6D631ADC21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115</a:t>
            </a:fld>
            <a:endParaRPr lang="en"/>
          </a:p>
        </p:txBody>
      </p:sp>
      <p:sp>
        <p:nvSpPr>
          <p:cNvPr id="765" name="Google Shape;765;p75">
            <a:extLst>
              <a:ext uri="{FF2B5EF4-FFF2-40B4-BE49-F238E27FC236}">
                <a16:creationId xmlns:a16="http://schemas.microsoft.com/office/drawing/2014/main" id="{76DC0F2F-90C6-E75C-1537-6270651B7EFC}"/>
              </a:ext>
            </a:extLst>
          </p:cNvPr>
          <p:cNvSpPr txBox="1">
            <a:spLocks/>
          </p:cNvSpPr>
          <p:nvPr/>
        </p:nvSpPr>
        <p:spPr>
          <a:xfrm>
            <a:off x="4684528" y="1659151"/>
            <a:ext cx="4291263" cy="32610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0" indent="0">
              <a:spcBef>
                <a:spcPts val="1200"/>
              </a:spcBef>
              <a:buFont typeface="Lato"/>
              <a:buNone/>
            </a:pPr>
            <a:r>
              <a:rPr lang="en-US" sz="1600" dirty="0"/>
              <a:t>&gt; Very data hungry	- “</a:t>
            </a:r>
            <a:r>
              <a:rPr lang="en-US" sz="1600" i="1" dirty="0"/>
              <a:t>Garbage in, garbage out</a:t>
            </a:r>
            <a:r>
              <a:rPr lang="en-US" sz="1600" dirty="0"/>
              <a:t>”</a:t>
            </a:r>
          </a:p>
          <a:p>
            <a:pPr marL="0" indent="0">
              <a:spcBef>
                <a:spcPts val="1200"/>
              </a:spcBef>
              <a:buFont typeface="Lato"/>
              <a:buNone/>
            </a:pPr>
            <a:r>
              <a:rPr lang="en-US" sz="1600" dirty="0"/>
              <a:t>&gt; Expensive to train (depending on size)</a:t>
            </a:r>
          </a:p>
          <a:p>
            <a:pPr marL="0" indent="0">
              <a:spcBef>
                <a:spcPts val="1200"/>
              </a:spcBef>
              <a:buFont typeface="Lato"/>
              <a:buNone/>
            </a:pPr>
            <a:r>
              <a:rPr lang="en-US" sz="1600" dirty="0"/>
              <a:t>&gt; Non-extensible and specialized to a range and task</a:t>
            </a:r>
            <a:br>
              <a:rPr lang="en-US" sz="1600" dirty="0"/>
            </a:br>
            <a:r>
              <a:rPr lang="en-US" sz="1600" dirty="0"/>
              <a:t>  - Add one more neuron → needs fine-tuning</a:t>
            </a:r>
            <a:br>
              <a:rPr lang="en-US" sz="1600" dirty="0"/>
            </a:br>
            <a:r>
              <a:rPr lang="en-US" sz="1600" dirty="0"/>
              <a:t>  - Undefined </a:t>
            </a:r>
            <a:r>
              <a:rPr lang="en-US" sz="1600" dirty="0" err="1"/>
              <a:t>behaviour</a:t>
            </a:r>
            <a:r>
              <a:rPr lang="en-US" sz="1600" dirty="0"/>
              <a:t> on out-of-distribution examples</a:t>
            </a:r>
          </a:p>
        </p:txBody>
      </p:sp>
      <p:sp>
        <p:nvSpPr>
          <p:cNvPr id="3" name="Google Shape;764;p75">
            <a:extLst>
              <a:ext uri="{FF2B5EF4-FFF2-40B4-BE49-F238E27FC236}">
                <a16:creationId xmlns:a16="http://schemas.microsoft.com/office/drawing/2014/main" id="{6C50FEA9-98F5-5E5A-C480-A3CFECB84BB0}"/>
              </a:ext>
            </a:extLst>
          </p:cNvPr>
          <p:cNvSpPr txBox="1">
            <a:spLocks/>
          </p:cNvSpPr>
          <p:nvPr/>
        </p:nvSpPr>
        <p:spPr>
          <a:xfrm>
            <a:off x="4684295" y="1318650"/>
            <a:ext cx="2631371" cy="5352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a:buSzPct val="111111"/>
            </a:pPr>
            <a:r>
              <a:rPr lang="nl-NL"/>
              <a:t>Limits of NNs</a:t>
            </a:r>
            <a:endParaRPr lang="nl-NL" dirty="0"/>
          </a:p>
        </p:txBody>
      </p:sp>
    </p:spTree>
    <p:extLst>
      <p:ext uri="{BB962C8B-B14F-4D97-AF65-F5344CB8AC3E}">
        <p14:creationId xmlns:p14="http://schemas.microsoft.com/office/powerpoint/2010/main" val="332250460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F551F-6431-C586-B5CE-EAB9246E9339}"/>
              </a:ext>
            </a:extLst>
          </p:cNvPr>
          <p:cNvSpPr>
            <a:spLocks noGrp="1"/>
          </p:cNvSpPr>
          <p:nvPr>
            <p:ph type="title"/>
          </p:nvPr>
        </p:nvSpPr>
        <p:spPr/>
        <p:txBody>
          <a:bodyPr>
            <a:normAutofit fontScale="90000"/>
          </a:bodyPr>
          <a:lstStyle/>
          <a:p>
            <a:r>
              <a:rPr lang="en" altLang="zh-CN" dirty="0"/>
              <a:t>Frontiers</a:t>
            </a:r>
            <a:endParaRPr lang="zh-CN" altLang="en-US" dirty="0"/>
          </a:p>
        </p:txBody>
      </p:sp>
      <p:sp>
        <p:nvSpPr>
          <p:cNvPr id="3" name="Text Placeholder 2">
            <a:extLst>
              <a:ext uri="{FF2B5EF4-FFF2-40B4-BE49-F238E27FC236}">
                <a16:creationId xmlns:a16="http://schemas.microsoft.com/office/drawing/2014/main" id="{773326EE-A2E8-3410-FE37-45A046CF8E44}"/>
              </a:ext>
            </a:extLst>
          </p:cNvPr>
          <p:cNvSpPr>
            <a:spLocks noGrp="1"/>
          </p:cNvSpPr>
          <p:nvPr>
            <p:ph type="body" idx="1"/>
          </p:nvPr>
        </p:nvSpPr>
        <p:spPr>
          <a:xfrm>
            <a:off x="729450" y="2078875"/>
            <a:ext cx="5839792" cy="2261100"/>
          </a:xfrm>
        </p:spPr>
        <p:txBody>
          <a:bodyPr/>
          <a:lstStyle/>
          <a:p>
            <a:pPr marL="0" lvl="0" indent="0">
              <a:buSzPct val="81250"/>
              <a:buNone/>
            </a:pPr>
            <a:r>
              <a:rPr lang="en-US" altLang="zh-CN" sz="1400" dirty="0"/>
              <a:t>Shallow NNs </a:t>
            </a:r>
            <a:r>
              <a:rPr lang="en-US" altLang="zh-CN" sz="1400" dirty="0">
                <a:sym typeface="Wingdings" panose="05000000000000000000" pitchFamily="2" charset="2"/>
              </a:rPr>
              <a:t> Deep NNs</a:t>
            </a:r>
            <a:r>
              <a:rPr lang="en-US" altLang="zh-CN" sz="1400" dirty="0"/>
              <a:t> with hundreds of layers, billions of weights</a:t>
            </a:r>
          </a:p>
          <a:p>
            <a:pPr marL="0" lvl="0" indent="0">
              <a:buSzPct val="81250"/>
              <a:buNone/>
            </a:pPr>
            <a:r>
              <a:rPr lang="en-US" altLang="zh-CN" sz="1400" dirty="0"/>
              <a:t>CNNs </a:t>
            </a:r>
            <a:r>
              <a:rPr lang="en-US" altLang="zh-CN" sz="1400" dirty="0">
                <a:sym typeface="Wingdings" panose="05000000000000000000" pitchFamily="2" charset="2"/>
              </a:rPr>
              <a:t> </a:t>
            </a:r>
            <a:r>
              <a:rPr lang="en-US" altLang="zh-CN" sz="1400" dirty="0"/>
              <a:t>Transformers </a:t>
            </a:r>
            <a:r>
              <a:rPr lang="en-US" altLang="zh-CN" sz="1400" dirty="0">
                <a:sym typeface="Wingdings" panose="05000000000000000000" pitchFamily="2" charset="2"/>
              </a:rPr>
              <a:t> </a:t>
            </a:r>
            <a:r>
              <a:rPr lang="en-US" altLang="zh-CN" sz="1400" dirty="0"/>
              <a:t>Foundation models (LLMs/VLMs/VLAs)</a:t>
            </a:r>
          </a:p>
          <a:p>
            <a:pPr marL="0" lvl="0" indent="0">
              <a:buSzPct val="81250"/>
              <a:buNone/>
            </a:pPr>
            <a:r>
              <a:rPr lang="en-US" altLang="zh-CN" sz="1400" dirty="0"/>
              <a:t>Supervised Learning </a:t>
            </a:r>
            <a:r>
              <a:rPr lang="en-US" altLang="zh-CN" sz="1400" dirty="0">
                <a:sym typeface="Wingdings" panose="05000000000000000000" pitchFamily="2" charset="2"/>
              </a:rPr>
              <a:t></a:t>
            </a:r>
            <a:r>
              <a:rPr lang="en-US" altLang="zh-CN" sz="1400" dirty="0"/>
              <a:t> Self-Supervised Learning, Reinforcement Learning, RL with Human           Feedback…</a:t>
            </a:r>
          </a:p>
          <a:p>
            <a:pPr marL="146050" indent="0">
              <a:buNone/>
            </a:pPr>
            <a:endParaRPr lang="zh-CN" altLang="en-US" dirty="0"/>
          </a:p>
        </p:txBody>
      </p:sp>
      <p:sp>
        <p:nvSpPr>
          <p:cNvPr id="4" name="Slide Number Placeholder 3">
            <a:extLst>
              <a:ext uri="{FF2B5EF4-FFF2-40B4-BE49-F238E27FC236}">
                <a16:creationId xmlns:a16="http://schemas.microsoft.com/office/drawing/2014/main" id="{697FBE25-EFB5-BA60-5474-0C8B09A067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116</a:t>
            </a:fld>
            <a:endParaRPr lang="en"/>
          </a:p>
        </p:txBody>
      </p:sp>
      <p:pic>
        <p:nvPicPr>
          <p:cNvPr id="5" name="Picture 4">
            <a:extLst>
              <a:ext uri="{FF2B5EF4-FFF2-40B4-BE49-F238E27FC236}">
                <a16:creationId xmlns:a16="http://schemas.microsoft.com/office/drawing/2014/main" id="{2FA65296-9F75-A9D8-5DC0-F2ABDFB1E97E}"/>
              </a:ext>
            </a:extLst>
          </p:cNvPr>
          <p:cNvPicPr>
            <a:picLocks noChangeAspect="1"/>
          </p:cNvPicPr>
          <p:nvPr/>
        </p:nvPicPr>
        <p:blipFill>
          <a:blip r:embed="rId2"/>
          <a:stretch>
            <a:fillRect/>
          </a:stretch>
        </p:blipFill>
        <p:spPr>
          <a:xfrm>
            <a:off x="6474772" y="1444493"/>
            <a:ext cx="2335880" cy="3305358"/>
          </a:xfrm>
          <a:prstGeom prst="rect">
            <a:avLst/>
          </a:prstGeom>
        </p:spPr>
      </p:pic>
    </p:spTree>
    <p:extLst>
      <p:ext uri="{BB962C8B-B14F-4D97-AF65-F5344CB8AC3E}">
        <p14:creationId xmlns:p14="http://schemas.microsoft.com/office/powerpoint/2010/main" val="3886849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134E3-88B6-CBC6-B39A-19E4CDA55325}"/>
              </a:ext>
            </a:extLst>
          </p:cNvPr>
          <p:cNvSpPr>
            <a:spLocks noGrp="1"/>
          </p:cNvSpPr>
          <p:nvPr>
            <p:ph type="title"/>
          </p:nvPr>
        </p:nvSpPr>
        <p:spPr/>
        <p:txBody>
          <a:bodyPr>
            <a:normAutofit fontScale="90000"/>
          </a:bodyPr>
          <a:lstStyle/>
          <a:p>
            <a:endParaRPr lang="zh-CN" altLang="en-US"/>
          </a:p>
        </p:txBody>
      </p:sp>
      <p:sp>
        <p:nvSpPr>
          <p:cNvPr id="3" name="Text Placeholder 2">
            <a:extLst>
              <a:ext uri="{FF2B5EF4-FFF2-40B4-BE49-F238E27FC236}">
                <a16:creationId xmlns:a16="http://schemas.microsoft.com/office/drawing/2014/main" id="{E95E1BC9-0098-2A1F-A46C-C7F87643102A}"/>
              </a:ext>
            </a:extLst>
          </p:cNvPr>
          <p:cNvSpPr>
            <a:spLocks noGrp="1"/>
          </p:cNvSpPr>
          <p:nvPr>
            <p:ph type="body" idx="1"/>
          </p:nvPr>
        </p:nvSpPr>
        <p:spPr/>
        <p:txBody>
          <a:bodyPr/>
          <a:lstStyle/>
          <a:p>
            <a:r>
              <a:rPr lang="en-US" altLang="zh-CN" dirty="0"/>
              <a:t>Backup slides</a:t>
            </a:r>
            <a:endParaRPr lang="zh-CN" altLang="en-US" dirty="0"/>
          </a:p>
        </p:txBody>
      </p:sp>
      <p:sp>
        <p:nvSpPr>
          <p:cNvPr id="4" name="Slide Number Placeholder 3">
            <a:extLst>
              <a:ext uri="{FF2B5EF4-FFF2-40B4-BE49-F238E27FC236}">
                <a16:creationId xmlns:a16="http://schemas.microsoft.com/office/drawing/2014/main" id="{6BDDAA1F-3A98-AA94-3414-238A3A23CF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117</a:t>
            </a:fld>
            <a:endParaRPr lang="en"/>
          </a:p>
        </p:txBody>
      </p:sp>
    </p:spTree>
    <p:extLst>
      <p:ext uri="{BB962C8B-B14F-4D97-AF65-F5344CB8AC3E}">
        <p14:creationId xmlns:p14="http://schemas.microsoft.com/office/powerpoint/2010/main" val="194143935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4624115"/>
            <a:ext cx="9144000" cy="359073"/>
          </a:xfrm>
          <a:prstGeom prst="rect">
            <a:avLst/>
          </a:prstGeom>
        </p:spPr>
        <p:txBody>
          <a:bodyPr vert="horz" wrap="square" lIns="0" tIns="50800" rIns="0" bIns="0" rtlCol="0">
            <a:spAutoFit/>
          </a:bodyPr>
          <a:lstStyle/>
          <a:p>
            <a:pPr marL="157480">
              <a:lnSpc>
                <a:spcPct val="100000"/>
              </a:lnSpc>
              <a:spcBef>
                <a:spcPts val="400"/>
              </a:spcBef>
              <a:tabLst>
                <a:tab pos="5411470" algn="l"/>
                <a:tab pos="7621270" algn="l"/>
              </a:tabLst>
            </a:pPr>
            <a:r>
              <a:rPr sz="1800" spc="-5" dirty="0">
                <a:solidFill>
                  <a:srgbClr val="FFFFFF"/>
                </a:solidFill>
                <a:latin typeface="Arial"/>
                <a:cs typeface="Arial"/>
              </a:rPr>
              <a:t>	</a:t>
            </a:r>
            <a:r>
              <a:rPr lang="en-US" sz="3000" spc="-7" baseline="-4166" dirty="0">
                <a:solidFill>
                  <a:srgbClr val="FFFFFF"/>
                </a:solidFill>
                <a:latin typeface="Arial"/>
                <a:cs typeface="Arial"/>
              </a:rPr>
              <a:t>Section 3</a:t>
            </a:r>
            <a:r>
              <a:rPr sz="3000" baseline="-4166" dirty="0">
                <a:solidFill>
                  <a:srgbClr val="FFFFFF"/>
                </a:solidFill>
                <a:latin typeface="Arial"/>
                <a:cs typeface="Arial"/>
              </a:rPr>
              <a:t> -	</a:t>
            </a:r>
            <a:endParaRPr sz="3000" baseline="-4166" dirty="0">
              <a:latin typeface="Arial"/>
              <a:cs typeface="Arial"/>
            </a:endParaRPr>
          </a:p>
        </p:txBody>
      </p:sp>
      <p:sp>
        <p:nvSpPr>
          <p:cNvPr id="3" name="object 3"/>
          <p:cNvSpPr/>
          <p:nvPr/>
        </p:nvSpPr>
        <p:spPr>
          <a:xfrm>
            <a:off x="0" y="4624115"/>
            <a:ext cx="9144000" cy="519430"/>
          </a:xfrm>
          <a:custGeom>
            <a:avLst/>
            <a:gdLst/>
            <a:ahLst/>
            <a:cxnLst/>
            <a:rect l="l" t="t" r="r" b="b"/>
            <a:pathLst>
              <a:path w="9144000" h="519429">
                <a:moveTo>
                  <a:pt x="0" y="0"/>
                </a:moveTo>
                <a:lnTo>
                  <a:pt x="9143981" y="0"/>
                </a:lnTo>
                <a:lnTo>
                  <a:pt x="9143981" y="519373"/>
                </a:lnTo>
                <a:lnTo>
                  <a:pt x="0" y="519373"/>
                </a:lnTo>
                <a:lnTo>
                  <a:pt x="0" y="0"/>
                </a:lnTo>
                <a:close/>
              </a:path>
            </a:pathLst>
          </a:custGeom>
          <a:solidFill>
            <a:srgbClr val="8C1414"/>
          </a:solidFill>
        </p:spPr>
        <p:txBody>
          <a:bodyPr wrap="square" lIns="0" tIns="0" rIns="0" bIns="0" rtlCol="0"/>
          <a:lstStyle/>
          <a:p>
            <a:endParaRPr/>
          </a:p>
        </p:txBody>
      </p:sp>
      <p:sp>
        <p:nvSpPr>
          <p:cNvPr id="4" name="object 4"/>
          <p:cNvSpPr txBox="1"/>
          <p:nvPr/>
        </p:nvSpPr>
        <p:spPr>
          <a:xfrm>
            <a:off x="240349" y="194159"/>
            <a:ext cx="3750945" cy="466090"/>
          </a:xfrm>
          <a:prstGeom prst="rect">
            <a:avLst/>
          </a:prstGeom>
        </p:spPr>
        <p:txBody>
          <a:bodyPr vert="horz" wrap="square" lIns="0" tIns="0" rIns="0" bIns="0" rtlCol="0">
            <a:spAutoFit/>
          </a:bodyPr>
          <a:lstStyle/>
          <a:p>
            <a:pPr marL="12700">
              <a:lnSpc>
                <a:spcPct val="100000"/>
              </a:lnSpc>
            </a:pPr>
            <a:r>
              <a:rPr sz="3000" spc="-5" dirty="0">
                <a:solidFill>
                  <a:srgbClr val="FF0000"/>
                </a:solidFill>
                <a:latin typeface="Arial"/>
                <a:cs typeface="Arial"/>
              </a:rPr>
              <a:t>Weight</a:t>
            </a:r>
            <a:r>
              <a:rPr sz="3000" spc="-20" dirty="0">
                <a:solidFill>
                  <a:srgbClr val="FF0000"/>
                </a:solidFill>
                <a:latin typeface="Arial"/>
                <a:cs typeface="Arial"/>
              </a:rPr>
              <a:t> </a:t>
            </a:r>
            <a:r>
              <a:rPr sz="3000" spc="-5" dirty="0">
                <a:solidFill>
                  <a:srgbClr val="FF0000"/>
                </a:solidFill>
                <a:latin typeface="Arial"/>
                <a:cs typeface="Arial"/>
              </a:rPr>
              <a:t>Regularization</a:t>
            </a:r>
            <a:endParaRPr sz="3000">
              <a:latin typeface="Arial"/>
              <a:cs typeface="Arial"/>
            </a:endParaRPr>
          </a:p>
        </p:txBody>
      </p:sp>
      <p:sp>
        <p:nvSpPr>
          <p:cNvPr id="5" name="object 5"/>
          <p:cNvSpPr/>
          <p:nvPr/>
        </p:nvSpPr>
        <p:spPr>
          <a:xfrm>
            <a:off x="289009" y="858548"/>
            <a:ext cx="8565972" cy="493498"/>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7827309" y="807098"/>
            <a:ext cx="1069975" cy="544830"/>
          </a:xfrm>
          <a:custGeom>
            <a:avLst/>
            <a:gdLst/>
            <a:ahLst/>
            <a:cxnLst/>
            <a:rect l="l" t="t" r="r" b="b"/>
            <a:pathLst>
              <a:path w="1069975" h="544830">
                <a:moveTo>
                  <a:pt x="0" y="0"/>
                </a:moveTo>
                <a:lnTo>
                  <a:pt x="1069497" y="0"/>
                </a:lnTo>
                <a:lnTo>
                  <a:pt x="1069497" y="544798"/>
                </a:lnTo>
                <a:lnTo>
                  <a:pt x="0" y="544798"/>
                </a:lnTo>
                <a:lnTo>
                  <a:pt x="0" y="0"/>
                </a:lnTo>
                <a:close/>
              </a:path>
            </a:pathLst>
          </a:custGeom>
          <a:ln w="19049">
            <a:solidFill>
              <a:srgbClr val="FF0000"/>
            </a:solidFill>
          </a:ln>
        </p:spPr>
        <p:txBody>
          <a:bodyPr wrap="square" lIns="0" tIns="0" rIns="0" bIns="0" rtlCol="0"/>
          <a:lstStyle/>
          <a:p>
            <a:endParaRPr/>
          </a:p>
        </p:txBody>
      </p:sp>
      <p:sp>
        <p:nvSpPr>
          <p:cNvPr id="7" name="object 7"/>
          <p:cNvSpPr/>
          <p:nvPr/>
        </p:nvSpPr>
        <p:spPr>
          <a:xfrm>
            <a:off x="7394709" y="614721"/>
            <a:ext cx="481330" cy="263525"/>
          </a:xfrm>
          <a:custGeom>
            <a:avLst/>
            <a:gdLst/>
            <a:ahLst/>
            <a:cxnLst/>
            <a:rect l="l" t="t" r="r" b="b"/>
            <a:pathLst>
              <a:path w="481329" h="263525">
                <a:moveTo>
                  <a:pt x="0" y="0"/>
                </a:moveTo>
                <a:lnTo>
                  <a:pt x="480874" y="263534"/>
                </a:lnTo>
              </a:path>
            </a:pathLst>
          </a:custGeom>
          <a:ln w="9524">
            <a:solidFill>
              <a:srgbClr val="666666"/>
            </a:solidFill>
          </a:ln>
        </p:spPr>
        <p:txBody>
          <a:bodyPr wrap="square" lIns="0" tIns="0" rIns="0" bIns="0" rtlCol="0"/>
          <a:lstStyle/>
          <a:p>
            <a:endParaRPr/>
          </a:p>
        </p:txBody>
      </p:sp>
      <p:sp>
        <p:nvSpPr>
          <p:cNvPr id="8" name="object 8"/>
          <p:cNvSpPr/>
          <p:nvPr/>
        </p:nvSpPr>
        <p:spPr>
          <a:xfrm>
            <a:off x="7868034" y="864458"/>
            <a:ext cx="45720" cy="34925"/>
          </a:xfrm>
          <a:custGeom>
            <a:avLst/>
            <a:gdLst/>
            <a:ahLst/>
            <a:cxnLst/>
            <a:rect l="l" t="t" r="r" b="b"/>
            <a:pathLst>
              <a:path w="45720" h="34925">
                <a:moveTo>
                  <a:pt x="0" y="27594"/>
                </a:moveTo>
                <a:lnTo>
                  <a:pt x="45449" y="34572"/>
                </a:lnTo>
                <a:lnTo>
                  <a:pt x="15124" y="0"/>
                </a:lnTo>
                <a:lnTo>
                  <a:pt x="0" y="27594"/>
                </a:lnTo>
                <a:close/>
              </a:path>
            </a:pathLst>
          </a:custGeom>
          <a:ln w="9524">
            <a:solidFill>
              <a:srgbClr val="666666"/>
            </a:solidFill>
          </a:ln>
        </p:spPr>
        <p:txBody>
          <a:bodyPr wrap="square" lIns="0" tIns="0" rIns="0" bIns="0" rtlCol="0"/>
          <a:lstStyle/>
          <a:p>
            <a:endParaRPr/>
          </a:p>
        </p:txBody>
      </p:sp>
      <p:sp>
        <p:nvSpPr>
          <p:cNvPr id="9" name="object 9"/>
          <p:cNvSpPr txBox="1">
            <a:spLocks noGrp="1"/>
          </p:cNvSpPr>
          <p:nvPr>
            <p:ph type="title"/>
          </p:nvPr>
        </p:nvSpPr>
        <p:spPr>
          <a:xfrm>
            <a:off x="5305363" y="45935"/>
            <a:ext cx="3359150" cy="563245"/>
          </a:xfrm>
          <a:prstGeom prst="rect">
            <a:avLst/>
          </a:prstGeom>
        </p:spPr>
        <p:txBody>
          <a:bodyPr vert="horz" wrap="square" lIns="0" tIns="0" rIns="0" bIns="0" rtlCol="0">
            <a:spAutoFit/>
          </a:bodyPr>
          <a:lstStyle/>
          <a:p>
            <a:pPr marL="12700" marR="5080">
              <a:lnSpc>
                <a:spcPct val="100699"/>
              </a:lnSpc>
            </a:pPr>
            <a:r>
              <a:rPr sz="1800" spc="-5" dirty="0"/>
              <a:t>\lambda = regularization strength  (hyperparameter)</a:t>
            </a:r>
            <a:endParaRPr sz="1800"/>
          </a:p>
        </p:txBody>
      </p:sp>
      <p:sp>
        <p:nvSpPr>
          <p:cNvPr id="10" name="object 10"/>
          <p:cNvSpPr txBox="1"/>
          <p:nvPr/>
        </p:nvSpPr>
        <p:spPr>
          <a:xfrm>
            <a:off x="362024" y="1612654"/>
            <a:ext cx="6969125" cy="2752090"/>
          </a:xfrm>
          <a:prstGeom prst="rect">
            <a:avLst/>
          </a:prstGeom>
        </p:spPr>
        <p:txBody>
          <a:bodyPr vert="horz" wrap="square" lIns="0" tIns="0" rIns="0" bIns="0" rtlCol="0">
            <a:spAutoFit/>
          </a:bodyPr>
          <a:lstStyle/>
          <a:p>
            <a:pPr marL="12700" marR="3902710">
              <a:lnSpc>
                <a:spcPct val="100000"/>
              </a:lnSpc>
            </a:pPr>
            <a:r>
              <a:rPr sz="3000" spc="-5" dirty="0">
                <a:solidFill>
                  <a:srgbClr val="38751C"/>
                </a:solidFill>
                <a:latin typeface="Arial"/>
                <a:cs typeface="Arial"/>
              </a:rPr>
              <a:t>In common use:  </a:t>
            </a:r>
            <a:r>
              <a:rPr sz="3000" b="1" spc="-5" dirty="0">
                <a:latin typeface="Arial"/>
                <a:cs typeface="Arial"/>
              </a:rPr>
              <a:t>L2</a:t>
            </a:r>
            <a:r>
              <a:rPr sz="3000" b="1" spc="-50" dirty="0">
                <a:latin typeface="Arial"/>
                <a:cs typeface="Arial"/>
              </a:rPr>
              <a:t> </a:t>
            </a:r>
            <a:r>
              <a:rPr sz="3000" b="1" spc="-5" dirty="0">
                <a:latin typeface="Arial"/>
                <a:cs typeface="Arial"/>
              </a:rPr>
              <a:t>regularization  </a:t>
            </a:r>
            <a:r>
              <a:rPr sz="3000" spc="-5" dirty="0">
                <a:latin typeface="Arial"/>
                <a:cs typeface="Arial"/>
              </a:rPr>
              <a:t>L1</a:t>
            </a:r>
            <a:r>
              <a:rPr sz="3000" spc="-35" dirty="0">
                <a:latin typeface="Arial"/>
                <a:cs typeface="Arial"/>
              </a:rPr>
              <a:t> </a:t>
            </a:r>
            <a:r>
              <a:rPr sz="3000" spc="-5" dirty="0">
                <a:latin typeface="Arial"/>
                <a:cs typeface="Arial"/>
              </a:rPr>
              <a:t>regularization</a:t>
            </a:r>
            <a:endParaRPr sz="3000" dirty="0">
              <a:latin typeface="Arial"/>
              <a:cs typeface="Arial"/>
            </a:endParaRPr>
          </a:p>
          <a:p>
            <a:pPr marL="12700">
              <a:lnSpc>
                <a:spcPct val="100000"/>
              </a:lnSpc>
            </a:pPr>
            <a:r>
              <a:rPr sz="3000" spc="-5" dirty="0">
                <a:latin typeface="Arial"/>
                <a:cs typeface="Arial"/>
              </a:rPr>
              <a:t>Elastic net (L1 +</a:t>
            </a:r>
            <a:r>
              <a:rPr sz="3000" spc="-40" dirty="0">
                <a:latin typeface="Arial"/>
                <a:cs typeface="Arial"/>
              </a:rPr>
              <a:t> </a:t>
            </a:r>
            <a:r>
              <a:rPr sz="3000" spc="-5" dirty="0">
                <a:latin typeface="Arial"/>
                <a:cs typeface="Arial"/>
              </a:rPr>
              <a:t>L2)</a:t>
            </a:r>
            <a:endParaRPr sz="3000" dirty="0">
              <a:latin typeface="Arial"/>
              <a:cs typeface="Arial"/>
            </a:endParaRPr>
          </a:p>
          <a:p>
            <a:pPr marL="12700" marR="5080">
              <a:lnSpc>
                <a:spcPct val="100000"/>
              </a:lnSpc>
            </a:pPr>
            <a:r>
              <a:rPr sz="3000" spc="-5" dirty="0">
                <a:latin typeface="Arial"/>
                <a:cs typeface="Arial"/>
              </a:rPr>
              <a:t>Max norm regularization </a:t>
            </a:r>
            <a:r>
              <a:rPr sz="3000" spc="-5" dirty="0">
                <a:solidFill>
                  <a:srgbClr val="999999"/>
                </a:solidFill>
                <a:latin typeface="Arial"/>
                <a:cs typeface="Arial"/>
              </a:rPr>
              <a:t>(might see later)  </a:t>
            </a:r>
            <a:r>
              <a:rPr sz="3000" spc="-5" dirty="0">
                <a:latin typeface="Arial"/>
                <a:cs typeface="Arial"/>
              </a:rPr>
              <a:t>Dropout </a:t>
            </a:r>
            <a:r>
              <a:rPr sz="3000" spc="-5" dirty="0">
                <a:solidFill>
                  <a:srgbClr val="999999"/>
                </a:solidFill>
                <a:latin typeface="Arial"/>
                <a:cs typeface="Arial"/>
              </a:rPr>
              <a:t>(will see</a:t>
            </a:r>
            <a:r>
              <a:rPr sz="3000" spc="-10" dirty="0">
                <a:solidFill>
                  <a:srgbClr val="999999"/>
                </a:solidFill>
                <a:latin typeface="Arial"/>
                <a:cs typeface="Arial"/>
              </a:rPr>
              <a:t> </a:t>
            </a:r>
            <a:r>
              <a:rPr sz="3000" spc="-5" dirty="0">
                <a:solidFill>
                  <a:srgbClr val="999999"/>
                </a:solidFill>
                <a:latin typeface="Arial"/>
                <a:cs typeface="Arial"/>
              </a:rPr>
              <a:t>later)</a:t>
            </a:r>
            <a:endParaRPr sz="3000" dirty="0">
              <a:latin typeface="Arial"/>
              <a:cs typeface="Arial"/>
            </a:endParaRPr>
          </a:p>
        </p:txBody>
      </p:sp>
      <p:sp>
        <p:nvSpPr>
          <p:cNvPr id="11" name="object 11"/>
          <p:cNvSpPr/>
          <p:nvPr/>
        </p:nvSpPr>
        <p:spPr>
          <a:xfrm>
            <a:off x="4872590" y="2035670"/>
            <a:ext cx="2562044" cy="438424"/>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4879265" y="2549694"/>
            <a:ext cx="2548694" cy="393599"/>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4872590" y="3018894"/>
            <a:ext cx="3781392" cy="438424"/>
          </a:xfrm>
          <a:prstGeom prst="rect">
            <a:avLst/>
          </a:prstGeom>
          <a:blipFill>
            <a:blip r:embed="rId5" cstate="print"/>
            <a:stretch>
              <a:fillRect/>
            </a:stretch>
          </a:blipFill>
        </p:spPr>
        <p:txBody>
          <a:bodyPr wrap="square" lIns="0" tIns="0" rIns="0" bIns="0" rtlCol="0"/>
          <a:lstStyle/>
          <a:p>
            <a:endParaRPr/>
          </a:p>
        </p:txBody>
      </p:sp>
      <p:sp>
        <p:nvSpPr>
          <p:cNvPr id="14" name="object 14"/>
          <p:cNvSpPr txBox="1"/>
          <p:nvPr/>
        </p:nvSpPr>
        <p:spPr>
          <a:xfrm>
            <a:off x="5399118" y="4729012"/>
            <a:ext cx="1579880" cy="288290"/>
          </a:xfrm>
          <a:prstGeom prst="rect">
            <a:avLst/>
          </a:prstGeom>
        </p:spPr>
        <p:txBody>
          <a:bodyPr vert="horz" wrap="square" lIns="0" tIns="0" rIns="0" bIns="0" rtlCol="0">
            <a:spAutoFit/>
          </a:bodyPr>
          <a:lstStyle/>
          <a:p>
            <a:pPr marL="12700">
              <a:lnSpc>
                <a:spcPts val="2190"/>
              </a:lnSpc>
            </a:pPr>
            <a:r>
              <a:rPr lang="en-US" sz="3000" spc="-7" baseline="1388" dirty="0">
                <a:solidFill>
                  <a:srgbClr val="FFFFFF"/>
                </a:solidFill>
                <a:latin typeface="Arial"/>
                <a:cs typeface="Arial"/>
              </a:rPr>
              <a:t>Section 3</a:t>
            </a:r>
            <a:r>
              <a:rPr sz="3000" spc="-7" baseline="1388" dirty="0">
                <a:solidFill>
                  <a:srgbClr val="FFFFFF"/>
                </a:solidFill>
                <a:latin typeface="Arial"/>
                <a:cs typeface="Arial"/>
              </a:rPr>
              <a:t> </a:t>
            </a:r>
            <a:r>
              <a:rPr sz="3000" baseline="1388" dirty="0">
                <a:solidFill>
                  <a:srgbClr val="FFFFFF"/>
                </a:solidFill>
                <a:latin typeface="Arial"/>
                <a:cs typeface="Arial"/>
              </a:rPr>
              <a:t>-</a:t>
            </a:r>
            <a:r>
              <a:rPr sz="3000" spc="-225" baseline="1388" dirty="0">
                <a:solidFill>
                  <a:srgbClr val="FFFFFF"/>
                </a:solidFill>
                <a:latin typeface="Arial"/>
                <a:cs typeface="Arial"/>
              </a:rPr>
              <a:t> </a:t>
            </a:r>
            <a:r>
              <a:rPr sz="2000" spc="-5" dirty="0">
                <a:solidFill>
                  <a:srgbClr val="FFFFFF"/>
                </a:solidFill>
                <a:latin typeface="Arial"/>
                <a:cs typeface="Arial"/>
              </a:rPr>
              <a:t>23</a:t>
            </a:r>
            <a:endParaRPr sz="2000" dirty="0">
              <a:latin typeface="Arial"/>
              <a:cs typeface="Arial"/>
            </a:endParaRPr>
          </a:p>
        </p:txBody>
      </p:sp>
      <p:sp>
        <p:nvSpPr>
          <p:cNvPr id="16" name="object 16"/>
          <p:cNvSpPr txBox="1">
            <a:spLocks noGrp="1"/>
          </p:cNvSpPr>
          <p:nvPr>
            <p:ph type="ftr" sz="quarter" idx="5"/>
          </p:nvPr>
        </p:nvSpPr>
        <p:spPr>
          <a:xfrm>
            <a:off x="145224" y="4731354"/>
            <a:ext cx="4697730" cy="243656"/>
          </a:xfrm>
          <a:prstGeom prst="rect">
            <a:avLst/>
          </a:prstGeom>
        </p:spPr>
        <p:txBody>
          <a:bodyPr vert="horz" wrap="square" lIns="0" tIns="0" rIns="0" bIns="0" rtlCol="0">
            <a:spAutoFit/>
          </a:bodyPr>
          <a:lstStyle/>
          <a:p>
            <a:pPr marL="12700">
              <a:lnSpc>
                <a:spcPts val="1920"/>
              </a:lnSpc>
            </a:pPr>
            <a:endParaRPr spc="-5"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70"/>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Recurrent Neural Networks</a:t>
            </a:r>
            <a:endParaRPr/>
          </a:p>
        </p:txBody>
      </p:sp>
      <p:sp>
        <p:nvSpPr>
          <p:cNvPr id="719" name="Google Shape;719;p70"/>
          <p:cNvSpPr txBox="1">
            <a:spLocks noGrp="1"/>
          </p:cNvSpPr>
          <p:nvPr>
            <p:ph type="body" idx="1"/>
          </p:nvPr>
        </p:nvSpPr>
        <p:spPr>
          <a:xfrm>
            <a:off x="729450" y="2078875"/>
            <a:ext cx="5320500" cy="2964300"/>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15000"/>
              </a:lnSpc>
              <a:spcBef>
                <a:spcPts val="0"/>
              </a:spcBef>
              <a:spcAft>
                <a:spcPts val="0"/>
              </a:spcAft>
              <a:buSzPts val="1300"/>
              <a:buNone/>
            </a:pPr>
            <a:r>
              <a:rPr lang="en" sz="1600"/>
              <a:t>Outputs go back and forth between neurons (loops exist in the graphs)</a:t>
            </a:r>
            <a:endParaRPr sz="1600"/>
          </a:p>
          <a:p>
            <a:pPr marL="0" lvl="0" indent="0" algn="l" rtl="0">
              <a:lnSpc>
                <a:spcPct val="115000"/>
              </a:lnSpc>
              <a:spcBef>
                <a:spcPts val="1200"/>
              </a:spcBef>
              <a:spcAft>
                <a:spcPts val="0"/>
              </a:spcAft>
              <a:buSzPts val="1300"/>
              <a:buNone/>
            </a:pPr>
            <a:r>
              <a:rPr lang="en" sz="1600" b="1"/>
              <a:t>Approximates dynamical systems</a:t>
            </a:r>
            <a:br>
              <a:rPr lang="en" sz="1600" b="1"/>
            </a:br>
            <a:r>
              <a:rPr lang="en" sz="1600"/>
              <a:t>	- Any time-based function</a:t>
            </a:r>
            <a:br>
              <a:rPr lang="en" sz="1600"/>
            </a:br>
            <a:r>
              <a:rPr lang="en" sz="1600"/>
              <a:t>	- Any data that can be modelled as being “ordered”</a:t>
            </a:r>
            <a:endParaRPr sz="1600"/>
          </a:p>
          <a:p>
            <a:pPr marL="0" lvl="0" indent="0" algn="l" rtl="0">
              <a:lnSpc>
                <a:spcPct val="115000"/>
              </a:lnSpc>
              <a:spcBef>
                <a:spcPts val="1200"/>
              </a:spcBef>
              <a:spcAft>
                <a:spcPts val="0"/>
              </a:spcAft>
              <a:buSzPts val="1300"/>
              <a:buNone/>
            </a:pPr>
            <a:r>
              <a:rPr lang="en" sz="1600"/>
              <a:t>Used often in </a:t>
            </a:r>
            <a:r>
              <a:rPr lang="en" sz="1600" b="1"/>
              <a:t>time-series tasks</a:t>
            </a:r>
            <a:r>
              <a:rPr lang="en" sz="1600"/>
              <a:t> like signal processing, natural language processing</a:t>
            </a:r>
            <a:endParaRPr sz="1600"/>
          </a:p>
          <a:p>
            <a:pPr marL="0" lvl="0" indent="0" algn="l" rtl="0">
              <a:lnSpc>
                <a:spcPct val="115000"/>
              </a:lnSpc>
              <a:spcBef>
                <a:spcPts val="1200"/>
              </a:spcBef>
              <a:spcAft>
                <a:spcPts val="1200"/>
              </a:spcAft>
              <a:buSzPts val="1300"/>
              <a:buNone/>
            </a:pPr>
            <a:r>
              <a:rPr lang="en" sz="1600" b="1"/>
              <a:t>Several types</a:t>
            </a:r>
            <a:r>
              <a:rPr lang="en" sz="1600"/>
              <a:t>: Fully-connected, LSTMs, GRUs, reservoirs</a:t>
            </a:r>
            <a:endParaRPr sz="1600"/>
          </a:p>
        </p:txBody>
      </p:sp>
      <p:pic>
        <p:nvPicPr>
          <p:cNvPr id="720" name="Google Shape;720;p70"/>
          <p:cNvPicPr preferRelativeResize="0"/>
          <p:nvPr/>
        </p:nvPicPr>
        <p:blipFill rotWithShape="1">
          <a:blip r:embed="rId3">
            <a:alphaModFix/>
          </a:blip>
          <a:srcRect/>
          <a:stretch/>
        </p:blipFill>
        <p:spPr>
          <a:xfrm>
            <a:off x="6516425" y="691300"/>
            <a:ext cx="2297349" cy="1654899"/>
          </a:xfrm>
          <a:prstGeom prst="rect">
            <a:avLst/>
          </a:prstGeom>
          <a:noFill/>
          <a:ln>
            <a:noFill/>
          </a:ln>
        </p:spPr>
      </p:pic>
      <p:sp>
        <p:nvSpPr>
          <p:cNvPr id="721" name="Google Shape;721;p70"/>
          <p:cNvSpPr txBox="1"/>
          <p:nvPr/>
        </p:nvSpPr>
        <p:spPr>
          <a:xfrm>
            <a:off x="6516425" y="2210300"/>
            <a:ext cx="26169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highlight>
                  <a:srgbClr val="FFFFFF"/>
                </a:highlight>
                <a:latin typeface="Arial"/>
                <a:ea typeface="Arial"/>
                <a:cs typeface="Arial"/>
                <a:sym typeface="Arial"/>
              </a:rPr>
              <a:t>An LSTM cell schematic. Adapted from: </a:t>
            </a:r>
            <a:r>
              <a:rPr lang="en" sz="1000" b="0" i="1" u="none" strike="noStrike" cap="none">
                <a:solidFill>
                  <a:srgbClr val="000000"/>
                </a:solidFill>
                <a:highlight>
                  <a:srgbClr val="FFFFFF"/>
                </a:highlight>
                <a:latin typeface="Arial"/>
                <a:ea typeface="Arial"/>
                <a:cs typeface="Arial"/>
                <a:sym typeface="Arial"/>
              </a:rPr>
              <a:t>doi.org/10.4233/uuid:dc73e1ff-0496-459a-986f-de37f7f250c9</a:t>
            </a:r>
            <a:endParaRPr sz="1400" b="0" i="1" u="none" strike="noStrike" cap="none">
              <a:solidFill>
                <a:srgbClr val="000000"/>
              </a:solidFill>
              <a:latin typeface="Lato"/>
              <a:ea typeface="Lato"/>
              <a:cs typeface="Lato"/>
              <a:sym typeface="Lato"/>
            </a:endParaRPr>
          </a:p>
        </p:txBody>
      </p:sp>
      <p:pic>
        <p:nvPicPr>
          <p:cNvPr id="722" name="Google Shape;722;p70"/>
          <p:cNvPicPr preferRelativeResize="0"/>
          <p:nvPr/>
        </p:nvPicPr>
        <p:blipFill rotWithShape="1">
          <a:blip r:embed="rId4">
            <a:alphaModFix/>
          </a:blip>
          <a:srcRect/>
          <a:stretch/>
        </p:blipFill>
        <p:spPr>
          <a:xfrm>
            <a:off x="6049950" y="2780600"/>
            <a:ext cx="3094048" cy="1821709"/>
          </a:xfrm>
          <a:prstGeom prst="rect">
            <a:avLst/>
          </a:prstGeom>
          <a:noFill/>
          <a:ln>
            <a:noFill/>
          </a:ln>
        </p:spPr>
      </p:pic>
      <p:sp>
        <p:nvSpPr>
          <p:cNvPr id="723" name="Google Shape;723;p70"/>
          <p:cNvSpPr txBox="1"/>
          <p:nvPr/>
        </p:nvSpPr>
        <p:spPr>
          <a:xfrm>
            <a:off x="6246400" y="4692325"/>
            <a:ext cx="2837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Lato"/>
                <a:ea typeface="Lato"/>
                <a:cs typeface="Lato"/>
                <a:sym typeface="Lato"/>
              </a:rPr>
              <a:t>Echo state network schematic. Adapted from </a:t>
            </a:r>
            <a:r>
              <a:rPr lang="en" sz="1000" b="0" i="1" u="none" strike="noStrike" cap="none">
                <a:solidFill>
                  <a:srgbClr val="000000"/>
                </a:solidFill>
                <a:latin typeface="Lato"/>
                <a:ea typeface="Lato"/>
                <a:cs typeface="Lato"/>
                <a:sym typeface="Lato"/>
              </a:rPr>
              <a:t>www.scholarpedia.org/article/Echo_state_network</a:t>
            </a:r>
            <a:endParaRPr sz="1000" b="0" i="1" u="none" strike="noStrike" cap="none">
              <a:solidFill>
                <a:srgbClr val="000000"/>
              </a:solidFill>
              <a:latin typeface="Lato"/>
              <a:ea typeface="Lato"/>
              <a:cs typeface="Lato"/>
              <a:sym typeface="Lato"/>
            </a:endParaRPr>
          </a:p>
        </p:txBody>
      </p:sp>
      <p:sp>
        <p:nvSpPr>
          <p:cNvPr id="2" name="Slide Number Placeholder 1">
            <a:extLst>
              <a:ext uri="{FF2B5EF4-FFF2-40B4-BE49-F238E27FC236}">
                <a16:creationId xmlns:a16="http://schemas.microsoft.com/office/drawing/2014/main" id="{BCB779C9-2147-B735-B1B3-D55F9814DE3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119</a:t>
            </a:fld>
            <a:endParaRPr lang="en"/>
          </a:p>
        </p:txBody>
      </p:sp>
    </p:spTree>
    <p:extLst>
      <p:ext uri="{BB962C8B-B14F-4D97-AF65-F5344CB8AC3E}">
        <p14:creationId xmlns:p14="http://schemas.microsoft.com/office/powerpoint/2010/main" val="257102278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69"/>
          <p:cNvSpPr txBox="1">
            <a:spLocks noGrp="1"/>
          </p:cNvSpPr>
          <p:nvPr>
            <p:ph type="title"/>
          </p:nvPr>
        </p:nvSpPr>
        <p:spPr>
          <a:xfrm>
            <a:off x="729450" y="1318650"/>
            <a:ext cx="3842549" cy="535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Convolutional Neural Networks</a:t>
            </a:r>
            <a:endParaRPr dirty="0"/>
          </a:p>
        </p:txBody>
      </p:sp>
      <p:sp>
        <p:nvSpPr>
          <p:cNvPr id="711" name="Google Shape;711;p69"/>
          <p:cNvSpPr txBox="1">
            <a:spLocks noGrp="1"/>
          </p:cNvSpPr>
          <p:nvPr>
            <p:ph type="body" idx="1"/>
          </p:nvPr>
        </p:nvSpPr>
        <p:spPr>
          <a:xfrm>
            <a:off x="448712" y="2078875"/>
            <a:ext cx="3842549" cy="2741778"/>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1300"/>
              <a:buNone/>
            </a:pPr>
            <a:endParaRPr sz="1600" dirty="0"/>
          </a:p>
        </p:txBody>
      </p:sp>
      <p:sp>
        <p:nvSpPr>
          <p:cNvPr id="2" name="Slide Number Placeholder 1">
            <a:extLst>
              <a:ext uri="{FF2B5EF4-FFF2-40B4-BE49-F238E27FC236}">
                <a16:creationId xmlns:a16="http://schemas.microsoft.com/office/drawing/2014/main" id="{B2D555E0-B2DC-D7F5-2E90-C7942E287E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120</a:t>
            </a:fld>
            <a:endParaRPr lang="en"/>
          </a:p>
        </p:txBody>
      </p:sp>
      <p:pic>
        <p:nvPicPr>
          <p:cNvPr id="4" name="Picture 3">
            <a:extLst>
              <a:ext uri="{FF2B5EF4-FFF2-40B4-BE49-F238E27FC236}">
                <a16:creationId xmlns:a16="http://schemas.microsoft.com/office/drawing/2014/main" id="{AF6369C0-CF33-4F17-9411-8908B0A904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1203" y="857838"/>
            <a:ext cx="4604532" cy="1555629"/>
          </a:xfrm>
          <a:prstGeom prst="rect">
            <a:avLst/>
          </a:prstGeom>
          <a:noFill/>
          <a:extLst>
            <a:ext uri="{909E8E84-426E-40DD-AFC4-6F175D3DCCD1}">
              <a14:hiddenFill xmlns:a14="http://schemas.microsoft.com/office/drawing/2010/main">
                <a:solidFill>
                  <a:srgbClr val="FFFFFF"/>
                </a:solidFill>
              </a14:hiddenFill>
            </a:ext>
          </a:extLst>
        </p:spPr>
      </p:pic>
      <p:sp>
        <p:nvSpPr>
          <p:cNvPr id="6" name="object 4">
            <a:extLst>
              <a:ext uri="{FF2B5EF4-FFF2-40B4-BE49-F238E27FC236}">
                <a16:creationId xmlns:a16="http://schemas.microsoft.com/office/drawing/2014/main" id="{E474F93C-6FC4-516C-4EDC-6445510A0977}"/>
              </a:ext>
            </a:extLst>
          </p:cNvPr>
          <p:cNvSpPr/>
          <p:nvPr/>
        </p:nvSpPr>
        <p:spPr>
          <a:xfrm>
            <a:off x="4207585" y="2529443"/>
            <a:ext cx="4784466" cy="2291210"/>
          </a:xfrm>
          <a:prstGeom prst="rect">
            <a:avLst/>
          </a:prstGeom>
          <a:blipFill>
            <a:blip r:embed="rId4"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22910674"/>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TotalTime>
  <Words>5029</Words>
  <Application>Microsoft Office PowerPoint</Application>
  <PresentationFormat>On-screen Show (16:9)</PresentationFormat>
  <Paragraphs>732</Paragraphs>
  <Slides>120</Slides>
  <Notes>72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120</vt:i4>
      </vt:variant>
    </vt:vector>
  </HeadingPairs>
  <TitlesOfParts>
    <vt:vector size="130" baseType="lpstr">
      <vt:lpstr>Lato</vt:lpstr>
      <vt:lpstr>Cambria Math</vt:lpstr>
      <vt:lpstr>Arial</vt:lpstr>
      <vt:lpstr>Calibri Light</vt:lpstr>
      <vt:lpstr>Raleway</vt:lpstr>
      <vt:lpstr>Wingdings</vt:lpstr>
      <vt:lpstr>Times New Roman</vt:lpstr>
      <vt:lpstr>Calibri</vt:lpstr>
      <vt:lpstr>Streamline</vt:lpstr>
      <vt:lpstr>Office Theme</vt:lpstr>
      <vt:lpstr>An Introduction to Neural Networks</vt:lpstr>
      <vt:lpstr>Introduction to Neural Networks, Backpropagation, and Gradient Descent</vt:lpstr>
      <vt:lpstr>Overview</vt:lpstr>
      <vt:lpstr>ML Training paradigms</vt:lpstr>
      <vt:lpstr>Supervised Learning</vt:lpstr>
      <vt:lpstr>Aim: Learn a function with low “risk”</vt:lpstr>
      <vt:lpstr>Common Approaches</vt:lpstr>
      <vt:lpstr>Artificial vs Biological NNs</vt:lpstr>
      <vt:lpstr>Building a Neural Network From Scratch</vt:lpstr>
      <vt:lpstr>Perceptron</vt:lpstr>
      <vt:lpstr>PowerPoint Presentation</vt:lpstr>
      <vt:lpstr>PowerPoint Presentation</vt:lpstr>
      <vt:lpstr>Multi-layer Perceptron (MLP)</vt:lpstr>
      <vt:lpstr>PowerPoint Presentation</vt:lpstr>
      <vt:lpstr>PowerPoint Presentation</vt:lpstr>
      <vt:lpstr>PowerPoint Presentation</vt:lpstr>
      <vt:lpstr> </vt:lpstr>
      <vt:lpstr> </vt:lpstr>
      <vt:lpstr> </vt:lpstr>
      <vt:lpstr> </vt:lpstr>
      <vt:lpstr> </vt:lpstr>
      <vt:lpstr>PowerPoint Presentation</vt:lpstr>
      <vt:lpstr>Common nonlinear functions</vt:lpstr>
      <vt:lpstr>PowerPoint Presentation</vt:lpstr>
      <vt:lpstr>Universal Approximation Theorem</vt:lpstr>
      <vt:lpstr>Gradient Descent</vt:lpstr>
      <vt:lpstr>PowerPoint Presentation</vt:lpstr>
      <vt:lpstr>Loss functions</vt:lpstr>
      <vt:lpstr>PowerPoint Presentation</vt:lpstr>
      <vt:lpstr>PowerPoint Presentation</vt:lpstr>
      <vt:lpstr>Cross Entropy Loss Example</vt:lpstr>
      <vt:lpstr>Implementing learning: Gradient Descent</vt:lpstr>
      <vt:lpstr>Backprop: Gradient descent</vt:lpstr>
      <vt:lpstr> </vt:lpstr>
      <vt:lpstr> </vt:lpstr>
      <vt:lpstr> </vt:lpstr>
      <vt:lpstr> </vt:lpstr>
      <vt:lpstr> </vt:lpstr>
      <vt:lpstr>Backprop: Efficient NN GD</vt:lpstr>
      <vt:lpstr>Gradient Descent</vt:lpstr>
      <vt:lpstr>Computational Graph Example</vt:lpstr>
      <vt:lpstr>e.g. x = -2, y = 5, z = -4</vt:lpstr>
      <vt:lpstr>e.g. x = -2, y = 5, z = -4</vt:lpstr>
      <vt:lpstr>e.g. x = -2, y = 5, z = -4</vt:lpstr>
      <vt:lpstr>e.g. x = -2, y = 5, z = -4</vt:lpstr>
      <vt:lpstr>e.g. x = -2, y = 5, z = -4</vt:lpstr>
      <vt:lpstr>e.g. x = -2, y = 5, z = -4</vt:lpstr>
      <vt:lpstr>e.g. x = -2, y = 5, z = -4</vt:lpstr>
      <vt:lpstr>e.g. x = -2, y = 5, z = -4</vt:lpstr>
      <vt:lpstr>e.g. x = -2, y = 5, z = -4</vt:lpstr>
      <vt:lpstr>e.g. x = -2, y = 5, z = -4</vt:lpstr>
      <vt:lpstr>e.g. x = -2, y = 5, z = -4</vt:lpstr>
      <vt:lpstr>e.g. x = -2, y = 5, z = -4</vt:lpstr>
      <vt:lpstr>activations</vt:lpstr>
      <vt:lpstr>activations</vt:lpstr>
      <vt:lpstr>activations</vt:lpstr>
      <vt:lpstr>activations</vt:lpstr>
      <vt:lpstr>activations</vt:lpstr>
      <vt:lpstr>activations</vt:lpstr>
      <vt:lpstr>Another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sigmoid function</vt:lpstr>
      <vt:lpstr>sigmoid function</vt:lpstr>
      <vt:lpstr>Patterns in backward flow</vt:lpstr>
      <vt:lpstr>Gradients add up at branches</vt:lpstr>
      <vt:lpstr>PowerPoint Presentation</vt:lpstr>
      <vt:lpstr>Vectorized operations</vt:lpstr>
      <vt:lpstr>Vectorized operations</vt:lpstr>
      <vt:lpstr>Optimizers</vt:lpstr>
      <vt:lpstr>Types of Neural Networks</vt:lpstr>
      <vt:lpstr>Multi-layer Perceptrons</vt:lpstr>
      <vt:lpstr>ALVINN</vt:lpstr>
      <vt:lpstr>PowerPoint Presentation</vt:lpstr>
      <vt:lpstr>PowerPoint Presentation</vt:lpstr>
      <vt:lpstr>NVIDIA PilotNet</vt:lpstr>
      <vt:lpstr>PowerPoint Presentation</vt:lpstr>
      <vt:lpstr>Image Captioning: CNN + RNN</vt:lpstr>
      <vt:lpstr>Graph Neural Network </vt:lpstr>
      <vt:lpstr>Transformer</vt:lpstr>
      <vt:lpstr>PowerPoint Presentation</vt:lpstr>
      <vt:lpstr>Training tips</vt:lpstr>
      <vt:lpstr>Overfitting &amp; Underfitting</vt:lpstr>
      <vt:lpstr>Overfitting &amp; Underfitting</vt:lpstr>
      <vt:lpstr>Validation</vt:lpstr>
      <vt:lpstr>Validation</vt:lpstr>
      <vt:lpstr>k-fold Cross-validation</vt:lpstr>
      <vt:lpstr>k-fold Cross-validation</vt:lpstr>
      <vt:lpstr>k-fold Cross-validation</vt:lpstr>
      <vt:lpstr>k-fold Cross-validation</vt:lpstr>
      <vt:lpstr>k-fold Cross-validation</vt:lpstr>
      <vt:lpstr>k-fold Cross-validation</vt:lpstr>
      <vt:lpstr>k-fold Cross-validation</vt:lpstr>
      <vt:lpstr>Training curves</vt:lpstr>
      <vt:lpstr>Training curves</vt:lpstr>
      <vt:lpstr>Training curves</vt:lpstr>
      <vt:lpstr>Training curves</vt:lpstr>
      <vt:lpstr>Reading training curves</vt:lpstr>
      <vt:lpstr>Reading training curves</vt:lpstr>
      <vt:lpstr>Reading training curves</vt:lpstr>
      <vt:lpstr>Reading training curves</vt:lpstr>
      <vt:lpstr>Weight Regularization</vt:lpstr>
      <vt:lpstr>Parallelization:  Speeding up NNs</vt:lpstr>
      <vt:lpstr>Where NNs thrive</vt:lpstr>
      <vt:lpstr>Frontiers</vt:lpstr>
      <vt:lpstr>PowerPoint Presentation</vt:lpstr>
      <vt:lpstr>\lambda = regularization strength  (hyperparameter)</vt:lpstr>
      <vt:lpstr>Recurrent Neural Networks</vt:lpstr>
      <vt:lpstr>Convolutional Neural Networks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125</cp:revision>
  <dcterms:modified xsi:type="dcterms:W3CDTF">2026-05-30T21:16:44Z</dcterms:modified>
</cp:coreProperties>
</file>