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43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80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9.3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Policy-based RL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REINFORCE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000000"/>
          </a:xfrm>
        </p:spPr>
        <p:txBody>
          <a:bodyPr wrap="square"/>
          <a:lstStyle/>
          <a:p>
            <a:pPr marL="0" indent="0">
              <a:buNone/>
            </a:pPr>
            <a:r>
              <a:rPr sz="2100"/>
              <a:t>Softmax policy over 3 actions with logits θ = (1, 0, −1): π(a) = e^θa / Σ e^θ. Action a₁ is sampled and the return is G = 5; learning rate α = 0.1. For softmax, ∇θ log π(a₁) = e₁ − π.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100"/>
              <a:t>(a) π?  (b) ∇θ log π(a₁)?  (c) REINFORCE update θ ← θ + α G ∇θ log π(a₁)?  (d) New π(a₁)?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3900000"/>
          <a:ext cx="9900000" cy="2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00000"/>
                <a:gridCol w="2300000"/>
                <a:gridCol w="2300000"/>
                <a:gridCol w="2300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a₃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∇θ log π(a₁)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Δθ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θ′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REINFORCE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000000"/>
          </a:xfrm>
        </p:spPr>
        <p:txBody>
          <a:bodyPr wrap="square"/>
          <a:lstStyle/>
          <a:p>
            <a:r>
              <a:rPr sz="2100"/>
              <a:t>(a) e¹ = 2.718, e⁰ = 1, e⁻¹ = 0.368, sum = 4.086 → π = </a:t>
            </a:r>
            <a:r>
              <a:rPr sz="2100" b="1">
                <a:solidFill>
                  <a:srgbClr val="2A40E2"/>
                </a:solidFill>
              </a:rPr>
              <a:t>(0.665, 0.245, 0.090)</a:t>
            </a:r>
            <a:r>
              <a:rPr sz="2100"/>
              <a:t>.</a:t>
            </a:r>
          </a:p>
          <a:p>
            <a:r>
              <a:rPr sz="2100"/>
              <a:t>(b) e₁ − π = </a:t>
            </a:r>
            <a:r>
              <a:rPr sz="2100" b="1">
                <a:solidFill>
                  <a:srgbClr val="2A40E2"/>
                </a:solidFill>
              </a:rPr>
              <a:t>(0.335, −0.245, −0.090)</a:t>
            </a:r>
            <a:r>
              <a:rPr sz="2100"/>
              <a:t>.</a:t>
            </a:r>
          </a:p>
          <a:p>
            <a:r>
              <a:rPr sz="2100"/>
              <a:t>(c) Δθ = 0.1 · 5 · (0.335, −0.245, −0.090) = </a:t>
            </a:r>
            <a:r>
              <a:rPr sz="2100" b="1">
                <a:solidFill>
                  <a:srgbClr val="2A40E2"/>
                </a:solidFill>
              </a:rPr>
              <a:t>(0.167, −0.122, −0.045)</a:t>
            </a:r>
            <a:r>
              <a:rPr sz="2100"/>
              <a:t>; θ′ = (1.167, −0.122, −1.045).</a:t>
            </a:r>
          </a:p>
          <a:p>
            <a:r>
              <a:rPr sz="2100"/>
              <a:t>(d) π′(a₁) = </a:t>
            </a:r>
            <a:r>
              <a:rPr sz="2100" b="1">
                <a:solidFill>
                  <a:srgbClr val="2A40E2"/>
                </a:solidFill>
              </a:rPr>
              <a:t>0.722</a:t>
            </a:r>
            <a:r>
              <a:rPr sz="2100"/>
              <a:t> &gt; 0.665: a good return raises the probability of the sampled action.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3900000"/>
          <a:ext cx="9900000" cy="2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00000"/>
                <a:gridCol w="2300000"/>
                <a:gridCol w="2300000"/>
                <a:gridCol w="2300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a₃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0.665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0.245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0.090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∇θ log π(a₁)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0.335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−0.245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−0.090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Δθ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0.167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−0.122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−0.045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θ′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1.167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−0.122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−1.045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Returns and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400000"/>
          </a:xfrm>
        </p:spPr>
        <p:txBody>
          <a:bodyPr wrap="square"/>
          <a:lstStyle/>
          <a:p>
            <a:pPr marL="0" indent="0">
              <a:buNone/>
            </a:pPr>
            <a:r>
              <a:rPr sz="2100"/>
              <a:t>A 3-step episode with rewards R₁, R₂, R₃ = 1, 0, 2 and γ = 0.9.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100"/>
              <a:t>(a) Returns G₀, G₁, G₂.</a:t>
            </a:r>
          </a:p>
          <a:p>
            <a:pPr marL="0" indent="0">
              <a:buNone/>
            </a:pPr>
            <a:r>
              <a:rPr sz="2100"/>
              <a:t>(b) Advantages with a constant baseline b = 2, and with a learned baseline V(s_t) = (2.5, 1.8, 1.0).</a:t>
            </a:r>
          </a:p>
          <a:p>
            <a:pPr marL="0" indent="0">
              <a:buNone/>
            </a:pPr>
            <a:r>
              <a:rPr sz="2100"/>
              <a:t>(c) Why does a baseline not bias the gradient, and what does it do?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4300000"/>
          <a:ext cx="9800000" cy="224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00000"/>
                <a:gridCol w="1900000"/>
                <a:gridCol w="1900000"/>
                <a:gridCol w="2200000"/>
                <a:gridCol w="2800000"/>
              </a:tblGrid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R_{t+1}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 − 2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 − V(s_t)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Returns and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400000"/>
          </a:xfrm>
        </p:spPr>
        <p:txBody>
          <a:bodyPr wrap="square"/>
          <a:lstStyle/>
          <a:p>
            <a:r>
              <a:rPr sz="2100"/>
              <a:t>(a) G₂ = 2; G₁ = 0 + 0.9 · 2 = 1.8; G₀ = 1 + 0.9 · 1.8 = </a:t>
            </a:r>
            <a:r>
              <a:rPr sz="2100" b="1">
                <a:solidFill>
                  <a:srgbClr val="2A40E2"/>
                </a:solidFill>
              </a:rPr>
              <a:t>2.62</a:t>
            </a:r>
            <a:r>
              <a:rPr sz="2100"/>
              <a:t>.</a:t>
            </a:r>
          </a:p>
          <a:p>
            <a:r>
              <a:rPr sz="2100"/>
              <a:t>(b) b = 2: A = (0.62, −0.20, 0). With V(s_t): A = (0.12, 0, 1.0).</a:t>
            </a:r>
          </a:p>
          <a:p>
            <a:r>
              <a:rPr sz="2100"/>
              <a:t>(c) E[∇θ log π(a|s)] = 0 for any baseline that does not depend on the action, so the expected gradient is unchanged; the baseline </a:t>
            </a:r>
            <a:r>
              <a:rPr sz="2100" b="1">
                <a:solidFill>
                  <a:srgbClr val="2A40E2"/>
                </a:solidFill>
              </a:rPr>
              <a:t>reduces variance</a:t>
            </a:r>
            <a:r>
              <a:rPr sz="2100"/>
              <a:t>. A &lt; 0 lowers the probability of that action, A &gt; 0 raises 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4300000"/>
          <a:ext cx="9800000" cy="224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00000"/>
                <a:gridCol w="1900000"/>
                <a:gridCol w="1900000"/>
                <a:gridCol w="2200000"/>
                <a:gridCol w="2800000"/>
              </a:tblGrid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R_{t+1}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 − 2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G_t − V(s_t)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2.62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0.62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0.12</a:t>
                      </a:r>
                    </a:p>
                  </a:txBody>
                  <a:tcPr marL="60000" marR="60000" marT="25000" marB="25000" anchor="ctr"/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1.8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−0.2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560000"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1.0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Actor-critic (A2C)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/>
              <a:t>One-step actor-critic (A2C). Linear critic V(s) = w·φ(s), φ(s) = (1, 2), φ(s′) = (1, 1.5), w = (1, 1). r = 1, γ = 0.9. Actor: softmax over 2 actions, π = (0.6, 0.4), action a₁ taken. α_w = 0.1, α_θ = 0.5.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1900"/>
              <a:t>(a) V(s), V(s′) and the TD error δ = r + γV(s′) − V(s)?</a:t>
            </a:r>
          </a:p>
          <a:p>
            <a:pPr marL="0" indent="0">
              <a:buNone/>
            </a:pPr>
            <a:r>
              <a:rPr sz="1900"/>
              <a:t>(b) Critic update w ← w + α_w δ φ(s)?</a:t>
            </a:r>
          </a:p>
          <a:p>
            <a:pPr marL="0" indent="0">
              <a:buNone/>
            </a:pPr>
            <a:r>
              <a:rPr sz="1900"/>
              <a:t>(c) Actor update Δθ = α_θ δ ∇θ log π(a₁), with ∇θ log π(a₁) = e₁ − π?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200000"/>
          <a:ext cx="4700000" cy="34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00000"/>
                <a:gridCol w="2200000"/>
              </a:tblGrid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V(s), V(s′)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TD error δ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New critic weights w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Actor update Δθ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Actor-critic (A2C)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500000" cy="5500000"/>
          </a:xfrm>
        </p:spPr>
        <p:txBody>
          <a:bodyPr wrap="square"/>
          <a:lstStyle/>
          <a:p>
            <a:r>
              <a:rPr sz="1900"/>
              <a:t>(a) V(s) = 1 + 2 = 3; V(s′) = 1 + 1.5 = 2.5; δ = 1 + 0.9 · 2.5 − 3 = </a:t>
            </a:r>
            <a:r>
              <a:rPr sz="1900" b="1">
                <a:solidFill>
                  <a:srgbClr val="2A40E2"/>
                </a:solidFill>
              </a:rPr>
              <a:t>0.25</a:t>
            </a:r>
            <a:r>
              <a:rPr sz="1900"/>
              <a:t> (better than expected).</a:t>
            </a:r>
          </a:p>
          <a:p>
            <a:r>
              <a:rPr sz="1900"/>
              <a:t>(b) w = (1, 1) + 0.1 · 0.25 · (1, 2) = </a:t>
            </a:r>
            <a:r>
              <a:rPr sz="1900" b="1">
                <a:solidFill>
                  <a:srgbClr val="2A40E2"/>
                </a:solidFill>
              </a:rPr>
              <a:t>(1.025, 1.05)</a:t>
            </a:r>
            <a:r>
              <a:rPr sz="1900"/>
              <a:t>.</a:t>
            </a:r>
          </a:p>
          <a:p>
            <a:r>
              <a:rPr sz="1900"/>
              <a:t>(c) ∇θ log π(a₁) = (0.4, −0.4); Δθ = 0.5 · 0.25 · (0.4, −0.4) = </a:t>
            </a:r>
            <a:r>
              <a:rPr sz="1900" b="1">
                <a:solidFill>
                  <a:srgbClr val="2A40E2"/>
                </a:solidFill>
              </a:rPr>
              <a:t>(0.05, −0.05)</a:t>
            </a:r>
            <a:r>
              <a:rPr sz="1900"/>
              <a:t>.</a:t>
            </a:r>
          </a:p>
          <a:p>
            <a:r>
              <a:rPr sz="1900"/>
              <a:t>A2C needs no complete episode: lower variance than Monte-Carlo returns, but biased by the critic.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200000"/>
          <a:ext cx="4700000" cy="34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00000"/>
                <a:gridCol w="2200000"/>
              </a:tblGrid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V(s), V(s′)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3, 2.5</a:t>
                      </a:r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TD error δ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0.25</a:t>
                      </a:r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New critic weights w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(1.025, 1.05)</a:t>
                      </a:r>
                    </a:p>
                  </a:txBody>
                  <a:tcPr marL="60000" marR="60000" marT="25000" marB="25000" anchor="ctr"/>
                </a:tc>
              </a:tr>
              <a:tr h="68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Actor update Δθ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(0.05, −0.05)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Gaussian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/>
              <a:t>Gaussian policy π(a|s) = N(μ, σ²) with μ = θ·s, s = 2, θ = 0.25, σ = 0.4. The sampled action is a = 0.8.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1900"/>
              <a:t>(a) μ and ln π(a|s) = −½ ln(2πσ²) − (a − μ)²/(2σ²)?</a:t>
            </a:r>
          </a:p>
          <a:p>
            <a:pPr marL="0" indent="0">
              <a:buNone/>
            </a:pPr>
            <a:r>
              <a:rPr sz="1900"/>
              <a:t>(b) ∂ ln π/∂μ = (a − μ)/σ², then ∂ ln π/∂θ?</a:t>
            </a:r>
          </a:p>
          <a:p>
            <a:pPr marL="0" indent="0">
              <a:buNone/>
            </a:pPr>
            <a:r>
              <a:rPr sz="1900"/>
              <a:t>(c) Update Δθ for advantage A = 0.4 and α = 0.01?</a:t>
            </a:r>
          </a:p>
          <a:p>
            <a:pPr marL="0" indent="0">
              <a:buNone/>
            </a:pPr>
            <a:r>
              <a:rPr sz="1900"/>
              <a:t>(d) Rock-paper-scissors against an opponent who best-responds: expected payoff per round (win +1, lose −1) of a deterministic policy vs. the uniform random policy?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Gaussian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r>
              <a:rPr sz="2000"/>
              <a:t>(a) μ = 0.5; ln π = −0.5 ln(1.005) − 0.09/0.32 = </a:t>
            </a:r>
            <a:r>
              <a:rPr sz="2000" b="1">
                <a:solidFill>
                  <a:srgbClr val="2A40E2"/>
                </a:solidFill>
              </a:rPr>
              <a:t>−0.284</a:t>
            </a:r>
            <a:r>
              <a:rPr sz="2000"/>
              <a:t>.</a:t>
            </a:r>
          </a:p>
          <a:p>
            <a:r>
              <a:rPr sz="2000"/>
              <a:t>(b) ∂/∂μ = 0.3/0.16 = </a:t>
            </a:r>
            <a:r>
              <a:rPr sz="2000" b="1">
                <a:solidFill>
                  <a:srgbClr val="2A40E2"/>
                </a:solidFill>
              </a:rPr>
              <a:t>1.875</a:t>
            </a:r>
            <a:r>
              <a:rPr sz="2000"/>
              <a:t>; ∂/∂θ = 1.875 · s = </a:t>
            </a:r>
            <a:r>
              <a:rPr sz="2000" b="1">
                <a:solidFill>
                  <a:srgbClr val="2A40E2"/>
                </a:solidFill>
              </a:rPr>
              <a:t>3.75</a:t>
            </a:r>
            <a:r>
              <a:rPr sz="2000"/>
              <a:t>.</a:t>
            </a:r>
          </a:p>
          <a:p>
            <a:r>
              <a:rPr sz="2000"/>
              <a:t>(c) Δθ = 0.01 · 0.4 · 3.75 = </a:t>
            </a:r>
            <a:r>
              <a:rPr sz="2000" b="1">
                <a:solidFill>
                  <a:srgbClr val="2A40E2"/>
                </a:solidFill>
              </a:rPr>
              <a:t>0.015</a:t>
            </a:r>
            <a:r>
              <a:rPr sz="2000"/>
              <a:t>: the mean moves toward the good action 0.8.</a:t>
            </a:r>
          </a:p>
          <a:p>
            <a:r>
              <a:rPr sz="2000"/>
              <a:t>(d) Deterministic (e.g. always rock): the opponent plays paper, payoff </a:t>
            </a:r>
            <a:r>
              <a:rPr sz="2000" b="1">
                <a:solidFill>
                  <a:srgbClr val="2A40E2"/>
                </a:solidFill>
              </a:rPr>
              <a:t>−1</a:t>
            </a:r>
            <a:r>
              <a:rPr sz="2000"/>
              <a:t>. Uniform random: </a:t>
            </a:r>
            <a:r>
              <a:rPr sz="2000" b="1">
                <a:solidFill>
                  <a:srgbClr val="2A40E2"/>
                </a:solidFill>
              </a:rPr>
              <a:t>0</a:t>
            </a:r>
            <a:r>
              <a:rPr sz="2000"/>
              <a:t> against any opponent (Nash equilibrium): a stochastic policy can be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98985</TotalTime>
  <Pages>60</Pages>
  <Words>2924</Words>
  <Application>Microsoft Office PowerPoint</Application>
  <PresentationFormat>Widescreen</PresentationFormat>
  <Paragraphs>591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 MT</vt:lpstr>
      <vt:lpstr>gg sans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Times New Roman</vt:lpstr>
      <vt:lpstr>Office</vt:lpstr>
      <vt:lpstr>Equation</vt:lpstr>
      <vt:lpstr>CSC 112: Computer Operating Systems Lecture 4   Deadlocks Exercises Solution</vt:lpstr>
      <vt:lpstr>Quiz: Deadlocks </vt:lpstr>
      <vt:lpstr>Quiz: Banker’s Algorithm I</vt:lpstr>
      <vt:lpstr>Quiz Solution: Banker’s Algorithm I</vt:lpstr>
      <vt:lpstr>Quiz: Banker’s algorithm II</vt:lpstr>
      <vt:lpstr>Quiz Solution: Banker’s algorithm II</vt:lpstr>
      <vt:lpstr>Quiz Solution: Banker’s algorithm II</vt:lpstr>
      <vt:lpstr>Quiz Solution: Banker’s algorithm II</vt:lpstr>
      <vt:lpstr>Banker’s Algorithm: 4 philosophers each holding his left fork</vt:lpstr>
      <vt:lpstr>Banker’s Algorithm: 4 philosophers each holding his left fork ANS</vt:lpstr>
      <vt:lpstr>Banker’s Algorithm: 5 philosophers each holding his left fork</vt:lpstr>
      <vt:lpstr>Multi-Armed Lawyers</vt:lpstr>
      <vt:lpstr>Quiz: Dining Lawyers I</vt:lpstr>
      <vt:lpstr>Example: 5 Lawyers, each with 2 arms, 5 chopsticks</vt:lpstr>
      <vt:lpstr>Example: 5 Lawyers, each with 2 arms, 5 chopsticks</vt:lpstr>
      <vt:lpstr>Quiz: Dining Lawyers II </vt:lpstr>
      <vt:lpstr>Quiz: Dining Lawyers II Answer</vt:lpstr>
      <vt:lpstr>Quiz: Dining Lawyers III</vt:lpstr>
      <vt:lpstr>Quiz: Dining Lawyers III Answer</vt:lpstr>
      <vt:lpstr>Quiz: Dining Lawyers IV</vt:lpstr>
      <vt:lpstr>Quiz: Dining Lawyers IV Answer</vt:lpstr>
      <vt:lpstr>Example: 2 lawyers, each with 4 arms, 2 knives and 2 forks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1065</cp:revision>
  <cp:lastPrinted>2022-03-15T20:14:46Z</cp:lastPrinted>
  <dcterms:created xsi:type="dcterms:W3CDTF">1995-08-12T11:37:26Z</dcterms:created>
  <dcterms:modified xsi:type="dcterms:W3CDTF">2025-10-17T01:22:24Z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