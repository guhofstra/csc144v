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AA"/>
    <a:srgbClr val="FF0000"/>
    <a:srgbClr val="2A40E2"/>
    <a:srgbClr val="BCFFBC"/>
    <a:srgbClr val="F430AB"/>
    <a:srgbClr val="A18623"/>
    <a:srgbClr val="9E7800"/>
    <a:srgbClr val="C49500"/>
    <a:srgbClr val="E6E703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134B6-D37D-4D2B-9A35-B8F225AC66B4}" v="3" dt="2025-10-17T01:22:21.469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82745" autoAdjust="0"/>
  </p:normalViewPr>
  <p:slideViewPr>
    <p:cSldViewPr>
      <p:cViewPr varScale="1">
        <p:scale>
          <a:sx n="68" d="100"/>
          <a:sy n="68" d="100"/>
        </p:scale>
        <p:origin x="43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805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modSld">
      <pc:chgData name="Zonghua Gu" userId="9a7e1853e1951ef5" providerId="LiveId" clId="{CF1FAA12-072C-4ED5-BA76-0FFFAEFDB88A}" dt="2025-10-17T01:22:23.049" v="46" actId="20577"/>
      <pc:docMkLst>
        <pc:docMk/>
      </pc:docMkLst>
      <pc:sldChg chg="modSp mod">
        <pc:chgData name="Zonghua Gu" userId="9a7e1853e1951ef5" providerId="LiveId" clId="{CF1FAA12-072C-4ED5-BA76-0FFFAEFDB88A}" dt="2025-09-26T00:33:07.077" v="1" actId="20577"/>
        <pc:sldMkLst>
          <pc:docMk/>
          <pc:sldMk cId="3198402123" sldId="381"/>
        </pc:sldMkLst>
        <pc:spChg chg="mod">
          <ac:chgData name="Zonghua Gu" userId="9a7e1853e1951ef5" providerId="LiveId" clId="{CF1FAA12-072C-4ED5-BA76-0FFFAEFDB88A}" dt="2025-09-26T00:33:07.077" v="1" actId="20577"/>
          <ac:spMkLst>
            <pc:docMk/>
            <pc:sldMk cId="3198402123" sldId="381"/>
            <ac:spMk id="22" creationId="{E6AF71B3-F5D1-B2DE-B835-5C8208F44553}"/>
          </ac:spMkLst>
        </pc:spChg>
      </pc:sldChg>
      <pc:sldChg chg="modSp mod">
        <pc:chgData name="Zonghua Gu" userId="9a7e1853e1951ef5" providerId="LiveId" clId="{CF1FAA12-072C-4ED5-BA76-0FFFAEFDB88A}" dt="2025-10-17T01:20:09.875" v="29" actId="20577"/>
        <pc:sldMkLst>
          <pc:docMk/>
          <pc:sldMk cId="3823801097" sldId="420"/>
        </pc:sldMkLst>
        <pc:spChg chg="mod">
          <ac:chgData name="Zonghua Gu" userId="9a7e1853e1951ef5" providerId="LiveId" clId="{CF1FAA12-072C-4ED5-BA76-0FFFAEFDB88A}" dt="2025-10-17T01:20:09.875" v="29" actId="20577"/>
          <ac:spMkLst>
            <pc:docMk/>
            <pc:sldMk cId="3823801097" sldId="420"/>
            <ac:spMk id="7" creationId="{8BDE5981-C58E-1D2C-A988-FFF28496CD9B}"/>
          </ac:spMkLst>
        </pc:spChg>
      </pc:sldChg>
      <pc:sldChg chg="modSp mod">
        <pc:chgData name="Zonghua Gu" userId="9a7e1853e1951ef5" providerId="LiveId" clId="{CF1FAA12-072C-4ED5-BA76-0FFFAEFDB88A}" dt="2025-10-17T01:21:42.124" v="41" actId="20577"/>
        <pc:sldMkLst>
          <pc:docMk/>
          <pc:sldMk cId="937329881" sldId="1384"/>
        </pc:sldMkLst>
        <pc:spChg chg="mod">
          <ac:chgData name="Zonghua Gu" userId="9a7e1853e1951ef5" providerId="LiveId" clId="{CF1FAA12-072C-4ED5-BA76-0FFFAEFDB88A}" dt="2025-10-17T01:21:42.124" v="41" actId="20577"/>
          <ac:spMkLst>
            <pc:docMk/>
            <pc:sldMk cId="937329881" sldId="1384"/>
            <ac:spMk id="3" creationId="{C96CE106-EFF2-89A6-A94C-94BA0CA70C60}"/>
          </ac:spMkLst>
        </pc:spChg>
      </pc:sldChg>
      <pc:sldChg chg="modSp mod">
        <pc:chgData name="Zonghua Gu" userId="9a7e1853e1951ef5" providerId="LiveId" clId="{CF1FAA12-072C-4ED5-BA76-0FFFAEFDB88A}" dt="2025-10-17T01:22:04.667" v="43" actId="20577"/>
        <pc:sldMkLst>
          <pc:docMk/>
          <pc:sldMk cId="210011671" sldId="1386"/>
        </pc:sldMkLst>
        <pc:spChg chg="mod">
          <ac:chgData name="Zonghua Gu" userId="9a7e1853e1951ef5" providerId="LiveId" clId="{CF1FAA12-072C-4ED5-BA76-0FFFAEFDB88A}" dt="2025-10-17T01:22:04.667" v="43" actId="20577"/>
          <ac:spMkLst>
            <pc:docMk/>
            <pc:sldMk cId="210011671" sldId="1386"/>
            <ac:spMk id="3" creationId="{2C890D62-C0BE-DA6D-366C-8F725FB1BCE9}"/>
          </ac:spMkLst>
        </pc:spChg>
      </pc:sldChg>
      <pc:sldChg chg="modSp mod">
        <pc:chgData name="Zonghua Gu" userId="9a7e1853e1951ef5" providerId="LiveId" clId="{CF1FAA12-072C-4ED5-BA76-0FFFAEFDB88A}" dt="2025-10-17T01:22:23.049" v="46" actId="20577"/>
        <pc:sldMkLst>
          <pc:docMk/>
          <pc:sldMk cId="2996913365" sldId="1388"/>
        </pc:sldMkLst>
        <pc:spChg chg="mod">
          <ac:chgData name="Zonghua Gu" userId="9a7e1853e1951ef5" providerId="LiveId" clId="{CF1FAA12-072C-4ED5-BA76-0FFFAEFDB88A}" dt="2025-10-17T01:22:23.049" v="46" actId="20577"/>
          <ac:spMkLst>
            <pc:docMk/>
            <pc:sldMk cId="2996913365" sldId="1388"/>
            <ac:spMk id="3" creationId="{E9304C07-65AC-81BF-04CE-B8BAC4C0342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9042400" y="63642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27A0A33-D1BC-4593-884F-3C34146062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364288"/>
            <a:ext cx="5852584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© </a:t>
            </a:r>
            <a:r>
              <a:rPr lang="en-US" err="1"/>
              <a:t>Zonghua</a:t>
            </a:r>
            <a:r>
              <a:rPr lang="en-US"/>
              <a:t> </a:t>
            </a:r>
            <a:r>
              <a:rPr lang="en-US" err="1"/>
              <a:t>Gu</a:t>
            </a:r>
            <a:r>
              <a:rPr lang="en-US"/>
              <a:t>, CMPT 300, Fall 2011 </a:t>
            </a:r>
          </a:p>
        </p:txBody>
      </p:sp>
    </p:spTree>
    <p:extLst>
      <p:ext uri="{BB962C8B-B14F-4D97-AF65-F5344CB8AC3E}">
        <p14:creationId xmlns:p14="http://schemas.microsoft.com/office/powerpoint/2010/main" val="3912953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2" name="Plassholder for lysbildenummer 5">
            <a:extLst>
              <a:ext uri="{FF2B5EF4-FFF2-40B4-BE49-F238E27FC236}">
                <a16:creationId xmlns:a16="http://schemas.microsoft.com/office/drawing/2014/main" id="{C1122AA0-51BA-FB92-7E72-DEDEC17FA8AB}"/>
              </a:ext>
            </a:extLst>
          </p:cNvPr>
          <p:cNvSpPr txBox="1">
            <a:spLocks/>
          </p:cNvSpPr>
          <p:nvPr userDrawn="1"/>
        </p:nvSpPr>
        <p:spPr>
          <a:xfrm>
            <a:off x="11734800" y="6492875"/>
            <a:ext cx="456108" cy="365125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400" b="0" i="0" smtClean="0">
                <a:solidFill>
                  <a:schemeClr val="tx1"/>
                </a:solidFill>
                <a:latin typeface="Arial"/>
                <a:cs typeface="Arial"/>
              </a:rPr>
              <a:pPr algn="ctr"/>
              <a:t>‹#›</a:t>
            </a:fld>
            <a:endParaRPr lang="nb-NO" sz="1400" b="0" i="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r>
              <a:rPr sz="3000"/>
              <a:t>CSC 144V: Autonomous Vehicles</a:t>
            </a:r>
            <a:br>
              <a:rPr sz="3000"/>
            </a:br>
            <a:r>
              <a:rPr sz="3000"/>
              <a:t>Lecture 9.2</a:t>
            </a:r>
            <a:br>
              <a:rPr sz="3000"/>
            </a:br>
            <a:br>
              <a:rPr sz="3000"/>
            </a:br>
            <a:br>
              <a:rPr sz="3000"/>
            </a:br>
            <a:r>
              <a:rPr sz="3000"/>
              <a:t>Q-Learning Exercises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/>
            <a:r>
              <a:t>Department of Computer Science, </a:t>
            </a:r>
          </a:p>
          <a:p>
            <a:pPr marL="285750" indent="-285750"/>
            <a:r>
              <a:t>Hofstra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Q-table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1900"/>
              <a:t>Q-learning: Q(s,a) ← Q(s,a) + α [ r + γ max_a′ Q(s′,a′) − Q(s,a) ], α = 0.5, γ = 0.9. State s₂ is terminal. Process the three transitions in order:</a:t>
            </a:r>
          </a:p>
          <a:p>
            <a:r>
              <a:rPr sz="1900"/>
              <a:t>(s₀, R, r = 1, s₁)</a:t>
            </a:r>
          </a:p>
          <a:p>
            <a:r>
              <a:rPr sz="1900"/>
              <a:t>(s₁, D, r = −2, s₂)</a:t>
            </a:r>
          </a:p>
          <a:p>
            <a:r>
              <a:rPr sz="1900"/>
              <a:t>(s₀, R, r = 1, s₁) again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1900"/>
              <a:t>Fill in the final Q-table.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0" y="800000"/>
            <a:ext cx="4000000" cy="3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600" b="1"/>
              <a:t>Initial Q-table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00000" y="1150000"/>
          <a:ext cx="3900000" cy="192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00000"/>
                <a:gridCol w="1300000"/>
                <a:gridCol w="1300000"/>
              </a:tblGrid>
              <a:tr h="480000"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R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D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s₀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s₁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0000" y="3300000"/>
            <a:ext cx="4000000" cy="3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600" b="1"/>
              <a:t>Final Q-table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00000" y="3650000"/>
          <a:ext cx="3900000" cy="192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00000"/>
                <a:gridCol w="1300000"/>
                <a:gridCol w="1300000"/>
              </a:tblGrid>
              <a:tr h="480000"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R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D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s₀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s₁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Q-table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r>
              <a:rPr sz="1900"/>
              <a:t>1: target = 1 + 0.9 · max(4, 0) = 4.6; Q(s₀,R) = 0 + 0.5 · 4.6 = </a:t>
            </a:r>
            <a:r>
              <a:rPr sz="1900" b="1">
                <a:solidFill>
                  <a:srgbClr val="2A40E2"/>
                </a:solidFill>
              </a:rPr>
              <a:t>2.3</a:t>
            </a:r>
            <a:r>
              <a:rPr sz="1900"/>
              <a:t>.</a:t>
            </a:r>
          </a:p>
          <a:p>
            <a:r>
              <a:rPr sz="1900"/>
              <a:t>2: terminal, target = −2; Q(s₁,D) = 0 + 0.5 · (−2) = </a:t>
            </a:r>
            <a:r>
              <a:rPr sz="1900" b="1">
                <a:solidFill>
                  <a:srgbClr val="2A40E2"/>
                </a:solidFill>
              </a:rPr>
              <a:t>−1</a:t>
            </a:r>
            <a:r>
              <a:rPr sz="1900"/>
              <a:t>.</a:t>
            </a:r>
          </a:p>
          <a:p>
            <a:r>
              <a:rPr sz="1900"/>
              <a:t>3: max Q(s₁,·) = 4 still, target 4.6; Q(s₀,R) = 2.3 + 0.5 (4.6 − 2.3) = </a:t>
            </a:r>
            <a:r>
              <a:rPr sz="1900" b="1">
                <a:solidFill>
                  <a:srgbClr val="2A40E2"/>
                </a:solidFill>
              </a:rPr>
              <a:t>3.45</a:t>
            </a:r>
            <a:r>
              <a:rPr sz="1900"/>
              <a:t>.</a:t>
            </a:r>
          </a:p>
          <a:p>
            <a:r>
              <a:rPr sz="1900"/>
              <a:t>Q-learning is off-policy and bootstraps from the best next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0" y="800000"/>
            <a:ext cx="4000000" cy="3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600" b="1"/>
              <a:t>Initial Q-table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00000" y="1150000"/>
          <a:ext cx="3900000" cy="192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00000"/>
                <a:gridCol w="1300000"/>
                <a:gridCol w="1300000"/>
              </a:tblGrid>
              <a:tr h="480000"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R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D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s₀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s₁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0000" y="3300000"/>
            <a:ext cx="4000000" cy="3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600" b="1"/>
              <a:t>Final Q-table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00000" y="3650000"/>
          <a:ext cx="3900000" cy="192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00000"/>
                <a:gridCol w="1300000"/>
                <a:gridCol w="1300000"/>
              </a:tblGrid>
              <a:tr h="480000"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R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D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s₀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3.45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s₁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−1</a:t>
                      </a:r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s₂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100" b="1">
                <a:solidFill>
                  <a:srgbClr val="2A40E2"/>
                </a:solidFill>
              </a:rPr>
              <a:t>ε-greedy</a:t>
            </a:r>
            <a:r>
              <a:rPr sz="2100"/>
              <a:t> with 4 actions.</a:t>
            </a:r>
          </a:p>
          <a:p>
            <a:pPr marL="0" indent="0">
              <a:buNone/>
            </a:pPr>
            <a:r>
              <a:rPr sz="2100"/>
              <a:t>(a) ε = 0.2: probability of the greedy action and of each other action?</a:t>
            </a:r>
          </a:p>
          <a:p>
            <a:pPr marL="0" indent="0">
              <a:buNone/>
            </a:pPr>
            <a:r>
              <a:rPr sz="2100"/>
              <a:t>(b) Decaying exploration ε_t = ε_min + (ε_max − ε_min) e^(−λt), with ε_max = 1, ε_min = 0.05, λ = 0.01: ε at t = 100 and t = 300?</a:t>
            </a:r>
          </a:p>
          <a:p>
            <a:pPr marL="0" indent="0">
              <a:buNone/>
            </a:pPr>
            <a:r>
              <a:rPr sz="2100"/>
              <a:t>(c) At which t is ε = 0.1?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200000"/>
          <a:ext cx="4600000" cy="372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700000"/>
                <a:gridCol w="1900000"/>
              </a:tblGrid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 b="1"/>
                        <a:t>Quantity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Value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P(greedy action)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P(each other action)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ε at t = 100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ε at t = 300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t with ε = 0.1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r>
              <a:rPr sz="2100"/>
              <a:t>(a) Greedy: 1 − ε + ε/4 = </a:t>
            </a:r>
            <a:r>
              <a:rPr sz="2100" b="1">
                <a:solidFill>
                  <a:srgbClr val="2A40E2"/>
                </a:solidFill>
              </a:rPr>
              <a:t>0.85</a:t>
            </a:r>
            <a:r>
              <a:rPr sz="2100"/>
              <a:t>; each other action: ε/4 = </a:t>
            </a:r>
            <a:r>
              <a:rPr sz="2100" b="1">
                <a:solidFill>
                  <a:srgbClr val="2A40E2"/>
                </a:solidFill>
              </a:rPr>
              <a:t>0.05</a:t>
            </a:r>
            <a:r>
              <a:rPr sz="2100"/>
              <a:t>.</a:t>
            </a:r>
          </a:p>
          <a:p>
            <a:r>
              <a:rPr sz="2100"/>
              <a:t>(b) t = 100: 0.05 + 0.95 e⁻¹ = </a:t>
            </a:r>
            <a:r>
              <a:rPr sz="2100" b="1">
                <a:solidFill>
                  <a:srgbClr val="2A40E2"/>
                </a:solidFill>
              </a:rPr>
              <a:t>0.399</a:t>
            </a:r>
            <a:r>
              <a:rPr sz="2100"/>
              <a:t>; t = 300: 0.05 + 0.95 e⁻³ = </a:t>
            </a:r>
            <a:r>
              <a:rPr sz="2100" b="1">
                <a:solidFill>
                  <a:srgbClr val="2A40E2"/>
                </a:solidFill>
              </a:rPr>
              <a:t>0.097</a:t>
            </a:r>
            <a:r>
              <a:rPr sz="2100"/>
              <a:t>.</a:t>
            </a:r>
          </a:p>
          <a:p>
            <a:r>
              <a:rPr sz="2100"/>
              <a:t>(c) e^(−0.01 t) = 0.05/0.95 → t = ln 19/0.01 ≈ </a:t>
            </a:r>
            <a:r>
              <a:rPr sz="2100" b="1">
                <a:solidFill>
                  <a:srgbClr val="2A40E2"/>
                </a:solidFill>
              </a:rPr>
              <a:t>294</a:t>
            </a:r>
            <a:r>
              <a:rPr sz="2100"/>
              <a:t>.</a:t>
            </a:r>
          </a:p>
          <a:p>
            <a:r>
              <a:rPr sz="2100"/>
              <a:t>Explore a lot early, exploit later: the exploration–exploitation trade-off.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200000"/>
          <a:ext cx="4600000" cy="372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700000"/>
                <a:gridCol w="1900000"/>
              </a:tblGrid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 b="1"/>
                        <a:t>Quantity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Value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P(greedy action)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0.85</a:t>
                      </a:r>
                    </a:p>
                  </a:txBody>
                  <a:tcPr marL="60000" marR="60000" marT="25000" marB="25000" anchor="ctr"/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P(each other action)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0.05</a:t>
                      </a:r>
                    </a:p>
                  </a:txBody>
                  <a:tcPr marL="60000" marR="60000" marT="25000" marB="25000" anchor="ctr"/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ε at t = 100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0.399</a:t>
                      </a:r>
                    </a:p>
                  </a:txBody>
                  <a:tcPr marL="60000" marR="60000" marT="25000" marB="25000" anchor="ctr"/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ε at t = 300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0.097</a:t>
                      </a:r>
                    </a:p>
                  </a:txBody>
                  <a:tcPr marL="60000" marR="60000" marT="25000" marB="25000" anchor="ctr"/>
                </a:tc>
              </a:tr>
              <a:tr h="6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t with ε = 0.1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≈ 294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Deep Q-learning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200"/>
              <a:t>DQN with Q-network 4 → 64 → 64 → 2 (two actions, with biases).</a:t>
            </a:r>
          </a:p>
          <a:p>
            <a:pPr marL="0" indent="0">
              <a:buNone/>
            </a:pPr>
            <a:r>
              <a:rPr sz="2200"/>
              <a:t>(a) Number of parameters?</a:t>
            </a:r>
          </a:p>
          <a:p>
            <a:pPr marL="0" indent="0">
              <a:buNone/>
            </a:pPr>
            <a:r>
              <a:rPr sz="2200"/>
              <a:t>(b) r = 1, γ = 0.99, target network gives Q_target(s′, ·) = (2.0, 3.5); Q(s, a) = 4.0. TD target y, TD error and loss (y − Q)²?</a:t>
            </a:r>
          </a:p>
          <a:p>
            <a:pPr marL="0" indent="0">
              <a:buNone/>
            </a:pPr>
            <a:r>
              <a:rPr sz="2200"/>
              <a:t>(c) Why a replay buffer and a target network?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Deep Q-learning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r>
              <a:rPr sz="2200"/>
              <a:t>(a) (4 · 64 + 64) + (64 · 64 + 64) + (64 · 2 + 2) = 320 + 4,160 + 130 = </a:t>
            </a:r>
            <a:r>
              <a:rPr sz="2200" b="1">
                <a:solidFill>
                  <a:srgbClr val="2A40E2"/>
                </a:solidFill>
              </a:rPr>
              <a:t>4,610</a:t>
            </a:r>
            <a:r>
              <a:rPr sz="2200"/>
              <a:t>.</a:t>
            </a:r>
          </a:p>
          <a:p>
            <a:r>
              <a:rPr sz="2200"/>
              <a:t>(b) y = 1 + 0.99 · 3.5 = </a:t>
            </a:r>
            <a:r>
              <a:rPr sz="2200" b="1">
                <a:solidFill>
                  <a:srgbClr val="2A40E2"/>
                </a:solidFill>
              </a:rPr>
              <a:t>4.465</a:t>
            </a:r>
            <a:r>
              <a:rPr sz="2200"/>
              <a:t>; TD error = 4.465 − 4.0 = </a:t>
            </a:r>
            <a:r>
              <a:rPr sz="2200" b="1">
                <a:solidFill>
                  <a:srgbClr val="2A40E2"/>
                </a:solidFill>
              </a:rPr>
              <a:t>0.465</a:t>
            </a:r>
            <a:r>
              <a:rPr sz="2200"/>
              <a:t>; loss = </a:t>
            </a:r>
            <a:r>
              <a:rPr sz="2200" b="1">
                <a:solidFill>
                  <a:srgbClr val="2A40E2"/>
                </a:solidFill>
              </a:rPr>
              <a:t>0.216</a:t>
            </a:r>
            <a:r>
              <a:rPr sz="2200"/>
              <a:t>. Q(s, a) is pushed up.</a:t>
            </a:r>
          </a:p>
          <a:p>
            <a:r>
              <a:rPr sz="2200"/>
              <a:t>(c) </a:t>
            </a:r>
            <a:r>
              <a:rPr sz="2200" b="1">
                <a:solidFill>
                  <a:srgbClr val="2A40E2"/>
                </a:solidFill>
              </a:rPr>
              <a:t>Replay buffer:</a:t>
            </a:r>
            <a:r>
              <a:rPr sz="2200"/>
              <a:t> random minibatches break the correlation of consecutive samples (data are non-i.i.d.) and reuse experience. </a:t>
            </a:r>
            <a:r>
              <a:rPr sz="2200" b="1">
                <a:solidFill>
                  <a:srgbClr val="2A40E2"/>
                </a:solidFill>
              </a:rPr>
              <a:t>Target network:</a:t>
            </a:r>
            <a:r>
              <a:rPr sz="2200"/>
              <a:t> a slowly updated copy gives stable targets instead of chasing a moving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Model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3300000"/>
          </a:xfrm>
        </p:spPr>
        <p:txBody>
          <a:bodyPr wrap="square"/>
          <a:lstStyle/>
          <a:p>
            <a:pPr marL="0" indent="0">
              <a:buNone/>
            </a:pPr>
            <a:r>
              <a:rPr sz="2200"/>
              <a:t>Model-based RL: estimate the model from experience. In 4 episodes, taking action → in state B gave: C with reward +1 (3 times), B with reward 0 (1 time).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200"/>
              <a:t>(a) Estimate P̂(s′ | B, →) and the expected reward R̂.</a:t>
            </a:r>
          </a:p>
          <a:p>
            <a:pPr marL="0" indent="0">
              <a:buNone/>
            </a:pPr>
            <a:r>
              <a:rPr sz="2200"/>
              <a:t>(b) With γ = 0.9, V(C) = 0, V(B) = 2: Q̂(B, →)?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0" y="4300000"/>
          <a:ext cx="9000000" cy="18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800000"/>
                <a:gridCol w="1800000"/>
                <a:gridCol w="2200000"/>
                <a:gridCol w="2200000"/>
              </a:tblGrid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Outcome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Count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P̂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Reward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s′ = C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+1</a:t>
                      </a:r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s′ = B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Model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3300000"/>
          </a:xfrm>
        </p:spPr>
        <p:txBody>
          <a:bodyPr wrap="square"/>
          <a:lstStyle/>
          <a:p>
            <a:r>
              <a:rPr sz="2200"/>
              <a:t>(a) P̂(C) = 3/4 = </a:t>
            </a:r>
            <a:r>
              <a:rPr sz="2200" b="1">
                <a:solidFill>
                  <a:srgbClr val="2A40E2"/>
                </a:solidFill>
              </a:rPr>
              <a:t>0.75</a:t>
            </a:r>
            <a:r>
              <a:rPr sz="2200"/>
              <a:t>, P̂(B) = </a:t>
            </a:r>
            <a:r>
              <a:rPr sz="2200" b="1">
                <a:solidFill>
                  <a:srgbClr val="2A40E2"/>
                </a:solidFill>
              </a:rPr>
              <a:t>0.25</a:t>
            </a:r>
            <a:r>
              <a:rPr sz="2200"/>
              <a:t>; R̂ = 0.75 · 1 + 0.25 · 0 = </a:t>
            </a:r>
            <a:r>
              <a:rPr sz="2200" b="1">
                <a:solidFill>
                  <a:srgbClr val="2A40E2"/>
                </a:solidFill>
              </a:rPr>
              <a:t>0.75</a:t>
            </a:r>
            <a:r>
              <a:rPr sz="2200"/>
              <a:t>.</a:t>
            </a:r>
          </a:p>
          <a:p>
            <a:r>
              <a:rPr sz="2200"/>
              <a:t>(b) Q̂ = 0.75 (1 + 0.9 · 0) + 0.25 (0 + 0.9 · 2) = 0.75 + 0.45 = </a:t>
            </a:r>
            <a:r>
              <a:rPr sz="2200" b="1">
                <a:solidFill>
                  <a:srgbClr val="2A40E2"/>
                </a:solidFill>
              </a:rPr>
              <a:t>1.2</a:t>
            </a:r>
            <a:r>
              <a:rPr sz="2200"/>
              <a:t>.</a:t>
            </a:r>
          </a:p>
          <a:p>
            <a:r>
              <a:rPr sz="2200"/>
              <a:t>A learned model lets us plan; model-free Q-learning skips the model and updates Q from samples.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0" y="4300000"/>
          <a:ext cx="9000000" cy="18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800000"/>
                <a:gridCol w="1800000"/>
                <a:gridCol w="2200000"/>
                <a:gridCol w="2200000"/>
              </a:tblGrid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Outcome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Count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P̂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Reward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s′ = C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0.75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+1</a:t>
                      </a:r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s′ = B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0.25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98985</TotalTime>
  <Pages>60</Pages>
  <Words>2924</Words>
  <Application>Microsoft Office PowerPoint</Application>
  <PresentationFormat>Widescreen</PresentationFormat>
  <Paragraphs>591</Paragraphs>
  <Slides>22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 MT</vt:lpstr>
      <vt:lpstr>gg sans</vt:lpstr>
      <vt:lpstr>Gill Sans</vt:lpstr>
      <vt:lpstr>Gill Sans Light</vt:lpstr>
      <vt:lpstr>宋体</vt:lpstr>
      <vt:lpstr>Arial</vt:lpstr>
      <vt:lpstr>Cambria Math</vt:lpstr>
      <vt:lpstr>Comic Sans MS</vt:lpstr>
      <vt:lpstr>Courier New</vt:lpstr>
      <vt:lpstr>Times New Roman</vt:lpstr>
      <vt:lpstr>Office</vt:lpstr>
      <vt:lpstr>Equation</vt:lpstr>
      <vt:lpstr>CSC 112: Computer Operating Systems Lecture 4   Deadlocks Exercises Solution</vt:lpstr>
      <vt:lpstr>Quiz: Deadlocks </vt:lpstr>
      <vt:lpstr>Quiz: Banker’s Algorithm I</vt:lpstr>
      <vt:lpstr>Quiz Solution: Banker’s Algorithm I</vt:lpstr>
      <vt:lpstr>Quiz: Banker’s algorithm II</vt:lpstr>
      <vt:lpstr>Quiz Solution: Banker’s algorithm II</vt:lpstr>
      <vt:lpstr>Quiz Solution: Banker’s algorithm II</vt:lpstr>
      <vt:lpstr>Quiz Solution: Banker’s algorithm II</vt:lpstr>
      <vt:lpstr>Banker’s Algorithm: 4 philosophers each holding his left fork</vt:lpstr>
      <vt:lpstr>Banker’s Algorithm: 4 philosophers each holding his left fork ANS</vt:lpstr>
      <vt:lpstr>Banker’s Algorithm: 5 philosophers each holding his left fork</vt:lpstr>
      <vt:lpstr>Multi-Armed Lawyers</vt:lpstr>
      <vt:lpstr>Quiz: Dining Lawyers I</vt:lpstr>
      <vt:lpstr>Example: 5 Lawyers, each with 2 arms, 5 chopsticks</vt:lpstr>
      <vt:lpstr>Example: 5 Lawyers, each with 2 arms, 5 chopsticks</vt:lpstr>
      <vt:lpstr>Quiz: Dining Lawyers II </vt:lpstr>
      <vt:lpstr>Quiz: Dining Lawyers II Answer</vt:lpstr>
      <vt:lpstr>Quiz: Dining Lawyers III</vt:lpstr>
      <vt:lpstr>Quiz: Dining Lawyers III Answer</vt:lpstr>
      <vt:lpstr>Quiz: Dining Lawyers IV</vt:lpstr>
      <vt:lpstr>Quiz: Dining Lawyers IV Answer</vt:lpstr>
      <vt:lpstr>Example: 2 lawyers, each with 4 arms, 2 knives and 2 forks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1065</cp:revision>
  <cp:lastPrinted>2022-03-15T20:14:46Z</cp:lastPrinted>
  <dcterms:created xsi:type="dcterms:W3CDTF">1995-08-12T11:37:26Z</dcterms:created>
  <dcterms:modified xsi:type="dcterms:W3CDTF">2025-10-17T01:22:24Z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