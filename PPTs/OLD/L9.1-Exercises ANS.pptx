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</p:sldIdLst>
  <p:sldSz cx="12192000" cy="6858000"/>
  <p:notesSz cx="9601200" cy="7315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AA"/>
    <a:srgbClr val="FF0000"/>
    <a:srgbClr val="2A40E2"/>
    <a:srgbClr val="BCFFBC"/>
    <a:srgbClr val="F430AB"/>
    <a:srgbClr val="A18623"/>
    <a:srgbClr val="9E7800"/>
    <a:srgbClr val="C49500"/>
    <a:srgbClr val="E6E703"/>
    <a:srgbClr val="72AA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F134B6-D37D-4D2B-9A35-B8F225AC66B4}" v="3" dt="2025-10-17T01:22:21.469"/>
  </p1510:revLst>
</p1510:revInfo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1" autoAdjust="0"/>
    <p:restoredTop sz="82745" autoAdjust="0"/>
  </p:normalViewPr>
  <p:slideViewPr>
    <p:cSldViewPr>
      <p:cViewPr varScale="1">
        <p:scale>
          <a:sx n="68" d="100"/>
          <a:sy n="68" d="100"/>
        </p:scale>
        <p:origin x="437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4805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6/11/relationships/changesInfo" Target="changesInfos/changesInfo1.xml"/><Relationship Id="rId3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custSel modSld">
      <pc:chgData name="Zonghua Gu" userId="9a7e1853e1951ef5" providerId="LiveId" clId="{CF1FAA12-072C-4ED5-BA76-0FFFAEFDB88A}" dt="2025-10-17T01:22:23.049" v="46" actId="20577"/>
      <pc:docMkLst>
        <pc:docMk/>
      </pc:docMkLst>
      <pc:sldChg chg="modSp mod">
        <pc:chgData name="Zonghua Gu" userId="9a7e1853e1951ef5" providerId="LiveId" clId="{CF1FAA12-072C-4ED5-BA76-0FFFAEFDB88A}" dt="2025-09-26T00:33:07.077" v="1" actId="20577"/>
        <pc:sldMkLst>
          <pc:docMk/>
          <pc:sldMk cId="3198402123" sldId="381"/>
        </pc:sldMkLst>
        <pc:spChg chg="mod">
          <ac:chgData name="Zonghua Gu" userId="9a7e1853e1951ef5" providerId="LiveId" clId="{CF1FAA12-072C-4ED5-BA76-0FFFAEFDB88A}" dt="2025-09-26T00:33:07.077" v="1" actId="20577"/>
          <ac:spMkLst>
            <pc:docMk/>
            <pc:sldMk cId="3198402123" sldId="381"/>
            <ac:spMk id="22" creationId="{E6AF71B3-F5D1-B2DE-B835-5C8208F44553}"/>
          </ac:spMkLst>
        </pc:spChg>
      </pc:sldChg>
      <pc:sldChg chg="modSp mod">
        <pc:chgData name="Zonghua Gu" userId="9a7e1853e1951ef5" providerId="LiveId" clId="{CF1FAA12-072C-4ED5-BA76-0FFFAEFDB88A}" dt="2025-10-17T01:20:09.875" v="29" actId="20577"/>
        <pc:sldMkLst>
          <pc:docMk/>
          <pc:sldMk cId="3823801097" sldId="420"/>
        </pc:sldMkLst>
        <pc:spChg chg="mod">
          <ac:chgData name="Zonghua Gu" userId="9a7e1853e1951ef5" providerId="LiveId" clId="{CF1FAA12-072C-4ED5-BA76-0FFFAEFDB88A}" dt="2025-10-17T01:20:09.875" v="29" actId="20577"/>
          <ac:spMkLst>
            <pc:docMk/>
            <pc:sldMk cId="3823801097" sldId="420"/>
            <ac:spMk id="7" creationId="{8BDE5981-C58E-1D2C-A988-FFF28496CD9B}"/>
          </ac:spMkLst>
        </pc:spChg>
      </pc:sldChg>
      <pc:sldChg chg="modSp mod">
        <pc:chgData name="Zonghua Gu" userId="9a7e1853e1951ef5" providerId="LiveId" clId="{CF1FAA12-072C-4ED5-BA76-0FFFAEFDB88A}" dt="2025-10-17T01:21:42.124" v="41" actId="20577"/>
        <pc:sldMkLst>
          <pc:docMk/>
          <pc:sldMk cId="937329881" sldId="1384"/>
        </pc:sldMkLst>
        <pc:spChg chg="mod">
          <ac:chgData name="Zonghua Gu" userId="9a7e1853e1951ef5" providerId="LiveId" clId="{CF1FAA12-072C-4ED5-BA76-0FFFAEFDB88A}" dt="2025-10-17T01:21:42.124" v="41" actId="20577"/>
          <ac:spMkLst>
            <pc:docMk/>
            <pc:sldMk cId="937329881" sldId="1384"/>
            <ac:spMk id="3" creationId="{C96CE106-EFF2-89A6-A94C-94BA0CA70C60}"/>
          </ac:spMkLst>
        </pc:spChg>
      </pc:sldChg>
      <pc:sldChg chg="modSp mod">
        <pc:chgData name="Zonghua Gu" userId="9a7e1853e1951ef5" providerId="LiveId" clId="{CF1FAA12-072C-4ED5-BA76-0FFFAEFDB88A}" dt="2025-10-17T01:22:04.667" v="43" actId="20577"/>
        <pc:sldMkLst>
          <pc:docMk/>
          <pc:sldMk cId="210011671" sldId="1386"/>
        </pc:sldMkLst>
        <pc:spChg chg="mod">
          <ac:chgData name="Zonghua Gu" userId="9a7e1853e1951ef5" providerId="LiveId" clId="{CF1FAA12-072C-4ED5-BA76-0FFFAEFDB88A}" dt="2025-10-17T01:22:04.667" v="43" actId="20577"/>
          <ac:spMkLst>
            <pc:docMk/>
            <pc:sldMk cId="210011671" sldId="1386"/>
            <ac:spMk id="3" creationId="{2C890D62-C0BE-DA6D-366C-8F725FB1BCE9}"/>
          </ac:spMkLst>
        </pc:spChg>
      </pc:sldChg>
      <pc:sldChg chg="modSp mod">
        <pc:chgData name="Zonghua Gu" userId="9a7e1853e1951ef5" providerId="LiveId" clId="{CF1FAA12-072C-4ED5-BA76-0FFFAEFDB88A}" dt="2025-10-17T01:22:23.049" v="46" actId="20577"/>
        <pc:sldMkLst>
          <pc:docMk/>
          <pc:sldMk cId="2996913365" sldId="1388"/>
        </pc:sldMkLst>
        <pc:spChg chg="mod">
          <ac:chgData name="Zonghua Gu" userId="9a7e1853e1951ef5" providerId="LiveId" clId="{CF1FAA12-072C-4ED5-BA76-0FFFAEFDB88A}" dt="2025-10-17T01:22:23.049" v="46" actId="20577"/>
          <ac:spMkLst>
            <pc:docMk/>
            <pc:sldMk cId="2996913365" sldId="1388"/>
            <ac:spMk id="3" creationId="{E9304C07-65AC-81BF-04CE-B8BAC4C0342A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4387622" y="6956427"/>
            <a:ext cx="827553" cy="27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68" tIns="46975" rIns="92268" bIns="46975">
            <a:spAutoFit/>
          </a:bodyPr>
          <a:lstStyle/>
          <a:p>
            <a:pPr algn="ctr" defTabSz="917113">
              <a:lnSpc>
                <a:spcPct val="90000"/>
              </a:lnSpc>
            </a:pPr>
            <a:r>
              <a:rPr lang="en-US" sz="1300" b="0">
                <a:latin typeface="Gill Sans Light" charset="0"/>
                <a:cs typeface="Gill Sans Light" charset="0"/>
              </a:rPr>
              <a:t>Page </a:t>
            </a:r>
            <a:fld id="{073744B8-EF17-EB47-B355-93F8159194C2}" type="slidenum">
              <a:rPr lang="en-US" sz="1300" b="0">
                <a:latin typeface="Gill Sans Light" charset="0"/>
                <a:cs typeface="Gill Sans Light" charset="0"/>
              </a:rPr>
              <a:pPr algn="ctr" defTabSz="917113">
                <a:lnSpc>
                  <a:spcPct val="90000"/>
                </a:lnSpc>
              </a:pPr>
              <a:t>‹#›</a:t>
            </a:fld>
            <a:endParaRPr lang="en-US" sz="1300" b="0">
              <a:latin typeface="Gill Sans Light" charset="0"/>
              <a:cs typeface="Gill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4449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373194" y="6956427"/>
            <a:ext cx="856407" cy="27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68" tIns="46975" rIns="92268" bIns="46975">
            <a:spAutoFit/>
          </a:bodyPr>
          <a:lstStyle/>
          <a:p>
            <a:pPr algn="ctr" defTabSz="917113">
              <a:lnSpc>
                <a:spcPct val="90000"/>
              </a:lnSpc>
            </a:pPr>
            <a:r>
              <a:rPr lang="en-US" sz="1300" b="0"/>
              <a:t>Page </a:t>
            </a:r>
            <a:fld id="{6D259941-7246-4245-A40C-55C6F952DF9E}" type="slidenum">
              <a:rPr lang="en-US" sz="1300" b="0"/>
              <a:pPr algn="ctr" defTabSz="917113">
                <a:lnSpc>
                  <a:spcPct val="90000"/>
                </a:lnSpc>
              </a:pPr>
              <a:t>‹#›</a:t>
            </a:fld>
            <a:endParaRPr lang="en-US" sz="1300" b="0"/>
          </a:p>
        </p:txBody>
      </p:sp>
      <p:sp>
        <p:nvSpPr>
          <p:cNvPr id="65539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7688"/>
            <a:ext cx="4876800" cy="27447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1115" y="3475043"/>
            <a:ext cx="7038975" cy="329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22" tIns="46975" rIns="95622" bIns="469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5107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ＭＳ Ｐゴシック" charset="0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3006919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Gill Sans" charset="0"/>
                <a:ea typeface="Gill Sans" charset="0"/>
                <a:cs typeface="Gill Sans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218968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45881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914400"/>
            <a:ext cx="5181600" cy="5105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181600" cy="5105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3685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1304875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387832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64620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63132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009511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21120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152400"/>
            <a:ext cx="2641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52400"/>
            <a:ext cx="7721600" cy="5867400"/>
          </a:xfrm>
        </p:spPr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919027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5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914400"/>
            <a:ext cx="5181600" cy="51054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181600" cy="51054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692831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5334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917701"/>
            <a:ext cx="5435600" cy="207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48400" y="1917701"/>
            <a:ext cx="5435600" cy="207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4144963"/>
            <a:ext cx="5435600" cy="2074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4144963"/>
            <a:ext cx="5435600" cy="2074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9042400" y="636428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827A0A33-D1BC-4593-884F-3C34146062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609600" y="6364288"/>
            <a:ext cx="5852584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© </a:t>
            </a:r>
            <a:r>
              <a:rPr lang="en-US" err="1"/>
              <a:t>Zonghua</a:t>
            </a:r>
            <a:r>
              <a:rPr lang="en-US"/>
              <a:t> </a:t>
            </a:r>
            <a:r>
              <a:rPr lang="en-US" err="1"/>
              <a:t>Gu</a:t>
            </a:r>
            <a:r>
              <a:rPr lang="en-US"/>
              <a:t>, CMPT 300, Fall 2011 </a:t>
            </a:r>
          </a:p>
        </p:txBody>
      </p:sp>
    </p:spTree>
    <p:extLst>
      <p:ext uri="{BB962C8B-B14F-4D97-AF65-F5344CB8AC3E}">
        <p14:creationId xmlns:p14="http://schemas.microsoft.com/office/powerpoint/2010/main" val="39129538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20800" y="152400"/>
            <a:ext cx="9550400" cy="533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8" tIns="44445" rIns="90478" bIns="4444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914400"/>
            <a:ext cx="10566400" cy="5105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Body Text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30" name="Line 6"/>
          <p:cNvSpPr>
            <a:spLocks noChangeShapeType="1"/>
          </p:cNvSpPr>
          <p:nvPr userDrawn="1"/>
        </p:nvSpPr>
        <p:spPr bwMode="auto">
          <a:xfrm>
            <a:off x="1320800" y="685800"/>
            <a:ext cx="95504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en-US">
              <a:ea typeface="Arial" charset="0"/>
              <a:cs typeface="Arial" charset="0"/>
            </a:endParaRPr>
          </a:p>
        </p:txBody>
      </p:sp>
      <p:sp>
        <p:nvSpPr>
          <p:cNvPr id="2" name="Plassholder for lysbildenummer 5">
            <a:extLst>
              <a:ext uri="{FF2B5EF4-FFF2-40B4-BE49-F238E27FC236}">
                <a16:creationId xmlns:a16="http://schemas.microsoft.com/office/drawing/2014/main" id="{C1122AA0-51BA-FB92-7E72-DEDEC17FA8AB}"/>
              </a:ext>
            </a:extLst>
          </p:cNvPr>
          <p:cNvSpPr txBox="1">
            <a:spLocks/>
          </p:cNvSpPr>
          <p:nvPr userDrawn="1"/>
        </p:nvSpPr>
        <p:spPr>
          <a:xfrm>
            <a:off x="11734800" y="6492875"/>
            <a:ext cx="456108" cy="365125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400" b="0" i="0" smtClean="0">
                <a:solidFill>
                  <a:schemeClr val="tx1"/>
                </a:solidFill>
                <a:latin typeface="Arial"/>
                <a:cs typeface="Arial"/>
              </a:rPr>
              <a:pPr algn="ctr"/>
              <a:t>‹#›</a:t>
            </a:fld>
            <a:endParaRPr lang="nb-NO" sz="1400" b="0" i="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9" r:id="rId13"/>
  </p:sldLayoutIdLst>
  <p:transition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Gill Sans" charset="0"/>
          <a:ea typeface="ＭＳ Ｐゴシック" charset="0"/>
          <a:cs typeface="Gill Sans" charset="0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2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295400"/>
            <a:ext cx="10439400" cy="2057400"/>
          </a:xfrm>
        </p:spPr>
        <p:txBody>
          <a:bodyPr/>
          <a:lstStyle/>
          <a:p>
            <a:r>
              <a:rPr sz="3000"/>
              <a:t>CSC 144V: Autonomous Vehicles</a:t>
            </a:r>
            <a:br>
              <a:rPr sz="3000"/>
            </a:br>
            <a:r>
              <a:rPr sz="3000"/>
              <a:t>Lecture 9.1</a:t>
            </a:r>
            <a:br>
              <a:rPr sz="3000"/>
            </a:br>
            <a:br>
              <a:rPr sz="3000"/>
            </a:br>
            <a:br>
              <a:rPr sz="3000"/>
            </a:br>
            <a:r>
              <a:rPr sz="3000"/>
              <a:t>Markov Decision Process Exercises Solution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4191000"/>
            <a:ext cx="8001000" cy="1447800"/>
          </a:xfrm>
        </p:spPr>
        <p:txBody>
          <a:bodyPr/>
          <a:lstStyle/>
          <a:p>
            <a:pPr marL="285750" indent="-285750"/>
            <a:r>
              <a:t>Department of Computer Science, </a:t>
            </a:r>
          </a:p>
          <a:p>
            <a:pPr marL="285750" indent="-285750"/>
            <a:r>
              <a:t>Hofstra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Discounted returns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6400000" cy="5500000"/>
          </a:xfrm>
        </p:spPr>
        <p:txBody>
          <a:bodyPr wrap="square"/>
          <a:lstStyle/>
          <a:p>
            <a:pPr marL="0" indent="0">
              <a:buNone/>
            </a:pPr>
            <a:r>
              <a:rPr sz="2000"/>
              <a:t>An episode ends after R₅. Rewards R₁ … R₅ = 2, 0, 1, −1, 5; discount γ = 0.9. Return G_t = R_{t+1} + γ G_{t+1}.</a:t>
            </a:r>
          </a:p>
          <a:p>
            <a:pPr marL="0" indent="0">
              <a:buNone/>
            </a:pPr>
            <a:r>
              <a:rPr sz="800"/>
              <a:t> </a:t>
            </a:r>
          </a:p>
          <a:p>
            <a:pPr marL="0" indent="0">
              <a:buNone/>
            </a:pPr>
            <a:r>
              <a:rPr sz="2000"/>
              <a:t>(a) Compute G₀ … G₄ </a:t>
            </a:r>
            <a:r>
              <a:rPr sz="2000" b="1">
                <a:solidFill>
                  <a:srgbClr val="2A40E2"/>
                </a:solidFill>
              </a:rPr>
              <a:t>backward</a:t>
            </a:r>
            <a:r>
              <a:rPr sz="2000"/>
              <a:t>.</a:t>
            </a:r>
          </a:p>
          <a:p>
            <a:pPr marL="0" indent="0">
              <a:buNone/>
            </a:pPr>
            <a:r>
              <a:rPr sz="2000"/>
              <a:t>(b) G₀ for γ = 0 and γ = 1?</a:t>
            </a:r>
          </a:p>
          <a:p>
            <a:pPr marL="0" indent="0">
              <a:buNone/>
            </a:pPr>
            <a:r>
              <a:rPr sz="2000"/>
              <a:t>(c) A constant reward of 1 per step forever: return for γ = 0.9 and γ = 0.99?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00000" y="1300000"/>
          <a:ext cx="4200000" cy="360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900000"/>
                <a:gridCol w="1500000"/>
                <a:gridCol w="1800000"/>
              </a:tblGrid>
              <a:tr h="600000"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t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R_{t+1}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G_t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</a:tr>
              <a:tr h="60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</a:tr>
              <a:tr h="60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</a:tr>
              <a:tr h="60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3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−1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</a:tr>
              <a:tr h="60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4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5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Discounted returns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6400000" cy="5500000"/>
          </a:xfrm>
        </p:spPr>
        <p:txBody>
          <a:bodyPr wrap="square"/>
          <a:lstStyle/>
          <a:p>
            <a:r>
              <a:rPr sz="2000"/>
              <a:t>(a) G₄ = 5; G₃ = −1 + 0.9 · 5 = 3.5; G₂ = 1 + 0.9 · 3.5 = 4.15; G₁ = 0 + 0.9 · 4.15 = 3.735; G₀ = 2 + 0.9 · 3.735 = </a:t>
            </a:r>
            <a:r>
              <a:rPr sz="2000" b="1">
                <a:solidFill>
                  <a:srgbClr val="2A40E2"/>
                </a:solidFill>
              </a:rPr>
              <a:t>5.3615</a:t>
            </a:r>
            <a:r>
              <a:rPr sz="2000"/>
              <a:t>. Working backward avoids recomputing sums.</a:t>
            </a:r>
          </a:p>
          <a:p>
            <a:r>
              <a:rPr sz="2000"/>
              <a:t>(b) γ = 0: G₀ = R₁ = </a:t>
            </a:r>
            <a:r>
              <a:rPr sz="2000" b="1">
                <a:solidFill>
                  <a:srgbClr val="2A40E2"/>
                </a:solidFill>
              </a:rPr>
              <a:t>2</a:t>
            </a:r>
            <a:r>
              <a:rPr sz="2000"/>
              <a:t> (myopic). γ = 1: G₀ = 2 + 0 + 1 − 1 + 5 = </a:t>
            </a:r>
            <a:r>
              <a:rPr sz="2000" b="1">
                <a:solidFill>
                  <a:srgbClr val="2A40E2"/>
                </a:solidFill>
              </a:rPr>
              <a:t>7</a:t>
            </a:r>
            <a:r>
              <a:rPr sz="2000"/>
              <a:t>.</a:t>
            </a:r>
          </a:p>
          <a:p>
            <a:r>
              <a:rPr sz="2000"/>
              <a:t>(c) 1/(1 − γ) = </a:t>
            </a:r>
            <a:r>
              <a:rPr sz="2000" b="1">
                <a:solidFill>
                  <a:srgbClr val="2A40E2"/>
                </a:solidFill>
              </a:rPr>
              <a:t>10</a:t>
            </a:r>
            <a:r>
              <a:rPr sz="2000"/>
              <a:t> and </a:t>
            </a:r>
            <a:r>
              <a:rPr sz="2000" b="1">
                <a:solidFill>
                  <a:srgbClr val="2A40E2"/>
                </a:solidFill>
              </a:rPr>
              <a:t>100</a:t>
            </a:r>
            <a:r>
              <a:rPr sz="2000"/>
              <a:t>: discounting keeps the return finite; effective horizon ≈ 1/(1 − γ).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00000" y="1300000"/>
          <a:ext cx="4200000" cy="360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900000"/>
                <a:gridCol w="1500000"/>
                <a:gridCol w="1800000"/>
              </a:tblGrid>
              <a:tr h="600000"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t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R_{t+1}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G_t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5.3615</a:t>
                      </a:r>
                    </a:p>
                  </a:txBody>
                  <a:tcPr marL="60000" marR="60000" marT="25000" marB="25000" anchor="ctr"/>
                </a:tc>
              </a:tr>
              <a:tr h="60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3.735</a:t>
                      </a:r>
                    </a:p>
                  </a:txBody>
                  <a:tcPr marL="60000" marR="60000" marT="25000" marB="25000" anchor="ctr"/>
                </a:tc>
              </a:tr>
              <a:tr h="60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4.15</a:t>
                      </a:r>
                    </a:p>
                  </a:txBody>
                  <a:tcPr marL="60000" marR="60000" marT="25000" marB="25000" anchor="ctr"/>
                </a:tc>
              </a:tr>
              <a:tr h="60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3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−1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3.5</a:t>
                      </a:r>
                    </a:p>
                  </a:txBody>
                  <a:tcPr marL="60000" marR="60000" marT="25000" marB="25000" anchor="ctr"/>
                </a:tc>
              </a:tr>
              <a:tr h="60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4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5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5</a:t>
                      </a:r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Bellman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6400000" cy="5500000"/>
          </a:xfrm>
        </p:spPr>
        <p:txBody>
          <a:bodyPr wrap="square"/>
          <a:lstStyle/>
          <a:p>
            <a:pPr marL="0" indent="0">
              <a:buNone/>
            </a:pPr>
            <a:r>
              <a:rPr sz="1900"/>
              <a:t>State s₀ has two actions; policy π(a₁|s₀) = 0.6, π(a₂|s₀) = 0.4; γ = 0.9.</a:t>
            </a:r>
          </a:p>
          <a:p>
            <a:r>
              <a:rPr sz="1900"/>
              <a:t>a₁: with prob. 0.8 → s₁ (reward 1); with prob. 0.2 → s₂ (reward 0)</a:t>
            </a:r>
          </a:p>
          <a:p>
            <a:r>
              <a:rPr sz="1900"/>
              <a:t>a₂: → s₂ (reward 0), deterministic</a:t>
            </a:r>
          </a:p>
          <a:p>
            <a:r>
              <a:rPr sz="1900"/>
              <a:t>Given v(s₁) = 3 and v(s₂) = 5</a:t>
            </a:r>
          </a:p>
          <a:p>
            <a:pPr marL="0" indent="0">
              <a:buNone/>
            </a:pPr>
            <a:r>
              <a:rPr sz="800"/>
              <a:t> </a:t>
            </a:r>
          </a:p>
          <a:p>
            <a:pPr marL="0" indent="0">
              <a:buNone/>
            </a:pPr>
            <a:r>
              <a:rPr sz="1900"/>
              <a:t>(a) q(s₀, a₁) and q(s₀, a₂)?</a:t>
            </a:r>
          </a:p>
          <a:p>
            <a:pPr marL="0" indent="0">
              <a:buNone/>
            </a:pPr>
            <a:r>
              <a:rPr sz="1900"/>
              <a:t>(b) v_π(s₀)?</a:t>
            </a:r>
          </a:p>
          <a:p>
            <a:pPr marL="0" indent="0">
              <a:buNone/>
            </a:pPr>
            <a:r>
              <a:rPr sz="1900"/>
              <a:t>(c) Bellman optimality: v*(s₀) and the greedy action (assume the same successor values)?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00000" y="1300000"/>
          <a:ext cx="4500000" cy="320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600000"/>
                <a:gridCol w="1900000"/>
              </a:tblGrid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900" b="1"/>
                        <a:t>Quantity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Value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900"/>
                        <a:t>q(s₀, a₁)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900"/>
                        <a:t>q(s₀, a₂)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900"/>
                        <a:t>v_π(s₀)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900"/>
                        <a:t>v*(s₀), greedy action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900"/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Bellman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6400000" cy="5500000"/>
          </a:xfrm>
        </p:spPr>
        <p:txBody>
          <a:bodyPr wrap="square"/>
          <a:lstStyle/>
          <a:p>
            <a:r>
              <a:rPr sz="1900"/>
              <a:t>(a) q(s₀, a₁) = 0.8 (1 + 0.9 · 3) + 0.2 (0 + 0.9 · 5) = 2.96 + 0.90 = </a:t>
            </a:r>
            <a:r>
              <a:rPr sz="1900" b="1">
                <a:solidFill>
                  <a:srgbClr val="2A40E2"/>
                </a:solidFill>
              </a:rPr>
              <a:t>3.86</a:t>
            </a:r>
            <a:r>
              <a:rPr sz="1900"/>
              <a:t>. q(s₀, a₂) = 0 + 0.9 · 5 = </a:t>
            </a:r>
            <a:r>
              <a:rPr sz="1900" b="1">
                <a:solidFill>
                  <a:srgbClr val="2A40E2"/>
                </a:solidFill>
              </a:rPr>
              <a:t>4.5</a:t>
            </a:r>
            <a:r>
              <a:rPr sz="1900"/>
              <a:t>.</a:t>
            </a:r>
          </a:p>
          <a:p>
            <a:r>
              <a:rPr sz="1900"/>
              <a:t>(b) v_π(s₀) = Σ π(a) q(s₀, a) = 0.6 · 3.86 + 0.4 · 4.5 = </a:t>
            </a:r>
            <a:r>
              <a:rPr sz="1900" b="1">
                <a:solidFill>
                  <a:srgbClr val="2A40E2"/>
                </a:solidFill>
              </a:rPr>
              <a:t>4.116</a:t>
            </a:r>
            <a:r>
              <a:rPr sz="1900"/>
              <a:t>.</a:t>
            </a:r>
          </a:p>
          <a:p>
            <a:r>
              <a:rPr sz="1900"/>
              <a:t>(c) v*(s₀) = max_a q = </a:t>
            </a:r>
            <a:r>
              <a:rPr sz="1900" b="1">
                <a:solidFill>
                  <a:srgbClr val="2A40E2"/>
                </a:solidFill>
              </a:rPr>
              <a:t>4.5</a:t>
            </a:r>
            <a:r>
              <a:rPr sz="1900"/>
              <a:t>: greedy action </a:t>
            </a:r>
            <a:r>
              <a:rPr sz="1900" b="1">
                <a:solidFill>
                  <a:srgbClr val="2A40E2"/>
                </a:solidFill>
              </a:rPr>
              <a:t>a₂</a:t>
            </a:r>
            <a:r>
              <a:rPr sz="1900"/>
              <a:t>; the greedy policy improves on π (4.5 &gt; 4.116).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00000" y="1300000"/>
          <a:ext cx="4500000" cy="320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600000"/>
                <a:gridCol w="1900000"/>
              </a:tblGrid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900" b="1"/>
                        <a:t>Quantity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/>
                        <a:t>Value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900"/>
                        <a:t>q(s₀, a₁)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3.86</a:t>
                      </a:r>
                    </a:p>
                  </a:txBody>
                  <a:tcPr marL="60000" marR="60000" marT="25000" marB="25000" anchor="ctr"/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900"/>
                        <a:t>q(s₀, a₂)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4.5</a:t>
                      </a:r>
                    </a:p>
                  </a:txBody>
                  <a:tcPr marL="60000" marR="60000" marT="25000" marB="25000" anchor="ctr"/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900"/>
                        <a:t>v_π(s₀)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4.116</a:t>
                      </a:r>
                    </a:p>
                  </a:txBody>
                  <a:tcPr marL="60000" marR="60000" marT="25000" marB="25000" anchor="ctr"/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900"/>
                        <a:t>v*(s₀), greedy action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2A40E2"/>
                          </a:solidFill>
                        </a:rPr>
                        <a:t>4.5, a₂</a:t>
                      </a:r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Iterative policy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3300000"/>
          </a:xfrm>
        </p:spPr>
        <p:txBody>
          <a:bodyPr wrap="square"/>
          <a:lstStyle/>
          <a:p>
            <a:pPr marL="0" indent="0">
              <a:buNone/>
            </a:pPr>
            <a:r>
              <a:rPr sz="2000"/>
              <a:t>A 1-D grid: states 1, 2, 3 and a terminal G to the right of state 3. Actions Left/Right with a random policy (50 %/50 %); moving left at state 1 bumps into the wall (stay). Reward −1 per step, γ = 1, v(G) = 0, v₀ = 0 everywhere.</a:t>
            </a:r>
          </a:p>
          <a:p>
            <a:pPr marL="0" indent="0">
              <a:buNone/>
            </a:pPr>
            <a:r>
              <a:rPr sz="800"/>
              <a:t> </a:t>
            </a:r>
          </a:p>
          <a:p>
            <a:pPr marL="0" indent="0">
              <a:buNone/>
            </a:pPr>
            <a:r>
              <a:rPr sz="2000"/>
              <a:t>(a) Iterative policy evaluation: fill in v_k for k = 1, 2, 3.</a:t>
            </a:r>
          </a:p>
          <a:p>
            <a:pPr marL="0" indent="0">
              <a:buNone/>
            </a:pPr>
            <a:r>
              <a:rPr sz="2000"/>
              <a:t>(b) Which policy is greedy w.r.t. v₃?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00000" y="4200000"/>
          <a:ext cx="8200000" cy="220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300000"/>
                <a:gridCol w="2300000"/>
                <a:gridCol w="2300000"/>
                <a:gridCol w="2300000"/>
              </a:tblGrid>
              <a:tr h="440000"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k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v(1)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v(2)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v(3)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44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</a:t>
                      </a:r>
                    </a:p>
                  </a:txBody>
                  <a:tcPr marL="60000" marR="60000" marT="25000" marB="25000" anchor="ctr"/>
                </a:tc>
              </a:tr>
              <a:tr h="44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</a:tr>
              <a:tr h="44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</a:tr>
              <a:tr h="44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3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Iterative policy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3300000"/>
          </a:xfrm>
        </p:spPr>
        <p:txBody>
          <a:bodyPr wrap="square"/>
          <a:lstStyle/>
          <a:p>
            <a:r>
              <a:rPr sz="2100"/>
              <a:t>v_{k+1}(s) = Σ_a π(a) [ −1 + v_k(s′) ]. k = 1: −1 everywhere. k = 2: v(1) = −1 + 0.5(−1) + 0.5(−1) = −2; v(3) = −1 + 0.5(−1) + 0.5 · 0 = −1.5. k = 3: v(1) = −3, v(2) = −2.75, v(3) = −2.</a:t>
            </a:r>
          </a:p>
          <a:p>
            <a:r>
              <a:rPr sz="2100"/>
              <a:t>(b) State 1: Right (−1 − 2.75 = −3.75) beats Left (−4); state 2: Right (−3) beats Left (−4); state 3: Right (−1). </a:t>
            </a:r>
            <a:r>
              <a:rPr sz="2100" b="1">
                <a:solidFill>
                  <a:srgbClr val="2A40E2"/>
                </a:solidFill>
              </a:rPr>
              <a:t>Always go right.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00000" y="4200000"/>
          <a:ext cx="8200000" cy="220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300000"/>
                <a:gridCol w="2300000"/>
                <a:gridCol w="2300000"/>
                <a:gridCol w="2300000"/>
              </a:tblGrid>
              <a:tr h="440000"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k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v(1)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v(2)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v(3)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44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</a:t>
                      </a:r>
                    </a:p>
                  </a:txBody>
                  <a:tcPr marL="60000" marR="60000" marT="25000" marB="25000" anchor="ctr"/>
                </a:tc>
              </a:tr>
              <a:tr h="44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−1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−1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−1</a:t>
                      </a:r>
                    </a:p>
                  </a:txBody>
                  <a:tcPr marL="60000" marR="60000" marT="25000" marB="25000" anchor="ctr"/>
                </a:tc>
              </a:tr>
              <a:tr h="44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−2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−2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−1.5</a:t>
                      </a:r>
                    </a:p>
                  </a:txBody>
                  <a:tcPr marL="60000" marR="60000" marT="25000" marB="25000" anchor="ctr"/>
                </a:tc>
              </a:tr>
              <a:tr h="44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3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−3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−2.75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−2</a:t>
                      </a:r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DeepRacer reward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1800000"/>
          </a:xfrm>
        </p:spPr>
        <p:txBody>
          <a:bodyPr wrap="square"/>
          <a:lstStyle/>
          <a:p>
            <a:pPr marL="0" indent="0">
              <a:buNone/>
            </a:pPr>
            <a:r>
              <a:rPr sz="2000"/>
              <a:t>DeepRacer reward (track_width = 1.0 m): distance from center d ≤ 0.1 → 1; ≤ 0.25 → 0.5; ≤ 0.5 → 0.1; else 10⁻³. If |steering| &gt; 15° the reward is multiplied by 0.8.</a:t>
            </a:r>
          </a:p>
          <a:p>
            <a:pPr marL="0" indent="0">
              <a:buNone/>
            </a:pPr>
            <a:r>
              <a:rPr sz="800"/>
              <a:t> </a:t>
            </a:r>
          </a:p>
          <a:p>
            <a:pPr marL="0" indent="0">
              <a:buNone/>
            </a:pPr>
            <a:r>
              <a:rPr sz="2000"/>
              <a:t>(a) Fill in the rewards.</a:t>
            </a:r>
          </a:p>
          <a:p>
            <a:pPr marL="0" indent="0">
              <a:buNone/>
            </a:pPr>
            <a:r>
              <a:rPr sz="2000"/>
              <a:t>(b) Why the steering penalty?  (c) Name a flaw: how could an agent exploit this reward without finishing the lap?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00000" y="2600000"/>
          <a:ext cx="7500000" cy="312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500000"/>
                <a:gridCol w="2500000"/>
                <a:gridCol w="2500000"/>
              </a:tblGrid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d (m)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|steering|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Reward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0.05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5°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</a:tr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0.20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20°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</a:tr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0.40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10°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</a:tr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0.60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0°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</a:tr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0.08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16°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DeepRacer reward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1800000"/>
          </a:xfrm>
        </p:spPr>
        <p:txBody>
          <a:bodyPr wrap="square"/>
          <a:lstStyle/>
          <a:p>
            <a:r>
              <a:rPr sz="2000"/>
              <a:t>(b) It discourages </a:t>
            </a:r>
            <a:r>
              <a:rPr sz="2000" b="1">
                <a:solidFill>
                  <a:srgbClr val="2A40E2"/>
                </a:solidFill>
              </a:rPr>
              <a:t>zig-zagging</a:t>
            </a:r>
            <a:r>
              <a:rPr sz="2000"/>
              <a:t> (large steering angles).</a:t>
            </a:r>
          </a:p>
          <a:p>
            <a:r>
              <a:rPr sz="2000"/>
              <a:t>(c) The agent earns 1 per step by sitting near the center line at a very low speed: </a:t>
            </a:r>
            <a:r>
              <a:rPr sz="2000" b="1">
                <a:solidFill>
                  <a:srgbClr val="2A40E2"/>
                </a:solidFill>
              </a:rPr>
              <a:t>reward hacking</a:t>
            </a:r>
            <a:r>
              <a:rPr sz="2000"/>
              <a:t>; add progress or speed terms.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00000" y="3000000"/>
          <a:ext cx="7500000" cy="312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500000"/>
                <a:gridCol w="2500000"/>
                <a:gridCol w="2500000"/>
              </a:tblGrid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d (m)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|steering|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/>
                        <a:t>Reward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0.05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5°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1</a:t>
                      </a:r>
                    </a:p>
                  </a:txBody>
                  <a:tcPr marL="60000" marR="60000" marT="25000" marB="25000" anchor="ctr"/>
                </a:tc>
              </a:tr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0.20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20°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0.4</a:t>
                      </a:r>
                    </a:p>
                  </a:txBody>
                  <a:tcPr marL="60000" marR="60000" marT="25000" marB="25000" anchor="ctr"/>
                </a:tc>
              </a:tr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0.40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10°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0.1</a:t>
                      </a:r>
                    </a:p>
                  </a:txBody>
                  <a:tcPr marL="60000" marR="60000" marT="25000" marB="25000" anchor="ctr"/>
                </a:tc>
              </a:tr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0.60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0°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0.001</a:t>
                      </a:r>
                    </a:p>
                  </a:txBody>
                  <a:tcPr marL="60000" marR="60000" marT="25000" marB="25000" anchor="ctr"/>
                </a:tc>
              </a:tr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0.08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16°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0.8</a:t>
                      </a:r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1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Gill Sans Ligh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>
            <a:latin typeface="Gill Sans Light"/>
          </a:defRPr>
        </a:defPPr>
      </a:lstStyle>
    </a:txDef>
  </a:objectDefaults>
  <a:extraClrSchemeLst>
    <a:extraClrScheme>
      <a:clrScheme name="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a48a9ac-7937-4134-8b13-3620bf967764}" enabled="1" method="Privileged" siteId="{5a4ba6f9-f531-4f32-9467-398f19e69d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98985</TotalTime>
  <Pages>60</Pages>
  <Words>2924</Words>
  <Application>Microsoft Office PowerPoint</Application>
  <PresentationFormat>Widescreen</PresentationFormat>
  <Paragraphs>591</Paragraphs>
  <Slides>22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Arial MT</vt:lpstr>
      <vt:lpstr>gg sans</vt:lpstr>
      <vt:lpstr>Gill Sans</vt:lpstr>
      <vt:lpstr>Gill Sans Light</vt:lpstr>
      <vt:lpstr>宋体</vt:lpstr>
      <vt:lpstr>Arial</vt:lpstr>
      <vt:lpstr>Cambria Math</vt:lpstr>
      <vt:lpstr>Comic Sans MS</vt:lpstr>
      <vt:lpstr>Courier New</vt:lpstr>
      <vt:lpstr>Times New Roman</vt:lpstr>
      <vt:lpstr>Office</vt:lpstr>
      <vt:lpstr>Equation</vt:lpstr>
      <vt:lpstr>CSC 112: Computer Operating Systems Lecture 4   Deadlocks Exercises Solution</vt:lpstr>
      <vt:lpstr>Quiz: Deadlocks </vt:lpstr>
      <vt:lpstr>Quiz: Banker’s Algorithm I</vt:lpstr>
      <vt:lpstr>Quiz Solution: Banker’s Algorithm I</vt:lpstr>
      <vt:lpstr>Quiz: Banker’s algorithm II</vt:lpstr>
      <vt:lpstr>Quiz Solution: Banker’s algorithm II</vt:lpstr>
      <vt:lpstr>Quiz Solution: Banker’s algorithm II</vt:lpstr>
      <vt:lpstr>Quiz Solution: Banker’s algorithm II</vt:lpstr>
      <vt:lpstr>Banker’s Algorithm: 4 philosophers each holding his left fork</vt:lpstr>
      <vt:lpstr>Banker’s Algorithm: 4 philosophers each holding his left fork ANS</vt:lpstr>
      <vt:lpstr>Banker’s Algorithm: 5 philosophers each holding his left fork</vt:lpstr>
      <vt:lpstr>Multi-Armed Lawyers</vt:lpstr>
      <vt:lpstr>Quiz: Dining Lawyers I</vt:lpstr>
      <vt:lpstr>Example: 5 Lawyers, each with 2 arms, 5 chopsticks</vt:lpstr>
      <vt:lpstr>Example: 5 Lawyers, each with 2 arms, 5 chopsticks</vt:lpstr>
      <vt:lpstr>Quiz: Dining Lawyers II </vt:lpstr>
      <vt:lpstr>Quiz: Dining Lawyers II Answer</vt:lpstr>
      <vt:lpstr>Quiz: Dining Lawyers III</vt:lpstr>
      <vt:lpstr>Quiz: Dining Lawyers III Answer</vt:lpstr>
      <vt:lpstr>Quiz: Dining Lawyers IV</vt:lpstr>
      <vt:lpstr>Quiz: Dining Lawyers IV Answer</vt:lpstr>
      <vt:lpstr>Example: 2 lawyers, each with 4 arms, 2 knives and 2 forks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Course Introduction and Overview</dc:title>
  <dc:creator>John D. Kubiatowicz</dc:creator>
  <dc:description>Imported some pictures from Silbershatz (c) 2005</dc:description>
  <cp:lastModifiedBy>Zonghua Gu</cp:lastModifiedBy>
  <cp:revision>1065</cp:revision>
  <cp:lastPrinted>2022-03-15T20:14:46Z</cp:lastPrinted>
  <dcterms:created xsi:type="dcterms:W3CDTF">1995-08-12T11:37:26Z</dcterms:created>
  <dcterms:modified xsi:type="dcterms:W3CDTF">2025-10-17T01:22:24Z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">
    <vt:lpwstr>Joseph</vt:lpwstr>
  </property>
  <property fmtid="{D5CDD505-2E9C-101B-9397-08002B2CF9AE}" pid="3" name="Semester">
    <vt:lpwstr>Spring 2006</vt:lpwstr>
  </property>
</Properties>
</file>